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5"/>
          <c:y val="0.04"/>
          <c:w val="0.905"/>
          <c:h val="0.86"/>
        </c:manualLayout>
      </c:layout>
      <c:lineChart>
        <c:grouping val="standard"/>
        <c:varyColors val="0"/>
        <c:ser>
          <c:idx val="0"/>
          <c:order val="0"/>
          <c:tx>
            <c:strRef>
              <c:f>Sheet1!$B$1</c:f>
              <c:strCache>
                <c:ptCount val="1"/>
                <c:pt idx="0">
                  <c:v>Actual</c:v>
                </c:pt>
              </c:strCache>
            </c:strRef>
          </c:tx>
          <c:spPr>
            <a:ln w="31750">
              <a:solidFill>
                <a:srgbClr val="0A6B63"/>
              </a:solidFill>
            </a:ln>
          </c:spPr>
          <c:marker>
            <c:symbol val="none"/>
          </c:marker>
          <c:cat>
            <c:strRef>
              <c:f>Sheet1!$A$2:$A$76</c:f>
              <c:strCache>
                <c:ptCount val="75"/>
                <c:pt idx="0">
                  <c:v/>
                </c:pt>
                <c:pt idx="1">
                  <c:v>Jan ’25</c:v>
                </c:pt>
                <c:pt idx="2">
                  <c:v/>
                </c:pt>
                <c:pt idx="3">
                  <c:v/>
                </c:pt>
                <c:pt idx="4">
                  <c:v/>
                </c:pt>
                <c:pt idx="5">
                  <c:v/>
                </c:pt>
                <c:pt idx="6">
                  <c:v/>
                </c:pt>
                <c:pt idx="7">
                  <c:v/>
                </c:pt>
                <c:pt idx="8">
                  <c:v/>
                </c:pt>
                <c:pt idx="9">
                  <c:v/>
                </c:pt>
                <c:pt idx="10">
                  <c:v/>
                </c:pt>
                <c:pt idx="11">
                  <c:v/>
                </c:pt>
                <c:pt idx="12">
                  <c:v/>
                </c:pt>
                <c:pt idx="13">
                  <c:v/>
                </c:pt>
                <c:pt idx="14">
                  <c:v>Apr ’25</c:v>
                </c:pt>
                <c:pt idx="15">
                  <c:v/>
                </c:pt>
                <c:pt idx="16">
                  <c:v/>
                </c:pt>
                <c:pt idx="17">
                  <c:v/>
                </c:pt>
                <c:pt idx="18">
                  <c:v/>
                </c:pt>
                <c:pt idx="19">
                  <c:v/>
                </c:pt>
                <c:pt idx="20">
                  <c:v/>
                </c:pt>
                <c:pt idx="21">
                  <c:v/>
                </c:pt>
                <c:pt idx="22">
                  <c:v/>
                </c:pt>
                <c:pt idx="23">
                  <c:v/>
                </c:pt>
                <c:pt idx="24">
                  <c:v/>
                </c:pt>
                <c:pt idx="25">
                  <c:v/>
                </c:pt>
                <c:pt idx="26">
                  <c:v/>
                </c:pt>
                <c:pt idx="27">
                  <c:v>Jul ’25</c:v>
                </c:pt>
                <c:pt idx="28">
                  <c:v/>
                </c:pt>
                <c:pt idx="29">
                  <c:v/>
                </c:pt>
                <c:pt idx="30">
                  <c:v/>
                </c:pt>
                <c:pt idx="31">
                  <c:v/>
                </c:pt>
                <c:pt idx="32">
                  <c:v/>
                </c:pt>
                <c:pt idx="33">
                  <c:v/>
                </c:pt>
                <c:pt idx="34">
                  <c:v/>
                </c:pt>
                <c:pt idx="35">
                  <c:v/>
                </c:pt>
                <c:pt idx="36">
                  <c:v/>
                </c:pt>
                <c:pt idx="37">
                  <c:v/>
                </c:pt>
                <c:pt idx="38">
                  <c:v/>
                </c:pt>
                <c:pt idx="39">
                  <c:v/>
                </c:pt>
                <c:pt idx="40">
                  <c:v>Oct ’25</c:v>
                </c:pt>
                <c:pt idx="41">
                  <c:v/>
                </c:pt>
                <c:pt idx="42">
                  <c:v/>
                </c:pt>
                <c:pt idx="43">
                  <c:v/>
                </c:pt>
                <c:pt idx="44">
                  <c:v/>
                </c:pt>
                <c:pt idx="45">
                  <c:v/>
                </c:pt>
                <c:pt idx="46">
                  <c:v/>
                </c:pt>
                <c:pt idx="47">
                  <c:v/>
                </c:pt>
                <c:pt idx="48">
                  <c:v/>
                </c:pt>
                <c:pt idx="49">
                  <c:v/>
                </c:pt>
                <c:pt idx="50">
                  <c:v/>
                </c:pt>
                <c:pt idx="51">
                  <c:v/>
                </c:pt>
                <c:pt idx="52">
                  <c:v/>
                </c:pt>
                <c:pt idx="53">
                  <c:v>Jan ’26</c:v>
                </c:pt>
                <c:pt idx="54">
                  <c:v/>
                </c:pt>
                <c:pt idx="55">
                  <c:v/>
                </c:pt>
                <c:pt idx="56">
                  <c:v/>
                </c:pt>
                <c:pt idx="57">
                  <c:v/>
                </c:pt>
                <c:pt idx="58">
                  <c:v/>
                </c:pt>
                <c:pt idx="59">
                  <c:v/>
                </c:pt>
                <c:pt idx="60">
                  <c:v/>
                </c:pt>
                <c:pt idx="61">
                  <c:v/>
                </c:pt>
                <c:pt idx="62">
                  <c:v/>
                </c:pt>
                <c:pt idx="63">
                  <c:v/>
                </c:pt>
                <c:pt idx="64">
                  <c:v/>
                </c:pt>
                <c:pt idx="65">
                  <c:v/>
                </c:pt>
                <c:pt idx="66">
                  <c:v>Apr ’26</c:v>
                </c:pt>
                <c:pt idx="67">
                  <c:v/>
                </c:pt>
                <c:pt idx="68">
                  <c:v/>
                </c:pt>
                <c:pt idx="69">
                  <c:v/>
                </c:pt>
                <c:pt idx="70">
                  <c:v/>
                </c:pt>
                <c:pt idx="71">
                  <c:v/>
                </c:pt>
                <c:pt idx="72">
                  <c:v/>
                </c:pt>
                <c:pt idx="73">
                  <c:v/>
                </c:pt>
                <c:pt idx="74">
                  <c:v/>
                </c:pt>
              </c:strCache>
            </c:strRef>
          </c:cat>
          <c:val>
            <c:numRef>
              <c:f>Sheet1!$B$2:$B$76</c:f>
              <c:numCache>
                <c:formatCode>General</c:formatCode>
                <c:ptCount val="75"/>
                <c:pt idx="0">
                  <c:v>1715.352</c:v>
                </c:pt>
                <c:pt idx="1">
                  <c:v>1775.521</c:v>
                </c:pt>
                <c:pt idx="2">
                  <c:v>1699.905</c:v>
                </c:pt>
                <c:pt idx="3">
                  <c:v>1660.51</c:v>
                </c:pt>
                <c:pt idx="4">
                  <c:v>1841.5059999999999</c:v>
                </c:pt>
                <c:pt idx="5">
                  <c:v>1622.3950000000002</c:v>
                </c:pt>
                <c:pt idx="6">
                  <c:v>1673.9489999999998</c:v>
                </c:pt>
                <c:pt idx="7">
                  <c:v>1600.8020000000001</c:v>
                </c:pt>
                <c:pt idx="8">
                  <c:v>1818.9830000000002</c:v>
                </c:pt>
                <c:pt idx="9">
                  <c:v>1691.4430000000002</c:v>
                </c:pt>
                <c:pt idx="10">
                  <c:v>1600.27</c:v>
                </c:pt>
                <c:pt idx="11">
                  <c:v>1653.821</c:v>
                </c:pt>
                <c:pt idx="12">
                  <c:v>1739.2859999999998</c:v>
                </c:pt>
                <c:pt idx="13">
                  <c:v>1817.1260000000002</c:v>
                </c:pt>
                <c:pt idx="14">
                  <c:v>2465.565</c:v>
                </c:pt>
                <c:pt idx="15">
                  <c:v>1150.893</c:v>
                </c:pt>
                <c:pt idx="16">
                  <c:v>1752.952</c:v>
                </c:pt>
                <c:pt idx="17">
                  <c:v>1418.484</c:v>
                </c:pt>
                <c:pt idx="18">
                  <c:v>1907.182</c:v>
                </c:pt>
                <c:pt idx="19">
                  <c:v>1729.8220000000003</c:v>
                </c:pt>
                <c:pt idx="20">
                  <c:v>1680.202</c:v>
                </c:pt>
                <c:pt idx="21">
                  <c:v>1782.3390000000002</c:v>
                </c:pt>
                <c:pt idx="22">
                  <c:v>1827.535</c:v>
                </c:pt>
                <c:pt idx="23">
                  <c:v>1756.7259999999999</c:v>
                </c:pt>
                <c:pt idx="24">
                  <c:v>1639.297</c:v>
                </c:pt>
                <c:pt idx="25">
                  <c:v>1790.3129999999999</c:v>
                </c:pt>
                <c:pt idx="26">
                  <c:v>1788.423</c:v>
                </c:pt>
                <c:pt idx="27">
                  <c:v>1761.5949999999998</c:v>
                </c:pt>
                <c:pt idx="28">
                  <c:v>1699.627</c:v>
                </c:pt>
                <c:pt idx="29">
                  <c:v>1759.72</c:v>
                </c:pt>
                <c:pt idx="30">
                  <c:v>1918.4440000000002</c:v>
                </c:pt>
                <c:pt idx="31">
                  <c:v>2132.568</c:v>
                </c:pt>
                <c:pt idx="32">
                  <c:v>1701.895</c:v>
                </c:pt>
                <c:pt idx="33">
                  <c:v>1692.5280000000002</c:v>
                </c:pt>
                <c:pt idx="34">
                  <c:v>1839.238</c:v>
                </c:pt>
                <c:pt idx="35">
                  <c:v>1798.749</c:v>
                </c:pt>
                <c:pt idx="36">
                  <c:v>1688.7649999999996</c:v>
                </c:pt>
                <c:pt idx="37">
                  <c:v>1744.503</c:v>
                </c:pt>
                <c:pt idx="38">
                  <c:v>1759.077</c:v>
                </c:pt>
                <c:pt idx="39">
                  <c:v>1787.38</c:v>
                </c:pt>
                <c:pt idx="40">
                  <c:v>1644.2189999999998</c:v>
                </c:pt>
                <c:pt idx="41">
                  <c:v>2103.72</c:v>
                </c:pt>
                <c:pt idx="42">
                  <c:v>1839.01</c:v>
                </c:pt>
                <c:pt idx="43">
                  <c:v>1791.3680000000002</c:v>
                </c:pt>
                <c:pt idx="44">
                  <c:v>1699.4189999999999</c:v>
                </c:pt>
                <c:pt idx="45">
                  <c:v>1673.173</c:v>
                </c:pt>
                <c:pt idx="46">
                  <c:v>1608.901</c:v>
                </c:pt>
                <c:pt idx="47">
                  <c:v>1850.3999999999999</c:v>
                </c:pt>
                <c:pt idx="48">
                  <c:v>1718.4640000000002</c:v>
                </c:pt>
                <c:pt idx="49">
                  <c:v>1716.9139999999998</c:v>
                </c:pt>
                <c:pt idx="50">
                  <c:v>2059.549</c:v>
                </c:pt>
                <c:pt idx="51">
                  <c:v>1916.969</c:v>
                </c:pt>
                <c:pt idx="52">
                  <c:v>1891.557</c:v>
                </c:pt>
                <c:pt idx="53">
                  <c:v>1797.613</c:v>
                </c:pt>
                <c:pt idx="54">
                  <c:v>1918.8360000000002</c:v>
                </c:pt>
                <c:pt idx="55">
                  <c:v>1742.7150000000001</c:v>
                </c:pt>
                <c:pt idx="56">
                  <c:v>1816.0899999999997</c:v>
                </c:pt>
                <c:pt idx="57">
                  <c:v>1808.214</c:v>
                </c:pt>
                <c:pt idx="58">
                  <c:v>1730.404</c:v>
                </c:pt>
                <c:pt idx="59">
                  <c:v>1701.316</c:v>
                </c:pt>
                <c:pt idx="60">
                  <c:v>1930.61</c:v>
                </c:pt>
                <c:pt idx="61">
                  <c:v>1831.5620000000004</c:v>
                </c:pt>
                <c:pt idx="62">
                  <c:v>1704.78</c:v>
                </c:pt>
                <c:pt idx="63">
                  <c:v>1720.314</c:v>
                </c:pt>
                <c:pt idx="64">
                  <c:v>1878.742</c:v>
                </c:pt>
              </c:numCache>
            </c:numRef>
          </c:val>
          <c:smooth val="0"/>
        </c:ser>
        <c:ser>
          <c:idx val="1"/>
          <c:order val="1"/>
          <c:tx>
            <c:strRef>
              <c:f>Sheet1!$C$1</c:f>
              <c:strCache>
                <c:ptCount val="1"/>
                <c:pt idx="0">
                  <c:v>Forecast</c:v>
                </c:pt>
              </c:strCache>
            </c:strRef>
          </c:tx>
          <c:spPr>
            <a:ln w="31750">
              <a:solidFill>
                <a:srgbClr val="8A4FD8"/>
              </a:solidFill>
              <a:prstDash val="sysDash"/>
            </a:ln>
          </c:spPr>
          <c:marker>
            <c:symbol val="none"/>
          </c:marker>
          <c:cat>
            <c:strRef>
              <c:f>Sheet1!$A$2:$A$76</c:f>
              <c:strCache>
                <c:ptCount val="75"/>
                <c:pt idx="0">
                  <c:v/>
                </c:pt>
                <c:pt idx="1">
                  <c:v>Jan ’25</c:v>
                </c:pt>
                <c:pt idx="2">
                  <c:v/>
                </c:pt>
                <c:pt idx="3">
                  <c:v/>
                </c:pt>
                <c:pt idx="4">
                  <c:v/>
                </c:pt>
                <c:pt idx="5">
                  <c:v/>
                </c:pt>
                <c:pt idx="6">
                  <c:v/>
                </c:pt>
                <c:pt idx="7">
                  <c:v/>
                </c:pt>
                <c:pt idx="8">
                  <c:v/>
                </c:pt>
                <c:pt idx="9">
                  <c:v/>
                </c:pt>
                <c:pt idx="10">
                  <c:v/>
                </c:pt>
                <c:pt idx="11">
                  <c:v/>
                </c:pt>
                <c:pt idx="12">
                  <c:v/>
                </c:pt>
                <c:pt idx="13">
                  <c:v/>
                </c:pt>
                <c:pt idx="14">
                  <c:v>Apr ’25</c:v>
                </c:pt>
                <c:pt idx="15">
                  <c:v/>
                </c:pt>
                <c:pt idx="16">
                  <c:v/>
                </c:pt>
                <c:pt idx="17">
                  <c:v/>
                </c:pt>
                <c:pt idx="18">
                  <c:v/>
                </c:pt>
                <c:pt idx="19">
                  <c:v/>
                </c:pt>
                <c:pt idx="20">
                  <c:v/>
                </c:pt>
                <c:pt idx="21">
                  <c:v/>
                </c:pt>
                <c:pt idx="22">
                  <c:v/>
                </c:pt>
                <c:pt idx="23">
                  <c:v/>
                </c:pt>
                <c:pt idx="24">
                  <c:v/>
                </c:pt>
                <c:pt idx="25">
                  <c:v/>
                </c:pt>
                <c:pt idx="26">
                  <c:v/>
                </c:pt>
                <c:pt idx="27">
                  <c:v>Jul ’25</c:v>
                </c:pt>
                <c:pt idx="28">
                  <c:v/>
                </c:pt>
                <c:pt idx="29">
                  <c:v/>
                </c:pt>
                <c:pt idx="30">
                  <c:v/>
                </c:pt>
                <c:pt idx="31">
                  <c:v/>
                </c:pt>
                <c:pt idx="32">
                  <c:v/>
                </c:pt>
                <c:pt idx="33">
                  <c:v/>
                </c:pt>
                <c:pt idx="34">
                  <c:v/>
                </c:pt>
                <c:pt idx="35">
                  <c:v/>
                </c:pt>
                <c:pt idx="36">
                  <c:v/>
                </c:pt>
                <c:pt idx="37">
                  <c:v/>
                </c:pt>
                <c:pt idx="38">
                  <c:v/>
                </c:pt>
                <c:pt idx="39">
                  <c:v/>
                </c:pt>
                <c:pt idx="40">
                  <c:v>Oct ’25</c:v>
                </c:pt>
                <c:pt idx="41">
                  <c:v/>
                </c:pt>
                <c:pt idx="42">
                  <c:v/>
                </c:pt>
                <c:pt idx="43">
                  <c:v/>
                </c:pt>
                <c:pt idx="44">
                  <c:v/>
                </c:pt>
                <c:pt idx="45">
                  <c:v/>
                </c:pt>
                <c:pt idx="46">
                  <c:v/>
                </c:pt>
                <c:pt idx="47">
                  <c:v/>
                </c:pt>
                <c:pt idx="48">
                  <c:v/>
                </c:pt>
                <c:pt idx="49">
                  <c:v/>
                </c:pt>
                <c:pt idx="50">
                  <c:v/>
                </c:pt>
                <c:pt idx="51">
                  <c:v/>
                </c:pt>
                <c:pt idx="52">
                  <c:v/>
                </c:pt>
                <c:pt idx="53">
                  <c:v>Jan ’26</c:v>
                </c:pt>
                <c:pt idx="54">
                  <c:v/>
                </c:pt>
                <c:pt idx="55">
                  <c:v/>
                </c:pt>
                <c:pt idx="56">
                  <c:v/>
                </c:pt>
                <c:pt idx="57">
                  <c:v/>
                </c:pt>
                <c:pt idx="58">
                  <c:v/>
                </c:pt>
                <c:pt idx="59">
                  <c:v/>
                </c:pt>
                <c:pt idx="60">
                  <c:v/>
                </c:pt>
                <c:pt idx="61">
                  <c:v/>
                </c:pt>
                <c:pt idx="62">
                  <c:v/>
                </c:pt>
                <c:pt idx="63">
                  <c:v/>
                </c:pt>
                <c:pt idx="64">
                  <c:v/>
                </c:pt>
                <c:pt idx="65">
                  <c:v/>
                </c:pt>
                <c:pt idx="66">
                  <c:v>Apr ’26</c:v>
                </c:pt>
                <c:pt idx="67">
                  <c:v/>
                </c:pt>
                <c:pt idx="68">
                  <c:v/>
                </c:pt>
                <c:pt idx="69">
                  <c:v/>
                </c:pt>
                <c:pt idx="70">
                  <c:v/>
                </c:pt>
                <c:pt idx="71">
                  <c:v/>
                </c:pt>
                <c:pt idx="72">
                  <c:v/>
                </c:pt>
                <c:pt idx="73">
                  <c:v/>
                </c:pt>
                <c:pt idx="74">
                  <c:v/>
                </c:pt>
              </c:strCache>
            </c:strRef>
          </c:cat>
          <c:val>
            <c:numRef>
              <c:f>Sheet1!$C$2:$C$76</c:f>
              <c:numCache>
                <c:formatCode>General</c:formatCode>
                <c:ptCount val="75"/>
                <c:pt idx="64">
                  <c:v>1878.742</c:v>
                </c:pt>
                <c:pt idx="65">
                  <c:v>1874.3869999999997</c:v>
                </c:pt>
                <c:pt idx="66">
                  <c:v>2580.9130000000005</c:v>
                </c:pt>
                <c:pt idx="67">
                  <c:v>1229.891</c:v>
                </c:pt>
                <c:pt idx="68">
                  <c:v>1884.6599999999999</c:v>
                </c:pt>
                <c:pt idx="69">
                  <c:v>1834.321</c:v>
                </c:pt>
                <c:pt idx="70">
                  <c:v>1755.765</c:v>
                </c:pt>
                <c:pt idx="71">
                  <c:v>1758.409</c:v>
                </c:pt>
                <c:pt idx="72">
                  <c:v>1792.025</c:v>
                </c:pt>
                <c:pt idx="73">
                  <c:v>2169.4890000000005</c:v>
                </c:pt>
                <c:pt idx="74">
                  <c:v>1801.94</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D3E0DC"/>
            </a:solidFill>
          </a:ln>
        </c:spPr>
        <c:txPr>
          <a:bodyPr/>
          <a:lstStyle/>
          <a:p>
            <a:pPr>
              <a:defRPr sz="1100">
                <a:solidFill>
                  <a:srgbClr val="66736B"/>
                </a:solidFill>
              </a:defRPr>
            </a:pPr>
          </a:p>
        </c:txPr>
        <c:crossAx val="2140495176"/>
        <c:crosses val="autoZero"/>
        <c:auto val="1"/>
        <c:lblAlgn val="ctr"/>
        <c:lblOffset val="100"/>
        <c:noMultiLvlLbl val="0"/>
      </c:catAx>
      <c:valAx>
        <c:axId val="2140495176"/>
        <c:scaling>
          <c:max val="2800.0"/>
          <c:min val="1000.0"/>
        </c:scaling>
        <c:delete val="0"/>
        <c:axPos val="l"/>
        <c:majorGridlines>
          <c:spPr>
            <a:ln w="9525">
              <a:solidFill>
                <a:srgbClr val="E3EBE9"/>
              </a:solidFill>
            </a:ln>
          </c:spPr>
        </c:majorGridlines>
        <c:numFmt formatCode="#,##0" sourceLinked="0"/>
        <c:majorTickMark val="none"/>
        <c:minorTickMark val="none"/>
        <c:tickLblPos val="nextTo"/>
        <c:spPr>
          <a:ln>
            <a:noFill/>
          </a:ln>
        </c:spPr>
        <c:txPr>
          <a:bodyPr/>
          <a:lstStyle/>
          <a:p>
            <a:pPr>
              <a:defRPr sz="1100">
                <a:solidFill>
                  <a:srgbClr val="66736B"/>
                </a:solidFill>
              </a:defRPr>
            </a:pPr>
          </a:p>
        </c:txPr>
        <c:crossAx val="2118791784"/>
        <c:crosses val="autoZero"/>
        <c:majorUnit val="600.0"/>
      </c:valAx>
    </c:plotArea>
    <c:plotVisOnly val="1"/>
    <c:dispBlanksAs val="gap"/>
    <c:showDLblsOverMax val="0"/>
  </c:chart>
  <c:txPr>
    <a:bodyPr/>
    <a:lstStyle/>
    <a:p>
      <a:pPr>
        <a:defRPr sz="1100">
          <a:solidFill>
            <a:srgbClr val="4C5851"/>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(product) · about 39 s</a:t>
            </a:r>
          </a:p>
          <a:p>
            <a:r>
              <a:t>On screen: Opens on the night scene: 'Peliyagoda depot · 3:30 AM' and the driver's phone opening tonight's run. Click: 'Ground Operations' appears, the other letters fall away, G and O join into 'GO', GO grows into 'Waypoint GO', the truck drives in and the tagline settles.</a:t>
            </a:r>
          </a:p>
          <a:p/>
          <a:p>
            <a:r>
              <a:t>Three-thirty in the morning at the Peliyagoda depot. Eighty-five orders are waiting. Five of the depot's nine refrigerated vehicles are in the workshop. And every Fresh store must be stocked before eight. (pause) Today, one dispatcher solves this with a spreadsheet, a phone and memory. (pause) We are Team Xception, and we call this work [CLICK] Ground Operations: everything between the order and the shelf. (pause) G-O. (pause) This is Waypoint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(product) · about 33 s</a:t>
            </a:r>
          </a:p>
          <a:p>
            <a:r>
              <a:t>On screen: 'The problem': the network on the left. Click 1: how a delivery runs today, row by row. Click 2: the three consequences.</a:t>
            </a:r>
          </a:p>
          <a:p/>
          <a:p>
            <a:r>
              <a:t>Waypoint runs three brands on one fleet: sixty vehicles, two depots, a hundred and twenty stores. [CLICK] Orders arrive by phone and are typed into a spreadsheet. Loaders work from printed lists, drivers from paper, and once a truck leaves, nobody can see it. [CLICK] So Fresh misses its eight o'clock opening, chilled stock spoils, and every dispute rests on memory.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(product) · about 21 s</a:t>
            </a:r>
          </a:p>
          <a:p>
            <a:r>
              <a:t>On screen: The four role apps side by side, each screen playing a short live loop: store manager, dispatcher, loader, driver.</a:t>
            </a:r>
          </a:p>
          <a:p/>
          <a:p>
            <a:r>
              <a:t>Waypoint GO puts the whole delivery day in one app, for the four people who touch every order: the store manager, the dispatcher, the loader and the driver. (pause) One record, from order to receipt. Every handover accounted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(product) · about 34 s</a:t>
            </a:r>
          </a:p>
          <a:p>
            <a:r>
              <a:t>On screen: Day and night driver screens doing the same steps together, and what each colour means.</a:t>
            </a:r>
          </a:p>
          <a:p/>
          <a:p>
            <a:r>
              <a:t>In the Designathon, we designed it for people who start work at three in the morning. Night mode, so drivers and loaders are not dazzled. One action per screen, and slide to confirm, so nothing is tapped by accident. Colour only where it means something: green for the next step, amber for attention, red for late, always with words. And it speaks Sinhala, Tamil and English.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(product) · about 73 s</a:t>
            </a:r>
          </a:p>
          <a:p>
            <a:r>
              <a:t>On screen: Clicks 1–4 open Plan, Load, Deliver and Receive; each screen plays by itself, and the delivery record on the right gains a line each time.</a:t>
            </a:r>
          </a:p>
          <a:p/>
          <a:p>
            <a:r>
              <a:t>In the Hackathon, we built it, and it is live. Here is one delivery day. [CLICK] Four p.m.: orders close, and the dispatcher presses Generate. In seconds, GO places every order it can, within weight, volume, refrigeration and delivery windows. Every order that has to wait shows the rule that stopped it. [optional: It even found a plan with one vehicle fewer.] [CLICK] Three a.m.: the loader packs the last stop first, and a damaged carton is flagged before the truck leaves. [CLICK] On the road, the driver sees the next stop and the unloading time. With no signal, the handover is saved on the phone and sent when coverage returns. [CLICK] And the store knows the truck arrives at five forty-eight, and confirms with a one-time PIN. (pause) That is the product. [Speaker 2's name] will show you how it thinks.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(intelligence and business) · about 44 s</a:t>
            </a:r>
          </a:p>
          <a:p>
            <a:r>
              <a:t>On screen: Three intelligence cards. Click 1: the rule, from rules to a person deciding, and the fallback line.</a:t>
            </a:r>
          </a:p>
          <a:p/>
          <a:p>
            <a:r>
              <a:t>Thank you. In the Datathon, we built GO's intelligence, and it now runs inside the app. It does three things: it predicts which deliveries will be late, it forecasts demand ten weeks ahead, and it decides the best plan when trucks run short, and explains why. [CLICK] One rule runs through all of it: rules first, then our own models, a language model only for wording, and a person always decides. If a model is ever down, GO falls back to a safe estimate and says 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(intelligence and business) · about 47 s</a:t>
            </a:r>
          </a:p>
          <a:p>
            <a:r>
              <a:t>On screen: Click 1: the two results. Click 2: the risk review panel from the app.</a:t>
            </a:r>
          </a:p>
          <a:p/>
          <a:p>
            <a:r>
              <a:t>First, prediction. We replay every planned route hundreds of times, stop by stop, alongside a machine-learning model. [CLICK] On six weeks it had never seen, it flagged seven in ten late deliveries before the truck left. And it raised seventy-four per cent fewer false alarms than a simple method. [optional: On average, its unloading-time estimate is within four minutes.] [CLICK] Before publishing, the dispatcher sees each risky stop and why, and keeps or swaps it. So the problem is caught at four in the afternoon, not at nine the next morning.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(intelligence and business) · about 46 s</a:t>
            </a:r>
          </a:p>
          <a:p>
            <a:r>
              <a:t>On screen: Weekly demand since January 2025 and the 10-week forecast. Click 1: the error. Click 2: the New Year peak, the holiday dip and what the app turns them into.</a:t>
            </a:r>
          </a:p>
          <a:p/>
          <a:p>
            <a:r>
              <a:t>Second, demand. The forecast builds each week from the bottom up: which stores will order, on which days, and how much. It learns paydays, the monsoon and festivals. [CLICK] In testing it was off by about three per cent; the usual 'same week last year' method is off by eight. [CLICK] It sees the Sinhala and Tamil New Year rush, almost forty per cent above a normal week, and turns it into the trucks, refrigerated trucks and drivers to book in advance. Paydays and festivals stop being surprises.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(intelligence and business) · about 50 s</a:t>
            </a:r>
          </a:p>
          <a:p>
            <a:r>
              <a:t>On screen: 77 of 85; 79 is the most possible. Click 1: refrigerated space is the bottleneck. Click 2: the app's explanation, then the what-if.</a:t>
            </a:r>
          </a:p>
          <a:p/>
          <a:p>
            <a:r>
              <a:t>Third, decisions. On the competition's peak day, eighty-five orders were waiting, and an exact optimiser proved that at most seventy-nine could go. Ours serves seventy-seven. The other two wait by choice, so no store is skipped two days running. [CLICK] The real limit is refrigerated space. [optional: In two years of history, nearly every delayed order was a Peliyagoda chilled order.] [CLICK] So in the app, every waiting order shows why, and the dispatcher can ask: what if one refrigerated truck comes back from the workshop? Nine more orders, and almost fifty per cent more chilled goods.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(intelligence and business) · about 44 s</a:t>
            </a:r>
          </a:p>
          <a:p>
            <a:r>
              <a:t>On screen: Before and after for each role. Click 1: value, cost to build and run, payback.</a:t>
            </a:r>
          </a:p>
          <a:p/>
          <a:p>
            <a:r>
              <a:t>What changes for Waypoint? One explained plan instead of a spreadsheet. Problems caught before departure, not at the store. Proof for every delivery. And capacity known weeks ahead. [CLICK] We estimate the value at about twenty-six and a half million rupees a year, mostly from fuel and from Fresh on the shelf by eight. It costs about eight to twelve million rupees to build, and about nineteen thousand rupees a month to run. [optional: Payback is about five months.] These are estimates; the pilot will measure each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(intelligence and business) · about 38 s</a:t>
            </a:r>
          </a:p>
          <a:p>
            <a:r>
              <a:t>On screen: Pilot steps and why Kandy. Click 1: the four success numbers. Click 2: the closing line.</a:t>
            </a:r>
          </a:p>
          <a:p/>
          <a:p>
            <a:r>
              <a:t>So our ask: an eight-week pilot at the Kandy hub, four weeks in shadow, then four weeks live. [CLICK] We will judge it on four numbers. Fresh before eight: up five points. Dispatcher calls: down thirty per cent. Write-offs: down twenty per cent. And at least nine in ten stops recorded in the app. If we hit them, Peliyagoda follows. [CLICK] Waypoint GO: Ground Operations, made intelligent. (pause) Thank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(Stays on screen during questions. Both speakers answer; use the backup slides after this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index. Click a row, or type its number and press Enter, to jump to it. Each backup has an Index button to come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One responsive web app (PWA) for all roles; Spring Boot modular monolith; PostgreSQL with row-level security; FastAPI model service with checksums and a fallback; optional language-model gateway; MCP for AI assistants; one VPS, Docker Compose.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72 in the app and 77 in the Datathon? The app also enforces each store's delivery window and fuel quota; the Datathon plan used the booklet's time budgets and let 3 stops arrive 16 to 87 minutes late. Both are correct for their rules.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service time = leave time minus the later of arrival and window open (waiting is not service). Late = arrival after the window closes. Holdout: last 6 weeks in date order. Without road conditions (as at planning time) AUC is 0.957: the honest production figure.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WAPE = total absolute error divided by total actual volume. 15 selection starts, 6 test starts, then the latest 6 weeks. Regression chosen: simplest of the statistically tied models (Diebold–Mariano with Holm). Tech is the weak spot (about 30%), but it is 3% of volume.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deferrals were unavoidable (one order bigger than any vehicle and five chilled orders with no reefer room or time). Two were a choice: serving yesterday's deferred orders first cost 2 orders and 9.76 m³. Recommendation: release VEH004 and VEH005.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keeps competition-trained models off (ML_ALLOW_DATATHON=false) until a model trained on Waypoint's own deliveries passes the backtest. The language-model gateway is off by default and only rewords facts the system already holds.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action is saved on the device with a command ID and replayed exactly once. A reload or expired session keeps the queue. Conflicts show as Needs review; nothing is silently overwritten.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Fuel and Fresh on time are about 64% of the expected value, so the pilot measures those first. Labour savings are small because wages are low. Hosting and AI services are billed in US dollars; they are converted at LKR 328 per US dollar (5 Oct 2026).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business owner funds each phase gate; Head of Distribution decides the pilot go/no-go; Finance owns write-off thresholds, fuel and the data licence; the engineering lead owns technical gates.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selling to anyone else, GO needs multi-tenancy (row-level security is per person today, not per customer company). That is a decision after the pilot.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Departures are listed in the README with reasons, for example: vehicle pick-up by QR not built (dispatch assigns the vehicle); fuel logging replaced by the Fuel Pass QR; explanations added as pop-ups.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from the repository's dev branch. CI runs on every pull request to dev and main and before every deploy.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during Q&amp;A. Round in speech: 'about three per cent', 'seven in ten'.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microsoft.com/office/2007/relationships/media" Target="../media/media2.mp4"/><Relationship Id="rId9" Type="http://schemas.openxmlformats.org/officeDocument/2006/relationships/video" Target="../media/media2.mp4"/><Relationship Id="rId10"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5.png"/><Relationship Id="rId6" Type="http://schemas.microsoft.com/office/2007/relationships/media" Target="../media/media4.mp4"/><Relationship Id="rId7" Type="http://schemas.openxmlformats.org/officeDocument/2006/relationships/video" Target="../media/media4.mp4"/><Relationship Id="rId8" Type="http://schemas.openxmlformats.org/officeDocument/2006/relationships/image" Target="../media/image6.png"/><Relationship Id="rId9" Type="http://schemas.microsoft.com/office/2007/relationships/media" Target="../media/media5.mp4"/><Relationship Id="rId10" Type="http://schemas.openxmlformats.org/officeDocument/2006/relationships/video" Target="../media/media5.mp4"/><Relationship Id="rId11" Type="http://schemas.openxmlformats.org/officeDocument/2006/relationships/image" Target="../media/image7.png"/><Relationship Id="rId12" Type="http://schemas.microsoft.com/office/2007/relationships/media" Target="../media/media6.mp4"/><Relationship Id="rId13" Type="http://schemas.openxmlformats.org/officeDocument/2006/relationships/video" Target="../media/media6.mp4"/><Relationship Id="rId1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microsoft.com/office/2007/relationships/media" Target="../media/media7.mp4"/><Relationship Id="rId4" Type="http://schemas.openxmlformats.org/officeDocument/2006/relationships/video" Target="../media/media7.mp4"/><Relationship Id="rId5" Type="http://schemas.openxmlformats.org/officeDocument/2006/relationships/image" Target="../media/image8.png"/><Relationship Id="rId6" Type="http://schemas.microsoft.com/office/2007/relationships/media" Target="../media/media8.mp4"/><Relationship Id="rId7" Type="http://schemas.openxmlformats.org/officeDocument/2006/relationships/video" Target="../media/media8.mp4"/><Relationship Id="rId8"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6.png"/><Relationship Id="rId6" Type="http://schemas.microsoft.com/office/2007/relationships/media" Target="../media/media5.mp4"/><Relationship Id="rId7" Type="http://schemas.openxmlformats.org/officeDocument/2006/relationships/video" Target="../media/media5.mp4"/><Relationship Id="rId8" Type="http://schemas.openxmlformats.org/officeDocument/2006/relationships/image" Target="../media/image7.png"/><Relationship Id="rId9" Type="http://schemas.microsoft.com/office/2007/relationships/media" Target="../media/media6.mp4"/><Relationship Id="rId10" Type="http://schemas.openxmlformats.org/officeDocument/2006/relationships/video" Target="../media/media6.mp4"/><Relationship Id="rId11" Type="http://schemas.openxmlformats.org/officeDocument/2006/relationships/image" Target="../media/image4.png"/><Relationship Id="rId12" Type="http://schemas.microsoft.com/office/2007/relationships/media" Target="../media/media9.mp4"/><Relationship Id="rId13" Type="http://schemas.openxmlformats.org/officeDocument/2006/relationships/video" Target="../media/media9.mp4"/><Relationship Id="rId14" Type="http://schemas.openxmlformats.org/officeDocument/2006/relationships/image" Target="../media/image9.png"/><Relationship Id="rId15" Type="http://schemas.openxmlformats.org/officeDocument/2006/relationships/image" Target="../media/image10.jpg"/><Relationship Id="rId16" Type="http://schemas.microsoft.com/office/2007/relationships/media" Target="../media/media10.mp4"/><Relationship Id="rId17" Type="http://schemas.openxmlformats.org/officeDocument/2006/relationships/video" Target="../media/media10.mp4"/><Relationship Id="rId1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14.xml"/><Relationship Id="rId4" Type="http://schemas.openxmlformats.org/officeDocument/2006/relationships/slide" Target="slide15.xml"/><Relationship Id="rId5" Type="http://schemas.openxmlformats.org/officeDocument/2006/relationships/slide" Target="slide16.xml"/><Relationship Id="rId6" Type="http://schemas.openxmlformats.org/officeDocument/2006/relationships/slide" Target="slide17.xml"/><Relationship Id="rId7" Type="http://schemas.openxmlformats.org/officeDocument/2006/relationships/slide" Target="slide18.xml"/><Relationship Id="rId8" Type="http://schemas.openxmlformats.org/officeDocument/2006/relationships/slide" Target="slide19.xml"/><Relationship Id="rId9" Type="http://schemas.openxmlformats.org/officeDocument/2006/relationships/slide" Target="slide20.xml"/><Relationship Id="rId10" Type="http://schemas.openxmlformats.org/officeDocument/2006/relationships/slide" Target="slide21.xml"/><Relationship Id="rId11" Type="http://schemas.openxmlformats.org/officeDocument/2006/relationships/slide" Target="slide22.xml"/><Relationship Id="rId12" Type="http://schemas.openxmlformats.org/officeDocument/2006/relationships/slide" Target="slide23.xml"/><Relationship Id="rId13" Type="http://schemas.openxmlformats.org/officeDocument/2006/relationships/slide" Target="slide24.xml"/><Relationship Id="rId14" Type="http://schemas.openxmlformats.org/officeDocument/2006/relationships/slide" Target="slide25.xml"/><Relationship Id="rId15" Type="http://schemas.openxmlformats.org/officeDocument/2006/relationships/slide" Target="slide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13.xml"/><Relationship Id="rId4" Type="http://schemas.microsoft.com/office/2007/relationships/media" Target="../media/media9.mp4"/><Relationship Id="rId5" Type="http://schemas.openxmlformats.org/officeDocument/2006/relationships/video" Target="../media/media9.mp4"/><Relationship Id="rId6"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1B08"/>
        </a:solidFill>
        <a:effectLst/>
      </p:bgPr>
    </p:bg>
    <p:spTree>
      <p:nvGrpSpPr>
        <p:cNvPr id="1" name=""/>
        <p:cNvGrpSpPr/>
        <p:nvPr/>
      </p:nvGrpSpPr>
      <p:grpSpPr/>
      <p:pic>
        <p:nvPicPr>
          <p:cNvPr id="2" name="s1 Live screen: title">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12191695" cy="6858000"/>
          </a:xfrm>
          <a:prstGeom prst="rect">
            <a:avLst/>
          </a:prstGeom>
        </p:spPr>
      </p:pic>
      <p:sp>
        <p:nvSpPr>
          <p:cNvPr id="3" name="s1 TextBox 2"/>
          <p:cNvSpPr txBox="1"/>
          <p:nvPr/>
        </p:nvSpPr>
        <p:spPr>
          <a:xfrm>
            <a:off x="640080" y="548640"/>
            <a:ext cx="7315200" cy="274320"/>
          </a:xfrm>
          <a:prstGeom prst="rect">
            <a:avLst/>
          </a:prstGeom>
          <a:noFill/>
        </p:spPr>
        <p:txBody>
          <a:bodyPr wrap="square" lIns="0" rIns="0" tIns="0" bIns="0" anchor="t">
            <a:spAutoFit/>
          </a:bodyPr>
          <a:lstStyle/>
          <a:p>
            <a:pPr algn="l">
              <a:lnSpc>
                <a:spcPct val="108000"/>
              </a:lnSpc>
            </a:pPr>
            <a:r>
              <a:rPr sz="1250" b="1" i="0" spc="160">
                <a:solidFill>
                  <a:srgbClr val="4FD8A4"/>
                </a:solidFill>
                <a:latin typeface="Arial"/>
              </a:rPr>
              <a:t>PELIYAGODA DEPOT · 3:30 AM</a:t>
            </a:r>
          </a:p>
        </p:txBody>
      </p:sp>
      <p:pic>
        <p:nvPicPr>
          <p:cNvPr id="4" name="s1 Logo truck" descr="logo_truck.png"/>
          <p:cNvPicPr>
            <a:picLocks noChangeAspect="1"/>
          </p:cNvPicPr>
          <p:nvPr/>
        </p:nvPicPr>
        <p:blipFill>
          <a:blip r:embed="rId6"/>
          <a:stretch>
            <a:fillRect/>
          </a:stretch>
        </p:blipFill>
        <p:spPr>
          <a:xfrm>
            <a:off x="640080" y="1051560"/>
            <a:ext cx="4297680" cy="2206743"/>
          </a:xfrm>
          <a:prstGeom prst="rect">
            <a:avLst/>
          </a:prstGeom>
        </p:spPr>
      </p:pic>
      <p:pic>
        <p:nvPicPr>
          <p:cNvPr id="5" name="s1 Logo speed lines" descr="logo_lines.png"/>
          <p:cNvPicPr>
            <a:picLocks noChangeAspect="1"/>
          </p:cNvPicPr>
          <p:nvPr/>
        </p:nvPicPr>
        <p:blipFill>
          <a:blip r:embed="rId7"/>
          <a:stretch>
            <a:fillRect/>
          </a:stretch>
        </p:blipFill>
        <p:spPr>
          <a:xfrm>
            <a:off x="640080" y="1051560"/>
            <a:ext cx="4297680" cy="2206743"/>
          </a:xfrm>
          <a:prstGeom prst="rect">
            <a:avLst/>
          </a:prstGeom>
        </p:spPr>
      </p:pic>
      <p:sp>
        <p:nvSpPr>
          <p:cNvPr id="6" name="s1 Title"/>
          <p:cNvSpPr txBox="1"/>
          <p:nvPr/>
        </p:nvSpPr>
        <p:spPr>
          <a:xfrm>
            <a:off x="640080" y="3578342"/>
            <a:ext cx="6949440" cy="1005840"/>
          </a:xfrm>
          <a:prstGeom prst="rect">
            <a:avLst/>
          </a:prstGeom>
          <a:noFill/>
        </p:spPr>
        <p:txBody>
          <a:bodyPr wrap="square" lIns="0" rIns="0" tIns="0" bIns="0" anchor="t">
            <a:spAutoFit/>
          </a:bodyPr>
          <a:lstStyle/>
          <a:p>
            <a:pPr algn="l">
              <a:lnSpc>
                <a:spcPct val="108000"/>
              </a:lnSpc>
            </a:pPr>
            <a:r>
              <a:rPr sz="6600" b="1" i="0" spc="-180">
                <a:solidFill>
                  <a:srgbClr val="FFFFFF"/>
                </a:solidFill>
                <a:latin typeface="Arial"/>
              </a:rPr>
              <a:t>Waypoint </a:t>
            </a:r>
            <a:r>
              <a:rPr sz="6600" b="1" i="0" spc="-180">
                <a:solidFill>
                  <a:srgbClr val="00E169"/>
                </a:solidFill>
                <a:latin typeface="Arial"/>
              </a:rPr>
              <a:t>GO</a:t>
            </a:r>
          </a:p>
        </p:txBody>
      </p:sp>
      <p:sp>
        <p:nvSpPr>
          <p:cNvPr id="7" name="s1 Tagline"/>
          <p:cNvSpPr txBox="1"/>
          <p:nvPr/>
        </p:nvSpPr>
        <p:spPr>
          <a:xfrm>
            <a:off x="640080" y="4675622"/>
            <a:ext cx="7315200" cy="475488"/>
          </a:xfrm>
          <a:prstGeom prst="rect">
            <a:avLst/>
          </a:prstGeom>
          <a:noFill/>
        </p:spPr>
        <p:txBody>
          <a:bodyPr wrap="square" lIns="0" rIns="0" tIns="0" bIns="0" anchor="t">
            <a:spAutoFit/>
          </a:bodyPr>
          <a:lstStyle/>
          <a:p>
            <a:pPr algn="l">
              <a:lnSpc>
                <a:spcPct val="108000"/>
              </a:lnSpc>
            </a:pPr>
            <a:r>
              <a:rPr sz="2600" b="1" i="0">
                <a:solidFill>
                  <a:srgbClr val="00E169"/>
                </a:solidFill>
                <a:latin typeface="Arial"/>
              </a:rPr>
              <a:t>G</a:t>
            </a:r>
            <a:r>
              <a:rPr sz="2600" b="0" i="0">
                <a:solidFill>
                  <a:srgbClr val="FFFFFF"/>
                </a:solidFill>
                <a:latin typeface="Arial"/>
              </a:rPr>
              <a:t>round </a:t>
            </a:r>
            <a:r>
              <a:rPr sz="2600" b="1" i="0">
                <a:solidFill>
                  <a:srgbClr val="00E169"/>
                </a:solidFill>
                <a:latin typeface="Arial"/>
              </a:rPr>
              <a:t>O</a:t>
            </a:r>
            <a:r>
              <a:rPr sz="2600" b="0" i="0">
                <a:solidFill>
                  <a:srgbClr val="FFFFFF"/>
                </a:solidFill>
                <a:latin typeface="Arial"/>
              </a:rPr>
              <a:t>perations</a:t>
            </a:r>
            <a:r>
              <a:rPr sz="2600" b="0" i="0">
                <a:solidFill>
                  <a:srgbClr val="A8BDB0"/>
                </a:solidFill>
                <a:latin typeface="Arial"/>
              </a:rPr>
              <a:t>, made intelligent</a:t>
            </a:r>
          </a:p>
        </p:txBody>
      </p:sp>
      <p:sp>
        <p:nvSpPr>
          <p:cNvPr id="8" name="s1 Team line"/>
          <p:cNvSpPr txBox="1"/>
          <p:nvPr/>
        </p:nvSpPr>
        <p:spPr>
          <a:xfrm>
            <a:off x="640080" y="6053328"/>
            <a:ext cx="7315200" cy="274320"/>
          </a:xfrm>
          <a:prstGeom prst="rect">
            <a:avLst/>
          </a:prstGeom>
          <a:noFill/>
        </p:spPr>
        <p:txBody>
          <a:bodyPr wrap="square" lIns="0" rIns="0" tIns="0" bIns="0" anchor="t">
            <a:spAutoFit/>
          </a:bodyPr>
          <a:lstStyle/>
          <a:p>
            <a:pPr algn="l">
              <a:lnSpc>
                <a:spcPct val="108000"/>
              </a:lnSpc>
            </a:pPr>
            <a:r>
              <a:rPr sz="1250" b="0" i="0">
                <a:solidFill>
                  <a:srgbClr val="A8BDB0"/>
                </a:solidFill>
                <a:latin typeface="Arial"/>
              </a:rPr>
              <a:t>Team Xception · Tech-Triathlon 2026 Grand Finale</a:t>
            </a:r>
          </a:p>
        </p:txBody>
      </p:sp>
      <p:sp>
        <p:nvSpPr>
          <p:cNvPr id="9" name="s1 Rounded Rectangle 8"/>
          <p:cNvSpPr/>
          <p:nvPr/>
        </p:nvSpPr>
        <p:spPr>
          <a:xfrm>
            <a:off x="8915400" y="868680"/>
            <a:ext cx="2529933" cy="525780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pic>
        <p:nvPicPr>
          <p:cNvPr id="10" name="s1 Live screen: intro">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10"/>
          <a:stretch>
            <a:fillRect/>
          </a:stretch>
        </p:blipFill>
        <p:spPr>
          <a:xfrm>
            <a:off x="9012555" y="965834"/>
            <a:ext cx="2335623" cy="5063490"/>
          </a:xfrm>
          <a:prstGeom prst="roundRect">
            <a:avLst>
              <a:gd name="adj" fmla="val 16638"/>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grpId="0">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grpId="0">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42" presetClass="entr" presetSubtype="0" fill="hold" nodeType="withEffect" grpId="0">
                                  <p:stCondLst>
                                    <p:cond delay="2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p:cTn id="14" dur="700" decel="100000" fill="hold"/>
                                        <p:tgtEl>
                                          <p:spTgt spid="9"/>
                                        </p:tgtEl>
                                        <p:attrNameLst>
                                          <p:attrName>ppt_x</p:attrName>
                                        </p:attrNameLst>
                                      </p:cBhvr>
                                      <p:tavLst>
                                        <p:tav tm="0">
                                          <p:val>
                                            <p:strVal val="#ppt_x"/>
                                          </p:val>
                                        </p:tav>
                                        <p:tav tm="100000">
                                          <p:val>
                                            <p:strVal val="#ppt_x"/>
                                          </p:val>
                                        </p:tav>
                                      </p:tavLst>
                                    </p:anim>
                                    <p:anim calcmode="lin" valueType="num">
                                      <p:cBhvr>
                                        <p:cTn id="15" dur="700" decel="100000" fill="hold"/>
                                        <p:tgtEl>
                                          <p:spTgt spid="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20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decel="100000" fill="hold"/>
                                        <p:tgtEl>
                                          <p:spTgt spid="10"/>
                                        </p:tgtEl>
                                        <p:attrNameLst>
                                          <p:attrName>ppt_x</p:attrName>
                                        </p:attrNameLst>
                                      </p:cBhvr>
                                      <p:tavLst>
                                        <p:tav tm="0">
                                          <p:val>
                                            <p:strVal val="#ppt_x"/>
                                          </p:val>
                                        </p:tav>
                                        <p:tav tm="100000">
                                          <p:val>
                                            <p:strVal val="#ppt_x"/>
                                          </p:val>
                                        </p:tav>
                                      </p:tavLst>
                                    </p:anim>
                                    <p:anim calcmode="lin" valueType="num">
                                      <p:cBhvr>
                                        <p:cTn id="20" dur="700" decel="100000" fill="hold"/>
                                        <p:tgtEl>
                                          <p:spTgt spid="10"/>
                                        </p:tgtEl>
                                        <p:attrNameLst>
                                          <p:attrName>ppt_y</p:attrName>
                                        </p:attrNameLst>
                                      </p:cBhvr>
                                      <p:tavLst>
                                        <p:tav tm="0">
                                          <p:val>
                                            <p:strVal val="#ppt_y+.1"/>
                                          </p:val>
                                        </p:tav>
                                        <p:tav tm="100000">
                                          <p:val>
                                            <p:strVal val="#ppt_y"/>
                                          </p:val>
                                        </p:tav>
                                      </p:tavLst>
                                    </p:anim>
                                  </p:childTnLst>
                                </p:cTn>
                              </p:par>
                              <p:par>
                                <p:cTn id="21" presetID="1" presetClass="mediacall" presetSubtype="0" fill="hold" nodeType="withEffect">
                                  <p:stCondLst>
                                    <p:cond delay="200"/>
                                  </p:stCondLst>
                                  <p:childTnLst>
                                    <p:cmd type="call" cmd="playFrom(0.0)">
                                      <p:cBhvr>
                                        <p:cTn id="22" dur="3400" fill="hold"/>
                                        <p:tgtEl>
                                          <p:spTgt spid="10"/>
                                        </p:tgtEl>
                                      </p:cBhvr>
                                    </p:cmd>
                                  </p:childTnLst>
                                </p:cTn>
                              </p:par>
                            </p:childTnLst>
                          </p:cTn>
                        </p:par>
                      </p:childTnLst>
                    </p:cTn>
                  </p:par>
                  <p:par>
                    <p:cTn id="23" fill="hold">
                      <p:stCondLst>
                        <p:cond delay="indefinite"/>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7667" fill="hold"/>
                                        <p:tgtEl>
                                          <p:spTgt spid="2"/>
                                        </p:tgtEl>
                                      </p:cBhvr>
                                    </p:cmd>
                                  </p:childTnLst>
                                </p:cTn>
                              </p:par>
                              <p:par>
                                <p:cTn id="27" presetID="1" presetClass="entr" presetSubtype="0" fill="hold" nodeType="withEffect">
                                  <p:stCondLst>
                                    <p:cond delay="7517"/>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7517"/>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grpId="0">
                                  <p:stCondLst>
                                    <p:cond delay="7517"/>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grpId="0">
                                  <p:stCondLst>
                                    <p:cond delay="7517"/>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5" fill="hold" display="0">
                  <p:stCondLst>
                    <p:cond delay="indefinite"/>
                  </p:stCondLst>
                </p:cTn>
                <p:tgtEl>
                  <p:spTgt spid="2"/>
                </p:tgtEl>
              </p:cMediaNode>
            </p:video>
            <p:video>
              <p:cMediaNode vol="80000" mute="1">
                <p:cTn id="36" fill="hold" display="0">
                  <p:stCondLst>
                    <p:cond delay="indefinite"/>
                  </p:stCondLst>
                </p:cTn>
                <p:tgtEl>
                  <p:spTgt spid="10"/>
                </p:tgtEl>
              </p:cMediaNode>
            </p:video>
          </p:childTnLst>
        </p:cTn>
      </p:par>
    </p:tnLst>
    <p:bldLst>
      <p:bldP spid="3" grpId="0" animBg="1"/>
      <p:bldP spid="8" grpId="0" animBg="1"/>
      <p:bldP spid="9" grpId="0" animBg="1"/>
      <p:bldP spid="6" grpId="0" animBg="1"/>
      <p:bldP spid="7"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 Rounded Rectangle 1"/>
          <p:cNvSpPr/>
          <p:nvPr/>
        </p:nvSpPr>
        <p:spPr>
          <a:xfrm>
            <a:off x="548640" y="457200"/>
            <a:ext cx="1205586"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The problem</a:t>
            </a:r>
          </a:p>
        </p:txBody>
      </p:sp>
      <p:sp>
        <p:nvSpPr>
          <p:cNvPr id="3" name="s2 TextBox 2"/>
          <p:cNvSpPr txBox="1"/>
          <p:nvPr/>
        </p:nvSpPr>
        <p:spPr>
          <a:xfrm>
            <a:off x="548640" y="896112"/>
            <a:ext cx="5669280" cy="1828800"/>
          </a:xfrm>
          <a:prstGeom prst="rect">
            <a:avLst/>
          </a:prstGeom>
          <a:noFill/>
        </p:spPr>
        <p:txBody>
          <a:bodyPr wrap="square" lIns="0" rIns="0" tIns="0" bIns="0" anchor="t">
            <a:spAutoFit/>
          </a:bodyPr>
          <a:lstStyle/>
          <a:p>
            <a:pPr algn="l">
              <a:lnSpc>
                <a:spcPct val="100000"/>
              </a:lnSpc>
            </a:pPr>
            <a:r>
              <a:rPr sz="4000" b="1" i="0" spc="-100">
                <a:solidFill>
                  <a:srgbClr val="031B08"/>
                </a:solidFill>
                <a:latin typeface="Arial"/>
              </a:rPr>
              <a:t>Every morning,</a:t>
            </a:r>
          </a:p>
          <a:p>
            <a:pPr algn="l">
              <a:lnSpc>
                <a:spcPct val="100000"/>
              </a:lnSpc>
            </a:pPr>
            <a:r>
              <a:rPr sz="4000" b="1" i="0" spc="-100">
                <a:solidFill>
                  <a:srgbClr val="031B08"/>
                </a:solidFill>
                <a:latin typeface="Arial"/>
              </a:rPr>
              <a:t>120 stores depend on</a:t>
            </a:r>
          </a:p>
          <a:p>
            <a:pPr algn="l">
              <a:lnSpc>
                <a:spcPct val="100000"/>
              </a:lnSpc>
            </a:pPr>
            <a:r>
              <a:rPr sz="4000" b="1" i="0" spc="-100">
                <a:solidFill>
                  <a:srgbClr val="031B08"/>
                </a:solidFill>
                <a:latin typeface="Arial"/>
              </a:rPr>
              <a:t>one spreadsheet</a:t>
            </a:r>
          </a:p>
        </p:txBody>
      </p:sp>
      <p:grpSp>
        <p:nvGrpSpPr>
          <p:cNvPr id="8" name="s2 Group 7"/>
          <p:cNvGrpSpPr/>
          <p:nvPr/>
        </p:nvGrpSpPr>
        <p:grpSpPr>
          <a:xfrm>
            <a:off x="548640" y="3017520"/>
            <a:ext cx="5669280" cy="896112"/>
            <a:chOff x="548640" y="3017520"/>
            <a:chExt cx="5669280" cy="896112"/>
          </a:xfrm>
        </p:grpSpPr>
        <p:sp>
          <p:nvSpPr>
            <p:cNvPr id="4" name="s2 Rounded Rectangle 3"/>
            <p:cNvSpPr/>
            <p:nvPr/>
          </p:nvSpPr>
          <p:spPr>
            <a:xfrm>
              <a:off x="548640" y="3017520"/>
              <a:ext cx="1182317" cy="365760"/>
            </a:xfrm>
            <a:prstGeom prst="roundRect">
              <a:avLst>
                <a:gd name="adj" fmla="val 50000"/>
              </a:avLst>
            </a:prstGeom>
            <a:solidFill>
              <a:srgbClr val="DDEFEC"/>
            </a:solidFill>
            <a:ln>
              <a:noFill/>
            </a:ln>
            <a:effectLst/>
          </p:spPr>
          <p:txBody>
            <a:bodyPr rtlCol="0" anchor="ctr" lIns="0" rIns="0" tIns="0" bIns="0" wrap="none"/>
            <a:lstStyle/>
            <a:p>
              <a:pPr algn="ctr"/>
              <a:r>
                <a:rPr sz="1300" b="1" i="0">
                  <a:solidFill>
                    <a:srgbClr val="084F4A"/>
                  </a:solidFill>
                  <a:latin typeface="Arial"/>
                </a:rPr>
                <a:t>Fresh · 80</a:t>
              </a:r>
            </a:p>
          </p:txBody>
        </p:sp>
        <p:sp>
          <p:nvSpPr>
            <p:cNvPr id="5" name="s2 Rounded Rectangle 4"/>
            <p:cNvSpPr/>
            <p:nvPr/>
          </p:nvSpPr>
          <p:spPr>
            <a:xfrm>
              <a:off x="1858973" y="3017520"/>
              <a:ext cx="1127331" cy="365760"/>
            </a:xfrm>
            <a:prstGeom prst="roundRect">
              <a:avLst>
                <a:gd name="adj" fmla="val 50000"/>
              </a:avLst>
            </a:prstGeom>
            <a:solidFill>
              <a:srgbClr val="EFE8FB"/>
            </a:solidFill>
            <a:ln>
              <a:noFill/>
            </a:ln>
            <a:effectLst/>
          </p:spPr>
          <p:txBody>
            <a:bodyPr rtlCol="0" anchor="ctr" lIns="0" rIns="0" tIns="0" bIns="0" wrap="none"/>
            <a:lstStyle/>
            <a:p>
              <a:pPr algn="ctr"/>
              <a:r>
                <a:rPr sz="1300" b="1" i="0">
                  <a:solidFill>
                    <a:srgbClr val="8A4FD8"/>
                  </a:solidFill>
                  <a:latin typeface="Arial"/>
                </a:rPr>
                <a:t>Style · 25</a:t>
              </a:r>
            </a:p>
          </p:txBody>
        </p:sp>
        <p:sp>
          <p:nvSpPr>
            <p:cNvPr id="6" name="s2 Rounded Rectangle 5"/>
            <p:cNvSpPr/>
            <p:nvPr/>
          </p:nvSpPr>
          <p:spPr>
            <a:xfrm>
              <a:off x="3114320" y="3017520"/>
              <a:ext cx="1105810" cy="365760"/>
            </a:xfrm>
            <a:prstGeom prst="roundRect">
              <a:avLst>
                <a:gd name="adj" fmla="val 50000"/>
              </a:avLst>
            </a:prstGeom>
            <a:solidFill>
              <a:srgbClr val="FBE7DC"/>
            </a:solidFill>
            <a:ln>
              <a:noFill/>
            </a:ln>
            <a:effectLst/>
          </p:spPr>
          <p:txBody>
            <a:bodyPr rtlCol="0" anchor="ctr" lIns="0" rIns="0" tIns="0" bIns="0" wrap="none"/>
            <a:lstStyle/>
            <a:p>
              <a:pPr algn="ctr"/>
              <a:r>
                <a:rPr sz="1300" b="1" i="0">
                  <a:solidFill>
                    <a:srgbClr val="D9622B"/>
                  </a:solidFill>
                  <a:latin typeface="Arial"/>
                </a:rPr>
                <a:t>Tech · 15</a:t>
              </a:r>
            </a:p>
          </p:txBody>
        </p:sp>
        <p:sp>
          <p:nvSpPr>
            <p:cNvPr id="7" name="s2 TextBox 6"/>
            <p:cNvSpPr txBox="1"/>
            <p:nvPr/>
          </p:nvSpPr>
          <p:spPr>
            <a:xfrm>
              <a:off x="548640" y="3547872"/>
              <a:ext cx="5669280" cy="365760"/>
            </a:xfrm>
            <a:prstGeom prst="rect">
              <a:avLst/>
            </a:prstGeom>
            <a:noFill/>
          </p:spPr>
          <p:txBody>
            <a:bodyPr wrap="square" lIns="0" rIns="0" tIns="0" bIns="0" anchor="t">
              <a:spAutoFit/>
            </a:bodyPr>
            <a:lstStyle/>
            <a:p>
              <a:pPr algn="l">
                <a:lnSpc>
                  <a:spcPct val="108000"/>
                </a:lnSpc>
              </a:pPr>
              <a:r>
                <a:rPr sz="1500" b="0" i="0">
                  <a:solidFill>
                    <a:srgbClr val="4C5851"/>
                  </a:solidFill>
                  <a:latin typeface="Arial"/>
                </a:rPr>
                <a:t>60 vehicles, only 16 can carry chilled · 2 depots</a:t>
              </a:r>
            </a:p>
          </p:txBody>
        </p:sp>
      </p:grpSp>
      <p:grpSp>
        <p:nvGrpSpPr>
          <p:cNvPr id="11" name="s2 Group 10"/>
          <p:cNvGrpSpPr/>
          <p:nvPr/>
        </p:nvGrpSpPr>
        <p:grpSpPr>
          <a:xfrm>
            <a:off x="6446520" y="896112"/>
            <a:ext cx="7662672" cy="3566160"/>
            <a:chOff x="6446520" y="896112"/>
            <a:chExt cx="7662672" cy="3566160"/>
          </a:xfrm>
        </p:grpSpPr>
        <p:sp>
          <p:nvSpPr>
            <p:cNvPr id="9" name="s2 Rounded Rectangle 8"/>
            <p:cNvSpPr/>
            <p:nvPr/>
          </p:nvSpPr>
          <p:spPr>
            <a:xfrm>
              <a:off x="6446520" y="896112"/>
              <a:ext cx="5196535" cy="3566160"/>
            </a:xfrm>
            <a:prstGeom prst="roundRect">
              <a:avLst>
                <a:gd name="adj" fmla="val 4102"/>
              </a:avLst>
            </a:prstGeom>
            <a:solidFill>
              <a:srgbClr val="FFFFFF"/>
            </a:solidFill>
            <a:ln w="12700">
              <a:solidFill>
                <a:srgbClr val="D9E3DE"/>
              </a:solidFill>
            </a:ln>
            <a:effectLst/>
          </p:spPr>
          <p:txBody>
            <a:bodyPr rtlCol="0" anchor="ctr"/>
            <a:lstStyle/>
            <a:p/>
          </p:txBody>
        </p:sp>
        <p:sp>
          <p:nvSpPr>
            <p:cNvPr id="10" name="s2 TextBox 9"/>
            <p:cNvSpPr txBox="1"/>
            <p:nvPr/>
          </p:nvSpPr>
          <p:spPr>
            <a:xfrm>
              <a:off x="6793992" y="1133856"/>
              <a:ext cx="7315200" cy="274320"/>
            </a:xfrm>
            <a:prstGeom prst="rect">
              <a:avLst/>
            </a:prstGeom>
            <a:noFill/>
          </p:spPr>
          <p:txBody>
            <a:bodyPr wrap="square" lIns="0" rIns="0" tIns="0" bIns="0" anchor="t">
              <a:spAutoFit/>
            </a:bodyPr>
            <a:lstStyle/>
            <a:p>
              <a:pPr algn="l">
                <a:lnSpc>
                  <a:spcPct val="108000"/>
                </a:lnSpc>
              </a:pPr>
              <a:r>
                <a:rPr sz="1100" b="1" i="0" spc="160">
                  <a:solidFill>
                    <a:srgbClr val="66736B"/>
                  </a:solidFill>
                  <a:latin typeface="Arial"/>
                </a:rPr>
                <a:t>HOW A DELIVERY RUNS TODAY</a:t>
              </a:r>
            </a:p>
          </p:txBody>
        </p:sp>
      </p:grpSp>
      <p:grpSp>
        <p:nvGrpSpPr>
          <p:cNvPr id="16" name="s2 Group 15"/>
          <p:cNvGrpSpPr/>
          <p:nvPr/>
        </p:nvGrpSpPr>
        <p:grpSpPr>
          <a:xfrm>
            <a:off x="6793992" y="1645920"/>
            <a:ext cx="4620463" cy="786384"/>
            <a:chOff x="6793992" y="1645920"/>
            <a:chExt cx="4620463" cy="786384"/>
          </a:xfrm>
        </p:grpSpPr>
        <p:sp>
          <p:nvSpPr>
            <p:cNvPr id="12" name="s2 Oval 11"/>
            <p:cNvSpPr/>
            <p:nvPr/>
          </p:nvSpPr>
          <p:spPr>
            <a:xfrm>
              <a:off x="6793992" y="1728216"/>
              <a:ext cx="201168" cy="201168"/>
            </a:xfrm>
            <a:prstGeom prst="ellipse">
              <a:avLst/>
            </a:prstGeom>
            <a:solidFill>
              <a:srgbClr val="031B08"/>
            </a:solidFill>
            <a:ln>
              <a:noFill/>
            </a:ln>
            <a:effectLst/>
          </p:spPr>
          <p:txBody>
            <a:bodyPr rtlCol="0" anchor="ctr"/>
            <a:lstStyle/>
            <a:p>
              <a:pPr algn="ctr"/>
            </a:p>
          </p:txBody>
        </p:sp>
        <p:sp>
          <p:nvSpPr>
            <p:cNvPr id="13" name="s2 TextBox 12"/>
            <p:cNvSpPr txBox="1"/>
            <p:nvPr/>
          </p:nvSpPr>
          <p:spPr>
            <a:xfrm>
              <a:off x="7159752" y="1645920"/>
              <a:ext cx="160020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Store manager</a:t>
              </a:r>
            </a:p>
          </p:txBody>
        </p:sp>
        <p:sp>
          <p:nvSpPr>
            <p:cNvPr id="14" name="s2 TextBox 13"/>
            <p:cNvSpPr txBox="1"/>
            <p:nvPr/>
          </p:nvSpPr>
          <p:spPr>
            <a:xfrm>
              <a:off x="8732520" y="1664208"/>
              <a:ext cx="268193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phones the order in</a:t>
              </a:r>
            </a:p>
          </p:txBody>
        </p:sp>
        <p:cxnSp>
          <p:nvCxnSpPr>
            <p:cNvPr id="15" name="s2 Connector 14"/>
            <p:cNvCxnSpPr/>
            <p:nvPr/>
          </p:nvCxnSpPr>
          <p:spPr>
            <a:xfrm>
              <a:off x="6894576" y="1984248"/>
              <a:ext cx="0" cy="448056"/>
            </a:xfrm>
            <a:prstGeom prst="line">
              <a:avLst/>
            </a:prstGeom>
            <a:ln w="19050">
              <a:solidFill>
                <a:srgbClr val="E11900"/>
              </a:solidFill>
              <a:prstDash val="dash"/>
            </a:ln>
            <a:effectLst/>
          </p:spPr>
        </p:cxnSp>
      </p:grpSp>
      <p:grpSp>
        <p:nvGrpSpPr>
          <p:cNvPr id="21" name="s2 Group 20"/>
          <p:cNvGrpSpPr/>
          <p:nvPr/>
        </p:nvGrpSpPr>
        <p:grpSpPr>
          <a:xfrm>
            <a:off x="6793992" y="2395728"/>
            <a:ext cx="4620463" cy="786384"/>
            <a:chOff x="6793992" y="2395728"/>
            <a:chExt cx="4620463" cy="786384"/>
          </a:xfrm>
        </p:grpSpPr>
        <p:sp>
          <p:nvSpPr>
            <p:cNvPr id="17" name="s2 Oval 16"/>
            <p:cNvSpPr/>
            <p:nvPr/>
          </p:nvSpPr>
          <p:spPr>
            <a:xfrm>
              <a:off x="6793992" y="2478024"/>
              <a:ext cx="201168" cy="201168"/>
            </a:xfrm>
            <a:prstGeom prst="ellipse">
              <a:avLst/>
            </a:prstGeom>
            <a:solidFill>
              <a:srgbClr val="031B08"/>
            </a:solidFill>
            <a:ln>
              <a:noFill/>
            </a:ln>
            <a:effectLst/>
          </p:spPr>
          <p:txBody>
            <a:bodyPr rtlCol="0" anchor="ctr"/>
            <a:lstStyle/>
            <a:p>
              <a:pPr algn="ctr"/>
            </a:p>
          </p:txBody>
        </p:sp>
        <p:sp>
          <p:nvSpPr>
            <p:cNvPr id="18" name="s2 TextBox 17"/>
            <p:cNvSpPr txBox="1"/>
            <p:nvPr/>
          </p:nvSpPr>
          <p:spPr>
            <a:xfrm>
              <a:off x="7159752" y="2395728"/>
              <a:ext cx="160020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Dispatcher</a:t>
              </a:r>
            </a:p>
          </p:txBody>
        </p:sp>
        <p:sp>
          <p:nvSpPr>
            <p:cNvPr id="19" name="s2 TextBox 18"/>
            <p:cNvSpPr txBox="1"/>
            <p:nvPr/>
          </p:nvSpPr>
          <p:spPr>
            <a:xfrm>
              <a:off x="8732520" y="2414016"/>
              <a:ext cx="268193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types it into a spreadsheet</a:t>
              </a:r>
            </a:p>
          </p:txBody>
        </p:sp>
        <p:cxnSp>
          <p:nvCxnSpPr>
            <p:cNvPr id="20" name="s2 Connector 19"/>
            <p:cNvCxnSpPr/>
            <p:nvPr/>
          </p:nvCxnSpPr>
          <p:spPr>
            <a:xfrm>
              <a:off x="6894576" y="2734056"/>
              <a:ext cx="0" cy="448056"/>
            </a:xfrm>
            <a:prstGeom prst="line">
              <a:avLst/>
            </a:prstGeom>
            <a:ln w="19050">
              <a:solidFill>
                <a:srgbClr val="E11900"/>
              </a:solidFill>
              <a:prstDash val="dash"/>
            </a:ln>
            <a:effectLst/>
          </p:spPr>
        </p:cxnSp>
      </p:grpSp>
      <p:grpSp>
        <p:nvGrpSpPr>
          <p:cNvPr id="26" name="s2 Group 25"/>
          <p:cNvGrpSpPr/>
          <p:nvPr/>
        </p:nvGrpSpPr>
        <p:grpSpPr>
          <a:xfrm>
            <a:off x="6793992" y="3145536"/>
            <a:ext cx="4620463" cy="786384"/>
            <a:chOff x="6793992" y="3145536"/>
            <a:chExt cx="4620463" cy="786384"/>
          </a:xfrm>
        </p:grpSpPr>
        <p:sp>
          <p:nvSpPr>
            <p:cNvPr id="22" name="s2 Oval 21"/>
            <p:cNvSpPr/>
            <p:nvPr/>
          </p:nvSpPr>
          <p:spPr>
            <a:xfrm>
              <a:off x="6793992" y="3227832"/>
              <a:ext cx="201168" cy="201168"/>
            </a:xfrm>
            <a:prstGeom prst="ellipse">
              <a:avLst/>
            </a:prstGeom>
            <a:solidFill>
              <a:srgbClr val="031B08"/>
            </a:solidFill>
            <a:ln>
              <a:noFill/>
            </a:ln>
            <a:effectLst/>
          </p:spPr>
          <p:txBody>
            <a:bodyPr rtlCol="0" anchor="ctr"/>
            <a:lstStyle/>
            <a:p>
              <a:pPr algn="ctr"/>
            </a:p>
          </p:txBody>
        </p:sp>
        <p:sp>
          <p:nvSpPr>
            <p:cNvPr id="23" name="s2 TextBox 22"/>
            <p:cNvSpPr txBox="1"/>
            <p:nvPr/>
          </p:nvSpPr>
          <p:spPr>
            <a:xfrm>
              <a:off x="7159752" y="3145536"/>
              <a:ext cx="160020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Loader</a:t>
              </a:r>
            </a:p>
          </p:txBody>
        </p:sp>
        <p:sp>
          <p:nvSpPr>
            <p:cNvPr id="24" name="s2 TextBox 23"/>
            <p:cNvSpPr txBox="1"/>
            <p:nvPr/>
          </p:nvSpPr>
          <p:spPr>
            <a:xfrm>
              <a:off x="8732520" y="3163824"/>
              <a:ext cx="268193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works from a printed list</a:t>
              </a:r>
            </a:p>
          </p:txBody>
        </p:sp>
        <p:cxnSp>
          <p:nvCxnSpPr>
            <p:cNvPr id="25" name="s2 Connector 24"/>
            <p:cNvCxnSpPr/>
            <p:nvPr/>
          </p:nvCxnSpPr>
          <p:spPr>
            <a:xfrm>
              <a:off x="6894576" y="3483864"/>
              <a:ext cx="0" cy="448056"/>
            </a:xfrm>
            <a:prstGeom prst="line">
              <a:avLst/>
            </a:prstGeom>
            <a:ln w="19050">
              <a:solidFill>
                <a:srgbClr val="E11900"/>
              </a:solidFill>
              <a:prstDash val="dash"/>
            </a:ln>
            <a:effectLst/>
          </p:spPr>
        </p:cxnSp>
      </p:grpSp>
      <p:grpSp>
        <p:nvGrpSpPr>
          <p:cNvPr id="30" name="s2 Group 29"/>
          <p:cNvGrpSpPr/>
          <p:nvPr/>
        </p:nvGrpSpPr>
        <p:grpSpPr>
          <a:xfrm>
            <a:off x="6793992" y="3895344"/>
            <a:ext cx="4620463" cy="384047"/>
            <a:chOff x="6793992" y="3895344"/>
            <a:chExt cx="4620463" cy="384047"/>
          </a:xfrm>
        </p:grpSpPr>
        <p:sp>
          <p:nvSpPr>
            <p:cNvPr id="27" name="s2 Oval 26"/>
            <p:cNvSpPr/>
            <p:nvPr/>
          </p:nvSpPr>
          <p:spPr>
            <a:xfrm>
              <a:off x="6793992" y="3977639"/>
              <a:ext cx="201168" cy="201168"/>
            </a:xfrm>
            <a:prstGeom prst="ellipse">
              <a:avLst/>
            </a:prstGeom>
            <a:solidFill>
              <a:srgbClr val="031B08"/>
            </a:solidFill>
            <a:ln>
              <a:noFill/>
            </a:ln>
            <a:effectLst/>
          </p:spPr>
          <p:txBody>
            <a:bodyPr rtlCol="0" anchor="ctr"/>
            <a:lstStyle/>
            <a:p>
              <a:pPr algn="ctr"/>
            </a:p>
          </p:txBody>
        </p:sp>
        <p:sp>
          <p:nvSpPr>
            <p:cNvPr id="28" name="s2 TextBox 27"/>
            <p:cNvSpPr txBox="1"/>
            <p:nvPr/>
          </p:nvSpPr>
          <p:spPr>
            <a:xfrm>
              <a:off x="7159752" y="3895344"/>
              <a:ext cx="160020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Driver</a:t>
              </a:r>
            </a:p>
          </p:txBody>
        </p:sp>
        <p:sp>
          <p:nvSpPr>
            <p:cNvPr id="29" name="s2 TextBox 28"/>
            <p:cNvSpPr txBox="1"/>
            <p:nvPr/>
          </p:nvSpPr>
          <p:spPr>
            <a:xfrm>
              <a:off x="8732520" y="3913631"/>
              <a:ext cx="268193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paper sheet, unseen on the road</a:t>
              </a:r>
            </a:p>
          </p:txBody>
        </p:sp>
      </p:grpSp>
      <p:grpSp>
        <p:nvGrpSpPr>
          <p:cNvPr id="33" name="s2 Group 32"/>
          <p:cNvGrpSpPr/>
          <p:nvPr/>
        </p:nvGrpSpPr>
        <p:grpSpPr>
          <a:xfrm>
            <a:off x="548640" y="4754880"/>
            <a:ext cx="3545738" cy="868680"/>
            <a:chOff x="548640" y="4754880"/>
            <a:chExt cx="3545738" cy="868680"/>
          </a:xfrm>
        </p:grpSpPr>
        <p:sp>
          <p:nvSpPr>
            <p:cNvPr id="31" name="s2 Rounded Rectangle 30"/>
            <p:cNvSpPr/>
            <p:nvPr/>
          </p:nvSpPr>
          <p:spPr>
            <a:xfrm>
              <a:off x="548640" y="4754880"/>
              <a:ext cx="3545738" cy="868680"/>
            </a:xfrm>
            <a:prstGeom prst="roundRect">
              <a:avLst>
                <a:gd name="adj" fmla="val 16842"/>
              </a:avLst>
            </a:prstGeom>
            <a:solidFill>
              <a:srgbClr val="FDECEA"/>
            </a:solidFill>
            <a:ln>
              <a:noFill/>
            </a:ln>
            <a:effectLst/>
          </p:spPr>
          <p:txBody>
            <a:bodyPr rtlCol="0" anchor="ctr"/>
            <a:lstStyle/>
            <a:p/>
          </p:txBody>
        </p:sp>
        <p:sp>
          <p:nvSpPr>
            <p:cNvPr id="32" name="s2 TextBox 31"/>
            <p:cNvSpPr txBox="1"/>
            <p:nvPr/>
          </p:nvSpPr>
          <p:spPr>
            <a:xfrm>
              <a:off x="822959" y="4754880"/>
              <a:ext cx="3088538" cy="868680"/>
            </a:xfrm>
            <a:prstGeom prst="rect">
              <a:avLst/>
            </a:prstGeom>
            <a:noFill/>
          </p:spPr>
          <p:txBody>
            <a:bodyPr wrap="square" lIns="0" rIns="0" tIns="0" bIns="0" anchor="ctr">
              <a:spAutoFit/>
            </a:bodyPr>
            <a:lstStyle/>
            <a:p>
              <a:pPr algn="l">
                <a:lnSpc>
                  <a:spcPct val="108000"/>
                </a:lnSpc>
              </a:pPr>
              <a:r>
                <a:rPr sz="1700" b="1" i="0">
                  <a:solidFill>
                    <a:srgbClr val="E11900"/>
                  </a:solidFill>
                  <a:latin typeface="Arial"/>
                </a:rPr>
                <a:t>Fresh misses 8 AM</a:t>
              </a:r>
            </a:p>
          </p:txBody>
        </p:sp>
      </p:grpSp>
      <p:grpSp>
        <p:nvGrpSpPr>
          <p:cNvPr id="36" name="s2 Group 35"/>
          <p:cNvGrpSpPr/>
          <p:nvPr/>
        </p:nvGrpSpPr>
        <p:grpSpPr>
          <a:xfrm>
            <a:off x="4322978" y="4754880"/>
            <a:ext cx="3545738" cy="868680"/>
            <a:chOff x="4322978" y="4754880"/>
            <a:chExt cx="3545738" cy="868680"/>
          </a:xfrm>
        </p:grpSpPr>
        <p:sp>
          <p:nvSpPr>
            <p:cNvPr id="34" name="s2 Rounded Rectangle 33"/>
            <p:cNvSpPr/>
            <p:nvPr/>
          </p:nvSpPr>
          <p:spPr>
            <a:xfrm>
              <a:off x="4322978" y="4754880"/>
              <a:ext cx="3545738" cy="868680"/>
            </a:xfrm>
            <a:prstGeom prst="roundRect">
              <a:avLst>
                <a:gd name="adj" fmla="val 16842"/>
              </a:avLst>
            </a:prstGeom>
            <a:solidFill>
              <a:srgbClr val="FDECEA"/>
            </a:solidFill>
            <a:ln>
              <a:noFill/>
            </a:ln>
            <a:effectLst/>
          </p:spPr>
          <p:txBody>
            <a:bodyPr rtlCol="0" anchor="ctr"/>
            <a:lstStyle/>
            <a:p/>
          </p:txBody>
        </p:sp>
        <p:sp>
          <p:nvSpPr>
            <p:cNvPr id="35" name="s2 TextBox 34"/>
            <p:cNvSpPr txBox="1"/>
            <p:nvPr/>
          </p:nvSpPr>
          <p:spPr>
            <a:xfrm>
              <a:off x="4597298" y="4754880"/>
              <a:ext cx="3088538" cy="868680"/>
            </a:xfrm>
            <a:prstGeom prst="rect">
              <a:avLst/>
            </a:prstGeom>
            <a:noFill/>
          </p:spPr>
          <p:txBody>
            <a:bodyPr wrap="square" lIns="0" rIns="0" tIns="0" bIns="0" anchor="ctr">
              <a:spAutoFit/>
            </a:bodyPr>
            <a:lstStyle/>
            <a:p>
              <a:pPr algn="l">
                <a:lnSpc>
                  <a:spcPct val="108000"/>
                </a:lnSpc>
              </a:pPr>
              <a:r>
                <a:rPr sz="1700" b="1" i="0">
                  <a:solidFill>
                    <a:srgbClr val="E11900"/>
                  </a:solidFill>
                  <a:latin typeface="Arial"/>
                </a:rPr>
                <a:t>Chilled stock spoils</a:t>
              </a:r>
            </a:p>
          </p:txBody>
        </p:sp>
      </p:grpSp>
      <p:grpSp>
        <p:nvGrpSpPr>
          <p:cNvPr id="39" name="s2 Group 38"/>
          <p:cNvGrpSpPr/>
          <p:nvPr/>
        </p:nvGrpSpPr>
        <p:grpSpPr>
          <a:xfrm>
            <a:off x="8097316" y="4754880"/>
            <a:ext cx="3545738" cy="868680"/>
            <a:chOff x="8097316" y="4754880"/>
            <a:chExt cx="3545738" cy="868680"/>
          </a:xfrm>
        </p:grpSpPr>
        <p:sp>
          <p:nvSpPr>
            <p:cNvPr id="37" name="s2 Rounded Rectangle 36"/>
            <p:cNvSpPr/>
            <p:nvPr/>
          </p:nvSpPr>
          <p:spPr>
            <a:xfrm>
              <a:off x="8097316" y="4754880"/>
              <a:ext cx="3545738" cy="868680"/>
            </a:xfrm>
            <a:prstGeom prst="roundRect">
              <a:avLst>
                <a:gd name="adj" fmla="val 16842"/>
              </a:avLst>
            </a:prstGeom>
            <a:solidFill>
              <a:srgbClr val="FDECEA"/>
            </a:solidFill>
            <a:ln>
              <a:noFill/>
            </a:ln>
            <a:effectLst/>
          </p:spPr>
          <p:txBody>
            <a:bodyPr rtlCol="0" anchor="ctr"/>
            <a:lstStyle/>
            <a:p/>
          </p:txBody>
        </p:sp>
        <p:sp>
          <p:nvSpPr>
            <p:cNvPr id="38" name="s2 TextBox 37"/>
            <p:cNvSpPr txBox="1"/>
            <p:nvPr/>
          </p:nvSpPr>
          <p:spPr>
            <a:xfrm>
              <a:off x="8371636" y="4754880"/>
              <a:ext cx="3088538" cy="868680"/>
            </a:xfrm>
            <a:prstGeom prst="rect">
              <a:avLst/>
            </a:prstGeom>
            <a:noFill/>
          </p:spPr>
          <p:txBody>
            <a:bodyPr wrap="square" lIns="0" rIns="0" tIns="0" bIns="0" anchor="ctr">
              <a:spAutoFit/>
            </a:bodyPr>
            <a:lstStyle/>
            <a:p>
              <a:pPr algn="l">
                <a:lnSpc>
                  <a:spcPct val="108000"/>
                </a:lnSpc>
              </a:pPr>
              <a:r>
                <a:rPr sz="1700" b="1" i="0">
                  <a:solidFill>
                    <a:srgbClr val="E11900"/>
                  </a:solidFill>
                  <a:latin typeface="Arial"/>
                </a:rPr>
                <a:t>Disputes rest on memory</a:t>
              </a:r>
            </a:p>
          </p:txBody>
        </p:sp>
      </p:grpSp>
      <p:sp>
        <p:nvSpPr>
          <p:cNvPr id="40" name="s2 TextBox 39"/>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41" name="s2 TextBox 40"/>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grpId="0">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par>
                          <p:cTn id="17" fill="hold">
                            <p:stCondLst>
                              <p:cond delay="350"/>
                            </p:stCondLst>
                            <p:childTnLst>
                              <p:par>
                                <p:cTn id="18" presetID="10"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300"/>
                                        <p:tgtEl>
                                          <p:spTgt spid="16"/>
                                        </p:tgtEl>
                                      </p:cBhvr>
                                    </p:animEffect>
                                  </p:childTnLst>
                                </p:cTn>
                              </p:par>
                            </p:childTnLst>
                          </p:cTn>
                        </p:par>
                        <p:par>
                          <p:cTn id="21" fill="hold">
                            <p:stCondLst>
                              <p:cond delay="650"/>
                            </p:stCondLst>
                            <p:childTnLst>
                              <p:par>
                                <p:cTn id="22" presetID="10" presetClass="entr" presetSubtype="0"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300"/>
                                        <p:tgtEl>
                                          <p:spTgt spid="21"/>
                                        </p:tgtEl>
                                      </p:cBhvr>
                                    </p:animEffect>
                                  </p:childTnLst>
                                </p:cTn>
                              </p:par>
                            </p:childTnLst>
                          </p:cTn>
                        </p:par>
                        <p:par>
                          <p:cTn id="25" fill="hold">
                            <p:stCondLst>
                              <p:cond delay="950"/>
                            </p:stCondLst>
                            <p:childTnLst>
                              <p:par>
                                <p:cTn id="26" presetID="10" presetClass="entr" presetSubtype="0" fill="hold" nodeType="after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300"/>
                                        <p:tgtEl>
                                          <p:spTgt spid="26"/>
                                        </p:tgtEl>
                                      </p:cBhvr>
                                    </p:animEffect>
                                  </p:childTnLst>
                                </p:cTn>
                              </p:par>
                            </p:childTnLst>
                          </p:cTn>
                        </p:par>
                        <p:par>
                          <p:cTn id="29" fill="hold">
                            <p:stCondLst>
                              <p:cond delay="1250"/>
                            </p:stCondLst>
                            <p:childTnLst>
                              <p:par>
                                <p:cTn id="30" presetID="10" presetClass="entr" presetSubtype="0" fill="hold" nodeType="after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3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4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380"/>
                                        <p:tgtEl>
                                          <p:spTgt spid="33"/>
                                        </p:tgtEl>
                                      </p:cBhvr>
                                    </p:animEffect>
                                    <p:anim calcmode="lin" valueType="num">
                                      <p:cBhvr>
                                        <p:cTn id="38" dur="380" decel="100000" fill="hold"/>
                                        <p:tgtEl>
                                          <p:spTgt spid="33"/>
                                        </p:tgtEl>
                                        <p:attrNameLst>
                                          <p:attrName>ppt_x</p:attrName>
                                        </p:attrNameLst>
                                      </p:cBhvr>
                                      <p:tavLst>
                                        <p:tav tm="0">
                                          <p:val>
                                            <p:strVal val="#ppt_x"/>
                                          </p:val>
                                        </p:tav>
                                        <p:tav tm="100000">
                                          <p:val>
                                            <p:strVal val="#ppt_x"/>
                                          </p:val>
                                        </p:tav>
                                      </p:tavLst>
                                    </p:anim>
                                    <p:anim calcmode="lin" valueType="num">
                                      <p:cBhvr>
                                        <p:cTn id="39" dur="380" decel="100000" fill="hold"/>
                                        <p:tgtEl>
                                          <p:spTgt spid="33"/>
                                        </p:tgtEl>
                                        <p:attrNameLst>
                                          <p:attrName>ppt_y</p:attrName>
                                        </p:attrNameLst>
                                      </p:cBhvr>
                                      <p:tavLst>
                                        <p:tav tm="0">
                                          <p:val>
                                            <p:strVal val="#ppt_y+.1"/>
                                          </p:val>
                                        </p:tav>
                                        <p:tav tm="100000">
                                          <p:val>
                                            <p:strVal val="#ppt_y"/>
                                          </p:val>
                                        </p:tav>
                                      </p:tavLst>
                                    </p:anim>
                                  </p:childTnLst>
                                </p:cTn>
                              </p:par>
                            </p:childTnLst>
                          </p:cTn>
                        </p:par>
                        <p:par>
                          <p:cTn id="40" fill="hold">
                            <p:stCondLst>
                              <p:cond delay="420"/>
                            </p:stCondLst>
                            <p:childTnLst>
                              <p:par>
                                <p:cTn id="41" presetID="42" presetClass="entr" presetSubtype="0" fill="hold" nodeType="afterEffect">
                                  <p:stCondLst>
                                    <p:cond delay="4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380"/>
                                        <p:tgtEl>
                                          <p:spTgt spid="36"/>
                                        </p:tgtEl>
                                      </p:cBhvr>
                                    </p:animEffect>
                                    <p:anim calcmode="lin" valueType="num">
                                      <p:cBhvr>
                                        <p:cTn id="44" dur="380" decel="100000" fill="hold"/>
                                        <p:tgtEl>
                                          <p:spTgt spid="36"/>
                                        </p:tgtEl>
                                        <p:attrNameLst>
                                          <p:attrName>ppt_x</p:attrName>
                                        </p:attrNameLst>
                                      </p:cBhvr>
                                      <p:tavLst>
                                        <p:tav tm="0">
                                          <p:val>
                                            <p:strVal val="#ppt_x"/>
                                          </p:val>
                                        </p:tav>
                                        <p:tav tm="100000">
                                          <p:val>
                                            <p:strVal val="#ppt_x"/>
                                          </p:val>
                                        </p:tav>
                                      </p:tavLst>
                                    </p:anim>
                                    <p:anim calcmode="lin" valueType="num">
                                      <p:cBhvr>
                                        <p:cTn id="45" dur="380" decel="100000" fill="hold"/>
                                        <p:tgtEl>
                                          <p:spTgt spid="36"/>
                                        </p:tgtEl>
                                        <p:attrNameLst>
                                          <p:attrName>ppt_y</p:attrName>
                                        </p:attrNameLst>
                                      </p:cBhvr>
                                      <p:tavLst>
                                        <p:tav tm="0">
                                          <p:val>
                                            <p:strVal val="#ppt_y+.1"/>
                                          </p:val>
                                        </p:tav>
                                        <p:tav tm="100000">
                                          <p:val>
                                            <p:strVal val="#ppt_y"/>
                                          </p:val>
                                        </p:tav>
                                      </p:tavLst>
                                    </p:anim>
                                  </p:childTnLst>
                                </p:cTn>
                              </p:par>
                            </p:childTnLst>
                          </p:cTn>
                        </p:par>
                        <p:par>
                          <p:cTn id="46" fill="hold">
                            <p:stCondLst>
                              <p:cond delay="840"/>
                            </p:stCondLst>
                            <p:childTnLst>
                              <p:par>
                                <p:cTn id="47" presetID="42" presetClass="entr" presetSubtype="0" fill="hold" nodeType="afterEffect">
                                  <p:stCondLst>
                                    <p:cond delay="4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380"/>
                                        <p:tgtEl>
                                          <p:spTgt spid="39"/>
                                        </p:tgtEl>
                                      </p:cBhvr>
                                    </p:animEffect>
                                    <p:anim calcmode="lin" valueType="num">
                                      <p:cBhvr>
                                        <p:cTn id="50" dur="380" decel="100000" fill="hold"/>
                                        <p:tgtEl>
                                          <p:spTgt spid="39"/>
                                        </p:tgtEl>
                                        <p:attrNameLst>
                                          <p:attrName>ppt_x</p:attrName>
                                        </p:attrNameLst>
                                      </p:cBhvr>
                                      <p:tavLst>
                                        <p:tav tm="0">
                                          <p:val>
                                            <p:strVal val="#ppt_x"/>
                                          </p:val>
                                        </p:tav>
                                        <p:tav tm="100000">
                                          <p:val>
                                            <p:strVal val="#ppt_x"/>
                                          </p:val>
                                        </p:tav>
                                      </p:tavLst>
                                    </p:anim>
                                    <p:anim calcmode="lin" valueType="num">
                                      <p:cBhvr>
                                        <p:cTn id="51" dur="380" decel="100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3 Rounded Rectangle 1"/>
          <p:cNvSpPr/>
          <p:nvPr/>
        </p:nvSpPr>
        <p:spPr>
          <a:xfrm>
            <a:off x="548640" y="457200"/>
            <a:ext cx="1172993"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The product</a:t>
            </a:r>
          </a:p>
        </p:txBody>
      </p:sp>
      <p:sp>
        <p:nvSpPr>
          <p:cNvPr id="3" name="s3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One app for the four people who touch every order</a:t>
            </a:r>
          </a:p>
        </p:txBody>
      </p:sp>
      <p:grpSp>
        <p:nvGrpSpPr>
          <p:cNvPr id="7" name="s3 Group 6"/>
          <p:cNvGrpSpPr/>
          <p:nvPr/>
        </p:nvGrpSpPr>
        <p:grpSpPr>
          <a:xfrm>
            <a:off x="126457" y="1645920"/>
            <a:ext cx="2560320" cy="4526280"/>
            <a:chOff x="126457" y="1645920"/>
            <a:chExt cx="2560320" cy="4526280"/>
          </a:xfrm>
        </p:grpSpPr>
        <p:sp>
          <p:nvSpPr>
            <p:cNvPr id="4" name="s3 Rounded Rectangle 3"/>
            <p:cNvSpPr/>
            <p:nvPr/>
          </p:nvSpPr>
          <p:spPr>
            <a:xfrm>
              <a:off x="548640" y="1645920"/>
              <a:ext cx="1715955" cy="356616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5" name="s3 Rounded Rectangle 4"/>
            <p:cNvSpPr/>
            <p:nvPr/>
          </p:nvSpPr>
          <p:spPr>
            <a:xfrm>
              <a:off x="663956" y="5486400"/>
              <a:ext cx="1485322" cy="347472"/>
            </a:xfrm>
            <a:prstGeom prst="roundRect">
              <a:avLst>
                <a:gd name="adj" fmla="val 50000"/>
              </a:avLst>
            </a:prstGeom>
            <a:solidFill>
              <a:srgbClr val="B7F2ED"/>
            </a:solidFill>
            <a:ln>
              <a:noFill/>
            </a:ln>
            <a:effectLst/>
          </p:spPr>
          <p:txBody>
            <a:bodyPr rtlCol="0" anchor="ctr" lIns="0" rIns="0" tIns="0" bIns="0" wrap="none"/>
            <a:lstStyle/>
            <a:p>
              <a:pPr algn="ctr"/>
              <a:r>
                <a:rPr sz="1300" b="1" i="0">
                  <a:solidFill>
                    <a:srgbClr val="031B08"/>
                  </a:solidFill>
                  <a:latin typeface="Arial"/>
                </a:rPr>
                <a:t>Store manager</a:t>
              </a:r>
            </a:p>
          </p:txBody>
        </p:sp>
        <p:sp>
          <p:nvSpPr>
            <p:cNvPr id="6" name="s3 TextBox 5"/>
            <p:cNvSpPr txBox="1"/>
            <p:nvPr/>
          </p:nvSpPr>
          <p:spPr>
            <a:xfrm>
              <a:off x="126457" y="5897880"/>
              <a:ext cx="2560320" cy="274320"/>
            </a:xfrm>
            <a:prstGeom prst="rect">
              <a:avLst/>
            </a:prstGeom>
            <a:noFill/>
          </p:spPr>
          <p:txBody>
            <a:bodyPr wrap="square" lIns="0" rIns="0" tIns="0" bIns="0" anchor="t">
              <a:spAutoFit/>
            </a:bodyPr>
            <a:lstStyle/>
            <a:p>
              <a:pPr algn="ctr">
                <a:lnSpc>
                  <a:spcPct val="108000"/>
                </a:lnSpc>
              </a:pPr>
              <a:r>
                <a:rPr sz="1300" b="0" i="0">
                  <a:solidFill>
                    <a:srgbClr val="4C5851"/>
                  </a:solidFill>
                  <a:latin typeface="Arial"/>
                </a:rPr>
                <a:t>orders and receives</a:t>
              </a:r>
            </a:p>
          </p:txBody>
        </p:sp>
      </p:grpSp>
      <p:grpSp>
        <p:nvGrpSpPr>
          <p:cNvPr id="14" name="s3 Group 13"/>
          <p:cNvGrpSpPr/>
          <p:nvPr/>
        </p:nvGrpSpPr>
        <p:grpSpPr>
          <a:xfrm>
            <a:off x="2514600" y="2738810"/>
            <a:ext cx="4169663" cy="3433390"/>
            <a:chOff x="2514600" y="2738810"/>
            <a:chExt cx="4169663" cy="3433390"/>
          </a:xfrm>
        </p:grpSpPr>
        <p:grpSp>
          <p:nvGrpSpPr>
            <p:cNvPr id="11" name="s3 Group 10"/>
            <p:cNvGrpSpPr/>
            <p:nvPr/>
          </p:nvGrpSpPr>
          <p:grpSpPr>
            <a:xfrm>
              <a:off x="2514600" y="2738810"/>
              <a:ext cx="4169663" cy="2473270"/>
              <a:chOff x="2514600" y="2738810"/>
              <a:chExt cx="4169663" cy="2473270"/>
            </a:xfrm>
          </p:grpSpPr>
          <p:sp>
            <p:nvSpPr>
              <p:cNvPr id="8" name="s3 Rounded Rectangle 7"/>
              <p:cNvSpPr/>
              <p:nvPr/>
            </p:nvSpPr>
            <p:spPr>
              <a:xfrm>
                <a:off x="2770632" y="2738810"/>
                <a:ext cx="3657600" cy="2345253"/>
              </a:xfrm>
              <a:prstGeom prst="roundRect">
                <a:avLst>
                  <a:gd name="adj" fmla="val 3119"/>
                </a:avLst>
              </a:prstGeom>
              <a:solidFill>
                <a:srgbClr val="0B1210"/>
              </a:solidFill>
              <a:ln>
                <a:noFill/>
              </a:ln>
              <a:effectLst>
                <a:outerShdw blurRad="355600" dist="101600" dir="5400000" algn="t" rotWithShape="0">
                  <a:srgbClr val="0B2A20">
                    <a:alpha val="20000"/>
                  </a:srgbClr>
                </a:outerShdw>
              </a:effectLst>
            </p:spPr>
            <p:txBody>
              <a:bodyPr rtlCol="0" anchor="ctr"/>
              <a:lstStyle/>
              <a:p/>
            </p:txBody>
          </p:sp>
          <p:sp>
            <p:nvSpPr>
              <p:cNvPr id="9" name="s3 Rounded Rectangle 8"/>
              <p:cNvSpPr/>
              <p:nvPr/>
            </p:nvSpPr>
            <p:spPr>
              <a:xfrm>
                <a:off x="2514600" y="5084064"/>
                <a:ext cx="4169663" cy="128016"/>
              </a:xfrm>
              <a:prstGeom prst="roundRect">
                <a:avLst>
                  <a:gd name="adj" fmla="val 34285"/>
                </a:avLst>
              </a:prstGeom>
              <a:solidFill>
                <a:srgbClr val="C9D3D0"/>
              </a:solidFill>
              <a:ln>
                <a:noFill/>
              </a:ln>
              <a:effectLst/>
            </p:spPr>
            <p:txBody>
              <a:bodyPr rtlCol="0" anchor="ctr"/>
              <a:lstStyle/>
              <a:p/>
            </p:txBody>
          </p:sp>
          <p:sp>
            <p:nvSpPr>
              <p:cNvPr id="10" name="s3 Rounded Rectangle 9"/>
              <p:cNvSpPr/>
              <p:nvPr/>
            </p:nvSpPr>
            <p:spPr>
              <a:xfrm>
                <a:off x="4306824" y="5084064"/>
                <a:ext cx="585216" cy="43891"/>
              </a:xfrm>
              <a:prstGeom prst="roundRect">
                <a:avLst>
                  <a:gd name="adj" fmla="val 41666"/>
                </a:avLst>
              </a:prstGeom>
              <a:solidFill>
                <a:srgbClr val="A9B6B2"/>
              </a:solidFill>
              <a:ln>
                <a:noFill/>
              </a:ln>
              <a:effectLst/>
            </p:spPr>
            <p:txBody>
              <a:bodyPr rtlCol="0" anchor="ctr"/>
              <a:lstStyle/>
              <a:p/>
            </p:txBody>
          </p:sp>
        </p:grpSp>
        <p:sp>
          <p:nvSpPr>
            <p:cNvPr id="12" name="s3 Rounded Rectangle 11"/>
            <p:cNvSpPr/>
            <p:nvPr/>
          </p:nvSpPr>
          <p:spPr>
            <a:xfrm>
              <a:off x="4008169" y="5486400"/>
              <a:ext cx="1182525" cy="347472"/>
            </a:xfrm>
            <a:prstGeom prst="roundRect">
              <a:avLst>
                <a:gd name="adj" fmla="val 50000"/>
              </a:avLst>
            </a:prstGeom>
            <a:solidFill>
              <a:srgbClr val="B7F2ED"/>
            </a:solidFill>
            <a:ln>
              <a:noFill/>
            </a:ln>
            <a:effectLst/>
          </p:spPr>
          <p:txBody>
            <a:bodyPr rtlCol="0" anchor="ctr" lIns="0" rIns="0" tIns="0" bIns="0" wrap="none"/>
            <a:lstStyle/>
            <a:p>
              <a:pPr algn="ctr"/>
              <a:r>
                <a:rPr sz="1300" b="1" i="0">
                  <a:solidFill>
                    <a:srgbClr val="031B08"/>
                  </a:solidFill>
                  <a:latin typeface="Arial"/>
                </a:rPr>
                <a:t>Dispatcher</a:t>
              </a:r>
            </a:p>
          </p:txBody>
        </p:sp>
        <p:sp>
          <p:nvSpPr>
            <p:cNvPr id="13" name="s3 TextBox 12"/>
            <p:cNvSpPr txBox="1"/>
            <p:nvPr/>
          </p:nvSpPr>
          <p:spPr>
            <a:xfrm>
              <a:off x="3319272" y="5897880"/>
              <a:ext cx="2560320" cy="274320"/>
            </a:xfrm>
            <a:prstGeom prst="rect">
              <a:avLst/>
            </a:prstGeom>
            <a:noFill/>
          </p:spPr>
          <p:txBody>
            <a:bodyPr wrap="square" lIns="0" rIns="0" tIns="0" bIns="0" anchor="t">
              <a:spAutoFit/>
            </a:bodyPr>
            <a:lstStyle/>
            <a:p>
              <a:pPr algn="ctr">
                <a:lnSpc>
                  <a:spcPct val="108000"/>
                </a:lnSpc>
              </a:pPr>
              <a:r>
                <a:rPr sz="1300" b="0" i="0">
                  <a:solidFill>
                    <a:srgbClr val="4C5851"/>
                  </a:solidFill>
                  <a:latin typeface="Arial"/>
                </a:rPr>
                <a:t>plans and watches</a:t>
              </a:r>
            </a:p>
          </p:txBody>
        </p:sp>
      </p:grpSp>
      <p:grpSp>
        <p:nvGrpSpPr>
          <p:cNvPr id="18" name="s3 Group 17"/>
          <p:cNvGrpSpPr/>
          <p:nvPr/>
        </p:nvGrpSpPr>
        <p:grpSpPr>
          <a:xfrm>
            <a:off x="6931152" y="3255355"/>
            <a:ext cx="2743200" cy="2916845"/>
            <a:chOff x="6931152" y="3255355"/>
            <a:chExt cx="2743200" cy="2916845"/>
          </a:xfrm>
        </p:grpSpPr>
        <p:sp>
          <p:nvSpPr>
            <p:cNvPr id="15" name="s3 Rounded Rectangle 14"/>
            <p:cNvSpPr/>
            <p:nvPr/>
          </p:nvSpPr>
          <p:spPr>
            <a:xfrm>
              <a:off x="6931152" y="3255355"/>
              <a:ext cx="2743200" cy="1956724"/>
            </a:xfrm>
            <a:prstGeom prst="roundRect">
              <a:avLst>
                <a:gd name="adj" fmla="val 10280"/>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16" name="s3 Rounded Rectangle 15"/>
            <p:cNvSpPr/>
            <p:nvPr/>
          </p:nvSpPr>
          <p:spPr>
            <a:xfrm>
              <a:off x="7862929" y="5486400"/>
              <a:ext cx="879644" cy="347472"/>
            </a:xfrm>
            <a:prstGeom prst="roundRect">
              <a:avLst>
                <a:gd name="adj" fmla="val 50000"/>
              </a:avLst>
            </a:prstGeom>
            <a:solidFill>
              <a:srgbClr val="B7F2ED"/>
            </a:solidFill>
            <a:ln>
              <a:noFill/>
            </a:ln>
            <a:effectLst/>
          </p:spPr>
          <p:txBody>
            <a:bodyPr rtlCol="0" anchor="ctr" lIns="0" rIns="0" tIns="0" bIns="0" wrap="none"/>
            <a:lstStyle/>
            <a:p>
              <a:pPr algn="ctr"/>
              <a:r>
                <a:rPr sz="1300" b="1" i="0">
                  <a:solidFill>
                    <a:srgbClr val="031B08"/>
                  </a:solidFill>
                  <a:latin typeface="Arial"/>
                </a:rPr>
                <a:t>Loader</a:t>
              </a:r>
            </a:p>
          </p:txBody>
        </p:sp>
        <p:sp>
          <p:nvSpPr>
            <p:cNvPr id="17" name="s3 TextBox 16"/>
            <p:cNvSpPr txBox="1"/>
            <p:nvPr/>
          </p:nvSpPr>
          <p:spPr>
            <a:xfrm>
              <a:off x="7022592" y="5897880"/>
              <a:ext cx="2560320" cy="274320"/>
            </a:xfrm>
            <a:prstGeom prst="rect">
              <a:avLst/>
            </a:prstGeom>
            <a:noFill/>
          </p:spPr>
          <p:txBody>
            <a:bodyPr wrap="square" lIns="0" rIns="0" tIns="0" bIns="0" anchor="t">
              <a:spAutoFit/>
            </a:bodyPr>
            <a:lstStyle/>
            <a:p>
              <a:pPr algn="ctr">
                <a:lnSpc>
                  <a:spcPct val="108000"/>
                </a:lnSpc>
              </a:pPr>
              <a:r>
                <a:rPr sz="1300" b="0" i="0">
                  <a:solidFill>
                    <a:srgbClr val="4C5851"/>
                  </a:solidFill>
                  <a:latin typeface="Arial"/>
                </a:rPr>
                <a:t>loads and checks</a:t>
              </a:r>
            </a:p>
          </p:txBody>
        </p:sp>
      </p:grpSp>
      <p:grpSp>
        <p:nvGrpSpPr>
          <p:cNvPr id="22" name="s3 Group 21"/>
          <p:cNvGrpSpPr/>
          <p:nvPr/>
        </p:nvGrpSpPr>
        <p:grpSpPr>
          <a:xfrm>
            <a:off x="9499057" y="1645920"/>
            <a:ext cx="2560320" cy="4526280"/>
            <a:chOff x="9499057" y="1645920"/>
            <a:chExt cx="2560320" cy="4526280"/>
          </a:xfrm>
        </p:grpSpPr>
        <p:sp>
          <p:nvSpPr>
            <p:cNvPr id="19" name="s3 Rounded Rectangle 18"/>
            <p:cNvSpPr/>
            <p:nvPr/>
          </p:nvSpPr>
          <p:spPr>
            <a:xfrm>
              <a:off x="9921240" y="1645920"/>
              <a:ext cx="1715955" cy="356616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20" name="s3 Rounded Rectangle 19"/>
            <p:cNvSpPr/>
            <p:nvPr/>
          </p:nvSpPr>
          <p:spPr>
            <a:xfrm>
              <a:off x="10375994" y="5486400"/>
              <a:ext cx="806445" cy="347472"/>
            </a:xfrm>
            <a:prstGeom prst="roundRect">
              <a:avLst>
                <a:gd name="adj" fmla="val 50000"/>
              </a:avLst>
            </a:prstGeom>
            <a:solidFill>
              <a:srgbClr val="B7F2ED"/>
            </a:solidFill>
            <a:ln>
              <a:noFill/>
            </a:ln>
            <a:effectLst/>
          </p:spPr>
          <p:txBody>
            <a:bodyPr rtlCol="0" anchor="ctr" lIns="0" rIns="0" tIns="0" bIns="0" wrap="none"/>
            <a:lstStyle/>
            <a:p>
              <a:pPr algn="ctr"/>
              <a:r>
                <a:rPr sz="1300" b="1" i="0">
                  <a:solidFill>
                    <a:srgbClr val="031B08"/>
                  </a:solidFill>
                  <a:latin typeface="Arial"/>
                </a:rPr>
                <a:t>Driver</a:t>
              </a:r>
            </a:p>
          </p:txBody>
        </p:sp>
        <p:sp>
          <p:nvSpPr>
            <p:cNvPr id="21" name="s3 TextBox 20"/>
            <p:cNvSpPr txBox="1"/>
            <p:nvPr/>
          </p:nvSpPr>
          <p:spPr>
            <a:xfrm>
              <a:off x="9499057" y="5897880"/>
              <a:ext cx="2560320" cy="274320"/>
            </a:xfrm>
            <a:prstGeom prst="rect">
              <a:avLst/>
            </a:prstGeom>
            <a:noFill/>
          </p:spPr>
          <p:txBody>
            <a:bodyPr wrap="square" lIns="0" rIns="0" tIns="0" bIns="0" anchor="t">
              <a:spAutoFit/>
            </a:bodyPr>
            <a:lstStyle/>
            <a:p>
              <a:pPr algn="ctr">
                <a:lnSpc>
                  <a:spcPct val="108000"/>
                </a:lnSpc>
              </a:pPr>
              <a:r>
                <a:rPr sz="1300" b="0" i="0">
                  <a:solidFill>
                    <a:srgbClr val="4C5851"/>
                  </a:solidFill>
                  <a:latin typeface="Arial"/>
                </a:rPr>
                <a:t>delivers, even offline</a:t>
              </a:r>
            </a:p>
          </p:txBody>
        </p:sp>
      </p:grpSp>
      <p:pic>
        <p:nvPicPr>
          <p:cNvPr id="23" name="s3 Live screen: store">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14536" y="1711816"/>
            <a:ext cx="1584162" cy="3434367"/>
          </a:xfrm>
          <a:prstGeom prst="roundRect">
            <a:avLst>
              <a:gd name="adj" fmla="val 16638"/>
            </a:avLst>
          </a:prstGeom>
        </p:spPr>
      </p:pic>
      <p:pic>
        <p:nvPicPr>
          <p:cNvPr id="24" name="s3 Live screen: plan">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2814523" y="2809036"/>
            <a:ext cx="3569817" cy="2231136"/>
          </a:xfrm>
          <a:prstGeom prst="rect">
            <a:avLst/>
          </a:prstGeom>
        </p:spPr>
      </p:pic>
      <p:pic>
        <p:nvPicPr>
          <p:cNvPr id="25" name="s3 Live screen: loader">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7013448" y="3337651"/>
            <a:ext cx="2578608" cy="1792132"/>
          </a:xfrm>
          <a:prstGeom prst="roundRect">
            <a:avLst>
              <a:gd name="adj" fmla="val 7143"/>
            </a:avLst>
          </a:prstGeom>
        </p:spPr>
      </p:pic>
      <p:pic>
        <p:nvPicPr>
          <p:cNvPr id="26" name="s3 Live screen: drv_arrive">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9987136" y="1711816"/>
            <a:ext cx="1584162" cy="3434367"/>
          </a:xfrm>
          <a:prstGeom prst="roundRect">
            <a:avLst>
              <a:gd name="adj" fmla="val 16638"/>
            </a:avLst>
          </a:prstGeom>
        </p:spPr>
      </p:pic>
      <p:sp>
        <p:nvSpPr>
          <p:cNvPr id="27" name="s3 TextBox 26"/>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28" name="s3 TextBox 27"/>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3</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9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50"/>
                                        <p:tgtEl>
                                          <p:spTgt spid="7"/>
                                        </p:tgtEl>
                                      </p:cBhvr>
                                    </p:animEffect>
                                    <p:anim calcmode="lin" valueType="num">
                                      <p:cBhvr>
                                        <p:cTn id="8" dur="550" decel="100000" fill="hold"/>
                                        <p:tgtEl>
                                          <p:spTgt spid="7"/>
                                        </p:tgtEl>
                                        <p:attrNameLst>
                                          <p:attrName>ppt_x</p:attrName>
                                        </p:attrNameLst>
                                      </p:cBhvr>
                                      <p:tavLst>
                                        <p:tav tm="0">
                                          <p:val>
                                            <p:strVal val="#ppt_x"/>
                                          </p:val>
                                        </p:tav>
                                        <p:tav tm="100000">
                                          <p:val>
                                            <p:strVal val="#ppt_x"/>
                                          </p:val>
                                        </p:tav>
                                      </p:tavLst>
                                    </p:anim>
                                    <p:anim calcmode="lin" valueType="num">
                                      <p:cBhvr>
                                        <p:cTn id="9" dur="550" decel="100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9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50"/>
                                        <p:tgtEl>
                                          <p:spTgt spid="23"/>
                                        </p:tgtEl>
                                      </p:cBhvr>
                                    </p:animEffect>
                                    <p:anim calcmode="lin" valueType="num">
                                      <p:cBhvr>
                                        <p:cTn id="13" dur="550" decel="100000" fill="hold"/>
                                        <p:tgtEl>
                                          <p:spTgt spid="23"/>
                                        </p:tgtEl>
                                        <p:attrNameLst>
                                          <p:attrName>ppt_x</p:attrName>
                                        </p:attrNameLst>
                                      </p:cBhvr>
                                      <p:tavLst>
                                        <p:tav tm="0">
                                          <p:val>
                                            <p:strVal val="#ppt_x"/>
                                          </p:val>
                                        </p:tav>
                                        <p:tav tm="100000">
                                          <p:val>
                                            <p:strVal val="#ppt_x"/>
                                          </p:val>
                                        </p:tav>
                                      </p:tavLst>
                                    </p:anim>
                                    <p:anim calcmode="lin" valueType="num">
                                      <p:cBhvr>
                                        <p:cTn id="14" dur="550" decel="100000" fill="hold"/>
                                        <p:tgtEl>
                                          <p:spTgt spid="23"/>
                                        </p:tgtEl>
                                        <p:attrNameLst>
                                          <p:attrName>ppt_y</p:attrName>
                                        </p:attrNameLst>
                                      </p:cBhvr>
                                      <p:tavLst>
                                        <p:tav tm="0">
                                          <p:val>
                                            <p:strVal val="#ppt_y+.1"/>
                                          </p:val>
                                        </p:tav>
                                        <p:tav tm="100000">
                                          <p:val>
                                            <p:strVal val="#ppt_y"/>
                                          </p:val>
                                        </p:tav>
                                      </p:tavLst>
                                    </p:anim>
                                  </p:childTnLst>
                                </p:cTn>
                              </p:par>
                              <p:par>
                                <p:cTn id="15" presetID="1" presetClass="mediacall" presetSubtype="0" fill="hold" nodeType="withEffect">
                                  <p:stCondLst>
                                    <p:cond delay="90"/>
                                  </p:stCondLst>
                                  <p:childTnLst>
                                    <p:cmd type="call" cmd="playFrom(0.0)">
                                      <p:cBhvr>
                                        <p:cTn id="16" dur="9000" fill="hold"/>
                                        <p:tgtEl>
                                          <p:spTgt spid="23"/>
                                        </p:tgtEl>
                                      </p:cBhvr>
                                    </p:cmd>
                                  </p:childTnLst>
                                </p:cTn>
                              </p:par>
                              <p:par>
                                <p:cTn id="17" presetID="42" presetClass="entr" presetSubtype="0" fill="hold" nodeType="withEffect">
                                  <p:stCondLst>
                                    <p:cond delay="73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50"/>
                                        <p:tgtEl>
                                          <p:spTgt spid="14"/>
                                        </p:tgtEl>
                                      </p:cBhvr>
                                    </p:animEffect>
                                    <p:anim calcmode="lin" valueType="num">
                                      <p:cBhvr>
                                        <p:cTn id="20" dur="550" decel="100000" fill="hold"/>
                                        <p:tgtEl>
                                          <p:spTgt spid="14"/>
                                        </p:tgtEl>
                                        <p:attrNameLst>
                                          <p:attrName>ppt_x</p:attrName>
                                        </p:attrNameLst>
                                      </p:cBhvr>
                                      <p:tavLst>
                                        <p:tav tm="0">
                                          <p:val>
                                            <p:strVal val="#ppt_x"/>
                                          </p:val>
                                        </p:tav>
                                        <p:tav tm="100000">
                                          <p:val>
                                            <p:strVal val="#ppt_x"/>
                                          </p:val>
                                        </p:tav>
                                      </p:tavLst>
                                    </p:anim>
                                    <p:anim calcmode="lin" valueType="num">
                                      <p:cBhvr>
                                        <p:cTn id="21" dur="550" decel="100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73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50"/>
                                        <p:tgtEl>
                                          <p:spTgt spid="24"/>
                                        </p:tgtEl>
                                      </p:cBhvr>
                                    </p:animEffect>
                                    <p:anim calcmode="lin" valueType="num">
                                      <p:cBhvr>
                                        <p:cTn id="25" dur="550" decel="100000" fill="hold"/>
                                        <p:tgtEl>
                                          <p:spTgt spid="24"/>
                                        </p:tgtEl>
                                        <p:attrNameLst>
                                          <p:attrName>ppt_x</p:attrName>
                                        </p:attrNameLst>
                                      </p:cBhvr>
                                      <p:tavLst>
                                        <p:tav tm="0">
                                          <p:val>
                                            <p:strVal val="#ppt_x"/>
                                          </p:val>
                                        </p:tav>
                                        <p:tav tm="100000">
                                          <p:val>
                                            <p:strVal val="#ppt_x"/>
                                          </p:val>
                                        </p:tav>
                                      </p:tavLst>
                                    </p:anim>
                                    <p:anim calcmode="lin" valueType="num">
                                      <p:cBhvr>
                                        <p:cTn id="26" dur="550" decel="100000" fill="hold"/>
                                        <p:tgtEl>
                                          <p:spTgt spid="24"/>
                                        </p:tgtEl>
                                        <p:attrNameLst>
                                          <p:attrName>ppt_y</p:attrName>
                                        </p:attrNameLst>
                                      </p:cBhvr>
                                      <p:tavLst>
                                        <p:tav tm="0">
                                          <p:val>
                                            <p:strVal val="#ppt_y+.1"/>
                                          </p:val>
                                        </p:tav>
                                        <p:tav tm="100000">
                                          <p:val>
                                            <p:strVal val="#ppt_y"/>
                                          </p:val>
                                        </p:tav>
                                      </p:tavLst>
                                    </p:anim>
                                  </p:childTnLst>
                                </p:cTn>
                              </p:par>
                              <p:par>
                                <p:cTn id="27" presetID="1" presetClass="mediacall" presetSubtype="0" fill="hold" nodeType="withEffect">
                                  <p:stCondLst>
                                    <p:cond delay="730"/>
                                  </p:stCondLst>
                                  <p:childTnLst>
                                    <p:cmd type="call" cmd="playFrom(0.0)">
                                      <p:cBhvr>
                                        <p:cTn id="28" dur="12267" fill="hold"/>
                                        <p:tgtEl>
                                          <p:spTgt spid="24"/>
                                        </p:tgtEl>
                                      </p:cBhvr>
                                    </p:cmd>
                                  </p:childTnLst>
                                </p:cTn>
                              </p:par>
                              <p:par>
                                <p:cTn id="29" presetID="42" presetClass="entr" presetSubtype="0" fill="hold" nodeType="withEffect">
                                  <p:stCondLst>
                                    <p:cond delay="137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50"/>
                                        <p:tgtEl>
                                          <p:spTgt spid="18"/>
                                        </p:tgtEl>
                                      </p:cBhvr>
                                    </p:animEffect>
                                    <p:anim calcmode="lin" valueType="num">
                                      <p:cBhvr>
                                        <p:cTn id="32" dur="550" decel="100000" fill="hold"/>
                                        <p:tgtEl>
                                          <p:spTgt spid="18"/>
                                        </p:tgtEl>
                                        <p:attrNameLst>
                                          <p:attrName>ppt_x</p:attrName>
                                        </p:attrNameLst>
                                      </p:cBhvr>
                                      <p:tavLst>
                                        <p:tav tm="0">
                                          <p:val>
                                            <p:strVal val="#ppt_x"/>
                                          </p:val>
                                        </p:tav>
                                        <p:tav tm="100000">
                                          <p:val>
                                            <p:strVal val="#ppt_x"/>
                                          </p:val>
                                        </p:tav>
                                      </p:tavLst>
                                    </p:anim>
                                    <p:anim calcmode="lin" valueType="num">
                                      <p:cBhvr>
                                        <p:cTn id="33" dur="550" decel="100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137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50"/>
                                        <p:tgtEl>
                                          <p:spTgt spid="25"/>
                                        </p:tgtEl>
                                      </p:cBhvr>
                                    </p:animEffect>
                                    <p:anim calcmode="lin" valueType="num">
                                      <p:cBhvr>
                                        <p:cTn id="37" dur="550" decel="100000" fill="hold"/>
                                        <p:tgtEl>
                                          <p:spTgt spid="25"/>
                                        </p:tgtEl>
                                        <p:attrNameLst>
                                          <p:attrName>ppt_x</p:attrName>
                                        </p:attrNameLst>
                                      </p:cBhvr>
                                      <p:tavLst>
                                        <p:tav tm="0">
                                          <p:val>
                                            <p:strVal val="#ppt_x"/>
                                          </p:val>
                                        </p:tav>
                                        <p:tav tm="100000">
                                          <p:val>
                                            <p:strVal val="#ppt_x"/>
                                          </p:val>
                                        </p:tav>
                                      </p:tavLst>
                                    </p:anim>
                                    <p:anim calcmode="lin" valueType="num">
                                      <p:cBhvr>
                                        <p:cTn id="38" dur="550" decel="100000" fill="hold"/>
                                        <p:tgtEl>
                                          <p:spTgt spid="25"/>
                                        </p:tgtEl>
                                        <p:attrNameLst>
                                          <p:attrName>ppt_y</p:attrName>
                                        </p:attrNameLst>
                                      </p:cBhvr>
                                      <p:tavLst>
                                        <p:tav tm="0">
                                          <p:val>
                                            <p:strVal val="#ppt_y+.1"/>
                                          </p:val>
                                        </p:tav>
                                        <p:tav tm="100000">
                                          <p:val>
                                            <p:strVal val="#ppt_y"/>
                                          </p:val>
                                        </p:tav>
                                      </p:tavLst>
                                    </p:anim>
                                  </p:childTnLst>
                                </p:cTn>
                              </p:par>
                              <p:par>
                                <p:cTn id="39" presetID="1" presetClass="mediacall" presetSubtype="0" fill="hold" nodeType="withEffect">
                                  <p:stCondLst>
                                    <p:cond delay="1370"/>
                                  </p:stCondLst>
                                  <p:childTnLst>
                                    <p:cmd type="call" cmd="playFrom(0.0)">
                                      <p:cBhvr>
                                        <p:cTn id="40" dur="11567" fill="hold"/>
                                        <p:tgtEl>
                                          <p:spTgt spid="25"/>
                                        </p:tgtEl>
                                      </p:cBhvr>
                                    </p:cmd>
                                  </p:childTnLst>
                                </p:cTn>
                              </p:par>
                              <p:par>
                                <p:cTn id="41" presetID="42" presetClass="entr" presetSubtype="0" fill="hold" nodeType="withEffect">
                                  <p:stCondLst>
                                    <p:cond delay="201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50"/>
                                        <p:tgtEl>
                                          <p:spTgt spid="22"/>
                                        </p:tgtEl>
                                      </p:cBhvr>
                                    </p:animEffect>
                                    <p:anim calcmode="lin" valueType="num">
                                      <p:cBhvr>
                                        <p:cTn id="44" dur="550" decel="100000" fill="hold"/>
                                        <p:tgtEl>
                                          <p:spTgt spid="22"/>
                                        </p:tgtEl>
                                        <p:attrNameLst>
                                          <p:attrName>ppt_x</p:attrName>
                                        </p:attrNameLst>
                                      </p:cBhvr>
                                      <p:tavLst>
                                        <p:tav tm="0">
                                          <p:val>
                                            <p:strVal val="#ppt_x"/>
                                          </p:val>
                                        </p:tav>
                                        <p:tav tm="100000">
                                          <p:val>
                                            <p:strVal val="#ppt_x"/>
                                          </p:val>
                                        </p:tav>
                                      </p:tavLst>
                                    </p:anim>
                                    <p:anim calcmode="lin" valueType="num">
                                      <p:cBhvr>
                                        <p:cTn id="45" dur="550" decel="100000" fill="hold"/>
                                        <p:tgtEl>
                                          <p:spTgt spid="2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201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50"/>
                                        <p:tgtEl>
                                          <p:spTgt spid="26"/>
                                        </p:tgtEl>
                                      </p:cBhvr>
                                    </p:animEffect>
                                    <p:anim calcmode="lin" valueType="num">
                                      <p:cBhvr>
                                        <p:cTn id="49" dur="550" decel="100000" fill="hold"/>
                                        <p:tgtEl>
                                          <p:spTgt spid="26"/>
                                        </p:tgtEl>
                                        <p:attrNameLst>
                                          <p:attrName>ppt_x</p:attrName>
                                        </p:attrNameLst>
                                      </p:cBhvr>
                                      <p:tavLst>
                                        <p:tav tm="0">
                                          <p:val>
                                            <p:strVal val="#ppt_x"/>
                                          </p:val>
                                        </p:tav>
                                        <p:tav tm="100000">
                                          <p:val>
                                            <p:strVal val="#ppt_x"/>
                                          </p:val>
                                        </p:tav>
                                      </p:tavLst>
                                    </p:anim>
                                    <p:anim calcmode="lin" valueType="num">
                                      <p:cBhvr>
                                        <p:cTn id="50" dur="550" decel="100000" fill="hold"/>
                                        <p:tgtEl>
                                          <p:spTgt spid="26"/>
                                        </p:tgtEl>
                                        <p:attrNameLst>
                                          <p:attrName>ppt_y</p:attrName>
                                        </p:attrNameLst>
                                      </p:cBhvr>
                                      <p:tavLst>
                                        <p:tav tm="0">
                                          <p:val>
                                            <p:strVal val="#ppt_y+.1"/>
                                          </p:val>
                                        </p:tav>
                                        <p:tav tm="100000">
                                          <p:val>
                                            <p:strVal val="#ppt_y"/>
                                          </p:val>
                                        </p:tav>
                                      </p:tavLst>
                                    </p:anim>
                                  </p:childTnLst>
                                </p:cTn>
                              </p:par>
                              <p:par>
                                <p:cTn id="51" presetID="1" presetClass="mediacall" presetSubtype="0" fill="hold" nodeType="withEffect">
                                  <p:stCondLst>
                                    <p:cond delay="2010"/>
                                  </p:stCondLst>
                                  <p:childTnLst>
                                    <p:cmd type="call" cmd="playFrom(0.0)">
                                      <p:cBhvr>
                                        <p:cTn id="52" dur="900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53" repeatCount="indefinite" fill="hold" display="0">
                  <p:stCondLst>
                    <p:cond delay="indefinite"/>
                  </p:stCondLst>
                </p:cTn>
                <p:tgtEl>
                  <p:spTgt spid="23"/>
                </p:tgtEl>
              </p:cMediaNode>
            </p:video>
            <p:video>
              <p:cMediaNode vol="80000" mute="1">
                <p:cTn id="54" repeatCount="indefinite" fill="hold" display="0">
                  <p:stCondLst>
                    <p:cond delay="indefinite"/>
                  </p:stCondLst>
                </p:cTn>
                <p:tgtEl>
                  <p:spTgt spid="24"/>
                </p:tgtEl>
              </p:cMediaNode>
            </p:video>
            <p:video>
              <p:cMediaNode vol="80000" mute="1">
                <p:cTn id="55" repeatCount="indefinite" fill="hold" display="0">
                  <p:stCondLst>
                    <p:cond delay="indefinite"/>
                  </p:stCondLst>
                </p:cTn>
                <p:tgtEl>
                  <p:spTgt spid="25"/>
                </p:tgtEl>
              </p:cMediaNode>
            </p:video>
            <p:video>
              <p:cMediaNode vol="80000" mute="1">
                <p:cTn id="56" repeatCount="indefinite" fill="hold" display="0">
                  <p:stCondLst>
                    <p:cond delay="indefinite"/>
                  </p:stCondLst>
                </p:cTn>
                <p:tgtEl>
                  <p:spTgt spid="26"/>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4 Rounded Rectangle 1"/>
          <p:cNvSpPr/>
          <p:nvPr/>
        </p:nvSpPr>
        <p:spPr>
          <a:xfrm>
            <a:off x="548640" y="457200"/>
            <a:ext cx="1213642"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Designathon</a:t>
            </a:r>
          </a:p>
        </p:txBody>
      </p:sp>
      <p:sp>
        <p:nvSpPr>
          <p:cNvPr id="3" name="s4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Designed for people who start at 3 AM</a:t>
            </a:r>
          </a:p>
        </p:txBody>
      </p:sp>
      <p:grpSp>
        <p:nvGrpSpPr>
          <p:cNvPr id="8" name="s4 Group 7"/>
          <p:cNvGrpSpPr/>
          <p:nvPr/>
        </p:nvGrpSpPr>
        <p:grpSpPr>
          <a:xfrm>
            <a:off x="548640" y="1691640"/>
            <a:ext cx="4323934" cy="4526280"/>
            <a:chOff x="548640" y="1691640"/>
            <a:chExt cx="4323934" cy="4526280"/>
          </a:xfrm>
        </p:grpSpPr>
        <p:sp>
          <p:nvSpPr>
            <p:cNvPr id="4" name="s4 Rounded Rectangle 3"/>
            <p:cNvSpPr/>
            <p:nvPr/>
          </p:nvSpPr>
          <p:spPr>
            <a:xfrm>
              <a:off x="548640" y="1691640"/>
              <a:ext cx="2001947" cy="416052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5" name="s4 Rounded Rectangle 4"/>
            <p:cNvSpPr/>
            <p:nvPr/>
          </p:nvSpPr>
          <p:spPr>
            <a:xfrm>
              <a:off x="2870627" y="1691640"/>
              <a:ext cx="2001947" cy="416052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6" name="s4 TextBox 5"/>
            <p:cNvSpPr txBox="1"/>
            <p:nvPr/>
          </p:nvSpPr>
          <p:spPr>
            <a:xfrm>
              <a:off x="548640" y="5943600"/>
              <a:ext cx="2001947" cy="274320"/>
            </a:xfrm>
            <a:prstGeom prst="rect">
              <a:avLst/>
            </a:prstGeom>
            <a:noFill/>
          </p:spPr>
          <p:txBody>
            <a:bodyPr wrap="square" lIns="0" rIns="0" tIns="0" bIns="0" anchor="t">
              <a:spAutoFit/>
            </a:bodyPr>
            <a:lstStyle/>
            <a:p>
              <a:pPr algn="ctr">
                <a:lnSpc>
                  <a:spcPct val="108000"/>
                </a:lnSpc>
              </a:pPr>
              <a:r>
                <a:rPr sz="1300" b="0" i="0">
                  <a:solidFill>
                    <a:srgbClr val="4C5851"/>
                  </a:solidFill>
                  <a:latin typeface="Arial"/>
                </a:rPr>
                <a:t>Day</a:t>
              </a:r>
            </a:p>
          </p:txBody>
        </p:sp>
        <p:sp>
          <p:nvSpPr>
            <p:cNvPr id="7" name="s4 TextBox 6"/>
            <p:cNvSpPr txBox="1"/>
            <p:nvPr/>
          </p:nvSpPr>
          <p:spPr>
            <a:xfrm>
              <a:off x="2870627" y="5943600"/>
              <a:ext cx="2001947" cy="274320"/>
            </a:xfrm>
            <a:prstGeom prst="rect">
              <a:avLst/>
            </a:prstGeom>
            <a:noFill/>
          </p:spPr>
          <p:txBody>
            <a:bodyPr wrap="square" lIns="0" rIns="0" tIns="0" bIns="0" anchor="t">
              <a:spAutoFit/>
            </a:bodyPr>
            <a:lstStyle/>
            <a:p>
              <a:pPr algn="ctr">
                <a:lnSpc>
                  <a:spcPct val="108000"/>
                </a:lnSpc>
              </a:pPr>
              <a:r>
                <a:rPr sz="1300" b="0" i="0">
                  <a:solidFill>
                    <a:srgbClr val="4C5851"/>
                  </a:solidFill>
                  <a:latin typeface="Arial"/>
                </a:rPr>
                <a:t>Night</a:t>
              </a:r>
            </a:p>
          </p:txBody>
        </p:sp>
      </p:grpSp>
      <p:pic>
        <p:nvPicPr>
          <p:cNvPr id="9" name="s4 Live screen: drv_day">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25519" y="1768519"/>
            <a:ext cx="1848189" cy="4006761"/>
          </a:xfrm>
          <a:prstGeom prst="roundRect">
            <a:avLst>
              <a:gd name="adj" fmla="val 16638"/>
            </a:avLst>
          </a:prstGeom>
        </p:spPr>
      </p:pic>
      <p:pic>
        <p:nvPicPr>
          <p:cNvPr id="10" name="s4 Live screen: drv_night">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2947506" y="1768519"/>
            <a:ext cx="1848189" cy="4006761"/>
          </a:xfrm>
          <a:prstGeom prst="roundRect">
            <a:avLst>
              <a:gd name="adj" fmla="val 16638"/>
            </a:avLst>
          </a:prstGeom>
        </p:spPr>
      </p:pic>
      <p:sp>
        <p:nvSpPr>
          <p:cNvPr id="11" name="s4 TextBox 10"/>
          <p:cNvSpPr txBox="1"/>
          <p:nvPr/>
        </p:nvSpPr>
        <p:spPr>
          <a:xfrm>
            <a:off x="5806440" y="1636776"/>
            <a:ext cx="5486400" cy="320040"/>
          </a:xfrm>
          <a:prstGeom prst="rect">
            <a:avLst/>
          </a:prstGeom>
          <a:noFill/>
        </p:spPr>
        <p:txBody>
          <a:bodyPr wrap="square" lIns="0" rIns="0" tIns="0" bIns="0" anchor="t">
            <a:spAutoFit/>
          </a:bodyPr>
          <a:lstStyle/>
          <a:p>
            <a:pPr algn="l">
              <a:lnSpc>
                <a:spcPct val="108000"/>
              </a:lnSpc>
            </a:pPr>
            <a:r>
              <a:rPr sz="1700" b="1" i="0">
                <a:solidFill>
                  <a:srgbClr val="031B08"/>
                </a:solidFill>
                <a:latin typeface="Arial"/>
              </a:rPr>
              <a:t>Why these colours</a:t>
            </a:r>
          </a:p>
        </p:txBody>
      </p:sp>
      <p:grpSp>
        <p:nvGrpSpPr>
          <p:cNvPr id="15" name="s4 Group 14"/>
          <p:cNvGrpSpPr/>
          <p:nvPr/>
        </p:nvGrpSpPr>
        <p:grpSpPr>
          <a:xfrm>
            <a:off x="5806440" y="2148840"/>
            <a:ext cx="5836614" cy="365760"/>
            <a:chOff x="5806440" y="2148840"/>
            <a:chExt cx="5836614" cy="365760"/>
          </a:xfrm>
        </p:grpSpPr>
        <p:sp>
          <p:nvSpPr>
            <p:cNvPr id="12" name="s4 Oval 11"/>
            <p:cNvSpPr/>
            <p:nvPr/>
          </p:nvSpPr>
          <p:spPr>
            <a:xfrm>
              <a:off x="5806440" y="2148840"/>
              <a:ext cx="365760" cy="365760"/>
            </a:xfrm>
            <a:prstGeom prst="ellipse">
              <a:avLst/>
            </a:prstGeom>
            <a:solidFill>
              <a:srgbClr val="00E169"/>
            </a:solidFill>
            <a:ln>
              <a:noFill/>
            </a:ln>
            <a:effectLst/>
          </p:spPr>
          <p:txBody>
            <a:bodyPr rtlCol="0" anchor="ctr"/>
            <a:lstStyle/>
            <a:p>
              <a:pPr algn="ctr"/>
            </a:p>
          </p:txBody>
        </p:sp>
        <p:sp>
          <p:nvSpPr>
            <p:cNvPr id="13" name="s4 TextBox 12"/>
            <p:cNvSpPr txBox="1"/>
            <p:nvPr/>
          </p:nvSpPr>
          <p:spPr>
            <a:xfrm>
              <a:off x="6355079" y="2185416"/>
              <a:ext cx="128016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GO green</a:t>
              </a:r>
            </a:p>
          </p:txBody>
        </p:sp>
        <p:sp>
          <p:nvSpPr>
            <p:cNvPr id="14" name="s4 TextBox 13"/>
            <p:cNvSpPr txBox="1"/>
            <p:nvPr/>
          </p:nvSpPr>
          <p:spPr>
            <a:xfrm>
              <a:off x="7680959" y="2194560"/>
              <a:ext cx="3962095" cy="32004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The next step to take, in our logo’s green</a:t>
              </a:r>
            </a:p>
          </p:txBody>
        </p:sp>
      </p:grpSp>
      <p:grpSp>
        <p:nvGrpSpPr>
          <p:cNvPr id="19" name="s4 Group 18"/>
          <p:cNvGrpSpPr/>
          <p:nvPr/>
        </p:nvGrpSpPr>
        <p:grpSpPr>
          <a:xfrm>
            <a:off x="5806440" y="2697480"/>
            <a:ext cx="5836614" cy="365760"/>
            <a:chOff x="5806440" y="2697480"/>
            <a:chExt cx="5836614" cy="365760"/>
          </a:xfrm>
        </p:grpSpPr>
        <p:sp>
          <p:nvSpPr>
            <p:cNvPr id="16" name="s4 Oval 15"/>
            <p:cNvSpPr/>
            <p:nvPr/>
          </p:nvSpPr>
          <p:spPr>
            <a:xfrm>
              <a:off x="5806440" y="2697480"/>
              <a:ext cx="365760" cy="365760"/>
            </a:xfrm>
            <a:prstGeom prst="ellipse">
              <a:avLst/>
            </a:prstGeom>
            <a:solidFill>
              <a:srgbClr val="0A6B63"/>
            </a:solidFill>
            <a:ln>
              <a:noFill/>
            </a:ln>
            <a:effectLst/>
          </p:spPr>
          <p:txBody>
            <a:bodyPr rtlCol="0" anchor="ctr"/>
            <a:lstStyle/>
            <a:p>
              <a:pPr algn="ctr"/>
            </a:p>
          </p:txBody>
        </p:sp>
        <p:sp>
          <p:nvSpPr>
            <p:cNvPr id="17" name="s4 TextBox 16"/>
            <p:cNvSpPr txBox="1"/>
            <p:nvPr/>
          </p:nvSpPr>
          <p:spPr>
            <a:xfrm>
              <a:off x="6355079" y="2734056"/>
              <a:ext cx="128016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Teal</a:t>
              </a:r>
            </a:p>
          </p:txBody>
        </p:sp>
        <p:sp>
          <p:nvSpPr>
            <p:cNvPr id="18" name="s4 TextBox 17"/>
            <p:cNvSpPr txBox="1"/>
            <p:nvPr/>
          </p:nvSpPr>
          <p:spPr>
            <a:xfrm>
              <a:off x="7680959" y="2743200"/>
              <a:ext cx="3962095" cy="32004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Decisions and links: calm and trusted</a:t>
              </a:r>
            </a:p>
          </p:txBody>
        </p:sp>
      </p:grpSp>
      <p:grpSp>
        <p:nvGrpSpPr>
          <p:cNvPr id="23" name="s4 Group 22"/>
          <p:cNvGrpSpPr/>
          <p:nvPr/>
        </p:nvGrpSpPr>
        <p:grpSpPr>
          <a:xfrm>
            <a:off x="5806440" y="3246120"/>
            <a:ext cx="5836614" cy="365760"/>
            <a:chOff x="5806440" y="3246120"/>
            <a:chExt cx="5836614" cy="365760"/>
          </a:xfrm>
        </p:grpSpPr>
        <p:sp>
          <p:nvSpPr>
            <p:cNvPr id="20" name="s4 Oval 19"/>
            <p:cNvSpPr/>
            <p:nvPr/>
          </p:nvSpPr>
          <p:spPr>
            <a:xfrm>
              <a:off x="5806440" y="3246120"/>
              <a:ext cx="365760" cy="365760"/>
            </a:xfrm>
            <a:prstGeom prst="ellipse">
              <a:avLst/>
            </a:prstGeom>
            <a:solidFill>
              <a:srgbClr val="031B08"/>
            </a:solidFill>
            <a:ln w="15875">
              <a:solidFill>
                <a:srgbClr val="D3E0DC"/>
              </a:solidFill>
            </a:ln>
            <a:effectLst/>
          </p:spPr>
          <p:txBody>
            <a:bodyPr rtlCol="0" anchor="ctr"/>
            <a:lstStyle/>
            <a:p>
              <a:pPr algn="ctr"/>
            </a:p>
          </p:txBody>
        </p:sp>
        <p:sp>
          <p:nvSpPr>
            <p:cNvPr id="21" name="s4 TextBox 20"/>
            <p:cNvSpPr txBox="1"/>
            <p:nvPr/>
          </p:nvSpPr>
          <p:spPr>
            <a:xfrm>
              <a:off x="6355079" y="3282696"/>
              <a:ext cx="128016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Night</a:t>
              </a:r>
            </a:p>
          </p:txBody>
        </p:sp>
        <p:sp>
          <p:nvSpPr>
            <p:cNvPr id="22" name="s4 TextBox 21"/>
            <p:cNvSpPr txBox="1"/>
            <p:nvPr/>
          </p:nvSpPr>
          <p:spPr>
            <a:xfrm>
              <a:off x="7680959" y="3291839"/>
              <a:ext cx="3962095" cy="32004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Dark screens for 3 AM: no glare in the cab</a:t>
              </a:r>
            </a:p>
          </p:txBody>
        </p:sp>
      </p:grpSp>
      <p:grpSp>
        <p:nvGrpSpPr>
          <p:cNvPr id="27" name="s4 Group 26"/>
          <p:cNvGrpSpPr/>
          <p:nvPr/>
        </p:nvGrpSpPr>
        <p:grpSpPr>
          <a:xfrm>
            <a:off x="5806440" y="3794760"/>
            <a:ext cx="5836614" cy="365760"/>
            <a:chOff x="5806440" y="3794760"/>
            <a:chExt cx="5836614" cy="365760"/>
          </a:xfrm>
        </p:grpSpPr>
        <p:sp>
          <p:nvSpPr>
            <p:cNvPr id="24" name="s4 Oval 23"/>
            <p:cNvSpPr/>
            <p:nvPr/>
          </p:nvSpPr>
          <p:spPr>
            <a:xfrm>
              <a:off x="5806440" y="3794760"/>
              <a:ext cx="365760" cy="365760"/>
            </a:xfrm>
            <a:prstGeom prst="ellipse">
              <a:avLst/>
            </a:prstGeom>
            <a:solidFill>
              <a:srgbClr val="F2C875"/>
            </a:solidFill>
            <a:ln>
              <a:noFill/>
            </a:ln>
            <a:effectLst/>
          </p:spPr>
          <p:txBody>
            <a:bodyPr rtlCol="0" anchor="ctr"/>
            <a:lstStyle/>
            <a:p>
              <a:pPr algn="ctr"/>
            </a:p>
          </p:txBody>
        </p:sp>
        <p:sp>
          <p:nvSpPr>
            <p:cNvPr id="25" name="s4 TextBox 24"/>
            <p:cNvSpPr txBox="1"/>
            <p:nvPr/>
          </p:nvSpPr>
          <p:spPr>
            <a:xfrm>
              <a:off x="6355079" y="3831336"/>
              <a:ext cx="128016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Amber</a:t>
              </a:r>
            </a:p>
          </p:txBody>
        </p:sp>
        <p:sp>
          <p:nvSpPr>
            <p:cNvPr id="26" name="s4 TextBox 25"/>
            <p:cNvSpPr txBox="1"/>
            <p:nvPr/>
          </p:nvSpPr>
          <p:spPr>
            <a:xfrm>
              <a:off x="7680959" y="3840480"/>
              <a:ext cx="3962095" cy="32004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Needs attention: tight or at risk</a:t>
              </a:r>
            </a:p>
          </p:txBody>
        </p:sp>
      </p:grpSp>
      <p:grpSp>
        <p:nvGrpSpPr>
          <p:cNvPr id="31" name="s4 Group 30"/>
          <p:cNvGrpSpPr/>
          <p:nvPr/>
        </p:nvGrpSpPr>
        <p:grpSpPr>
          <a:xfrm>
            <a:off x="5806440" y="4343400"/>
            <a:ext cx="5836614" cy="365760"/>
            <a:chOff x="5806440" y="4343400"/>
            <a:chExt cx="5836614" cy="365760"/>
          </a:xfrm>
        </p:grpSpPr>
        <p:sp>
          <p:nvSpPr>
            <p:cNvPr id="28" name="s4 Oval 27"/>
            <p:cNvSpPr/>
            <p:nvPr/>
          </p:nvSpPr>
          <p:spPr>
            <a:xfrm>
              <a:off x="5806440" y="4343400"/>
              <a:ext cx="365760" cy="365760"/>
            </a:xfrm>
            <a:prstGeom prst="ellipse">
              <a:avLst/>
            </a:prstGeom>
            <a:solidFill>
              <a:srgbClr val="E11900"/>
            </a:solidFill>
            <a:ln>
              <a:noFill/>
            </a:ln>
            <a:effectLst/>
          </p:spPr>
          <p:txBody>
            <a:bodyPr rtlCol="0" anchor="ctr"/>
            <a:lstStyle/>
            <a:p>
              <a:pPr algn="ctr"/>
            </a:p>
          </p:txBody>
        </p:sp>
        <p:sp>
          <p:nvSpPr>
            <p:cNvPr id="29" name="s4 TextBox 28"/>
            <p:cNvSpPr txBox="1"/>
            <p:nvPr/>
          </p:nvSpPr>
          <p:spPr>
            <a:xfrm>
              <a:off x="6355079" y="4379976"/>
              <a:ext cx="128016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Red</a:t>
              </a:r>
            </a:p>
          </p:txBody>
        </p:sp>
        <p:sp>
          <p:nvSpPr>
            <p:cNvPr id="30" name="s4 TextBox 29"/>
            <p:cNvSpPr txBox="1"/>
            <p:nvPr/>
          </p:nvSpPr>
          <p:spPr>
            <a:xfrm>
              <a:off x="7680959" y="4389120"/>
              <a:ext cx="3962095" cy="32004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Late or failed, always with words</a:t>
              </a:r>
            </a:p>
          </p:txBody>
        </p:sp>
      </p:grpSp>
      <p:grpSp>
        <p:nvGrpSpPr>
          <p:cNvPr id="35" name="s4 Group 34"/>
          <p:cNvGrpSpPr/>
          <p:nvPr/>
        </p:nvGrpSpPr>
        <p:grpSpPr>
          <a:xfrm>
            <a:off x="5806440" y="4892040"/>
            <a:ext cx="5836614" cy="365760"/>
            <a:chOff x="5806440" y="4892040"/>
            <a:chExt cx="5836614" cy="365760"/>
          </a:xfrm>
        </p:grpSpPr>
        <p:sp>
          <p:nvSpPr>
            <p:cNvPr id="32" name="s4 Oval 31"/>
            <p:cNvSpPr/>
            <p:nvPr/>
          </p:nvSpPr>
          <p:spPr>
            <a:xfrm>
              <a:off x="5806440" y="4892040"/>
              <a:ext cx="365760" cy="365760"/>
            </a:xfrm>
            <a:prstGeom prst="ellipse">
              <a:avLst/>
            </a:prstGeom>
            <a:solidFill>
              <a:srgbClr val="8A4FD8"/>
            </a:solidFill>
            <a:ln>
              <a:noFill/>
            </a:ln>
            <a:effectLst/>
          </p:spPr>
          <p:txBody>
            <a:bodyPr rtlCol="0" anchor="ctr"/>
            <a:lstStyle/>
            <a:p>
              <a:pPr algn="ctr"/>
            </a:p>
          </p:txBody>
        </p:sp>
        <p:sp>
          <p:nvSpPr>
            <p:cNvPr id="33" name="s4 TextBox 32"/>
            <p:cNvSpPr txBox="1"/>
            <p:nvPr/>
          </p:nvSpPr>
          <p:spPr>
            <a:xfrm>
              <a:off x="6355079" y="4928616"/>
              <a:ext cx="128016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Purple</a:t>
              </a:r>
            </a:p>
          </p:txBody>
        </p:sp>
        <p:sp>
          <p:nvSpPr>
            <p:cNvPr id="34" name="s4 TextBox 33"/>
            <p:cNvSpPr txBox="1"/>
            <p:nvPr/>
          </p:nvSpPr>
          <p:spPr>
            <a:xfrm>
              <a:off x="7680959" y="4937759"/>
              <a:ext cx="3962095" cy="32004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Forecasts and what-ifs: the future</a:t>
              </a:r>
            </a:p>
          </p:txBody>
        </p:sp>
      </p:grpSp>
      <p:grpSp>
        <p:nvGrpSpPr>
          <p:cNvPr id="39" name="s4 Group 38"/>
          <p:cNvGrpSpPr/>
          <p:nvPr/>
        </p:nvGrpSpPr>
        <p:grpSpPr>
          <a:xfrm>
            <a:off x="5806440" y="5596128"/>
            <a:ext cx="5521911" cy="310896"/>
            <a:chOff x="5806440" y="5596128"/>
            <a:chExt cx="5521911" cy="310896"/>
          </a:xfrm>
        </p:grpSpPr>
        <p:sp>
          <p:nvSpPr>
            <p:cNvPr id="36" name="s4 Rounded Rectangle 35"/>
            <p:cNvSpPr/>
            <p:nvPr/>
          </p:nvSpPr>
          <p:spPr>
            <a:xfrm>
              <a:off x="5806440" y="5596128"/>
              <a:ext cx="1863336" cy="310896"/>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One action per screen</a:t>
              </a:r>
            </a:p>
          </p:txBody>
        </p:sp>
        <p:sp>
          <p:nvSpPr>
            <p:cNvPr id="37" name="s4 Rounded Rectangle 36"/>
            <p:cNvSpPr/>
            <p:nvPr/>
          </p:nvSpPr>
          <p:spPr>
            <a:xfrm>
              <a:off x="7779503" y="5596128"/>
              <a:ext cx="1432797" cy="310896"/>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Slide to confirm</a:t>
              </a:r>
            </a:p>
          </p:txBody>
        </p:sp>
        <p:sp>
          <p:nvSpPr>
            <p:cNvPr id="38" name="s4 Rounded Rectangle 37"/>
            <p:cNvSpPr/>
            <p:nvPr/>
          </p:nvSpPr>
          <p:spPr>
            <a:xfrm>
              <a:off x="9322029" y="5596128"/>
              <a:ext cx="2006322" cy="310896"/>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Sinhala · Tamil · English</a:t>
              </a:r>
            </a:p>
          </p:txBody>
        </p:sp>
      </p:grpSp>
      <p:sp>
        <p:nvSpPr>
          <p:cNvPr id="40" name="s4 TextBox 39"/>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41" name="s4 TextBox 40"/>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4</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600"/>
                                        <p:tgtEl>
                                          <p:spTgt spid="9"/>
                                        </p:tgtEl>
                                      </p:cBhvr>
                                    </p:animEffect>
                                  </p:childTnLst>
                                </p:cTn>
                              </p:par>
                              <p:par>
                                <p:cTn id="11" presetID="1" presetClass="mediacall" presetSubtype="0" fill="hold" nodeType="withEffect">
                                  <p:stCondLst>
                                    <p:cond delay="0"/>
                                  </p:stCondLst>
                                  <p:childTnLst>
                                    <p:cmd type="call" cmd="playFrom(0.0)">
                                      <p:cBhvr>
                                        <p:cTn id="12" dur="9000" fill="hold"/>
                                        <p:tgtEl>
                                          <p:spTgt spid="9"/>
                                        </p:tgtEl>
                                      </p:cBhvr>
                                    </p:cmd>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par>
                                <p:cTn id="16" presetID="1" presetClass="mediacall" presetSubtype="0" fill="hold" nodeType="withEffect">
                                  <p:stCondLst>
                                    <p:cond delay="0"/>
                                  </p:stCondLst>
                                  <p:childTnLst>
                                    <p:cmd type="call" cmd="playFrom(0.0)">
                                      <p:cBhvr>
                                        <p:cTn id="17" dur="9000" fill="hold"/>
                                        <p:tgtEl>
                                          <p:spTgt spid="10"/>
                                        </p:tgtEl>
                                      </p:cBhvr>
                                    </p:cmd>
                                  </p:childTnLst>
                                </p:cTn>
                              </p:par>
                              <p:par>
                                <p:cTn id="18" presetID="10" presetClass="entr" presetSubtype="0" fill="hold" nodeType="withEffect" grpId="0">
                                  <p:stCondLst>
                                    <p:cond delay="6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00"/>
                                        <p:tgtEl>
                                          <p:spTgt spid="11"/>
                                        </p:tgtEl>
                                      </p:cBhvr>
                                    </p:animEffect>
                                  </p:childTnLst>
                                </p:cTn>
                              </p:par>
                              <p:par>
                                <p:cTn id="21" presetID="42" presetClass="entr" presetSubtype="0" fill="hold" nodeType="withEffect">
                                  <p:stCondLst>
                                    <p:cond delay="93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00"/>
                                        <p:tgtEl>
                                          <p:spTgt spid="15"/>
                                        </p:tgtEl>
                                      </p:cBhvr>
                                    </p:animEffect>
                                    <p:anim calcmode="lin" valueType="num">
                                      <p:cBhvr>
                                        <p:cTn id="24" dur="300" decel="100000" fill="hold"/>
                                        <p:tgtEl>
                                          <p:spTgt spid="15"/>
                                        </p:tgtEl>
                                        <p:attrNameLst>
                                          <p:attrName>ppt_x</p:attrName>
                                        </p:attrNameLst>
                                      </p:cBhvr>
                                      <p:tavLst>
                                        <p:tav tm="0">
                                          <p:val>
                                            <p:strVal val="#ppt_x"/>
                                          </p:val>
                                        </p:tav>
                                        <p:tav tm="100000">
                                          <p:val>
                                            <p:strVal val="#ppt_x"/>
                                          </p:val>
                                        </p:tav>
                                      </p:tavLst>
                                    </p:anim>
                                    <p:anim calcmode="lin" valueType="num">
                                      <p:cBhvr>
                                        <p:cTn id="25" dur="300" decel="100000" fill="hold"/>
                                        <p:tgtEl>
                                          <p:spTgt spid="15"/>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126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300"/>
                                        <p:tgtEl>
                                          <p:spTgt spid="19"/>
                                        </p:tgtEl>
                                      </p:cBhvr>
                                    </p:animEffect>
                                    <p:anim calcmode="lin" valueType="num">
                                      <p:cBhvr>
                                        <p:cTn id="29" dur="300" decel="100000" fill="hold"/>
                                        <p:tgtEl>
                                          <p:spTgt spid="19"/>
                                        </p:tgtEl>
                                        <p:attrNameLst>
                                          <p:attrName>ppt_x</p:attrName>
                                        </p:attrNameLst>
                                      </p:cBhvr>
                                      <p:tavLst>
                                        <p:tav tm="0">
                                          <p:val>
                                            <p:strVal val="#ppt_x"/>
                                          </p:val>
                                        </p:tav>
                                        <p:tav tm="100000">
                                          <p:val>
                                            <p:strVal val="#ppt_x"/>
                                          </p:val>
                                        </p:tav>
                                      </p:tavLst>
                                    </p:anim>
                                    <p:anim calcmode="lin" valueType="num">
                                      <p:cBhvr>
                                        <p:cTn id="30" dur="300" decel="100000" fill="hold"/>
                                        <p:tgtEl>
                                          <p:spTgt spid="1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159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anim calcmode="lin" valueType="num">
                                      <p:cBhvr>
                                        <p:cTn id="34" dur="300" decel="100000" fill="hold"/>
                                        <p:tgtEl>
                                          <p:spTgt spid="23"/>
                                        </p:tgtEl>
                                        <p:attrNameLst>
                                          <p:attrName>ppt_x</p:attrName>
                                        </p:attrNameLst>
                                      </p:cBhvr>
                                      <p:tavLst>
                                        <p:tav tm="0">
                                          <p:val>
                                            <p:strVal val="#ppt_x"/>
                                          </p:val>
                                        </p:tav>
                                        <p:tav tm="100000">
                                          <p:val>
                                            <p:strVal val="#ppt_x"/>
                                          </p:val>
                                        </p:tav>
                                      </p:tavLst>
                                    </p:anim>
                                    <p:anim calcmode="lin" valueType="num">
                                      <p:cBhvr>
                                        <p:cTn id="35" dur="300" decel="100000" fill="hold"/>
                                        <p:tgtEl>
                                          <p:spTgt spid="23"/>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192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300"/>
                                        <p:tgtEl>
                                          <p:spTgt spid="27"/>
                                        </p:tgtEl>
                                      </p:cBhvr>
                                    </p:animEffect>
                                    <p:anim calcmode="lin" valueType="num">
                                      <p:cBhvr>
                                        <p:cTn id="39" dur="300" decel="100000" fill="hold"/>
                                        <p:tgtEl>
                                          <p:spTgt spid="27"/>
                                        </p:tgtEl>
                                        <p:attrNameLst>
                                          <p:attrName>ppt_x</p:attrName>
                                        </p:attrNameLst>
                                      </p:cBhvr>
                                      <p:tavLst>
                                        <p:tav tm="0">
                                          <p:val>
                                            <p:strVal val="#ppt_x"/>
                                          </p:val>
                                        </p:tav>
                                        <p:tav tm="100000">
                                          <p:val>
                                            <p:strVal val="#ppt_x"/>
                                          </p:val>
                                        </p:tav>
                                      </p:tavLst>
                                    </p:anim>
                                    <p:anim calcmode="lin" valueType="num">
                                      <p:cBhvr>
                                        <p:cTn id="40" dur="300" decel="100000" fill="hold"/>
                                        <p:tgtEl>
                                          <p:spTgt spid="27"/>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225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300"/>
                                        <p:tgtEl>
                                          <p:spTgt spid="31"/>
                                        </p:tgtEl>
                                      </p:cBhvr>
                                    </p:animEffect>
                                    <p:anim calcmode="lin" valueType="num">
                                      <p:cBhvr>
                                        <p:cTn id="44" dur="300" decel="100000" fill="hold"/>
                                        <p:tgtEl>
                                          <p:spTgt spid="31"/>
                                        </p:tgtEl>
                                        <p:attrNameLst>
                                          <p:attrName>ppt_x</p:attrName>
                                        </p:attrNameLst>
                                      </p:cBhvr>
                                      <p:tavLst>
                                        <p:tav tm="0">
                                          <p:val>
                                            <p:strVal val="#ppt_x"/>
                                          </p:val>
                                        </p:tav>
                                        <p:tav tm="100000">
                                          <p:val>
                                            <p:strVal val="#ppt_x"/>
                                          </p:val>
                                        </p:tav>
                                      </p:tavLst>
                                    </p:anim>
                                    <p:anim calcmode="lin" valueType="num">
                                      <p:cBhvr>
                                        <p:cTn id="45" dur="300" decel="100000" fill="hold"/>
                                        <p:tgtEl>
                                          <p:spTgt spid="31"/>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258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300"/>
                                        <p:tgtEl>
                                          <p:spTgt spid="35"/>
                                        </p:tgtEl>
                                      </p:cBhvr>
                                    </p:animEffect>
                                    <p:anim calcmode="lin" valueType="num">
                                      <p:cBhvr>
                                        <p:cTn id="49" dur="300" decel="100000" fill="hold"/>
                                        <p:tgtEl>
                                          <p:spTgt spid="35"/>
                                        </p:tgtEl>
                                        <p:attrNameLst>
                                          <p:attrName>ppt_x</p:attrName>
                                        </p:attrNameLst>
                                      </p:cBhvr>
                                      <p:tavLst>
                                        <p:tav tm="0">
                                          <p:val>
                                            <p:strVal val="#ppt_x"/>
                                          </p:val>
                                        </p:tav>
                                        <p:tav tm="100000">
                                          <p:val>
                                            <p:strVal val="#ppt_x"/>
                                          </p:val>
                                        </p:tav>
                                      </p:tavLst>
                                    </p:anim>
                                    <p:anim calcmode="lin" valueType="num">
                                      <p:cBhvr>
                                        <p:cTn id="50" dur="300" decel="100000" fill="hold"/>
                                        <p:tgtEl>
                                          <p:spTgt spid="35"/>
                                        </p:tgtEl>
                                        <p:attrNameLst>
                                          <p:attrName>ppt_y</p:attrName>
                                        </p:attrNameLst>
                                      </p:cBhvr>
                                      <p:tavLst>
                                        <p:tav tm="0">
                                          <p:val>
                                            <p:strVal val="#ppt_y+.1"/>
                                          </p:val>
                                        </p:tav>
                                        <p:tav tm="100000">
                                          <p:val>
                                            <p:strVal val="#ppt_y"/>
                                          </p:val>
                                        </p:tav>
                                      </p:tavLst>
                                    </p:anim>
                                  </p:childTnLst>
                                </p:cTn>
                              </p:par>
                              <p:par>
                                <p:cTn id="51" presetID="10" presetClass="entr" presetSubtype="0" fill="hold" nodeType="withEffect">
                                  <p:stCondLst>
                                    <p:cond delay="288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54" repeatCount="indefinite" fill="hold" display="0">
                  <p:stCondLst>
                    <p:cond delay="indefinite"/>
                  </p:stCondLst>
                </p:cTn>
                <p:tgtEl>
                  <p:spTgt spid="9"/>
                </p:tgtEl>
              </p:cMediaNode>
            </p:video>
            <p:video>
              <p:cMediaNode vol="80000" mute="1">
                <p:cTn id="55" repeatCount="indefinite" fill="hold" display="0">
                  <p:stCondLst>
                    <p:cond delay="indefinite"/>
                  </p:stCondLst>
                </p:cTn>
                <p:tgtEl>
                  <p:spTgt spid="10"/>
                </p:tgtEl>
              </p:cMediaNode>
            </p:video>
          </p:childTnLst>
        </p:cTn>
      </p:par>
    </p:tnLst>
    <p:bldLst>
      <p:bldP spid="1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5 Rounded Rectangle 1"/>
          <p:cNvSpPr/>
          <p:nvPr/>
        </p:nvSpPr>
        <p:spPr>
          <a:xfrm>
            <a:off x="548640" y="457200"/>
            <a:ext cx="2755856"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Hackathon · live at waypointgo.live</a:t>
            </a:r>
          </a:p>
        </p:txBody>
      </p:sp>
      <p:sp>
        <p:nvSpPr>
          <p:cNvPr id="3" name="s5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One delivery day on one record</a:t>
            </a:r>
          </a:p>
        </p:txBody>
      </p:sp>
      <p:grpSp>
        <p:nvGrpSpPr>
          <p:cNvPr id="12" name="s5 Group 11"/>
          <p:cNvGrpSpPr/>
          <p:nvPr/>
        </p:nvGrpSpPr>
        <p:grpSpPr>
          <a:xfrm>
            <a:off x="274320" y="1554480"/>
            <a:ext cx="6995160" cy="4919472"/>
            <a:chOff x="274320" y="1554480"/>
            <a:chExt cx="6995160" cy="4919472"/>
          </a:xfrm>
        </p:grpSpPr>
        <p:sp>
          <p:nvSpPr>
            <p:cNvPr id="4" name="s5 Rectangle 3"/>
            <p:cNvSpPr/>
            <p:nvPr/>
          </p:nvSpPr>
          <p:spPr>
            <a:xfrm>
              <a:off x="274320" y="1554480"/>
              <a:ext cx="6995160" cy="4919472"/>
            </a:xfrm>
            <a:prstGeom prst="rect">
              <a:avLst/>
            </a:prstGeom>
            <a:solidFill>
              <a:srgbClr val="E7F3F2"/>
            </a:solidFill>
            <a:ln>
              <a:noFill/>
            </a:ln>
            <a:effectLst/>
          </p:spPr>
          <p:txBody>
            <a:bodyPr rtlCol="0" anchor="ctr"/>
            <a:lstStyle/>
            <a:p/>
          </p:txBody>
        </p:sp>
        <p:grpSp>
          <p:nvGrpSpPr>
            <p:cNvPr id="11" name="s5 Group 10"/>
            <p:cNvGrpSpPr/>
            <p:nvPr/>
          </p:nvGrpSpPr>
          <p:grpSpPr>
            <a:xfrm>
              <a:off x="617220" y="1691640"/>
              <a:ext cx="6400800" cy="4279392"/>
              <a:chOff x="617220" y="1691640"/>
              <a:chExt cx="6400800" cy="4279392"/>
            </a:xfrm>
          </p:grpSpPr>
          <p:sp>
            <p:nvSpPr>
              <p:cNvPr id="5" name="s5 Rounded Rectangle 4"/>
              <p:cNvSpPr/>
              <p:nvPr/>
            </p:nvSpPr>
            <p:spPr>
              <a:xfrm>
                <a:off x="617220" y="1691640"/>
                <a:ext cx="6400800" cy="4279392"/>
              </a:xfrm>
              <a:prstGeom prst="roundRect">
                <a:avLst>
                  <a:gd name="adj" fmla="val 2564"/>
                </a:avLst>
              </a:prstGeom>
              <a:solidFill>
                <a:srgbClr val="FFFFFF"/>
              </a:solidFill>
              <a:ln w="12700">
                <a:solidFill>
                  <a:srgbClr val="D9E3DE"/>
                </a:solidFill>
              </a:ln>
              <a:effectLst/>
            </p:spPr>
            <p:txBody>
              <a:bodyPr rtlCol="0" anchor="ctr"/>
              <a:lstStyle/>
              <a:p/>
            </p:txBody>
          </p:sp>
          <p:sp>
            <p:nvSpPr>
              <p:cNvPr id="6" name="s5 Oval 5"/>
              <p:cNvSpPr/>
              <p:nvPr/>
            </p:nvSpPr>
            <p:spPr>
              <a:xfrm>
                <a:off x="763524" y="1792224"/>
                <a:ext cx="91440" cy="91440"/>
              </a:xfrm>
              <a:prstGeom prst="ellipse">
                <a:avLst/>
              </a:prstGeom>
              <a:solidFill>
                <a:srgbClr val="D9E3DE"/>
              </a:solidFill>
              <a:ln>
                <a:noFill/>
              </a:ln>
              <a:effectLst/>
            </p:spPr>
            <p:txBody>
              <a:bodyPr rtlCol="0" anchor="ctr"/>
              <a:lstStyle/>
              <a:p>
                <a:pPr algn="ctr"/>
              </a:p>
            </p:txBody>
          </p:sp>
          <p:sp>
            <p:nvSpPr>
              <p:cNvPr id="7" name="s5 Oval 6"/>
              <p:cNvSpPr/>
              <p:nvPr/>
            </p:nvSpPr>
            <p:spPr>
              <a:xfrm>
                <a:off x="918972" y="1792224"/>
                <a:ext cx="91440" cy="91440"/>
              </a:xfrm>
              <a:prstGeom prst="ellipse">
                <a:avLst/>
              </a:prstGeom>
              <a:solidFill>
                <a:srgbClr val="D9E3DE"/>
              </a:solidFill>
              <a:ln>
                <a:noFill/>
              </a:ln>
              <a:effectLst/>
            </p:spPr>
            <p:txBody>
              <a:bodyPr rtlCol="0" anchor="ctr"/>
              <a:lstStyle/>
              <a:p>
                <a:pPr algn="ctr"/>
              </a:p>
            </p:txBody>
          </p:sp>
          <p:sp>
            <p:nvSpPr>
              <p:cNvPr id="8" name="s5 Oval 7"/>
              <p:cNvSpPr/>
              <p:nvPr/>
            </p:nvSpPr>
            <p:spPr>
              <a:xfrm>
                <a:off x="1074420" y="1792224"/>
                <a:ext cx="91440" cy="91440"/>
              </a:xfrm>
              <a:prstGeom prst="ellipse">
                <a:avLst/>
              </a:prstGeom>
              <a:solidFill>
                <a:srgbClr val="D9E3DE"/>
              </a:solidFill>
              <a:ln>
                <a:noFill/>
              </a:ln>
              <a:effectLst/>
            </p:spPr>
            <p:txBody>
              <a:bodyPr rtlCol="0" anchor="ctr"/>
              <a:lstStyle/>
              <a:p>
                <a:pPr algn="ctr"/>
              </a:p>
            </p:txBody>
          </p:sp>
          <p:sp>
            <p:nvSpPr>
              <p:cNvPr id="9" name="s5 Rounded Rectangle 8"/>
              <p:cNvSpPr/>
              <p:nvPr/>
            </p:nvSpPr>
            <p:spPr>
              <a:xfrm>
                <a:off x="2537460" y="1755648"/>
                <a:ext cx="2560320" cy="164592"/>
              </a:xfrm>
              <a:prstGeom prst="roundRect">
                <a:avLst>
                  <a:gd name="adj" fmla="val 50000"/>
                </a:avLst>
              </a:prstGeom>
              <a:solidFill>
                <a:srgbClr val="F1F6F5"/>
              </a:solidFill>
              <a:ln>
                <a:noFill/>
              </a:ln>
              <a:effectLst/>
            </p:spPr>
            <p:txBody>
              <a:bodyPr rtlCol="0" anchor="ctr"/>
              <a:lstStyle/>
              <a:p/>
            </p:txBody>
          </p:sp>
          <p:sp>
            <p:nvSpPr>
              <p:cNvPr id="10" name="s5 TextBox 9"/>
              <p:cNvSpPr txBox="1"/>
              <p:nvPr/>
            </p:nvSpPr>
            <p:spPr>
              <a:xfrm>
                <a:off x="2537460" y="1760220"/>
                <a:ext cx="2560320" cy="155448"/>
              </a:xfrm>
              <a:prstGeom prst="rect">
                <a:avLst/>
              </a:prstGeom>
              <a:noFill/>
            </p:spPr>
            <p:txBody>
              <a:bodyPr wrap="square" lIns="0" rIns="0" tIns="0" bIns="0" anchor="t">
                <a:spAutoFit/>
              </a:bodyPr>
              <a:lstStyle/>
              <a:p>
                <a:pPr algn="ctr">
                  <a:lnSpc>
                    <a:spcPct val="108000"/>
                  </a:lnSpc>
                </a:pPr>
                <a:r>
                  <a:rPr sz="850" b="0" i="0">
                    <a:solidFill>
                      <a:srgbClr val="66736B"/>
                    </a:solidFill>
                    <a:latin typeface="Arial"/>
                  </a:rPr>
                  <a:t>waypointgo.live</a:t>
                </a:r>
              </a:p>
            </p:txBody>
          </p:sp>
        </p:grpSp>
      </p:grpSp>
      <p:pic>
        <p:nvPicPr>
          <p:cNvPr id="13" name="s5 Live screen: plan">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72084" y="1984248"/>
            <a:ext cx="6291072" cy="3931920"/>
          </a:xfrm>
          <a:prstGeom prst="roundRect">
            <a:avLst>
              <a:gd name="adj" fmla="val 1860"/>
            </a:avLst>
          </a:prstGeom>
        </p:spPr>
      </p:pic>
      <p:grpSp>
        <p:nvGrpSpPr>
          <p:cNvPr id="16" name="s5 Group 15"/>
          <p:cNvGrpSpPr/>
          <p:nvPr/>
        </p:nvGrpSpPr>
        <p:grpSpPr>
          <a:xfrm>
            <a:off x="274320" y="1554480"/>
            <a:ext cx="6995160" cy="4919472"/>
            <a:chOff x="274320" y="1554480"/>
            <a:chExt cx="6995160" cy="4919472"/>
          </a:xfrm>
        </p:grpSpPr>
        <p:sp>
          <p:nvSpPr>
            <p:cNvPr id="14" name="s5 Rectangle 13"/>
            <p:cNvSpPr/>
            <p:nvPr/>
          </p:nvSpPr>
          <p:spPr>
            <a:xfrm>
              <a:off x="274320" y="1554480"/>
              <a:ext cx="6995160" cy="4919472"/>
            </a:xfrm>
            <a:prstGeom prst="rect">
              <a:avLst/>
            </a:prstGeom>
            <a:solidFill>
              <a:srgbClr val="E7F3F2"/>
            </a:solidFill>
            <a:ln>
              <a:noFill/>
            </a:ln>
            <a:effectLst/>
          </p:spPr>
          <p:txBody>
            <a:bodyPr rtlCol="0" anchor="ctr"/>
            <a:lstStyle/>
            <a:p/>
          </p:txBody>
        </p:sp>
        <p:sp>
          <p:nvSpPr>
            <p:cNvPr id="15" name="s5 Rounded Rectangle 14"/>
            <p:cNvSpPr/>
            <p:nvPr/>
          </p:nvSpPr>
          <p:spPr>
            <a:xfrm>
              <a:off x="822960" y="1737360"/>
              <a:ext cx="5989320" cy="4212777"/>
            </a:xfrm>
            <a:prstGeom prst="roundRect">
              <a:avLst>
                <a:gd name="adj" fmla="val 47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grpSp>
      <p:pic>
        <p:nvPicPr>
          <p:cNvPr id="17" name="s5 Live screen: loader">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905256" y="1819656"/>
            <a:ext cx="5824728" cy="4048185"/>
          </a:xfrm>
          <a:prstGeom prst="roundRect">
            <a:avLst>
              <a:gd name="adj" fmla="val 3162"/>
            </a:avLst>
          </a:prstGeom>
        </p:spPr>
      </p:pic>
      <p:grpSp>
        <p:nvGrpSpPr>
          <p:cNvPr id="21" name="s5 Group 20"/>
          <p:cNvGrpSpPr/>
          <p:nvPr/>
        </p:nvGrpSpPr>
        <p:grpSpPr>
          <a:xfrm>
            <a:off x="274320" y="1554480"/>
            <a:ext cx="6995160" cy="4919472"/>
            <a:chOff x="274320" y="1554480"/>
            <a:chExt cx="6995160" cy="4919472"/>
          </a:xfrm>
        </p:grpSpPr>
        <p:sp>
          <p:nvSpPr>
            <p:cNvPr id="18" name="s5 Rectangle 17"/>
            <p:cNvSpPr/>
            <p:nvPr/>
          </p:nvSpPr>
          <p:spPr>
            <a:xfrm>
              <a:off x="274320" y="1554480"/>
              <a:ext cx="6995160" cy="4919472"/>
            </a:xfrm>
            <a:prstGeom prst="rect">
              <a:avLst/>
            </a:prstGeom>
            <a:solidFill>
              <a:srgbClr val="E7F3F2"/>
            </a:solidFill>
            <a:ln>
              <a:noFill/>
            </a:ln>
            <a:effectLst/>
          </p:spPr>
          <p:txBody>
            <a:bodyPr rtlCol="0" anchor="ctr"/>
            <a:lstStyle/>
            <a:p/>
          </p:txBody>
        </p:sp>
        <p:sp>
          <p:nvSpPr>
            <p:cNvPr id="19" name="s5 Rounded Rectangle 18"/>
            <p:cNvSpPr/>
            <p:nvPr/>
          </p:nvSpPr>
          <p:spPr>
            <a:xfrm>
              <a:off x="1501064" y="1691640"/>
              <a:ext cx="2023947" cy="420624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20" name="s5 Rounded Rectangle 19"/>
            <p:cNvSpPr/>
            <p:nvPr/>
          </p:nvSpPr>
          <p:spPr>
            <a:xfrm>
              <a:off x="4110228" y="1691640"/>
              <a:ext cx="2023947" cy="420624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grpSp>
      <p:pic>
        <p:nvPicPr>
          <p:cNvPr id="22" name="s5 Live screen: drv_arrive">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578788" y="1769364"/>
            <a:ext cx="1868499" cy="4050791"/>
          </a:xfrm>
          <a:prstGeom prst="roundRect">
            <a:avLst>
              <a:gd name="adj" fmla="val 16638"/>
            </a:avLst>
          </a:prstGeom>
        </p:spPr>
      </p:pic>
      <p:pic>
        <p:nvPicPr>
          <p:cNvPr id="23" name="s5 Live screen: drv_sync">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4187952" y="1769364"/>
            <a:ext cx="1868499" cy="4050791"/>
          </a:xfrm>
          <a:prstGeom prst="roundRect">
            <a:avLst>
              <a:gd name="adj" fmla="val 16638"/>
            </a:avLst>
          </a:prstGeom>
        </p:spPr>
      </p:pic>
      <p:grpSp>
        <p:nvGrpSpPr>
          <p:cNvPr id="28" name="s5 Group 27"/>
          <p:cNvGrpSpPr/>
          <p:nvPr/>
        </p:nvGrpSpPr>
        <p:grpSpPr>
          <a:xfrm>
            <a:off x="274320" y="1554480"/>
            <a:ext cx="6995160" cy="4919472"/>
            <a:chOff x="274320" y="1554480"/>
            <a:chExt cx="6995160" cy="4919472"/>
          </a:xfrm>
        </p:grpSpPr>
        <p:sp>
          <p:nvSpPr>
            <p:cNvPr id="24" name="s5 Rectangle 23"/>
            <p:cNvSpPr/>
            <p:nvPr/>
          </p:nvSpPr>
          <p:spPr>
            <a:xfrm>
              <a:off x="274320" y="1554480"/>
              <a:ext cx="6995160" cy="4919472"/>
            </a:xfrm>
            <a:prstGeom prst="rect">
              <a:avLst/>
            </a:prstGeom>
            <a:solidFill>
              <a:srgbClr val="E7F3F2"/>
            </a:solidFill>
            <a:ln>
              <a:noFill/>
            </a:ln>
            <a:effectLst/>
          </p:spPr>
          <p:txBody>
            <a:bodyPr rtlCol="0" anchor="ctr"/>
            <a:lstStyle/>
            <a:p/>
          </p:txBody>
        </p:sp>
        <p:sp>
          <p:nvSpPr>
            <p:cNvPr id="25" name="s5 Rounded Rectangle 24"/>
            <p:cNvSpPr/>
            <p:nvPr/>
          </p:nvSpPr>
          <p:spPr>
            <a:xfrm>
              <a:off x="1501064" y="1691640"/>
              <a:ext cx="2023947" cy="420624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sp>
          <p:nvSpPr>
            <p:cNvPr id="26" name="s5 Rounded Rectangle 25"/>
            <p:cNvSpPr/>
            <p:nvPr/>
          </p:nvSpPr>
          <p:spPr>
            <a:xfrm>
              <a:off x="4110228" y="1691640"/>
              <a:ext cx="2023947" cy="420624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pic>
          <p:nvPicPr>
            <p:cNvPr id="27" name="s5 Picture 26" descr="store_home.jpg"/>
            <p:cNvPicPr>
              <a:picLocks noChangeAspect="1"/>
            </p:cNvPicPr>
            <p:nvPr/>
          </p:nvPicPr>
          <p:blipFill>
            <a:blip r:embed="rId15"/>
            <a:stretch>
              <a:fillRect/>
            </a:stretch>
          </p:blipFill>
          <p:spPr>
            <a:xfrm>
              <a:off x="1578788" y="1769364"/>
              <a:ext cx="1868499" cy="4050791"/>
            </a:xfrm>
            <a:prstGeom prst="roundRect">
              <a:avLst>
                <a:gd name="adj" fmla="val 16638"/>
              </a:avLst>
            </a:prstGeom>
          </p:spPr>
        </p:pic>
      </p:grpSp>
      <p:pic>
        <p:nvPicPr>
          <p:cNvPr id="29" name="s5 Live screen: store_pin">
            <a:hlinkClick r:id="" action="ppaction://media"/>
          </p:cNvPr>
          <p:cNvPicPr>
            <a:picLocks noChangeAspect="1"/>
          </p:cNvPicPr>
          <p:nvPr>
            <a:videoFile r:link="rId17"/>
            <p:extLst>
              <p:ext uri="{DAA4B4D4-6D71-4841-9C94-3DE7FCFB9230}">
                <p14:media xmlns:p14="http://schemas.microsoft.com/office/powerpoint/2010/main" r:embed="rId16"/>
              </p:ext>
            </p:extLst>
          </p:nvPr>
        </p:nvPicPr>
        <p:blipFill>
          <a:blip r:embed="rId18"/>
          <a:stretch>
            <a:fillRect/>
          </a:stretch>
        </p:blipFill>
        <p:spPr>
          <a:xfrm>
            <a:off x="4187952" y="1769364"/>
            <a:ext cx="1868499" cy="4050791"/>
          </a:xfrm>
          <a:prstGeom prst="roundRect">
            <a:avLst>
              <a:gd name="adj" fmla="val 16638"/>
            </a:avLst>
          </a:prstGeom>
        </p:spPr>
      </p:pic>
      <p:grpSp>
        <p:nvGrpSpPr>
          <p:cNvPr id="33" name="s5 Group 32"/>
          <p:cNvGrpSpPr/>
          <p:nvPr/>
        </p:nvGrpSpPr>
        <p:grpSpPr>
          <a:xfrm>
            <a:off x="7452360" y="1691640"/>
            <a:ext cx="7607808" cy="4206240"/>
            <a:chOff x="7452360" y="1691640"/>
            <a:chExt cx="7607808" cy="4206240"/>
          </a:xfrm>
        </p:grpSpPr>
        <p:sp>
          <p:nvSpPr>
            <p:cNvPr id="30" name="s5 Rounded Rectangle 29"/>
            <p:cNvSpPr/>
            <p:nvPr/>
          </p:nvSpPr>
          <p:spPr>
            <a:xfrm>
              <a:off x="7452360" y="1691640"/>
              <a:ext cx="4190695" cy="4206240"/>
            </a:xfrm>
            <a:prstGeom prst="roundRect">
              <a:avLst>
                <a:gd name="adj" fmla="val 3491"/>
              </a:avLst>
            </a:prstGeom>
            <a:solidFill>
              <a:srgbClr val="FFFFFF"/>
            </a:solidFill>
            <a:ln w="12700">
              <a:solidFill>
                <a:srgbClr val="D9E3DE"/>
              </a:solidFill>
            </a:ln>
            <a:effectLst/>
          </p:spPr>
          <p:txBody>
            <a:bodyPr rtlCol="0" anchor="ctr"/>
            <a:lstStyle/>
            <a:p/>
          </p:txBody>
        </p:sp>
        <p:sp>
          <p:nvSpPr>
            <p:cNvPr id="31" name="s5 TextBox 30"/>
            <p:cNvSpPr txBox="1"/>
            <p:nvPr/>
          </p:nvSpPr>
          <p:spPr>
            <a:xfrm>
              <a:off x="7744968" y="1947672"/>
              <a:ext cx="7315200" cy="274320"/>
            </a:xfrm>
            <a:prstGeom prst="rect">
              <a:avLst/>
            </a:prstGeom>
            <a:noFill/>
          </p:spPr>
          <p:txBody>
            <a:bodyPr wrap="square" lIns="0" rIns="0" tIns="0" bIns="0" anchor="t">
              <a:spAutoFit/>
            </a:bodyPr>
            <a:lstStyle/>
            <a:p>
              <a:pPr algn="l">
                <a:lnSpc>
                  <a:spcPct val="108000"/>
                </a:lnSpc>
              </a:pPr>
              <a:r>
                <a:rPr sz="1150" b="1" i="0" spc="160">
                  <a:solidFill>
                    <a:srgbClr val="0A6B63"/>
                  </a:solidFill>
                  <a:latin typeface="Arial"/>
                </a:rPr>
                <a:t>DELIVERY RECORD</a:t>
              </a:r>
            </a:p>
          </p:txBody>
        </p:sp>
        <p:sp>
          <p:nvSpPr>
            <p:cNvPr id="32" name="s5 TextBox 31"/>
            <p:cNvSpPr txBox="1"/>
            <p:nvPr/>
          </p:nvSpPr>
          <p:spPr>
            <a:xfrm>
              <a:off x="7744968" y="2221992"/>
              <a:ext cx="3642055" cy="274320"/>
            </a:xfrm>
            <a:prstGeom prst="rect">
              <a:avLst/>
            </a:prstGeom>
            <a:noFill/>
          </p:spPr>
          <p:txBody>
            <a:bodyPr wrap="square" lIns="0" rIns="0" tIns="0" bIns="0" anchor="t">
              <a:spAutoFit/>
            </a:bodyPr>
            <a:lstStyle/>
            <a:p>
              <a:pPr algn="l">
                <a:lnSpc>
                  <a:spcPct val="108000"/>
                </a:lnSpc>
              </a:pPr>
              <a:r>
                <a:rPr sz="1200" b="0" i="0">
                  <a:solidFill>
                    <a:srgbClr val="4C5851"/>
                  </a:solidFill>
                  <a:latin typeface="Arial"/>
                </a:rPr>
                <a:t>Delivery day Wed 28 Oct · VEH037</a:t>
              </a:r>
            </a:p>
          </p:txBody>
        </p:sp>
      </p:grpSp>
      <p:sp>
        <p:nvSpPr>
          <p:cNvPr id="34" name="s5 Rounded Rectangle 33"/>
          <p:cNvSpPr/>
          <p:nvPr/>
        </p:nvSpPr>
        <p:spPr>
          <a:xfrm>
            <a:off x="7580376" y="2606040"/>
            <a:ext cx="3934663" cy="731520"/>
          </a:xfrm>
          <a:prstGeom prst="roundRect">
            <a:avLst>
              <a:gd name="adj" fmla="val 15000"/>
            </a:avLst>
          </a:prstGeom>
          <a:solidFill>
            <a:srgbClr val="DDEFEC"/>
          </a:solidFill>
          <a:ln>
            <a:noFill/>
          </a:ln>
          <a:effectLst/>
        </p:spPr>
        <p:txBody>
          <a:bodyPr rtlCol="0" anchor="ctr"/>
          <a:lstStyle/>
          <a:p/>
        </p:txBody>
      </p:sp>
      <p:sp>
        <p:nvSpPr>
          <p:cNvPr id="35" name="s5 Rounded Rectangle 34"/>
          <p:cNvSpPr/>
          <p:nvPr/>
        </p:nvSpPr>
        <p:spPr>
          <a:xfrm>
            <a:off x="7580376" y="2606040"/>
            <a:ext cx="3934663" cy="731520"/>
          </a:xfrm>
          <a:prstGeom prst="roundRect">
            <a:avLst>
              <a:gd name="adj" fmla="val 15000"/>
            </a:avLst>
          </a:prstGeom>
          <a:solidFill>
            <a:srgbClr val="FFFFFF"/>
          </a:solidFill>
          <a:ln>
            <a:noFill/>
          </a:ln>
          <a:effectLst/>
        </p:spPr>
        <p:txBody>
          <a:bodyPr rtlCol="0" anchor="ctr"/>
          <a:lstStyle/>
          <a:p/>
        </p:txBody>
      </p:sp>
      <p:sp>
        <p:nvSpPr>
          <p:cNvPr id="36" name="s5 TextBox 35"/>
          <p:cNvSpPr txBox="1"/>
          <p:nvPr/>
        </p:nvSpPr>
        <p:spPr>
          <a:xfrm>
            <a:off x="7744968" y="2715768"/>
            <a:ext cx="1005840" cy="274320"/>
          </a:xfrm>
          <a:prstGeom prst="rect">
            <a:avLst/>
          </a:prstGeom>
          <a:noFill/>
        </p:spPr>
        <p:txBody>
          <a:bodyPr wrap="square" lIns="0" rIns="0" tIns="0" bIns="0" anchor="t">
            <a:spAutoFit/>
          </a:bodyPr>
          <a:lstStyle/>
          <a:p>
            <a:pPr algn="l">
              <a:lnSpc>
                <a:spcPct val="108000"/>
              </a:lnSpc>
            </a:pPr>
            <a:r>
              <a:rPr sz="1500" b="1" i="0">
                <a:solidFill>
                  <a:srgbClr val="0A6B63"/>
                </a:solidFill>
                <a:latin typeface="Arial"/>
              </a:rPr>
              <a:t>4:00 PM</a:t>
            </a:r>
          </a:p>
        </p:txBody>
      </p:sp>
      <p:sp>
        <p:nvSpPr>
          <p:cNvPr id="37" name="s5 TextBox 36"/>
          <p:cNvSpPr txBox="1"/>
          <p:nvPr/>
        </p:nvSpPr>
        <p:spPr>
          <a:xfrm>
            <a:off x="8778240" y="2715768"/>
            <a:ext cx="2636215" cy="228600"/>
          </a:xfrm>
          <a:prstGeom prst="rect">
            <a:avLst/>
          </a:prstGeom>
          <a:noFill/>
        </p:spPr>
        <p:txBody>
          <a:bodyPr wrap="square" lIns="0" rIns="0" tIns="0" bIns="0" anchor="t">
            <a:spAutoFit/>
          </a:bodyPr>
          <a:lstStyle/>
          <a:p>
            <a:pPr algn="l">
              <a:lnSpc>
                <a:spcPct val="108000"/>
              </a:lnSpc>
            </a:pPr>
            <a:r>
              <a:rPr sz="1050" b="1" i="0" spc="100">
                <a:solidFill>
                  <a:srgbClr val="66736B"/>
                </a:solidFill>
                <a:latin typeface="Arial"/>
              </a:rPr>
              <a:t>DISPATCHER</a:t>
            </a:r>
          </a:p>
        </p:txBody>
      </p:sp>
      <p:sp>
        <p:nvSpPr>
          <p:cNvPr id="38" name="s5 TextBox 37"/>
          <p:cNvSpPr txBox="1"/>
          <p:nvPr/>
        </p:nvSpPr>
        <p:spPr>
          <a:xfrm>
            <a:off x="8778240" y="2935224"/>
            <a:ext cx="2636215" cy="384048"/>
          </a:xfrm>
          <a:prstGeom prst="rect">
            <a:avLst/>
          </a:prstGeom>
          <a:noFill/>
        </p:spPr>
        <p:txBody>
          <a:bodyPr wrap="square" lIns="0" rIns="0" tIns="0" bIns="0" anchor="t">
            <a:spAutoFit/>
          </a:bodyPr>
          <a:lstStyle/>
          <a:p>
            <a:pPr algn="l">
              <a:lnSpc>
                <a:spcPct val="100000"/>
              </a:lnSpc>
            </a:pPr>
            <a:r>
              <a:rPr sz="1250" b="0" i="0">
                <a:solidFill>
                  <a:srgbClr val="031B08"/>
                </a:solidFill>
                <a:latin typeface="Arial"/>
              </a:rPr>
              <a:t>Plan ready in seconds; every waiting order explained</a:t>
            </a:r>
          </a:p>
        </p:txBody>
      </p:sp>
      <p:sp>
        <p:nvSpPr>
          <p:cNvPr id="39" name="s5 Rounded Rectangle 38"/>
          <p:cNvSpPr/>
          <p:nvPr/>
        </p:nvSpPr>
        <p:spPr>
          <a:xfrm>
            <a:off x="7580376" y="3392424"/>
            <a:ext cx="3934663" cy="731520"/>
          </a:xfrm>
          <a:prstGeom prst="roundRect">
            <a:avLst>
              <a:gd name="adj" fmla="val 15000"/>
            </a:avLst>
          </a:prstGeom>
          <a:solidFill>
            <a:srgbClr val="DDEFEC"/>
          </a:solidFill>
          <a:ln>
            <a:noFill/>
          </a:ln>
          <a:effectLst/>
        </p:spPr>
        <p:txBody>
          <a:bodyPr rtlCol="0" anchor="ctr"/>
          <a:lstStyle/>
          <a:p/>
        </p:txBody>
      </p:sp>
      <p:sp>
        <p:nvSpPr>
          <p:cNvPr id="40" name="s5 Rounded Rectangle 39"/>
          <p:cNvSpPr/>
          <p:nvPr/>
        </p:nvSpPr>
        <p:spPr>
          <a:xfrm>
            <a:off x="7580376" y="3392424"/>
            <a:ext cx="3934663" cy="731520"/>
          </a:xfrm>
          <a:prstGeom prst="roundRect">
            <a:avLst>
              <a:gd name="adj" fmla="val 15000"/>
            </a:avLst>
          </a:prstGeom>
          <a:solidFill>
            <a:srgbClr val="FFFFFF"/>
          </a:solidFill>
          <a:ln>
            <a:noFill/>
          </a:ln>
          <a:effectLst/>
        </p:spPr>
        <p:txBody>
          <a:bodyPr rtlCol="0" anchor="ctr"/>
          <a:lstStyle/>
          <a:p/>
        </p:txBody>
      </p:sp>
      <p:sp>
        <p:nvSpPr>
          <p:cNvPr id="41" name="s5 TextBox 40"/>
          <p:cNvSpPr txBox="1"/>
          <p:nvPr/>
        </p:nvSpPr>
        <p:spPr>
          <a:xfrm>
            <a:off x="7744968" y="3502152"/>
            <a:ext cx="1005840" cy="274320"/>
          </a:xfrm>
          <a:prstGeom prst="rect">
            <a:avLst/>
          </a:prstGeom>
          <a:noFill/>
        </p:spPr>
        <p:txBody>
          <a:bodyPr wrap="square" lIns="0" rIns="0" tIns="0" bIns="0" anchor="t">
            <a:spAutoFit/>
          </a:bodyPr>
          <a:lstStyle/>
          <a:p>
            <a:pPr algn="l">
              <a:lnSpc>
                <a:spcPct val="108000"/>
              </a:lnSpc>
            </a:pPr>
            <a:r>
              <a:rPr sz="1500" b="1" i="0">
                <a:solidFill>
                  <a:srgbClr val="0A6B63"/>
                </a:solidFill>
                <a:latin typeface="Arial"/>
              </a:rPr>
              <a:t>3:13 AM</a:t>
            </a:r>
          </a:p>
        </p:txBody>
      </p:sp>
      <p:sp>
        <p:nvSpPr>
          <p:cNvPr id="42" name="s5 TextBox 41"/>
          <p:cNvSpPr txBox="1"/>
          <p:nvPr/>
        </p:nvSpPr>
        <p:spPr>
          <a:xfrm>
            <a:off x="8778240" y="3502152"/>
            <a:ext cx="2636215" cy="228600"/>
          </a:xfrm>
          <a:prstGeom prst="rect">
            <a:avLst/>
          </a:prstGeom>
          <a:noFill/>
        </p:spPr>
        <p:txBody>
          <a:bodyPr wrap="square" lIns="0" rIns="0" tIns="0" bIns="0" anchor="t">
            <a:spAutoFit/>
          </a:bodyPr>
          <a:lstStyle/>
          <a:p>
            <a:pPr algn="l">
              <a:lnSpc>
                <a:spcPct val="108000"/>
              </a:lnSpc>
            </a:pPr>
            <a:r>
              <a:rPr sz="1050" b="1" i="0" spc="100">
                <a:solidFill>
                  <a:srgbClr val="66736B"/>
                </a:solidFill>
                <a:latin typeface="Arial"/>
              </a:rPr>
              <a:t>LOADER</a:t>
            </a:r>
          </a:p>
        </p:txBody>
      </p:sp>
      <p:sp>
        <p:nvSpPr>
          <p:cNvPr id="43" name="s5 TextBox 42"/>
          <p:cNvSpPr txBox="1"/>
          <p:nvPr/>
        </p:nvSpPr>
        <p:spPr>
          <a:xfrm>
            <a:off x="8778240" y="3721608"/>
            <a:ext cx="2636215" cy="384048"/>
          </a:xfrm>
          <a:prstGeom prst="rect">
            <a:avLst/>
          </a:prstGeom>
          <a:noFill/>
        </p:spPr>
        <p:txBody>
          <a:bodyPr wrap="square" lIns="0" rIns="0" tIns="0" bIns="0" anchor="t">
            <a:spAutoFit/>
          </a:bodyPr>
          <a:lstStyle/>
          <a:p>
            <a:pPr algn="l">
              <a:lnSpc>
                <a:spcPct val="100000"/>
              </a:lnSpc>
            </a:pPr>
            <a:r>
              <a:rPr sz="1250" b="0" i="0">
                <a:solidFill>
                  <a:srgbClr val="031B08"/>
                </a:solidFill>
                <a:latin typeface="Arial"/>
              </a:rPr>
              <a:t>Last stop loaded first; damage flagged before departure</a:t>
            </a:r>
          </a:p>
        </p:txBody>
      </p:sp>
      <p:sp>
        <p:nvSpPr>
          <p:cNvPr id="44" name="s5 Rounded Rectangle 43"/>
          <p:cNvSpPr/>
          <p:nvPr/>
        </p:nvSpPr>
        <p:spPr>
          <a:xfrm>
            <a:off x="7580376" y="4178808"/>
            <a:ext cx="3934663" cy="731520"/>
          </a:xfrm>
          <a:prstGeom prst="roundRect">
            <a:avLst>
              <a:gd name="adj" fmla="val 15000"/>
            </a:avLst>
          </a:prstGeom>
          <a:solidFill>
            <a:srgbClr val="DDEFEC"/>
          </a:solidFill>
          <a:ln>
            <a:noFill/>
          </a:ln>
          <a:effectLst/>
        </p:spPr>
        <p:txBody>
          <a:bodyPr rtlCol="0" anchor="ctr"/>
          <a:lstStyle/>
          <a:p/>
        </p:txBody>
      </p:sp>
      <p:sp>
        <p:nvSpPr>
          <p:cNvPr id="45" name="s5 Rounded Rectangle 44"/>
          <p:cNvSpPr/>
          <p:nvPr/>
        </p:nvSpPr>
        <p:spPr>
          <a:xfrm>
            <a:off x="7580376" y="4178808"/>
            <a:ext cx="3934663" cy="731520"/>
          </a:xfrm>
          <a:prstGeom prst="roundRect">
            <a:avLst>
              <a:gd name="adj" fmla="val 15000"/>
            </a:avLst>
          </a:prstGeom>
          <a:solidFill>
            <a:srgbClr val="FFFFFF"/>
          </a:solidFill>
          <a:ln>
            <a:noFill/>
          </a:ln>
          <a:effectLst/>
        </p:spPr>
        <p:txBody>
          <a:bodyPr rtlCol="0" anchor="ctr"/>
          <a:lstStyle/>
          <a:p/>
        </p:txBody>
      </p:sp>
      <p:sp>
        <p:nvSpPr>
          <p:cNvPr id="46" name="s5 TextBox 45"/>
          <p:cNvSpPr txBox="1"/>
          <p:nvPr/>
        </p:nvSpPr>
        <p:spPr>
          <a:xfrm>
            <a:off x="7744968" y="4288536"/>
            <a:ext cx="1005840" cy="274320"/>
          </a:xfrm>
          <a:prstGeom prst="rect">
            <a:avLst/>
          </a:prstGeom>
          <a:noFill/>
        </p:spPr>
        <p:txBody>
          <a:bodyPr wrap="square" lIns="0" rIns="0" tIns="0" bIns="0" anchor="t">
            <a:spAutoFit/>
          </a:bodyPr>
          <a:lstStyle/>
          <a:p>
            <a:pPr algn="l">
              <a:lnSpc>
                <a:spcPct val="108000"/>
              </a:lnSpc>
            </a:pPr>
            <a:r>
              <a:rPr sz="1500" b="1" i="0">
                <a:solidFill>
                  <a:srgbClr val="0A6B63"/>
                </a:solidFill>
                <a:latin typeface="Arial"/>
              </a:rPr>
              <a:t>4:00 AM</a:t>
            </a:r>
          </a:p>
        </p:txBody>
      </p:sp>
      <p:sp>
        <p:nvSpPr>
          <p:cNvPr id="47" name="s5 TextBox 46"/>
          <p:cNvSpPr txBox="1"/>
          <p:nvPr/>
        </p:nvSpPr>
        <p:spPr>
          <a:xfrm>
            <a:off x="8778240" y="4288536"/>
            <a:ext cx="2636215" cy="228600"/>
          </a:xfrm>
          <a:prstGeom prst="rect">
            <a:avLst/>
          </a:prstGeom>
          <a:noFill/>
        </p:spPr>
        <p:txBody>
          <a:bodyPr wrap="square" lIns="0" rIns="0" tIns="0" bIns="0" anchor="t">
            <a:spAutoFit/>
          </a:bodyPr>
          <a:lstStyle/>
          <a:p>
            <a:pPr algn="l">
              <a:lnSpc>
                <a:spcPct val="108000"/>
              </a:lnSpc>
            </a:pPr>
            <a:r>
              <a:rPr sz="1050" b="1" i="0" spc="100">
                <a:solidFill>
                  <a:srgbClr val="66736B"/>
                </a:solidFill>
                <a:latin typeface="Arial"/>
              </a:rPr>
              <a:t>DRIVER</a:t>
            </a:r>
          </a:p>
        </p:txBody>
      </p:sp>
      <p:sp>
        <p:nvSpPr>
          <p:cNvPr id="48" name="s5 TextBox 47"/>
          <p:cNvSpPr txBox="1"/>
          <p:nvPr/>
        </p:nvSpPr>
        <p:spPr>
          <a:xfrm>
            <a:off x="8778240" y="4507992"/>
            <a:ext cx="2636215" cy="384048"/>
          </a:xfrm>
          <a:prstGeom prst="rect">
            <a:avLst/>
          </a:prstGeom>
          <a:noFill/>
        </p:spPr>
        <p:txBody>
          <a:bodyPr wrap="square" lIns="0" rIns="0" tIns="0" bIns="0" anchor="t">
            <a:spAutoFit/>
          </a:bodyPr>
          <a:lstStyle/>
          <a:p>
            <a:pPr algn="l">
              <a:lnSpc>
                <a:spcPct val="100000"/>
              </a:lnSpc>
            </a:pPr>
            <a:r>
              <a:rPr sz="1250" b="0" i="0">
                <a:solidFill>
                  <a:srgbClr val="031B08"/>
                </a:solidFill>
                <a:latin typeface="Arial"/>
              </a:rPr>
              <a:t>Next stop on the phone; handover saved offline</a:t>
            </a:r>
          </a:p>
        </p:txBody>
      </p:sp>
      <p:sp>
        <p:nvSpPr>
          <p:cNvPr id="49" name="s5 Rounded Rectangle 48"/>
          <p:cNvSpPr/>
          <p:nvPr/>
        </p:nvSpPr>
        <p:spPr>
          <a:xfrm>
            <a:off x="7580376" y="4965192"/>
            <a:ext cx="3934663" cy="731520"/>
          </a:xfrm>
          <a:prstGeom prst="roundRect">
            <a:avLst>
              <a:gd name="adj" fmla="val 15000"/>
            </a:avLst>
          </a:prstGeom>
          <a:solidFill>
            <a:srgbClr val="DDEFEC"/>
          </a:solidFill>
          <a:ln>
            <a:noFill/>
          </a:ln>
          <a:effectLst/>
        </p:spPr>
        <p:txBody>
          <a:bodyPr rtlCol="0" anchor="ctr"/>
          <a:lstStyle/>
          <a:p/>
        </p:txBody>
      </p:sp>
      <p:sp>
        <p:nvSpPr>
          <p:cNvPr id="50" name="s5 TextBox 49"/>
          <p:cNvSpPr txBox="1"/>
          <p:nvPr/>
        </p:nvSpPr>
        <p:spPr>
          <a:xfrm>
            <a:off x="7744968" y="5074920"/>
            <a:ext cx="1005840" cy="274320"/>
          </a:xfrm>
          <a:prstGeom prst="rect">
            <a:avLst/>
          </a:prstGeom>
          <a:noFill/>
        </p:spPr>
        <p:txBody>
          <a:bodyPr wrap="square" lIns="0" rIns="0" tIns="0" bIns="0" anchor="t">
            <a:spAutoFit/>
          </a:bodyPr>
          <a:lstStyle/>
          <a:p>
            <a:pPr algn="l">
              <a:lnSpc>
                <a:spcPct val="108000"/>
              </a:lnSpc>
            </a:pPr>
            <a:r>
              <a:rPr sz="1500" b="1" i="0">
                <a:solidFill>
                  <a:srgbClr val="0A6B63"/>
                </a:solidFill>
                <a:latin typeface="Arial"/>
              </a:rPr>
              <a:t>5:48 AM</a:t>
            </a:r>
          </a:p>
        </p:txBody>
      </p:sp>
      <p:sp>
        <p:nvSpPr>
          <p:cNvPr id="51" name="s5 TextBox 50"/>
          <p:cNvSpPr txBox="1"/>
          <p:nvPr/>
        </p:nvSpPr>
        <p:spPr>
          <a:xfrm>
            <a:off x="8778240" y="5074920"/>
            <a:ext cx="2636215" cy="228600"/>
          </a:xfrm>
          <a:prstGeom prst="rect">
            <a:avLst/>
          </a:prstGeom>
          <a:noFill/>
        </p:spPr>
        <p:txBody>
          <a:bodyPr wrap="square" lIns="0" rIns="0" tIns="0" bIns="0" anchor="t">
            <a:spAutoFit/>
          </a:bodyPr>
          <a:lstStyle/>
          <a:p>
            <a:pPr algn="l">
              <a:lnSpc>
                <a:spcPct val="108000"/>
              </a:lnSpc>
            </a:pPr>
            <a:r>
              <a:rPr sz="1050" b="1" i="0" spc="100">
                <a:solidFill>
                  <a:srgbClr val="66736B"/>
                </a:solidFill>
                <a:latin typeface="Arial"/>
              </a:rPr>
              <a:t>STORE MANAGER</a:t>
            </a:r>
          </a:p>
        </p:txBody>
      </p:sp>
      <p:sp>
        <p:nvSpPr>
          <p:cNvPr id="52" name="s5 TextBox 51"/>
          <p:cNvSpPr txBox="1"/>
          <p:nvPr/>
        </p:nvSpPr>
        <p:spPr>
          <a:xfrm>
            <a:off x="8778240" y="5294376"/>
            <a:ext cx="2636215" cy="384048"/>
          </a:xfrm>
          <a:prstGeom prst="rect">
            <a:avLst/>
          </a:prstGeom>
          <a:noFill/>
        </p:spPr>
        <p:txBody>
          <a:bodyPr wrap="square" lIns="0" rIns="0" tIns="0" bIns="0" anchor="t">
            <a:spAutoFit/>
          </a:bodyPr>
          <a:lstStyle/>
          <a:p>
            <a:pPr algn="l">
              <a:lnSpc>
                <a:spcPct val="100000"/>
              </a:lnSpc>
            </a:pPr>
            <a:r>
              <a:rPr sz="1250" b="0" i="0">
                <a:solidFill>
                  <a:srgbClr val="031B08"/>
                </a:solidFill>
                <a:latin typeface="Arial"/>
              </a:rPr>
              <a:t>Received and confirmed with a one-time PIN</a:t>
            </a:r>
          </a:p>
        </p:txBody>
      </p:sp>
      <p:sp>
        <p:nvSpPr>
          <p:cNvPr id="53" name="s5 TextBox 52"/>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54" name="s5 TextBox 53"/>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5</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 presetClass="mediacall" presetSubtype="0" fill="hold" nodeType="withEffect">
                                  <p:stCondLst>
                                    <p:cond delay="0"/>
                                  </p:stCondLst>
                                  <p:childTnLst>
                                    <p:cmd type="call" cmd="playFrom(0.0)">
                                      <p:cBhvr>
                                        <p:cTn id="17" dur="12267" fill="hold"/>
                                        <p:tgtEl>
                                          <p:spTgt spid="13"/>
                                        </p:tgtEl>
                                      </p:cBhvr>
                                    </p:cmd>
                                  </p:childTnLst>
                                </p:cTn>
                              </p:par>
                              <p:par>
                                <p:cTn id="18" presetID="10" presetClass="entr" presetSubtype="0" fill="hold" nodeType="withEffect" grpId="0">
                                  <p:stCondLst>
                                    <p:cond delay="15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00"/>
                                        <p:tgtEl>
                                          <p:spTgt spid="34"/>
                                        </p:tgtEl>
                                      </p:cBhvr>
                                    </p:animEffect>
                                  </p:childTnLst>
                                </p:cTn>
                              </p:par>
                              <p:par>
                                <p:cTn id="21" presetID="10" presetClass="entr" presetSubtype="0" fill="hold" nodeType="withEffect" grpId="0">
                                  <p:stCondLst>
                                    <p:cond delay="15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400"/>
                                        <p:tgtEl>
                                          <p:spTgt spid="36"/>
                                        </p:tgtEl>
                                      </p:cBhvr>
                                    </p:animEffect>
                                  </p:childTnLst>
                                </p:cTn>
                              </p:par>
                              <p:par>
                                <p:cTn id="24" presetID="10" presetClass="entr" presetSubtype="0" fill="hold" nodeType="withEffect" grpId="0">
                                  <p:stCondLst>
                                    <p:cond delay="15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400"/>
                                        <p:tgtEl>
                                          <p:spTgt spid="37"/>
                                        </p:tgtEl>
                                      </p:cBhvr>
                                    </p:animEffect>
                                  </p:childTnLst>
                                </p:cTn>
                              </p:par>
                              <p:par>
                                <p:cTn id="27" presetID="10" presetClass="entr" presetSubtype="0" fill="hold" nodeType="withEffect" grpId="0">
                                  <p:stCondLst>
                                    <p:cond delay="15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400"/>
                                        <p:tgtEl>
                                          <p:spTgt spid="3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par>
                                <p:cTn id="38" presetID="1" presetClass="mediacall" presetSubtype="0" fill="hold" nodeType="withEffect">
                                  <p:stCondLst>
                                    <p:cond delay="0"/>
                                  </p:stCondLst>
                                  <p:childTnLst>
                                    <p:cmd type="call" cmd="playFrom(0.0)">
                                      <p:cBhvr>
                                        <p:cTn id="39" dur="11567" fill="hold"/>
                                        <p:tgtEl>
                                          <p:spTgt spid="17"/>
                                        </p:tgtEl>
                                      </p:cBhvr>
                                    </p:cmd>
                                  </p:childTnLst>
                                </p:cTn>
                              </p:par>
                              <p:par>
                                <p:cTn id="40" presetID="3" presetClass="mediacall" presetSubtype="0" fill="hold" nodeType="withEffect">
                                  <p:stCondLst>
                                    <p:cond delay="700"/>
                                  </p:stCondLst>
                                  <p:childTnLst>
                                    <p:cmd type="call" cmd="stop">
                                      <p:cBhvr>
                                        <p:cTn id="41" dur="1" fill="hold"/>
                                        <p:tgtEl>
                                          <p:spTgt spid="13"/>
                                        </p:tgtEl>
                                      </p:cBhvr>
                                    </p:cmd>
                                  </p:childTnLst>
                                </p:cTn>
                              </p:par>
                              <p:par>
                                <p:cTn id="42" presetID="10" presetClass="entr" presetSubtype="0" fill="hold" nodeType="withEffect" grpId="0">
                                  <p:stCondLst>
                                    <p:cond delay="15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400"/>
                                        <p:tgtEl>
                                          <p:spTgt spid="39"/>
                                        </p:tgtEl>
                                      </p:cBhvr>
                                    </p:animEffect>
                                  </p:childTnLst>
                                </p:cTn>
                              </p:par>
                              <p:par>
                                <p:cTn id="45" presetID="10" presetClass="entr" presetSubtype="0" fill="hold" nodeType="withEffect" grpId="0">
                                  <p:stCondLst>
                                    <p:cond delay="15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400"/>
                                        <p:tgtEl>
                                          <p:spTgt spid="41"/>
                                        </p:tgtEl>
                                      </p:cBhvr>
                                    </p:animEffect>
                                  </p:childTnLst>
                                </p:cTn>
                              </p:par>
                              <p:par>
                                <p:cTn id="48" presetID="10" presetClass="entr" presetSubtype="0" fill="hold" nodeType="withEffect" grpId="0">
                                  <p:stCondLst>
                                    <p:cond delay="15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400"/>
                                        <p:tgtEl>
                                          <p:spTgt spid="42"/>
                                        </p:tgtEl>
                                      </p:cBhvr>
                                    </p:animEffect>
                                  </p:childTnLst>
                                </p:cTn>
                              </p:par>
                              <p:par>
                                <p:cTn id="51" presetID="10" presetClass="entr" presetSubtype="0" fill="hold" nodeType="withEffect" grpId="0">
                                  <p:stCondLst>
                                    <p:cond delay="15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400"/>
                                        <p:tgtEl>
                                          <p:spTgt spid="43"/>
                                        </p:tgtEl>
                                      </p:cBhvr>
                                    </p:animEffect>
                                  </p:childTnLst>
                                </p:cTn>
                              </p:par>
                              <p:par>
                                <p:cTn id="54" presetID="10" presetClass="entr" presetSubtype="0" fill="hold" nodeType="withEffect" grpId="0">
                                  <p:stCondLst>
                                    <p:cond delay="15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4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 presetClass="mediacall" presetSubtype="0" fill="hold" nodeType="withEffect">
                                  <p:stCondLst>
                                    <p:cond delay="0"/>
                                  </p:stCondLst>
                                  <p:childTnLst>
                                    <p:cmd type="call" cmd="playFrom(0.0)">
                                      <p:cBhvr>
                                        <p:cTn id="66" dur="9000" fill="hold"/>
                                        <p:tgtEl>
                                          <p:spTgt spid="22"/>
                                        </p:tgtEl>
                                      </p:cBhvr>
                                    </p:cmd>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50"/>
                                        <p:tgtEl>
                                          <p:spTgt spid="23"/>
                                        </p:tgtEl>
                                      </p:cBhvr>
                                    </p:animEffect>
                                  </p:childTnLst>
                                </p:cTn>
                              </p:par>
                              <p:par>
                                <p:cTn id="70" presetID="1" presetClass="mediacall" presetSubtype="0" fill="hold" nodeType="withEffect">
                                  <p:stCondLst>
                                    <p:cond delay="0"/>
                                  </p:stCondLst>
                                  <p:childTnLst>
                                    <p:cmd type="call" cmd="playFrom(0.0)">
                                      <p:cBhvr>
                                        <p:cTn id="71" dur="9000" fill="hold"/>
                                        <p:tgtEl>
                                          <p:spTgt spid="23"/>
                                        </p:tgtEl>
                                      </p:cBhvr>
                                    </p:cmd>
                                  </p:childTnLst>
                                </p:cTn>
                              </p:par>
                              <p:par>
                                <p:cTn id="72" presetID="3" presetClass="mediacall" presetSubtype="0" fill="hold" nodeType="withEffect">
                                  <p:stCondLst>
                                    <p:cond delay="700"/>
                                  </p:stCondLst>
                                  <p:childTnLst>
                                    <p:cmd type="call" cmd="stop">
                                      <p:cBhvr>
                                        <p:cTn id="73" dur="1" fill="hold"/>
                                        <p:tgtEl>
                                          <p:spTgt spid="17"/>
                                        </p:tgtEl>
                                      </p:cBhvr>
                                    </p:cmd>
                                  </p:childTnLst>
                                </p:cTn>
                              </p:par>
                              <p:par>
                                <p:cTn id="74" presetID="10" presetClass="entr" presetSubtype="0" fill="hold" nodeType="withEffect" grpId="0">
                                  <p:stCondLst>
                                    <p:cond delay="15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nodeType="withEffect" grpId="0">
                                  <p:stCondLst>
                                    <p:cond delay="150"/>
                                  </p:stCondLst>
                                  <p:childTnLst>
                                    <p:set>
                                      <p:cBhvr>
                                        <p:cTn id="78" dur="1" fill="hold">
                                          <p:stCondLst>
                                            <p:cond delay="0"/>
                                          </p:stCondLst>
                                        </p:cTn>
                                        <p:tgtEl>
                                          <p:spTgt spid="46"/>
                                        </p:tgtEl>
                                        <p:attrNameLst>
                                          <p:attrName>style.visibility</p:attrName>
                                        </p:attrNameLst>
                                      </p:cBhvr>
                                      <p:to>
                                        <p:strVal val="visible"/>
                                      </p:to>
                                    </p:set>
                                    <p:animEffect transition="in" filter="fade">
                                      <p:cBhvr>
                                        <p:cTn id="79" dur="400"/>
                                        <p:tgtEl>
                                          <p:spTgt spid="46"/>
                                        </p:tgtEl>
                                      </p:cBhvr>
                                    </p:animEffect>
                                  </p:childTnLst>
                                </p:cTn>
                              </p:par>
                              <p:par>
                                <p:cTn id="80" presetID="10" presetClass="entr" presetSubtype="0" fill="hold" nodeType="withEffect" grpId="0">
                                  <p:stCondLst>
                                    <p:cond delay="150"/>
                                  </p:stCondLst>
                                  <p:childTnLst>
                                    <p:set>
                                      <p:cBhvr>
                                        <p:cTn id="81" dur="1" fill="hold">
                                          <p:stCondLst>
                                            <p:cond delay="0"/>
                                          </p:stCondLst>
                                        </p:cTn>
                                        <p:tgtEl>
                                          <p:spTgt spid="47"/>
                                        </p:tgtEl>
                                        <p:attrNameLst>
                                          <p:attrName>style.visibility</p:attrName>
                                        </p:attrNameLst>
                                      </p:cBhvr>
                                      <p:to>
                                        <p:strVal val="visible"/>
                                      </p:to>
                                    </p:set>
                                    <p:animEffect transition="in" filter="fade">
                                      <p:cBhvr>
                                        <p:cTn id="82" dur="400"/>
                                        <p:tgtEl>
                                          <p:spTgt spid="47"/>
                                        </p:tgtEl>
                                      </p:cBhvr>
                                    </p:animEffect>
                                  </p:childTnLst>
                                </p:cTn>
                              </p:par>
                              <p:par>
                                <p:cTn id="83" presetID="10" presetClass="entr" presetSubtype="0" fill="hold" nodeType="withEffect" grpId="0">
                                  <p:stCondLst>
                                    <p:cond delay="150"/>
                                  </p:stCondLst>
                                  <p:childTnLst>
                                    <p:set>
                                      <p:cBhvr>
                                        <p:cTn id="84" dur="1" fill="hold">
                                          <p:stCondLst>
                                            <p:cond delay="0"/>
                                          </p:stCondLst>
                                        </p:cTn>
                                        <p:tgtEl>
                                          <p:spTgt spid="48"/>
                                        </p:tgtEl>
                                        <p:attrNameLst>
                                          <p:attrName>style.visibility</p:attrName>
                                        </p:attrNameLst>
                                      </p:cBhvr>
                                      <p:to>
                                        <p:strVal val="visible"/>
                                      </p:to>
                                    </p:set>
                                    <p:animEffect transition="in" filter="fade">
                                      <p:cBhvr>
                                        <p:cTn id="85" dur="400"/>
                                        <p:tgtEl>
                                          <p:spTgt spid="48"/>
                                        </p:tgtEl>
                                      </p:cBhvr>
                                    </p:animEffect>
                                  </p:childTnLst>
                                </p:cTn>
                              </p:par>
                              <p:par>
                                <p:cTn id="86" presetID="10" presetClass="entr" presetSubtype="0" fill="hold" nodeType="withEffect" grpId="0">
                                  <p:stCondLst>
                                    <p:cond delay="15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400"/>
                                        <p:tgtEl>
                                          <p:spTgt spid="4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450"/>
                                        <p:tgtEl>
                                          <p:spTgt spid="28"/>
                                        </p:tgtEl>
                                      </p:cBhvr>
                                    </p:animEffect>
                                  </p:childTnLst>
                                </p:cTn>
                              </p:par>
                              <p:par>
                                <p:cTn id="94" presetID="10" presetClass="entr" presetSubtype="0" fill="hold"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450"/>
                                        <p:tgtEl>
                                          <p:spTgt spid="29"/>
                                        </p:tgtEl>
                                      </p:cBhvr>
                                    </p:animEffect>
                                  </p:childTnLst>
                                </p:cTn>
                              </p:par>
                              <p:par>
                                <p:cTn id="97" presetID="1" presetClass="mediacall" presetSubtype="0" fill="hold" nodeType="withEffect">
                                  <p:stCondLst>
                                    <p:cond delay="0"/>
                                  </p:stCondLst>
                                  <p:childTnLst>
                                    <p:cmd type="call" cmd="playFrom(0.0)">
                                      <p:cBhvr>
                                        <p:cTn id="98" dur="9000" fill="hold"/>
                                        <p:tgtEl>
                                          <p:spTgt spid="29"/>
                                        </p:tgtEl>
                                      </p:cBhvr>
                                    </p:cmd>
                                  </p:childTnLst>
                                </p:cTn>
                              </p:par>
                              <p:par>
                                <p:cTn id="99" presetID="3" presetClass="mediacall" presetSubtype="0" fill="hold" nodeType="withEffect">
                                  <p:stCondLst>
                                    <p:cond delay="700"/>
                                  </p:stCondLst>
                                  <p:childTnLst>
                                    <p:cmd type="call" cmd="stop">
                                      <p:cBhvr>
                                        <p:cTn id="100" dur="1" fill="hold"/>
                                        <p:tgtEl>
                                          <p:spTgt spid="22"/>
                                        </p:tgtEl>
                                      </p:cBhvr>
                                    </p:cmd>
                                  </p:childTnLst>
                                </p:cTn>
                              </p:par>
                              <p:par>
                                <p:cTn id="101" presetID="3" presetClass="mediacall" presetSubtype="0" fill="hold" nodeType="withEffect">
                                  <p:stCondLst>
                                    <p:cond delay="700"/>
                                  </p:stCondLst>
                                  <p:childTnLst>
                                    <p:cmd type="call" cmd="stop">
                                      <p:cBhvr>
                                        <p:cTn id="102" dur="1" fill="hold"/>
                                        <p:tgtEl>
                                          <p:spTgt spid="23"/>
                                        </p:tgtEl>
                                      </p:cBhvr>
                                    </p:cmd>
                                  </p:childTnLst>
                                </p:cTn>
                              </p:par>
                              <p:par>
                                <p:cTn id="103" presetID="10" presetClass="entr" presetSubtype="0" fill="hold" nodeType="withEffect" grpId="0">
                                  <p:stCondLst>
                                    <p:cond delay="150"/>
                                  </p:stCondLst>
                                  <p:childTnLst>
                                    <p:set>
                                      <p:cBhvr>
                                        <p:cTn id="104" dur="1" fill="hold">
                                          <p:stCondLst>
                                            <p:cond delay="0"/>
                                          </p:stCondLst>
                                        </p:cTn>
                                        <p:tgtEl>
                                          <p:spTgt spid="49"/>
                                        </p:tgtEl>
                                        <p:attrNameLst>
                                          <p:attrName>style.visibility</p:attrName>
                                        </p:attrNameLst>
                                      </p:cBhvr>
                                      <p:to>
                                        <p:strVal val="visible"/>
                                      </p:to>
                                    </p:set>
                                    <p:animEffect transition="in" filter="fade">
                                      <p:cBhvr>
                                        <p:cTn id="105" dur="400"/>
                                        <p:tgtEl>
                                          <p:spTgt spid="49"/>
                                        </p:tgtEl>
                                      </p:cBhvr>
                                    </p:animEffect>
                                  </p:childTnLst>
                                </p:cTn>
                              </p:par>
                              <p:par>
                                <p:cTn id="106" presetID="10" presetClass="entr" presetSubtype="0" fill="hold" nodeType="withEffect" grpId="0">
                                  <p:stCondLst>
                                    <p:cond delay="15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400"/>
                                        <p:tgtEl>
                                          <p:spTgt spid="50"/>
                                        </p:tgtEl>
                                      </p:cBhvr>
                                    </p:animEffect>
                                  </p:childTnLst>
                                </p:cTn>
                              </p:par>
                              <p:par>
                                <p:cTn id="109" presetID="10" presetClass="entr" presetSubtype="0" fill="hold" nodeType="withEffect" grpId="0">
                                  <p:stCondLst>
                                    <p:cond delay="150"/>
                                  </p:stCondLst>
                                  <p:childTnLst>
                                    <p:set>
                                      <p:cBhvr>
                                        <p:cTn id="110" dur="1" fill="hold">
                                          <p:stCondLst>
                                            <p:cond delay="0"/>
                                          </p:stCondLst>
                                        </p:cTn>
                                        <p:tgtEl>
                                          <p:spTgt spid="51"/>
                                        </p:tgtEl>
                                        <p:attrNameLst>
                                          <p:attrName>style.visibility</p:attrName>
                                        </p:attrNameLst>
                                      </p:cBhvr>
                                      <p:to>
                                        <p:strVal val="visible"/>
                                      </p:to>
                                    </p:set>
                                    <p:animEffect transition="in" filter="fade">
                                      <p:cBhvr>
                                        <p:cTn id="111" dur="400"/>
                                        <p:tgtEl>
                                          <p:spTgt spid="51"/>
                                        </p:tgtEl>
                                      </p:cBhvr>
                                    </p:animEffect>
                                  </p:childTnLst>
                                </p:cTn>
                              </p:par>
                              <p:par>
                                <p:cTn id="112" presetID="10" presetClass="entr" presetSubtype="0" fill="hold" nodeType="withEffect" grpId="0">
                                  <p:stCondLst>
                                    <p:cond delay="150"/>
                                  </p:stCondLst>
                                  <p:childTnLst>
                                    <p:set>
                                      <p:cBhvr>
                                        <p:cTn id="113" dur="1" fill="hold">
                                          <p:stCondLst>
                                            <p:cond delay="0"/>
                                          </p:stCondLst>
                                        </p:cTn>
                                        <p:tgtEl>
                                          <p:spTgt spid="52"/>
                                        </p:tgtEl>
                                        <p:attrNameLst>
                                          <p:attrName>style.visibility</p:attrName>
                                        </p:attrNameLst>
                                      </p:cBhvr>
                                      <p:to>
                                        <p:strVal val="visible"/>
                                      </p:to>
                                    </p:set>
                                    <p:animEffect transition="in" filter="fade">
                                      <p:cBhvr>
                                        <p:cTn id="114" dur="400"/>
                                        <p:tgtEl>
                                          <p:spTgt spid="52"/>
                                        </p:tgtEl>
                                      </p:cBhvr>
                                    </p:animEffect>
                                  </p:childTnLst>
                                </p:cTn>
                              </p:par>
                              <p:par>
                                <p:cTn id="115" presetID="10" presetClass="entr" presetSubtype="0" fill="hold" nodeType="withEffect" grpId="0">
                                  <p:stCondLst>
                                    <p:cond delay="150"/>
                                  </p:stCondLst>
                                  <p:childTnLst>
                                    <p:set>
                                      <p:cBhvr>
                                        <p:cTn id="116" dur="1" fill="hold">
                                          <p:stCondLst>
                                            <p:cond delay="0"/>
                                          </p:stCondLst>
                                        </p:cTn>
                                        <p:tgtEl>
                                          <p:spTgt spid="45"/>
                                        </p:tgtEl>
                                        <p:attrNameLst>
                                          <p:attrName>style.visibility</p:attrName>
                                        </p:attrNameLst>
                                      </p:cBhvr>
                                      <p:to>
                                        <p:strVal val="visible"/>
                                      </p:to>
                                    </p:set>
                                    <p:animEffect transition="in" filter="fade">
                                      <p:cBhvr>
                                        <p:cTn id="117"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18" repeatCount="indefinite" fill="hold" display="0">
                  <p:stCondLst>
                    <p:cond delay="indefinite"/>
                  </p:stCondLst>
                </p:cTn>
                <p:tgtEl>
                  <p:spTgt spid="13"/>
                </p:tgtEl>
              </p:cMediaNode>
            </p:video>
            <p:video>
              <p:cMediaNode vol="80000" mute="1">
                <p:cTn id="119" repeatCount="indefinite" fill="hold" display="0">
                  <p:stCondLst>
                    <p:cond delay="indefinite"/>
                  </p:stCondLst>
                </p:cTn>
                <p:tgtEl>
                  <p:spTgt spid="17"/>
                </p:tgtEl>
              </p:cMediaNode>
            </p:video>
            <p:video>
              <p:cMediaNode vol="80000" mute="1">
                <p:cTn id="120" repeatCount="indefinite" fill="hold" display="0">
                  <p:stCondLst>
                    <p:cond delay="indefinite"/>
                  </p:stCondLst>
                </p:cTn>
                <p:tgtEl>
                  <p:spTgt spid="22"/>
                </p:tgtEl>
              </p:cMediaNode>
            </p:video>
            <p:video>
              <p:cMediaNode vol="80000" mute="1">
                <p:cTn id="121" repeatCount="indefinite" fill="hold" display="0">
                  <p:stCondLst>
                    <p:cond delay="indefinite"/>
                  </p:stCondLst>
                </p:cTn>
                <p:tgtEl>
                  <p:spTgt spid="23"/>
                </p:tgtEl>
              </p:cMediaNode>
            </p:video>
            <p:video>
              <p:cMediaNode vol="80000" mute="1">
                <p:cTn id="122" repeatCount="indefinite" fill="hold" display="0">
                  <p:stCondLst>
                    <p:cond delay="indefinite"/>
                  </p:stCondLst>
                </p:cTn>
                <p:tgtEl>
                  <p:spTgt spid="29"/>
                </p:tgtEl>
              </p:cMediaNode>
            </p:video>
          </p:childTnLst>
        </p:cTn>
      </p:par>
    </p:tnLst>
    <p:bldLst>
      <p:bldP spid="34" grpId="0" animBg="1"/>
      <p:bldP spid="36" grpId="0" animBg="1"/>
      <p:bldP spid="37" grpId="0" animBg="1"/>
      <p:bldP spid="38" grpId="0" animBg="1"/>
      <p:bldP spid="39" grpId="0" animBg="1"/>
      <p:bldP spid="41" grpId="0" animBg="1"/>
      <p:bldP spid="42" grpId="0" animBg="1"/>
      <p:bldP spid="43" grpId="0" animBg="1"/>
      <p:bldP spid="35" grpId="0" animBg="1"/>
      <p:bldP spid="44" grpId="0" animBg="1"/>
      <p:bldP spid="46" grpId="0" animBg="1"/>
      <p:bldP spid="47" grpId="0" animBg="1"/>
      <p:bldP spid="48" grpId="0" animBg="1"/>
      <p:bldP spid="40" grpId="0" animBg="1"/>
      <p:bldP spid="49" grpId="0" animBg="1"/>
      <p:bldP spid="50" grpId="0" animBg="1"/>
      <p:bldP spid="51" grpId="0" animBg="1"/>
      <p:bldP spid="52" grpId="0" animBg="1"/>
      <p:bldP spid="4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31B08"/>
        </a:solidFill>
        <a:effectLst/>
      </p:bgPr>
    </p:bg>
    <p:spTree>
      <p:nvGrpSpPr>
        <p:cNvPr id="1" name=""/>
        <p:cNvGrpSpPr/>
        <p:nvPr/>
      </p:nvGrpSpPr>
      <p:grpSpPr/>
      <p:sp>
        <p:nvSpPr>
          <p:cNvPr id="2" name="s6 Rounded Rectangle 1"/>
          <p:cNvSpPr/>
          <p:nvPr/>
        </p:nvSpPr>
        <p:spPr>
          <a:xfrm>
            <a:off x="548640" y="457200"/>
            <a:ext cx="962036" cy="292608"/>
          </a:xfrm>
          <a:prstGeom prst="roundRect">
            <a:avLst>
              <a:gd name="adj" fmla="val 50000"/>
            </a:avLst>
          </a:prstGeom>
          <a:solidFill>
            <a:srgbClr val="123A2E"/>
          </a:solidFill>
          <a:ln>
            <a:noFill/>
          </a:ln>
          <a:effectLst/>
        </p:spPr>
        <p:txBody>
          <a:bodyPr rtlCol="0" anchor="ctr" lIns="0" rIns="0" tIns="0" bIns="0" wrap="none"/>
          <a:lstStyle/>
          <a:p>
            <a:pPr algn="ctr"/>
            <a:r>
              <a:rPr sz="1150" b="1" i="0">
                <a:solidFill>
                  <a:srgbClr val="4FD8A4"/>
                </a:solidFill>
                <a:latin typeface="Arial"/>
              </a:rPr>
              <a:t>Datathon</a:t>
            </a:r>
          </a:p>
        </p:txBody>
      </p:sp>
      <p:sp>
        <p:nvSpPr>
          <p:cNvPr id="3" name="s6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EDF5F0"/>
                </a:solidFill>
                <a:latin typeface="Arial"/>
              </a:rPr>
              <a:t>Three kinds of intelligence under one rule</a:t>
            </a:r>
          </a:p>
        </p:txBody>
      </p:sp>
      <p:grpSp>
        <p:nvGrpSpPr>
          <p:cNvPr id="8" name="s6 Group 7"/>
          <p:cNvGrpSpPr/>
          <p:nvPr/>
        </p:nvGrpSpPr>
        <p:grpSpPr>
          <a:xfrm>
            <a:off x="548640" y="1737360"/>
            <a:ext cx="3545738" cy="2697480"/>
            <a:chOff x="548640" y="1737360"/>
            <a:chExt cx="3545738" cy="2697480"/>
          </a:xfrm>
        </p:grpSpPr>
        <p:sp>
          <p:nvSpPr>
            <p:cNvPr id="4" name="s6 Rounded Rectangle 3"/>
            <p:cNvSpPr/>
            <p:nvPr/>
          </p:nvSpPr>
          <p:spPr>
            <a:xfrm>
              <a:off x="548640" y="1737360"/>
              <a:ext cx="3545738" cy="2697480"/>
            </a:xfrm>
            <a:prstGeom prst="roundRect">
              <a:avLst>
                <a:gd name="adj" fmla="val 5423"/>
              </a:avLst>
            </a:prstGeom>
            <a:solidFill>
              <a:srgbClr val="0C2B21"/>
            </a:solidFill>
            <a:ln w="12700">
              <a:solidFill>
                <a:srgbClr val="1D5A50"/>
              </a:solidFill>
            </a:ln>
            <a:effectLst/>
          </p:spPr>
          <p:txBody>
            <a:bodyPr rtlCol="0" anchor="ctr"/>
            <a:lstStyle/>
            <a:p/>
          </p:txBody>
        </p:sp>
        <p:sp>
          <p:nvSpPr>
            <p:cNvPr id="5" name="s6 TextBox 4"/>
            <p:cNvSpPr txBox="1"/>
            <p:nvPr/>
          </p:nvSpPr>
          <p:spPr>
            <a:xfrm>
              <a:off x="868680" y="1965960"/>
              <a:ext cx="2997098" cy="548640"/>
            </a:xfrm>
            <a:prstGeom prst="rect">
              <a:avLst/>
            </a:prstGeom>
            <a:noFill/>
          </p:spPr>
          <p:txBody>
            <a:bodyPr wrap="square" lIns="0" rIns="0" tIns="0" bIns="0" anchor="t">
              <a:spAutoFit/>
            </a:bodyPr>
            <a:lstStyle/>
            <a:p>
              <a:pPr algn="l">
                <a:lnSpc>
                  <a:spcPct val="108000"/>
                </a:lnSpc>
              </a:pPr>
              <a:r>
                <a:rPr sz="3000" b="1" i="0" spc="-80">
                  <a:solidFill>
                    <a:srgbClr val="FFFFFF"/>
                  </a:solidFill>
                  <a:latin typeface="Arial"/>
                </a:rPr>
                <a:t>Predict</a:t>
              </a:r>
            </a:p>
          </p:txBody>
        </p:sp>
        <p:sp>
          <p:nvSpPr>
            <p:cNvPr id="6" name="s6 TextBox 5"/>
            <p:cNvSpPr txBox="1"/>
            <p:nvPr/>
          </p:nvSpPr>
          <p:spPr>
            <a:xfrm>
              <a:off x="868680" y="2651760"/>
              <a:ext cx="2997098" cy="1005840"/>
            </a:xfrm>
            <a:prstGeom prst="rect">
              <a:avLst/>
            </a:prstGeom>
            <a:noFill/>
          </p:spPr>
          <p:txBody>
            <a:bodyPr wrap="square" lIns="0" rIns="0" tIns="0" bIns="0" anchor="t">
              <a:spAutoFit/>
            </a:bodyPr>
            <a:lstStyle/>
            <a:p>
              <a:pPr algn="l">
                <a:lnSpc>
                  <a:spcPct val="110000"/>
                </a:lnSpc>
              </a:pPr>
              <a:r>
                <a:rPr sz="1600" b="0" i="0">
                  <a:solidFill>
                    <a:srgbClr val="A8BDB0"/>
                  </a:solidFill>
                  <a:latin typeface="Arial"/>
                </a:rPr>
                <a:t>Which stops will be late, and how long unloading takes</a:t>
              </a:r>
            </a:p>
          </p:txBody>
        </p:sp>
        <p:sp>
          <p:nvSpPr>
            <p:cNvPr id="7" name="s6 Rounded Rectangle 6"/>
            <p:cNvSpPr/>
            <p:nvPr/>
          </p:nvSpPr>
          <p:spPr>
            <a:xfrm>
              <a:off x="868680" y="3858768"/>
              <a:ext cx="773056" cy="310896"/>
            </a:xfrm>
            <a:prstGeom prst="roundRect">
              <a:avLst>
                <a:gd name="adj" fmla="val 50000"/>
              </a:avLst>
            </a:prstGeom>
            <a:solidFill>
              <a:srgbClr val="123A2E"/>
            </a:solidFill>
            <a:ln>
              <a:noFill/>
            </a:ln>
            <a:effectLst/>
          </p:spPr>
          <p:txBody>
            <a:bodyPr rtlCol="0" anchor="ctr" lIns="0" rIns="0" tIns="0" bIns="0" wrap="none"/>
            <a:lstStyle/>
            <a:p>
              <a:pPr algn="ctr"/>
              <a:r>
                <a:rPr sz="1150" b="1" i="0">
                  <a:solidFill>
                    <a:srgbClr val="4FD8A4"/>
                  </a:solidFill>
                  <a:latin typeface="Arial"/>
                </a:rPr>
                <a:t>Task 1</a:t>
              </a:r>
            </a:p>
          </p:txBody>
        </p:sp>
      </p:grpSp>
      <p:grpSp>
        <p:nvGrpSpPr>
          <p:cNvPr id="13" name="s6 Group 12"/>
          <p:cNvGrpSpPr/>
          <p:nvPr/>
        </p:nvGrpSpPr>
        <p:grpSpPr>
          <a:xfrm>
            <a:off x="4322978" y="1737360"/>
            <a:ext cx="3545738" cy="2697480"/>
            <a:chOff x="4322978" y="1737360"/>
            <a:chExt cx="3545738" cy="2697480"/>
          </a:xfrm>
        </p:grpSpPr>
        <p:sp>
          <p:nvSpPr>
            <p:cNvPr id="9" name="s6 Rounded Rectangle 8"/>
            <p:cNvSpPr/>
            <p:nvPr/>
          </p:nvSpPr>
          <p:spPr>
            <a:xfrm>
              <a:off x="4322978" y="1737360"/>
              <a:ext cx="3545738" cy="2697480"/>
            </a:xfrm>
            <a:prstGeom prst="roundRect">
              <a:avLst>
                <a:gd name="adj" fmla="val 5423"/>
              </a:avLst>
            </a:prstGeom>
            <a:solidFill>
              <a:srgbClr val="0C2B21"/>
            </a:solidFill>
            <a:ln w="12700">
              <a:solidFill>
                <a:srgbClr val="1D5A50"/>
              </a:solidFill>
            </a:ln>
            <a:effectLst/>
          </p:spPr>
          <p:txBody>
            <a:bodyPr rtlCol="0" anchor="ctr"/>
            <a:lstStyle/>
            <a:p/>
          </p:txBody>
        </p:sp>
        <p:sp>
          <p:nvSpPr>
            <p:cNvPr id="10" name="s6 TextBox 9"/>
            <p:cNvSpPr txBox="1"/>
            <p:nvPr/>
          </p:nvSpPr>
          <p:spPr>
            <a:xfrm>
              <a:off x="4643018" y="1965960"/>
              <a:ext cx="2997098" cy="548640"/>
            </a:xfrm>
            <a:prstGeom prst="rect">
              <a:avLst/>
            </a:prstGeom>
            <a:noFill/>
          </p:spPr>
          <p:txBody>
            <a:bodyPr wrap="square" lIns="0" rIns="0" tIns="0" bIns="0" anchor="t">
              <a:spAutoFit/>
            </a:bodyPr>
            <a:lstStyle/>
            <a:p>
              <a:pPr algn="l">
                <a:lnSpc>
                  <a:spcPct val="108000"/>
                </a:lnSpc>
              </a:pPr>
              <a:r>
                <a:rPr sz="3000" b="1" i="0" spc="-80">
                  <a:solidFill>
                    <a:srgbClr val="FFFFFF"/>
                  </a:solidFill>
                  <a:latin typeface="Arial"/>
                </a:rPr>
                <a:t>Foresee</a:t>
              </a:r>
            </a:p>
          </p:txBody>
        </p:sp>
        <p:sp>
          <p:nvSpPr>
            <p:cNvPr id="11" name="s6 TextBox 10"/>
            <p:cNvSpPr txBox="1"/>
            <p:nvPr/>
          </p:nvSpPr>
          <p:spPr>
            <a:xfrm>
              <a:off x="4643018" y="2651760"/>
              <a:ext cx="2997098" cy="1005840"/>
            </a:xfrm>
            <a:prstGeom prst="rect">
              <a:avLst/>
            </a:prstGeom>
            <a:noFill/>
          </p:spPr>
          <p:txBody>
            <a:bodyPr wrap="square" lIns="0" rIns="0" tIns="0" bIns="0" anchor="t">
              <a:spAutoFit/>
            </a:bodyPr>
            <a:lstStyle/>
            <a:p>
              <a:pPr algn="l">
                <a:lnSpc>
                  <a:spcPct val="110000"/>
                </a:lnSpc>
              </a:pPr>
              <a:r>
                <a:rPr sz="1600" b="0" i="0">
                  <a:solidFill>
                    <a:srgbClr val="A8BDB0"/>
                  </a:solidFill>
                  <a:latin typeface="Arial"/>
                </a:rPr>
                <a:t>Demand ten weeks ahead, as trucks, refrigerated trucks and drivers</a:t>
              </a:r>
            </a:p>
          </p:txBody>
        </p:sp>
        <p:sp>
          <p:nvSpPr>
            <p:cNvPr id="12" name="s6 Rounded Rectangle 11"/>
            <p:cNvSpPr/>
            <p:nvPr/>
          </p:nvSpPr>
          <p:spPr>
            <a:xfrm>
              <a:off x="4643018" y="3858768"/>
              <a:ext cx="878531" cy="310896"/>
            </a:xfrm>
            <a:prstGeom prst="roundRect">
              <a:avLst>
                <a:gd name="adj" fmla="val 50000"/>
              </a:avLst>
            </a:prstGeom>
            <a:solidFill>
              <a:srgbClr val="123A2E"/>
            </a:solidFill>
            <a:ln>
              <a:noFill/>
            </a:ln>
            <a:effectLst/>
          </p:spPr>
          <p:txBody>
            <a:bodyPr rtlCol="0" anchor="ctr" lIns="0" rIns="0" tIns="0" bIns="0" wrap="none"/>
            <a:lstStyle/>
            <a:p>
              <a:pPr algn="ctr"/>
              <a:r>
                <a:rPr sz="1150" b="1" i="0">
                  <a:solidFill>
                    <a:srgbClr val="4FD8A4"/>
                  </a:solidFill>
                  <a:latin typeface="Arial"/>
                </a:rPr>
                <a:t>Task 2A</a:t>
              </a:r>
            </a:p>
          </p:txBody>
        </p:sp>
      </p:grpSp>
      <p:grpSp>
        <p:nvGrpSpPr>
          <p:cNvPr id="18" name="s6 Group 17"/>
          <p:cNvGrpSpPr/>
          <p:nvPr/>
        </p:nvGrpSpPr>
        <p:grpSpPr>
          <a:xfrm>
            <a:off x="8097316" y="1737360"/>
            <a:ext cx="3545738" cy="2697480"/>
            <a:chOff x="8097316" y="1737360"/>
            <a:chExt cx="3545738" cy="2697480"/>
          </a:xfrm>
        </p:grpSpPr>
        <p:sp>
          <p:nvSpPr>
            <p:cNvPr id="14" name="s6 Rounded Rectangle 13"/>
            <p:cNvSpPr/>
            <p:nvPr/>
          </p:nvSpPr>
          <p:spPr>
            <a:xfrm>
              <a:off x="8097316" y="1737360"/>
              <a:ext cx="3545738" cy="2697480"/>
            </a:xfrm>
            <a:prstGeom prst="roundRect">
              <a:avLst>
                <a:gd name="adj" fmla="val 5423"/>
              </a:avLst>
            </a:prstGeom>
            <a:solidFill>
              <a:srgbClr val="0C2B21"/>
            </a:solidFill>
            <a:ln w="12700">
              <a:solidFill>
                <a:srgbClr val="1D5A50"/>
              </a:solidFill>
            </a:ln>
            <a:effectLst/>
          </p:spPr>
          <p:txBody>
            <a:bodyPr rtlCol="0" anchor="ctr"/>
            <a:lstStyle/>
            <a:p/>
          </p:txBody>
        </p:sp>
        <p:sp>
          <p:nvSpPr>
            <p:cNvPr id="15" name="s6 TextBox 14"/>
            <p:cNvSpPr txBox="1"/>
            <p:nvPr/>
          </p:nvSpPr>
          <p:spPr>
            <a:xfrm>
              <a:off x="8417356" y="1965960"/>
              <a:ext cx="2997098" cy="548640"/>
            </a:xfrm>
            <a:prstGeom prst="rect">
              <a:avLst/>
            </a:prstGeom>
            <a:noFill/>
          </p:spPr>
          <p:txBody>
            <a:bodyPr wrap="square" lIns="0" rIns="0" tIns="0" bIns="0" anchor="t">
              <a:spAutoFit/>
            </a:bodyPr>
            <a:lstStyle/>
            <a:p>
              <a:pPr algn="l">
                <a:lnSpc>
                  <a:spcPct val="108000"/>
                </a:lnSpc>
              </a:pPr>
              <a:r>
                <a:rPr sz="3000" b="1" i="0" spc="-80">
                  <a:solidFill>
                    <a:srgbClr val="FFFFFF"/>
                  </a:solidFill>
                  <a:latin typeface="Arial"/>
                </a:rPr>
                <a:t>Decide</a:t>
              </a:r>
            </a:p>
          </p:txBody>
        </p:sp>
        <p:sp>
          <p:nvSpPr>
            <p:cNvPr id="16" name="s6 TextBox 15"/>
            <p:cNvSpPr txBox="1"/>
            <p:nvPr/>
          </p:nvSpPr>
          <p:spPr>
            <a:xfrm>
              <a:off x="8417356" y="2651760"/>
              <a:ext cx="2997098" cy="1005840"/>
            </a:xfrm>
            <a:prstGeom prst="rect">
              <a:avLst/>
            </a:prstGeom>
            <a:noFill/>
          </p:spPr>
          <p:txBody>
            <a:bodyPr wrap="square" lIns="0" rIns="0" tIns="0" bIns="0" anchor="t">
              <a:spAutoFit/>
            </a:bodyPr>
            <a:lstStyle/>
            <a:p>
              <a:pPr algn="l">
                <a:lnSpc>
                  <a:spcPct val="110000"/>
                </a:lnSpc>
              </a:pPr>
              <a:r>
                <a:rPr sz="1600" b="0" i="0">
                  <a:solidFill>
                    <a:srgbClr val="A8BDB0"/>
                  </a:solidFill>
                  <a:latin typeface="Arial"/>
                </a:rPr>
                <a:t>The best plan when trucks run short, and why</a:t>
              </a:r>
            </a:p>
          </p:txBody>
        </p:sp>
        <p:sp>
          <p:nvSpPr>
            <p:cNvPr id="17" name="s6 Rounded Rectangle 16"/>
            <p:cNvSpPr/>
            <p:nvPr/>
          </p:nvSpPr>
          <p:spPr>
            <a:xfrm>
              <a:off x="8417356" y="3858768"/>
              <a:ext cx="1856707" cy="310896"/>
            </a:xfrm>
            <a:prstGeom prst="roundRect">
              <a:avLst>
                <a:gd name="adj" fmla="val 50000"/>
              </a:avLst>
            </a:prstGeom>
            <a:solidFill>
              <a:srgbClr val="123A2E"/>
            </a:solidFill>
            <a:ln>
              <a:noFill/>
            </a:ln>
            <a:effectLst/>
          </p:spPr>
          <p:txBody>
            <a:bodyPr rtlCol="0" anchor="ctr" lIns="0" rIns="0" tIns="0" bIns="0" wrap="none"/>
            <a:lstStyle/>
            <a:p>
              <a:pPr algn="ctr"/>
              <a:r>
                <a:rPr sz="1150" b="1" i="0">
                  <a:solidFill>
                    <a:srgbClr val="4FD8A4"/>
                  </a:solidFill>
                  <a:latin typeface="Arial"/>
                </a:rPr>
                <a:t>Task 2B + live planner</a:t>
              </a:r>
            </a:p>
          </p:txBody>
        </p:sp>
      </p:grpSp>
      <p:grpSp>
        <p:nvGrpSpPr>
          <p:cNvPr id="31" name="s6 Group 30"/>
          <p:cNvGrpSpPr/>
          <p:nvPr/>
        </p:nvGrpSpPr>
        <p:grpSpPr>
          <a:xfrm>
            <a:off x="548640" y="4800600"/>
            <a:ext cx="11094415" cy="1078992"/>
            <a:chOff x="548640" y="4800600"/>
            <a:chExt cx="11094415" cy="1078992"/>
          </a:xfrm>
        </p:grpSpPr>
        <p:sp>
          <p:nvSpPr>
            <p:cNvPr id="19" name="s6 Rounded Rectangle 18"/>
            <p:cNvSpPr/>
            <p:nvPr/>
          </p:nvSpPr>
          <p:spPr>
            <a:xfrm>
              <a:off x="548640" y="4800600"/>
              <a:ext cx="2499283" cy="512064"/>
            </a:xfrm>
            <a:prstGeom prst="roundRect">
              <a:avLst>
                <a:gd name="adj" fmla="val 50000"/>
              </a:avLst>
            </a:prstGeom>
            <a:solidFill>
              <a:srgbClr val="123A2E"/>
            </a:solidFill>
            <a:ln>
              <a:noFill/>
            </a:ln>
            <a:effectLst/>
          </p:spPr>
          <p:txBody>
            <a:bodyPr rtlCol="0" anchor="ctr"/>
            <a:lstStyle/>
            <a:p/>
          </p:txBody>
        </p:sp>
        <p:sp>
          <p:nvSpPr>
            <p:cNvPr id="20" name="s6 TextBox 19"/>
            <p:cNvSpPr txBox="1"/>
            <p:nvPr/>
          </p:nvSpPr>
          <p:spPr>
            <a:xfrm>
              <a:off x="548640" y="4800600"/>
              <a:ext cx="2499283" cy="512064"/>
            </a:xfrm>
            <a:prstGeom prst="rect">
              <a:avLst/>
            </a:prstGeom>
            <a:noFill/>
          </p:spPr>
          <p:txBody>
            <a:bodyPr wrap="square" lIns="0" rIns="0" tIns="0" bIns="0" anchor="ctr">
              <a:spAutoFit/>
            </a:bodyPr>
            <a:lstStyle/>
            <a:p>
              <a:pPr algn="ctr">
                <a:lnSpc>
                  <a:spcPct val="108000"/>
                </a:lnSpc>
              </a:pPr>
              <a:r>
                <a:rPr sz="1300" b="1" i="0">
                  <a:solidFill>
                    <a:srgbClr val="FFFFFF"/>
                  </a:solidFill>
                  <a:latin typeface="Arial"/>
                </a:rPr>
                <a:t>Rules first</a:t>
              </a:r>
            </a:p>
          </p:txBody>
        </p:sp>
        <p:cxnSp>
          <p:nvCxnSpPr>
            <p:cNvPr id="21" name="s6 Connector 20"/>
            <p:cNvCxnSpPr/>
            <p:nvPr/>
          </p:nvCxnSpPr>
          <p:spPr>
            <a:xfrm>
              <a:off x="3121075" y="5056632"/>
              <a:ext cx="219456" cy="0"/>
            </a:xfrm>
            <a:prstGeom prst="line">
              <a:avLst/>
            </a:prstGeom>
            <a:ln w="22225">
              <a:solidFill>
                <a:srgbClr val="4FD8A4"/>
              </a:solidFill>
              <a:tailEnd type="triangle" w="med" len="med"/>
            </a:ln>
            <a:effectLst/>
          </p:spPr>
        </p:cxnSp>
        <p:sp>
          <p:nvSpPr>
            <p:cNvPr id="22" name="s6 Rounded Rectangle 21"/>
            <p:cNvSpPr/>
            <p:nvPr/>
          </p:nvSpPr>
          <p:spPr>
            <a:xfrm>
              <a:off x="3413683" y="4800600"/>
              <a:ext cx="2499283" cy="512064"/>
            </a:xfrm>
            <a:prstGeom prst="roundRect">
              <a:avLst>
                <a:gd name="adj" fmla="val 50000"/>
              </a:avLst>
            </a:prstGeom>
            <a:solidFill>
              <a:srgbClr val="123A2E"/>
            </a:solidFill>
            <a:ln>
              <a:noFill/>
            </a:ln>
            <a:effectLst/>
          </p:spPr>
          <p:txBody>
            <a:bodyPr rtlCol="0" anchor="ctr"/>
            <a:lstStyle/>
            <a:p/>
          </p:txBody>
        </p:sp>
        <p:sp>
          <p:nvSpPr>
            <p:cNvPr id="23" name="s6 TextBox 22"/>
            <p:cNvSpPr txBox="1"/>
            <p:nvPr/>
          </p:nvSpPr>
          <p:spPr>
            <a:xfrm>
              <a:off x="3413683" y="4800600"/>
              <a:ext cx="2499283" cy="512064"/>
            </a:xfrm>
            <a:prstGeom prst="rect">
              <a:avLst/>
            </a:prstGeom>
            <a:noFill/>
          </p:spPr>
          <p:txBody>
            <a:bodyPr wrap="square" lIns="0" rIns="0" tIns="0" bIns="0" anchor="ctr">
              <a:spAutoFit/>
            </a:bodyPr>
            <a:lstStyle/>
            <a:p>
              <a:pPr algn="ctr">
                <a:lnSpc>
                  <a:spcPct val="108000"/>
                </a:lnSpc>
              </a:pPr>
              <a:r>
                <a:rPr sz="1300" b="1" i="0">
                  <a:solidFill>
                    <a:srgbClr val="FFFFFF"/>
                  </a:solidFill>
                  <a:latin typeface="Arial"/>
                </a:rPr>
                <a:t>Our own models</a:t>
              </a:r>
            </a:p>
          </p:txBody>
        </p:sp>
        <p:cxnSp>
          <p:nvCxnSpPr>
            <p:cNvPr id="24" name="s6 Connector 23"/>
            <p:cNvCxnSpPr/>
            <p:nvPr/>
          </p:nvCxnSpPr>
          <p:spPr>
            <a:xfrm>
              <a:off x="5986119" y="5056632"/>
              <a:ext cx="219456" cy="0"/>
            </a:xfrm>
            <a:prstGeom prst="line">
              <a:avLst/>
            </a:prstGeom>
            <a:ln w="22225">
              <a:solidFill>
                <a:srgbClr val="4FD8A4"/>
              </a:solidFill>
              <a:tailEnd type="triangle" w="med" len="med"/>
            </a:ln>
            <a:effectLst/>
          </p:spPr>
        </p:cxnSp>
        <p:sp>
          <p:nvSpPr>
            <p:cNvPr id="25" name="s6 Rounded Rectangle 24"/>
            <p:cNvSpPr/>
            <p:nvPr/>
          </p:nvSpPr>
          <p:spPr>
            <a:xfrm>
              <a:off x="6278727" y="4800600"/>
              <a:ext cx="2499283" cy="512064"/>
            </a:xfrm>
            <a:prstGeom prst="roundRect">
              <a:avLst>
                <a:gd name="adj" fmla="val 50000"/>
              </a:avLst>
            </a:prstGeom>
            <a:solidFill>
              <a:srgbClr val="123A2E"/>
            </a:solidFill>
            <a:ln>
              <a:noFill/>
            </a:ln>
            <a:effectLst/>
          </p:spPr>
          <p:txBody>
            <a:bodyPr rtlCol="0" anchor="ctr"/>
            <a:lstStyle/>
            <a:p/>
          </p:txBody>
        </p:sp>
        <p:sp>
          <p:nvSpPr>
            <p:cNvPr id="26" name="s6 TextBox 25"/>
            <p:cNvSpPr txBox="1"/>
            <p:nvPr/>
          </p:nvSpPr>
          <p:spPr>
            <a:xfrm>
              <a:off x="6278727" y="4800600"/>
              <a:ext cx="2499283" cy="512064"/>
            </a:xfrm>
            <a:prstGeom prst="rect">
              <a:avLst/>
            </a:prstGeom>
            <a:noFill/>
          </p:spPr>
          <p:txBody>
            <a:bodyPr wrap="square" lIns="0" rIns="0" tIns="0" bIns="0" anchor="ctr">
              <a:spAutoFit/>
            </a:bodyPr>
            <a:lstStyle/>
            <a:p>
              <a:pPr algn="ctr">
                <a:lnSpc>
                  <a:spcPct val="108000"/>
                </a:lnSpc>
              </a:pPr>
              <a:r>
                <a:rPr sz="1300" b="1" i="0">
                  <a:solidFill>
                    <a:srgbClr val="FFFFFF"/>
                  </a:solidFill>
                  <a:latin typeface="Arial"/>
                </a:rPr>
                <a:t>Language AI, wording only</a:t>
              </a:r>
            </a:p>
          </p:txBody>
        </p:sp>
        <p:cxnSp>
          <p:nvCxnSpPr>
            <p:cNvPr id="27" name="s6 Connector 26"/>
            <p:cNvCxnSpPr/>
            <p:nvPr/>
          </p:nvCxnSpPr>
          <p:spPr>
            <a:xfrm>
              <a:off x="8851163" y="5056632"/>
              <a:ext cx="219456" cy="0"/>
            </a:xfrm>
            <a:prstGeom prst="line">
              <a:avLst/>
            </a:prstGeom>
            <a:ln w="22225">
              <a:solidFill>
                <a:srgbClr val="4FD8A4"/>
              </a:solidFill>
              <a:tailEnd type="triangle" w="med" len="med"/>
            </a:ln>
            <a:effectLst/>
          </p:spPr>
        </p:cxnSp>
        <p:sp>
          <p:nvSpPr>
            <p:cNvPr id="28" name="s6 Rounded Rectangle 27"/>
            <p:cNvSpPr/>
            <p:nvPr/>
          </p:nvSpPr>
          <p:spPr>
            <a:xfrm>
              <a:off x="9143771" y="4800600"/>
              <a:ext cx="2499283" cy="512064"/>
            </a:xfrm>
            <a:prstGeom prst="roundRect">
              <a:avLst>
                <a:gd name="adj" fmla="val 50000"/>
              </a:avLst>
            </a:prstGeom>
            <a:solidFill>
              <a:srgbClr val="00E169"/>
            </a:solidFill>
            <a:ln>
              <a:noFill/>
            </a:ln>
            <a:effectLst/>
          </p:spPr>
          <p:txBody>
            <a:bodyPr rtlCol="0" anchor="ctr"/>
            <a:lstStyle/>
            <a:p/>
          </p:txBody>
        </p:sp>
        <p:sp>
          <p:nvSpPr>
            <p:cNvPr id="29" name="s6 TextBox 28"/>
            <p:cNvSpPr txBox="1"/>
            <p:nvPr/>
          </p:nvSpPr>
          <p:spPr>
            <a:xfrm>
              <a:off x="9143771" y="4800600"/>
              <a:ext cx="2499283" cy="512064"/>
            </a:xfrm>
            <a:prstGeom prst="rect">
              <a:avLst/>
            </a:prstGeom>
            <a:noFill/>
          </p:spPr>
          <p:txBody>
            <a:bodyPr wrap="square" lIns="0" rIns="0" tIns="0" bIns="0" anchor="ctr">
              <a:spAutoFit/>
            </a:bodyPr>
            <a:lstStyle/>
            <a:p>
              <a:pPr algn="ctr">
                <a:lnSpc>
                  <a:spcPct val="108000"/>
                </a:lnSpc>
              </a:pPr>
              <a:r>
                <a:rPr sz="1300" b="1" i="0">
                  <a:solidFill>
                    <a:srgbClr val="031B08"/>
                  </a:solidFill>
                  <a:latin typeface="Arial"/>
                </a:rPr>
                <a:t>A person decides</a:t>
              </a:r>
            </a:p>
          </p:txBody>
        </p:sp>
        <p:sp>
          <p:nvSpPr>
            <p:cNvPr id="30" name="s6 TextBox 29"/>
            <p:cNvSpPr txBox="1"/>
            <p:nvPr/>
          </p:nvSpPr>
          <p:spPr>
            <a:xfrm>
              <a:off x="548640" y="5559552"/>
              <a:ext cx="11094415" cy="320040"/>
            </a:xfrm>
            <a:prstGeom prst="rect">
              <a:avLst/>
            </a:prstGeom>
            <a:noFill/>
          </p:spPr>
          <p:txBody>
            <a:bodyPr wrap="square" lIns="0" rIns="0" tIns="0" bIns="0" anchor="t">
              <a:spAutoFit/>
            </a:bodyPr>
            <a:lstStyle/>
            <a:p>
              <a:pPr algn="l">
                <a:lnSpc>
                  <a:spcPct val="108000"/>
                </a:lnSpc>
              </a:pPr>
              <a:r>
                <a:rPr sz="1300" b="0" i="0">
                  <a:solidFill>
                    <a:srgbClr val="A8BDB0"/>
                  </a:solidFill>
                  <a:latin typeface="Arial"/>
                </a:rPr>
                <a:t>If a model is ever down, GO falls back to a safe estimate and says so on screen.</a:t>
              </a:r>
            </a:p>
          </p:txBody>
        </p:sp>
      </p:grpSp>
      <p:sp>
        <p:nvSpPr>
          <p:cNvPr id="32" name="s6 TextBox 31"/>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A8BDB0"/>
                </a:solidFill>
                <a:latin typeface="Arial"/>
              </a:rPr>
              <a:t>Waypoint GO · Team Xception</a:t>
            </a:r>
          </a:p>
        </p:txBody>
      </p:sp>
      <p:sp>
        <p:nvSpPr>
          <p:cNvPr id="33" name="s6 TextBox 32"/>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A8BDB0"/>
                </a:solidFill>
                <a:latin typeface="Arial"/>
              </a:rPr>
              <a:t>6</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8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anim calcmode="lin" valueType="num">
                                      <p:cBhvr>
                                        <p:cTn id="8" dur="450" decel="100000" fill="hold"/>
                                        <p:tgtEl>
                                          <p:spTgt spid="8"/>
                                        </p:tgtEl>
                                        <p:attrNameLst>
                                          <p:attrName>ppt_x</p:attrName>
                                        </p:attrNameLst>
                                      </p:cBhvr>
                                      <p:tavLst>
                                        <p:tav tm="0">
                                          <p:val>
                                            <p:strVal val="#ppt_x"/>
                                          </p:val>
                                        </p:tav>
                                        <p:tav tm="100000">
                                          <p:val>
                                            <p:strVal val="#ppt_x"/>
                                          </p:val>
                                        </p:tav>
                                      </p:tavLst>
                                    </p:anim>
                                    <p:anim calcmode="lin" valueType="num">
                                      <p:cBhvr>
                                        <p:cTn id="9" dur="450" decel="100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anim calcmode="lin" valueType="num">
                                      <p:cBhvr>
                                        <p:cTn id="14" dur="450" decel="100000" fill="hold"/>
                                        <p:tgtEl>
                                          <p:spTgt spid="13"/>
                                        </p:tgtEl>
                                        <p:attrNameLst>
                                          <p:attrName>ppt_x</p:attrName>
                                        </p:attrNameLst>
                                      </p:cBhvr>
                                      <p:tavLst>
                                        <p:tav tm="0">
                                          <p:val>
                                            <p:strVal val="#ppt_x"/>
                                          </p:val>
                                        </p:tav>
                                        <p:tav tm="100000">
                                          <p:val>
                                            <p:strVal val="#ppt_x"/>
                                          </p:val>
                                        </p:tav>
                                      </p:tavLst>
                                    </p:anim>
                                    <p:anim calcmode="lin" valueType="num">
                                      <p:cBhvr>
                                        <p:cTn id="15" dur="450" decel="1000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50"/>
                                        <p:tgtEl>
                                          <p:spTgt spid="18"/>
                                        </p:tgtEl>
                                      </p:cBhvr>
                                    </p:animEffect>
                                    <p:anim calcmode="lin" valueType="num">
                                      <p:cBhvr>
                                        <p:cTn id="20" dur="450" decel="100000" fill="hold"/>
                                        <p:tgtEl>
                                          <p:spTgt spid="18"/>
                                        </p:tgtEl>
                                        <p:attrNameLst>
                                          <p:attrName>ppt_x</p:attrName>
                                        </p:attrNameLst>
                                      </p:cBhvr>
                                      <p:tavLst>
                                        <p:tav tm="0">
                                          <p:val>
                                            <p:strVal val="#ppt_x"/>
                                          </p:val>
                                        </p:tav>
                                        <p:tav tm="100000">
                                          <p:val>
                                            <p:strVal val="#ppt_x"/>
                                          </p:val>
                                        </p:tav>
                                      </p:tavLst>
                                    </p:anim>
                                    <p:anim calcmode="lin" valueType="num">
                                      <p:cBhvr>
                                        <p:cTn id="21" dur="450" decel="100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left)">
                                      <p:cBhvr>
                                        <p:cTn id="26" dur="8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7 Rounded Rectangle 1"/>
          <p:cNvSpPr/>
          <p:nvPr/>
        </p:nvSpPr>
        <p:spPr>
          <a:xfrm>
            <a:off x="548640" y="457200"/>
            <a:ext cx="1535705"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Datathon · Task 1</a:t>
            </a:r>
          </a:p>
        </p:txBody>
      </p:sp>
      <p:sp>
        <p:nvSpPr>
          <p:cNvPr id="3" name="s7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Late deliveries flagged before the truck leaves</a:t>
            </a:r>
          </a:p>
        </p:txBody>
      </p:sp>
      <p:sp>
        <p:nvSpPr>
          <p:cNvPr id="4" name="s7 TextBox 3"/>
          <p:cNvSpPr txBox="1"/>
          <p:nvPr/>
        </p:nvSpPr>
        <p:spPr>
          <a:xfrm>
            <a:off x="548640" y="1691640"/>
            <a:ext cx="6492240" cy="640080"/>
          </a:xfrm>
          <a:prstGeom prst="rect">
            <a:avLst/>
          </a:prstGeom>
          <a:noFill/>
        </p:spPr>
        <p:txBody>
          <a:bodyPr wrap="square" lIns="0" rIns="0" tIns="0" bIns="0" anchor="t">
            <a:spAutoFit/>
          </a:bodyPr>
          <a:lstStyle/>
          <a:p>
            <a:pPr algn="l">
              <a:lnSpc>
                <a:spcPct val="110000"/>
              </a:lnSpc>
            </a:pPr>
            <a:r>
              <a:rPr sz="1500" b="1" i="0">
                <a:solidFill>
                  <a:srgbClr val="031B08"/>
                </a:solidFill>
                <a:latin typeface="Arial"/>
              </a:rPr>
              <a:t>How: </a:t>
            </a:r>
            <a:r>
              <a:rPr sz="1500" b="0" i="0">
                <a:solidFill>
                  <a:srgbClr val="4C5851"/>
                </a:solidFill>
                <a:latin typeface="Arial"/>
              </a:rPr>
              <a:t>every planned route is replayed hundreds of times, stop by stop, beside a machine-learning model that sees only planning-time facts.</a:t>
            </a:r>
          </a:p>
        </p:txBody>
      </p:sp>
      <p:grpSp>
        <p:nvGrpSpPr>
          <p:cNvPr id="8" name="s7 Group 7"/>
          <p:cNvGrpSpPr/>
          <p:nvPr/>
        </p:nvGrpSpPr>
        <p:grpSpPr>
          <a:xfrm>
            <a:off x="548640" y="2606040"/>
            <a:ext cx="6492240" cy="2675382"/>
            <a:chOff x="548640" y="2606040"/>
            <a:chExt cx="6492240" cy="2675382"/>
          </a:xfrm>
        </p:grpSpPr>
        <p:sp>
          <p:nvSpPr>
            <p:cNvPr id="5" name="s7 Rounded Rectangle 4"/>
            <p:cNvSpPr/>
            <p:nvPr/>
          </p:nvSpPr>
          <p:spPr>
            <a:xfrm>
              <a:off x="548640" y="2606040"/>
              <a:ext cx="6492240" cy="2218182"/>
            </a:xfrm>
            <a:prstGeom prst="roundRect">
              <a:avLst>
                <a:gd name="adj" fmla="val 6595"/>
              </a:avLst>
            </a:prstGeom>
            <a:solidFill>
              <a:srgbClr val="FFFFFF"/>
            </a:solidFill>
            <a:ln w="12700">
              <a:solidFill>
                <a:srgbClr val="D9E3DE"/>
              </a:solidFill>
            </a:ln>
            <a:effectLst/>
          </p:spPr>
          <p:txBody>
            <a:bodyPr rtlCol="0" anchor="ctr"/>
            <a:lstStyle/>
            <a:p/>
          </p:txBody>
        </p:sp>
        <p:pic>
          <p:nvPicPr>
            <p:cNvPr id="6" name="s7 Picture 5" descr="app_risk.png"/>
            <p:cNvPicPr>
              <a:picLocks noChangeAspect="1"/>
            </p:cNvPicPr>
            <p:nvPr/>
          </p:nvPicPr>
          <p:blipFill>
            <a:blip r:embed="rId3"/>
            <a:stretch>
              <a:fillRect/>
            </a:stretch>
          </p:blipFill>
          <p:spPr>
            <a:xfrm>
              <a:off x="548640" y="2606040"/>
              <a:ext cx="6492240" cy="2218182"/>
            </a:xfrm>
            <a:prstGeom prst="roundRect">
              <a:avLst>
                <a:gd name="adj" fmla="val 6595"/>
              </a:avLst>
            </a:prstGeom>
          </p:spPr>
        </p:pic>
        <p:sp>
          <p:nvSpPr>
            <p:cNvPr id="7" name="s7 TextBox 6"/>
            <p:cNvSpPr txBox="1"/>
            <p:nvPr/>
          </p:nvSpPr>
          <p:spPr>
            <a:xfrm>
              <a:off x="548640" y="5007102"/>
              <a:ext cx="6492240" cy="274320"/>
            </a:xfrm>
            <a:prstGeom prst="rect">
              <a:avLst/>
            </a:prstGeom>
            <a:noFill/>
          </p:spPr>
          <p:txBody>
            <a:bodyPr wrap="square" lIns="0" rIns="0" tIns="0" bIns="0" anchor="t">
              <a:spAutoFit/>
            </a:bodyPr>
            <a:lstStyle/>
            <a:p>
              <a:pPr algn="l">
                <a:lnSpc>
                  <a:spcPct val="108000"/>
                </a:lnSpc>
              </a:pPr>
              <a:r>
                <a:rPr sz="1250" b="1" i="0">
                  <a:solidFill>
                    <a:srgbClr val="031B08"/>
                  </a:solidFill>
                  <a:latin typeface="Arial"/>
                </a:rPr>
                <a:t>In the app: </a:t>
              </a:r>
              <a:r>
                <a:rPr sz="1250" b="0" i="0">
                  <a:solidFill>
                    <a:srgbClr val="4C5851"/>
                  </a:solidFill>
                  <a:latin typeface="Arial"/>
                </a:rPr>
                <a:t>each risky stop shows its chance and reason, to keep or swap</a:t>
              </a:r>
            </a:p>
          </p:txBody>
        </p:sp>
      </p:grpSp>
      <p:grpSp>
        <p:nvGrpSpPr>
          <p:cNvPr id="13" name="s7 Group 12"/>
          <p:cNvGrpSpPr/>
          <p:nvPr/>
        </p:nvGrpSpPr>
        <p:grpSpPr>
          <a:xfrm>
            <a:off x="7635240" y="1591056"/>
            <a:ext cx="4023360" cy="3474720"/>
            <a:chOff x="7635240" y="1591056"/>
            <a:chExt cx="4023360" cy="3474720"/>
          </a:xfrm>
        </p:grpSpPr>
        <p:sp>
          <p:nvSpPr>
            <p:cNvPr id="9" name="s7 TextBox 8"/>
            <p:cNvSpPr txBox="1"/>
            <p:nvPr/>
          </p:nvSpPr>
          <p:spPr>
            <a:xfrm>
              <a:off x="7635240" y="1591056"/>
              <a:ext cx="4023360" cy="914400"/>
            </a:xfrm>
            <a:prstGeom prst="rect">
              <a:avLst/>
            </a:prstGeom>
            <a:noFill/>
          </p:spPr>
          <p:txBody>
            <a:bodyPr wrap="square" lIns="0" rIns="0" tIns="0" bIns="0" anchor="t">
              <a:spAutoFit/>
            </a:bodyPr>
            <a:lstStyle/>
            <a:p>
              <a:pPr algn="l">
                <a:lnSpc>
                  <a:spcPct val="108000"/>
                </a:lnSpc>
              </a:pPr>
              <a:r>
                <a:rPr sz="6000" b="1" i="0" spc="-200">
                  <a:solidFill>
                    <a:srgbClr val="0A6B63"/>
                  </a:solidFill>
                  <a:latin typeface="Arial"/>
                </a:rPr>
                <a:t>7 in 10</a:t>
              </a:r>
            </a:p>
          </p:txBody>
        </p:sp>
        <p:sp>
          <p:nvSpPr>
            <p:cNvPr id="10" name="s7 TextBox 9"/>
            <p:cNvSpPr txBox="1"/>
            <p:nvPr/>
          </p:nvSpPr>
          <p:spPr>
            <a:xfrm>
              <a:off x="7635240" y="2596896"/>
              <a:ext cx="4023360" cy="640080"/>
            </a:xfrm>
            <a:prstGeom prst="rect">
              <a:avLst/>
            </a:prstGeom>
            <a:noFill/>
          </p:spPr>
          <p:txBody>
            <a:bodyPr wrap="square" lIns="0" rIns="0" tIns="0" bIns="0" anchor="t">
              <a:spAutoFit/>
            </a:bodyPr>
            <a:lstStyle/>
            <a:p>
              <a:pPr algn="l">
                <a:lnSpc>
                  <a:spcPct val="110000"/>
                </a:lnSpc>
              </a:pPr>
              <a:r>
                <a:rPr sz="1600" b="0" i="0">
                  <a:solidFill>
                    <a:srgbClr val="1C2B26"/>
                  </a:solidFill>
                  <a:latin typeface="Arial"/>
                </a:rPr>
                <a:t>late deliveries flagged before the truck left</a:t>
              </a:r>
            </a:p>
          </p:txBody>
        </p:sp>
        <p:sp>
          <p:nvSpPr>
            <p:cNvPr id="11" name="s7 TextBox 10"/>
            <p:cNvSpPr txBox="1"/>
            <p:nvPr/>
          </p:nvSpPr>
          <p:spPr>
            <a:xfrm>
              <a:off x="7635240" y="3419856"/>
              <a:ext cx="4023360" cy="914400"/>
            </a:xfrm>
            <a:prstGeom prst="rect">
              <a:avLst/>
            </a:prstGeom>
            <a:noFill/>
          </p:spPr>
          <p:txBody>
            <a:bodyPr wrap="square" lIns="0" rIns="0" tIns="0" bIns="0" anchor="t">
              <a:spAutoFit/>
            </a:bodyPr>
            <a:lstStyle/>
            <a:p>
              <a:pPr algn="l">
                <a:lnSpc>
                  <a:spcPct val="108000"/>
                </a:lnSpc>
              </a:pPr>
              <a:r>
                <a:rPr sz="6000" b="1" i="0" spc="-200">
                  <a:solidFill>
                    <a:srgbClr val="0A6B63"/>
                  </a:solidFill>
                  <a:latin typeface="Arial"/>
                </a:rPr>
                <a:t>−74%</a:t>
              </a:r>
            </a:p>
          </p:txBody>
        </p:sp>
        <p:sp>
          <p:nvSpPr>
            <p:cNvPr id="12" name="s7 TextBox 11"/>
            <p:cNvSpPr txBox="1"/>
            <p:nvPr/>
          </p:nvSpPr>
          <p:spPr>
            <a:xfrm>
              <a:off x="7635240" y="4425696"/>
              <a:ext cx="4023360" cy="640080"/>
            </a:xfrm>
            <a:prstGeom prst="rect">
              <a:avLst/>
            </a:prstGeom>
            <a:noFill/>
          </p:spPr>
          <p:txBody>
            <a:bodyPr wrap="square" lIns="0" rIns="0" tIns="0" bIns="0" anchor="t">
              <a:spAutoFit/>
            </a:bodyPr>
            <a:lstStyle/>
            <a:p>
              <a:pPr algn="l">
                <a:lnSpc>
                  <a:spcPct val="110000"/>
                </a:lnSpc>
              </a:pPr>
              <a:r>
                <a:rPr sz="1600" b="0" i="0">
                  <a:solidFill>
                    <a:srgbClr val="1C2B26"/>
                  </a:solidFill>
                  <a:latin typeface="Arial"/>
                </a:rPr>
                <a:t>false alarms compared with a simple statistical method</a:t>
              </a:r>
            </a:p>
          </p:txBody>
        </p:sp>
      </p:grpSp>
      <p:sp>
        <p:nvSpPr>
          <p:cNvPr id="14" name="s7 TextBox 13"/>
          <p:cNvSpPr txBox="1"/>
          <p:nvPr/>
        </p:nvSpPr>
        <p:spPr>
          <a:xfrm>
            <a:off x="7635240" y="5532120"/>
            <a:ext cx="4023360" cy="548640"/>
          </a:xfrm>
          <a:prstGeom prst="rect">
            <a:avLst/>
          </a:prstGeom>
          <a:noFill/>
        </p:spPr>
        <p:txBody>
          <a:bodyPr wrap="square" lIns="0" rIns="0" tIns="0" bIns="0" anchor="t">
            <a:spAutoFit/>
          </a:bodyPr>
          <a:lstStyle/>
          <a:p>
            <a:pPr algn="l">
              <a:lnSpc>
                <a:spcPct val="110000"/>
              </a:lnSpc>
            </a:pPr>
            <a:r>
              <a:rPr sz="1100" b="0" i="0">
                <a:solidFill>
                  <a:srgbClr val="66736B"/>
                </a:solidFill>
                <a:latin typeface="Arial"/>
              </a:rPr>
              <a:t>Six unseen weeks, Jan–Feb 2026: 488 of 678 late flagged</a:t>
            </a:r>
          </a:p>
          <a:p>
            <a:pPr algn="l">
              <a:lnSpc>
                <a:spcPct val="110000"/>
              </a:lnSpc>
            </a:pPr>
            <a:r>
              <a:rPr sz="1100" b="0" i="0">
                <a:solidFill>
                  <a:srgbClr val="66736B"/>
                </a:solidFill>
                <a:latin typeface="Arial"/>
              </a:rPr>
              <a:t>95 vs 368 false alarms · AUC 0.976</a:t>
            </a:r>
          </a:p>
        </p:txBody>
      </p:sp>
      <p:sp>
        <p:nvSpPr>
          <p:cNvPr id="15" name="s7 TextBox 14"/>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16" name="s7 TextBox 15"/>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7</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grpId="0">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anim calcmode="lin" valueType="num">
                                      <p:cBhvr>
                                        <p:cTn id="13" dur="500" decel="100000" fill="hold"/>
                                        <p:tgtEl>
                                          <p:spTgt spid="13"/>
                                        </p:tgtEl>
                                        <p:attrNameLst>
                                          <p:attrName>ppt_x</p:attrName>
                                        </p:attrNameLst>
                                      </p:cBhvr>
                                      <p:tavLst>
                                        <p:tav tm="0">
                                          <p:val>
                                            <p:strVal val="#ppt_x"/>
                                          </p:val>
                                        </p:tav>
                                        <p:tav tm="100000">
                                          <p:val>
                                            <p:strVal val="#ppt_x"/>
                                          </p:val>
                                        </p:tav>
                                      </p:tavLst>
                                    </p:anim>
                                    <p:anim calcmode="lin" valueType="num">
                                      <p:cBhvr>
                                        <p:cTn id="14" dur="500" decel="100000" fill="hold"/>
                                        <p:tgtEl>
                                          <p:spTgt spid="13"/>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0" presetClass="entr" presetSubtype="0" fill="hold" nodeType="afterEffect" grpId="0">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50"/>
                                        <p:tgtEl>
                                          <p:spTgt spid="8"/>
                                        </p:tgtEl>
                                      </p:cBhvr>
                                    </p:animEffect>
                                    <p:anim calcmode="lin" valueType="num">
                                      <p:cBhvr>
                                        <p:cTn id="24" dur="550" decel="100000" fill="hold"/>
                                        <p:tgtEl>
                                          <p:spTgt spid="8"/>
                                        </p:tgtEl>
                                        <p:attrNameLst>
                                          <p:attrName>ppt_x</p:attrName>
                                        </p:attrNameLst>
                                      </p:cBhvr>
                                      <p:tavLst>
                                        <p:tav tm="0">
                                          <p:val>
                                            <p:strVal val="#ppt_x"/>
                                          </p:val>
                                        </p:tav>
                                        <p:tav tm="100000">
                                          <p:val>
                                            <p:strVal val="#ppt_x"/>
                                          </p:val>
                                        </p:tav>
                                      </p:tavLst>
                                    </p:anim>
                                    <p:anim calcmode="lin" valueType="num">
                                      <p:cBhvr>
                                        <p:cTn id="25" dur="550" decel="100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8 Rounded Rectangle 1"/>
          <p:cNvSpPr/>
          <p:nvPr/>
        </p:nvSpPr>
        <p:spPr>
          <a:xfrm>
            <a:off x="548640" y="457200"/>
            <a:ext cx="1641180"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Datathon · Task 2A</a:t>
            </a:r>
          </a:p>
        </p:txBody>
      </p:sp>
      <p:sp>
        <p:nvSpPr>
          <p:cNvPr id="3" name="s8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Demand seen ten weeks ahead</a:t>
            </a:r>
          </a:p>
        </p:txBody>
      </p:sp>
      <p:sp>
        <p:nvSpPr>
          <p:cNvPr id="4" name="s8 Rounded Rectangle 3"/>
          <p:cNvSpPr/>
          <p:nvPr/>
        </p:nvSpPr>
        <p:spPr>
          <a:xfrm>
            <a:off x="6985764" y="1858060"/>
            <a:ext cx="955799" cy="3578047"/>
          </a:xfrm>
          <a:prstGeom prst="roundRect">
            <a:avLst>
              <a:gd name="adj" fmla="val 7653"/>
            </a:avLst>
          </a:prstGeom>
          <a:solidFill>
            <a:srgbClr val="EFE8FB"/>
          </a:solidFill>
          <a:ln>
            <a:noFill/>
          </a:ln>
          <a:effectLst/>
        </p:spPr>
        <p:txBody>
          <a:bodyPr rtlCol="0" anchor="ctr"/>
          <a:lstStyle/>
          <a:p/>
        </p:txBody>
      </p:sp>
      <p:sp>
        <p:nvSpPr>
          <p:cNvPr id="5" name="s8 TextBox 4"/>
          <p:cNvSpPr txBox="1"/>
          <p:nvPr/>
        </p:nvSpPr>
        <p:spPr>
          <a:xfrm>
            <a:off x="6985764" y="1931212"/>
            <a:ext cx="955799" cy="274320"/>
          </a:xfrm>
          <a:prstGeom prst="rect">
            <a:avLst/>
          </a:prstGeom>
          <a:noFill/>
        </p:spPr>
        <p:txBody>
          <a:bodyPr wrap="square" lIns="0" rIns="0" tIns="0" bIns="0" anchor="t">
            <a:spAutoFit/>
          </a:bodyPr>
          <a:lstStyle/>
          <a:p>
            <a:pPr algn="ctr">
              <a:lnSpc>
                <a:spcPct val="108000"/>
              </a:lnSpc>
            </a:pPr>
            <a:r>
              <a:rPr sz="1000" b="1" i="0" spc="100">
                <a:solidFill>
                  <a:srgbClr val="5B2EB5"/>
                </a:solidFill>
                <a:latin typeface="Arial"/>
              </a:rPr>
              <a:t>FORECAST</a:t>
            </a:r>
          </a:p>
        </p:txBody>
      </p:sp>
      <p:graphicFrame>
        <p:nvGraphicFramePr>
          <p:cNvPr id="6" name="s8 Chart 5"/>
          <p:cNvGraphicFramePr>
            <a:graphicFrameLocks noGrp="1"/>
          </p:cNvGraphicFramePr>
          <p:nvPr/>
        </p:nvGraphicFramePr>
        <p:xfrm>
          <a:off x="548640" y="1691640"/>
          <a:ext cx="7543800" cy="4160520"/>
        </p:xfrm>
        <a:graphic>
          <a:graphicData uri="http://schemas.openxmlformats.org/drawingml/2006/chart">
            <c:chart xmlns:c="http://schemas.openxmlformats.org/drawingml/2006/chart" r:id="rId3"/>
          </a:graphicData>
        </a:graphic>
      </p:graphicFrame>
      <p:sp>
        <p:nvSpPr>
          <p:cNvPr id="7" name="s8 TextBox 6"/>
          <p:cNvSpPr txBox="1"/>
          <p:nvPr/>
        </p:nvSpPr>
        <p:spPr>
          <a:xfrm>
            <a:off x="4242564" y="2183834"/>
            <a:ext cx="2670048" cy="457200"/>
          </a:xfrm>
          <a:prstGeom prst="rect">
            <a:avLst/>
          </a:prstGeom>
          <a:noFill/>
        </p:spPr>
        <p:txBody>
          <a:bodyPr wrap="square" lIns="0" rIns="0" tIns="0" bIns="0" anchor="t">
            <a:spAutoFit/>
          </a:bodyPr>
          <a:lstStyle/>
          <a:p>
            <a:pPr algn="r">
              <a:lnSpc>
                <a:spcPct val="108000"/>
              </a:lnSpc>
            </a:pPr>
            <a:r>
              <a:rPr sz="1300" b="1" i="0">
                <a:solidFill>
                  <a:srgbClr val="5B2EB5"/>
                </a:solidFill>
                <a:latin typeface="Arial"/>
              </a:rPr>
              <a:t>New Year rush </a:t>
            </a:r>
            <a:r>
              <a:rPr sz="1300" b="1" i="0">
                <a:solidFill>
                  <a:srgbClr val="031B08"/>
                </a:solidFill>
                <a:latin typeface="Arial"/>
              </a:rPr>
              <a:t>+38%</a:t>
            </a:r>
          </a:p>
        </p:txBody>
      </p:sp>
      <p:sp>
        <p:nvSpPr>
          <p:cNvPr id="8" name="s8 TextBox 7"/>
          <p:cNvSpPr txBox="1"/>
          <p:nvPr/>
        </p:nvSpPr>
        <p:spPr>
          <a:xfrm>
            <a:off x="4242564" y="4851113"/>
            <a:ext cx="2670048" cy="457200"/>
          </a:xfrm>
          <a:prstGeom prst="rect">
            <a:avLst/>
          </a:prstGeom>
          <a:noFill/>
        </p:spPr>
        <p:txBody>
          <a:bodyPr wrap="square" lIns="0" rIns="0" tIns="0" bIns="0" anchor="t">
            <a:spAutoFit/>
          </a:bodyPr>
          <a:lstStyle/>
          <a:p>
            <a:pPr algn="r">
              <a:lnSpc>
                <a:spcPct val="108000"/>
              </a:lnSpc>
            </a:pPr>
            <a:r>
              <a:rPr sz="1300" b="1" i="0">
                <a:solidFill>
                  <a:srgbClr val="5B2EB5"/>
                </a:solidFill>
                <a:latin typeface="Arial"/>
              </a:rPr>
              <a:t>Holiday week </a:t>
            </a:r>
            <a:r>
              <a:rPr sz="1300" b="1" i="0">
                <a:solidFill>
                  <a:srgbClr val="031B08"/>
                </a:solidFill>
                <a:latin typeface="Arial"/>
              </a:rPr>
              <a:t>−34%</a:t>
            </a:r>
          </a:p>
        </p:txBody>
      </p:sp>
      <p:sp>
        <p:nvSpPr>
          <p:cNvPr id="9" name="s8 Oval 8"/>
          <p:cNvSpPr/>
          <p:nvPr/>
        </p:nvSpPr>
        <p:spPr>
          <a:xfrm>
            <a:off x="7103813" y="2229554"/>
            <a:ext cx="128016" cy="128016"/>
          </a:xfrm>
          <a:prstGeom prst="ellipse">
            <a:avLst/>
          </a:prstGeom>
          <a:solidFill>
            <a:srgbClr val="8A4FD8"/>
          </a:solidFill>
          <a:ln>
            <a:noFill/>
          </a:ln>
          <a:effectLst/>
        </p:spPr>
        <p:txBody>
          <a:bodyPr rtlCol="0" anchor="ctr"/>
          <a:lstStyle/>
          <a:p>
            <a:pPr algn="ctr"/>
          </a:p>
        </p:txBody>
      </p:sp>
      <p:sp>
        <p:nvSpPr>
          <p:cNvPr id="10" name="s8 Oval 9"/>
          <p:cNvSpPr/>
          <p:nvPr/>
        </p:nvSpPr>
        <p:spPr>
          <a:xfrm>
            <a:off x="7194842" y="4915121"/>
            <a:ext cx="128016" cy="128016"/>
          </a:xfrm>
          <a:prstGeom prst="ellipse">
            <a:avLst/>
          </a:prstGeom>
          <a:solidFill>
            <a:srgbClr val="8A4FD8"/>
          </a:solidFill>
          <a:ln>
            <a:noFill/>
          </a:ln>
          <a:effectLst/>
        </p:spPr>
        <p:txBody>
          <a:bodyPr rtlCol="0" anchor="ctr"/>
          <a:lstStyle/>
          <a:p>
            <a:pPr algn="ctr"/>
          </a:p>
        </p:txBody>
      </p:sp>
      <p:sp>
        <p:nvSpPr>
          <p:cNvPr id="11" name="s8 TextBox 10"/>
          <p:cNvSpPr txBox="1"/>
          <p:nvPr/>
        </p:nvSpPr>
        <p:spPr>
          <a:xfrm>
            <a:off x="1224153" y="1876348"/>
            <a:ext cx="3474720" cy="274320"/>
          </a:xfrm>
          <a:prstGeom prst="rect">
            <a:avLst/>
          </a:prstGeom>
          <a:noFill/>
        </p:spPr>
        <p:txBody>
          <a:bodyPr wrap="square" lIns="0" rIns="0" tIns="0" bIns="0" anchor="t">
            <a:spAutoFit/>
          </a:bodyPr>
          <a:lstStyle/>
          <a:p>
            <a:pPr algn="l">
              <a:lnSpc>
                <a:spcPct val="108000"/>
              </a:lnSpc>
            </a:pPr>
            <a:r>
              <a:rPr sz="1150" b="0" i="0">
                <a:solidFill>
                  <a:srgbClr val="4C5851"/>
                </a:solidFill>
                <a:latin typeface="Arial"/>
              </a:rPr>
              <a:t>Weekly volume, both depots, m³</a:t>
            </a:r>
          </a:p>
        </p:txBody>
      </p:sp>
      <p:sp>
        <p:nvSpPr>
          <p:cNvPr id="12" name="s8 TextBox 11"/>
          <p:cNvSpPr txBox="1"/>
          <p:nvPr/>
        </p:nvSpPr>
        <p:spPr>
          <a:xfrm>
            <a:off x="8503920" y="1572768"/>
            <a:ext cx="3200400" cy="1188720"/>
          </a:xfrm>
          <a:prstGeom prst="rect">
            <a:avLst/>
          </a:prstGeom>
          <a:noFill/>
        </p:spPr>
        <p:txBody>
          <a:bodyPr wrap="square" lIns="0" rIns="0" tIns="0" bIns="0" anchor="t">
            <a:spAutoFit/>
          </a:bodyPr>
          <a:lstStyle/>
          <a:p>
            <a:pPr algn="l">
              <a:lnSpc>
                <a:spcPct val="108000"/>
              </a:lnSpc>
            </a:pPr>
            <a:r>
              <a:rPr sz="8000" b="1" i="0" spc="-200">
                <a:solidFill>
                  <a:srgbClr val="0A6B63"/>
                </a:solidFill>
                <a:latin typeface="Arial"/>
              </a:rPr>
              <a:t>3%</a:t>
            </a:r>
          </a:p>
        </p:txBody>
      </p:sp>
      <p:sp>
        <p:nvSpPr>
          <p:cNvPr id="13" name="s8 TextBox 12"/>
          <p:cNvSpPr txBox="1"/>
          <p:nvPr/>
        </p:nvSpPr>
        <p:spPr>
          <a:xfrm>
            <a:off x="8503920" y="2816352"/>
            <a:ext cx="3136392" cy="731520"/>
          </a:xfrm>
          <a:prstGeom prst="rect">
            <a:avLst/>
          </a:prstGeom>
          <a:noFill/>
        </p:spPr>
        <p:txBody>
          <a:bodyPr wrap="square" lIns="0" rIns="0" tIns="0" bIns="0" anchor="t">
            <a:spAutoFit/>
          </a:bodyPr>
          <a:lstStyle/>
          <a:p>
            <a:pPr algn="l">
              <a:lnSpc>
                <a:spcPct val="110000"/>
              </a:lnSpc>
            </a:pPr>
            <a:r>
              <a:rPr sz="1500" b="0" i="0">
                <a:solidFill>
                  <a:srgbClr val="1C2B26"/>
                </a:solidFill>
                <a:latin typeface="Arial"/>
              </a:rPr>
              <a:t>forecast error, against 8% for</a:t>
            </a:r>
          </a:p>
          <a:p>
            <a:pPr algn="l">
              <a:lnSpc>
                <a:spcPct val="110000"/>
              </a:lnSpc>
            </a:pPr>
            <a:r>
              <a:rPr sz="1500" b="0" i="0">
                <a:solidFill>
                  <a:srgbClr val="1C2B26"/>
                </a:solidFill>
                <a:latin typeface="Arial"/>
              </a:rPr>
              <a:t>‘same week last year’</a:t>
            </a:r>
          </a:p>
        </p:txBody>
      </p:sp>
      <p:sp>
        <p:nvSpPr>
          <p:cNvPr id="14" name="s8 TextBox 13"/>
          <p:cNvSpPr txBox="1"/>
          <p:nvPr/>
        </p:nvSpPr>
        <p:spPr>
          <a:xfrm>
            <a:off x="8503920" y="3840480"/>
            <a:ext cx="3136392" cy="914400"/>
          </a:xfrm>
          <a:prstGeom prst="rect">
            <a:avLst/>
          </a:prstGeom>
          <a:noFill/>
        </p:spPr>
        <p:txBody>
          <a:bodyPr wrap="square" lIns="0" rIns="0" tIns="0" bIns="0" anchor="t">
            <a:spAutoFit/>
          </a:bodyPr>
          <a:lstStyle/>
          <a:p>
            <a:pPr algn="l">
              <a:lnSpc>
                <a:spcPct val="110000"/>
              </a:lnSpc>
            </a:pPr>
            <a:r>
              <a:rPr sz="1300" b="1" i="0">
                <a:solidFill>
                  <a:srgbClr val="031B08"/>
                </a:solidFill>
                <a:latin typeface="Arial"/>
              </a:rPr>
              <a:t>In the app, </a:t>
            </a:r>
            <a:r>
              <a:rPr sz="1300" b="0" i="0">
                <a:solidFill>
                  <a:srgbClr val="4C5851"/>
                </a:solidFill>
                <a:latin typeface="Arial"/>
              </a:rPr>
              <a:t>every forecast week becomes the trucks, refrigerated trucks and drivers to book.</a:t>
            </a:r>
          </a:p>
        </p:txBody>
      </p:sp>
      <p:sp>
        <p:nvSpPr>
          <p:cNvPr id="15" name="s8 TextBox 14"/>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16" name="s8 TextBox 15"/>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8</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grpId="0">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withEffect" grpId="0">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withEffect" grpId="0">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childTnLst>
                          </p:cTn>
                        </p:par>
                        <p:par>
                          <p:cTn id="14" fill="hold">
                            <p:stCondLst>
                              <p:cond delay="300"/>
                            </p:stCondLst>
                            <p:childTnLst>
                              <p:par>
                                <p:cTn id="15" presetID="22" presetClass="entr" presetSubtype="2"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1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grpId="0">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 calcmode="lin" valueType="num">
                                      <p:cBhvr>
                                        <p:cTn id="23" dur="450" decel="100000" fill="hold"/>
                                        <p:tgtEl>
                                          <p:spTgt spid="12"/>
                                        </p:tgtEl>
                                        <p:attrNameLst>
                                          <p:attrName>ppt_x</p:attrName>
                                        </p:attrNameLst>
                                      </p:cBhvr>
                                      <p:tavLst>
                                        <p:tav tm="0">
                                          <p:val>
                                            <p:strVal val="#ppt_x"/>
                                          </p:val>
                                        </p:tav>
                                        <p:tav tm="100000">
                                          <p:val>
                                            <p:strVal val="#ppt_x"/>
                                          </p:val>
                                        </p:tav>
                                      </p:tavLst>
                                    </p:anim>
                                    <p:anim calcmode="lin" valueType="num">
                                      <p:cBhvr>
                                        <p:cTn id="24" dur="450" decel="1000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450"/>
                            </p:stCondLst>
                            <p:childTnLst>
                              <p:par>
                                <p:cTn id="26" presetID="10" presetClass="entr" presetSubtype="0" fill="hold" nodeType="afterEffect" grpId="0">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grpId="0">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300"/>
                                        <p:tgtEl>
                                          <p:spTgt spid="9"/>
                                        </p:tgtEl>
                                      </p:cBhvr>
                                    </p:animEffect>
                                  </p:childTnLst>
                                </p:cTn>
                              </p:par>
                            </p:childTnLst>
                          </p:cTn>
                        </p:par>
                        <p:par>
                          <p:cTn id="34" fill="hold">
                            <p:stCondLst>
                              <p:cond delay="300"/>
                            </p:stCondLst>
                            <p:childTnLst>
                              <p:par>
                                <p:cTn id="35" presetID="10" presetClass="entr" presetSubtype="0" fill="hold" nodeType="afterEffect" grpId="0">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300"/>
                                        <p:tgtEl>
                                          <p:spTgt spid="7"/>
                                        </p:tgtEl>
                                      </p:cBhvr>
                                    </p:animEffect>
                                  </p:childTnLst>
                                </p:cTn>
                              </p:par>
                            </p:childTnLst>
                          </p:cTn>
                        </p:par>
                        <p:par>
                          <p:cTn id="38" fill="hold">
                            <p:stCondLst>
                              <p:cond delay="600"/>
                            </p:stCondLst>
                            <p:childTnLst>
                              <p:par>
                                <p:cTn id="39" presetID="10" presetClass="entr" presetSubtype="0" fill="hold" nodeType="afterEffect" grpId="0">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300"/>
                                        <p:tgtEl>
                                          <p:spTgt spid="10"/>
                                        </p:tgtEl>
                                      </p:cBhvr>
                                    </p:animEffect>
                                  </p:childTnLst>
                                </p:cTn>
                              </p:par>
                            </p:childTnLst>
                          </p:cTn>
                        </p:par>
                        <p:par>
                          <p:cTn id="42" fill="hold">
                            <p:stCondLst>
                              <p:cond delay="900"/>
                            </p:stCondLst>
                            <p:childTnLst>
                              <p:par>
                                <p:cTn id="43" presetID="10" presetClass="entr" presetSubtype="0" fill="hold" nodeType="afterEffect" grpId="0">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300"/>
                                        <p:tgtEl>
                                          <p:spTgt spid="8"/>
                                        </p:tgtEl>
                                      </p:cBhvr>
                                    </p:animEffect>
                                  </p:childTnLst>
                                </p:cTn>
                              </p:par>
                            </p:childTnLst>
                          </p:cTn>
                        </p:par>
                        <p:par>
                          <p:cTn id="46" fill="hold">
                            <p:stCondLst>
                              <p:cond delay="1200"/>
                            </p:stCondLst>
                            <p:childTnLst>
                              <p:par>
                                <p:cTn id="47" presetID="10" presetClass="entr" presetSubtype="0" fill="hold" nodeType="afterEffect" grpId="0">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Graphic spid="6" grpId="0">
        <p:bldAsOne/>
      </p:bldGraphic>
      <p:bldP spid="12" grpId="0" animBg="1"/>
      <p:bldP spid="13" grpId="0" animBg="1"/>
      <p:bldP spid="9" grpId="0" animBg="1"/>
      <p:bldP spid="7" grpId="0" animBg="1"/>
      <p:bldP spid="10" grpId="0" animBg="1"/>
      <p:bldP spid="8"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9 Rounded Rectangle 1"/>
          <p:cNvSpPr/>
          <p:nvPr/>
        </p:nvSpPr>
        <p:spPr>
          <a:xfrm>
            <a:off x="548640" y="457200"/>
            <a:ext cx="3345356"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Datathon · Task 2B · now in the live planner</a:t>
            </a:r>
          </a:p>
        </p:txBody>
      </p:sp>
      <p:sp>
        <p:nvSpPr>
          <p:cNvPr id="3" name="s9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Too few trucks? GO finds the best plan and says why</a:t>
            </a:r>
          </a:p>
        </p:txBody>
      </p:sp>
      <p:grpSp>
        <p:nvGrpSpPr>
          <p:cNvPr id="7" name="s9 Group 6"/>
          <p:cNvGrpSpPr/>
          <p:nvPr/>
        </p:nvGrpSpPr>
        <p:grpSpPr>
          <a:xfrm>
            <a:off x="548640" y="1645920"/>
            <a:ext cx="5852160" cy="1444752"/>
            <a:chOff x="548640" y="1645920"/>
            <a:chExt cx="5852160" cy="1444752"/>
          </a:xfrm>
        </p:grpSpPr>
        <p:sp>
          <p:nvSpPr>
            <p:cNvPr id="4" name="s9 TextBox 3"/>
            <p:cNvSpPr txBox="1"/>
            <p:nvPr/>
          </p:nvSpPr>
          <p:spPr>
            <a:xfrm>
              <a:off x="548640" y="1645920"/>
              <a:ext cx="1280160" cy="1188720"/>
            </a:xfrm>
            <a:prstGeom prst="rect">
              <a:avLst/>
            </a:prstGeom>
            <a:noFill/>
          </p:spPr>
          <p:txBody>
            <a:bodyPr wrap="square" lIns="0" rIns="0" tIns="0" bIns="0" anchor="t">
              <a:spAutoFit/>
            </a:bodyPr>
            <a:lstStyle/>
            <a:p>
              <a:pPr algn="l">
                <a:lnSpc>
                  <a:spcPct val="108000"/>
                </a:lnSpc>
              </a:pPr>
              <a:r>
                <a:rPr sz="8000" b="1" i="0" spc="-300">
                  <a:solidFill>
                    <a:srgbClr val="0A6B63"/>
                  </a:solidFill>
                  <a:latin typeface="Arial"/>
                </a:rPr>
                <a:t>77</a:t>
              </a:r>
            </a:p>
          </p:txBody>
        </p:sp>
        <p:sp>
          <p:nvSpPr>
            <p:cNvPr id="5" name="s9 TextBox 4"/>
            <p:cNvSpPr txBox="1"/>
            <p:nvPr/>
          </p:nvSpPr>
          <p:spPr>
            <a:xfrm>
              <a:off x="1828800" y="1911095"/>
              <a:ext cx="4297680" cy="457200"/>
            </a:xfrm>
            <a:prstGeom prst="rect">
              <a:avLst/>
            </a:prstGeom>
            <a:noFill/>
          </p:spPr>
          <p:txBody>
            <a:bodyPr wrap="square" lIns="0" rIns="0" tIns="0" bIns="0" anchor="t">
              <a:spAutoFit/>
            </a:bodyPr>
            <a:lstStyle/>
            <a:p>
              <a:pPr algn="l">
                <a:lnSpc>
                  <a:spcPct val="108000"/>
                </a:lnSpc>
              </a:pPr>
              <a:r>
                <a:rPr sz="2000" b="1" i="0">
                  <a:solidFill>
                    <a:srgbClr val="031B08"/>
                  </a:solidFill>
                  <a:latin typeface="Arial"/>
                </a:rPr>
                <a:t>of 85 orders served</a:t>
              </a:r>
            </a:p>
          </p:txBody>
        </p:sp>
        <p:sp>
          <p:nvSpPr>
            <p:cNvPr id="6" name="s9 TextBox 5"/>
            <p:cNvSpPr txBox="1"/>
            <p:nvPr/>
          </p:nvSpPr>
          <p:spPr>
            <a:xfrm>
              <a:off x="1828800" y="2359152"/>
              <a:ext cx="4572000" cy="731520"/>
            </a:xfrm>
            <a:prstGeom prst="rect">
              <a:avLst/>
            </a:prstGeom>
            <a:noFill/>
          </p:spPr>
          <p:txBody>
            <a:bodyPr wrap="square" lIns="0" rIns="0" tIns="0" bIns="0" anchor="t">
              <a:spAutoFit/>
            </a:bodyPr>
            <a:lstStyle/>
            <a:p>
              <a:pPr algn="l">
                <a:lnSpc>
                  <a:spcPct val="110000"/>
                </a:lnSpc>
              </a:pPr>
              <a:r>
                <a:rPr sz="1300" b="0" i="0">
                  <a:solidFill>
                    <a:srgbClr val="4C5851"/>
                  </a:solidFill>
                  <a:latin typeface="Arial"/>
                </a:rPr>
                <a:t>On the peak day, 79 is the proven maximum.</a:t>
              </a:r>
            </a:p>
            <a:p>
              <a:pPr algn="l">
                <a:lnSpc>
                  <a:spcPct val="110000"/>
                </a:lnSpc>
              </a:pPr>
              <a:r>
                <a:rPr sz="1300" b="0" i="0">
                  <a:solidFill>
                    <a:srgbClr val="4C5851"/>
                  </a:solidFill>
                  <a:latin typeface="Arial"/>
                </a:rPr>
                <a:t>Two wait by choice, so no store is skipped two days running.</a:t>
              </a:r>
            </a:p>
          </p:txBody>
        </p:sp>
      </p:grpSp>
      <p:grpSp>
        <p:nvGrpSpPr>
          <p:cNvPr id="17" name="s9 Group 16"/>
          <p:cNvGrpSpPr/>
          <p:nvPr/>
        </p:nvGrpSpPr>
        <p:grpSpPr>
          <a:xfrm>
            <a:off x="548640" y="3657600"/>
            <a:ext cx="5757976" cy="2240280"/>
            <a:chOff x="548640" y="3657600"/>
            <a:chExt cx="5757976" cy="2240280"/>
          </a:xfrm>
        </p:grpSpPr>
        <p:sp>
          <p:nvSpPr>
            <p:cNvPr id="8" name="s9 TextBox 7"/>
            <p:cNvSpPr txBox="1"/>
            <p:nvPr/>
          </p:nvSpPr>
          <p:spPr>
            <a:xfrm>
              <a:off x="548640" y="3657600"/>
              <a:ext cx="566928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The real limit: refrigerated space</a:t>
              </a:r>
            </a:p>
          </p:txBody>
        </p:sp>
        <p:sp>
          <p:nvSpPr>
            <p:cNvPr id="9" name="s9 TextBox 8"/>
            <p:cNvSpPr txBox="1"/>
            <p:nvPr/>
          </p:nvSpPr>
          <p:spPr>
            <a:xfrm>
              <a:off x="548640" y="4160520"/>
              <a:ext cx="2103120" cy="365760"/>
            </a:xfrm>
            <a:prstGeom prst="rect">
              <a:avLst/>
            </a:prstGeom>
            <a:noFill/>
          </p:spPr>
          <p:txBody>
            <a:bodyPr wrap="square" lIns="0" rIns="0" tIns="0" bIns="0" anchor="ctr">
              <a:spAutoFit/>
            </a:bodyPr>
            <a:lstStyle/>
            <a:p>
              <a:pPr algn="l">
                <a:lnSpc>
                  <a:spcPct val="108000"/>
                </a:lnSpc>
              </a:pPr>
              <a:r>
                <a:rPr sz="1400" b="0" i="0">
                  <a:solidFill>
                    <a:srgbClr val="1C2B26"/>
                  </a:solidFill>
                  <a:latin typeface="Arial"/>
                </a:rPr>
                <a:t>Chilled demand</a:t>
              </a:r>
            </a:p>
          </p:txBody>
        </p:sp>
        <p:sp>
          <p:nvSpPr>
            <p:cNvPr id="10" name="s9 Rounded Rectangle 9"/>
            <p:cNvSpPr/>
            <p:nvPr/>
          </p:nvSpPr>
          <p:spPr>
            <a:xfrm>
              <a:off x="2743200" y="4206240"/>
              <a:ext cx="2283256" cy="292608"/>
            </a:xfrm>
            <a:prstGeom prst="roundRect">
              <a:avLst>
                <a:gd name="adj" fmla="val 18750"/>
              </a:avLst>
            </a:prstGeom>
            <a:solidFill>
              <a:srgbClr val="2F80B7"/>
            </a:solidFill>
            <a:ln>
              <a:noFill/>
            </a:ln>
            <a:effectLst/>
          </p:spPr>
          <p:txBody>
            <a:bodyPr rtlCol="0" anchor="ctr"/>
            <a:lstStyle/>
            <a:p/>
          </p:txBody>
        </p:sp>
        <p:sp>
          <p:nvSpPr>
            <p:cNvPr id="11" name="s9 TextBox 10"/>
            <p:cNvSpPr txBox="1"/>
            <p:nvPr/>
          </p:nvSpPr>
          <p:spPr>
            <a:xfrm>
              <a:off x="5117896" y="4160520"/>
              <a:ext cx="1188720" cy="365760"/>
            </a:xfrm>
            <a:prstGeom prst="rect">
              <a:avLst/>
            </a:prstGeom>
            <a:noFill/>
          </p:spPr>
          <p:txBody>
            <a:bodyPr wrap="square" lIns="0" rIns="0" tIns="0" bIns="0" anchor="ctr">
              <a:spAutoFit/>
            </a:bodyPr>
            <a:lstStyle/>
            <a:p>
              <a:pPr algn="l">
                <a:lnSpc>
                  <a:spcPct val="108000"/>
                </a:lnSpc>
              </a:pPr>
              <a:r>
                <a:rPr sz="1400" b="1" i="0">
                  <a:solidFill>
                    <a:srgbClr val="031B08"/>
                  </a:solidFill>
                  <a:latin typeface="Arial"/>
                </a:rPr>
                <a:t>181.6 m³</a:t>
              </a:r>
            </a:p>
          </p:txBody>
        </p:sp>
        <p:sp>
          <p:nvSpPr>
            <p:cNvPr id="12" name="s9 TextBox 11"/>
            <p:cNvSpPr txBox="1"/>
            <p:nvPr/>
          </p:nvSpPr>
          <p:spPr>
            <a:xfrm>
              <a:off x="548640" y="4663440"/>
              <a:ext cx="2103120" cy="365760"/>
            </a:xfrm>
            <a:prstGeom prst="rect">
              <a:avLst/>
            </a:prstGeom>
            <a:noFill/>
          </p:spPr>
          <p:txBody>
            <a:bodyPr wrap="square" lIns="0" rIns="0" tIns="0" bIns="0" anchor="ctr">
              <a:spAutoFit/>
            </a:bodyPr>
            <a:lstStyle/>
            <a:p>
              <a:pPr algn="l">
                <a:lnSpc>
                  <a:spcPct val="108000"/>
                </a:lnSpc>
              </a:pPr>
              <a:r>
                <a:rPr sz="1400" b="0" i="0">
                  <a:solidFill>
                    <a:srgbClr val="1C2B26"/>
                  </a:solidFill>
                  <a:latin typeface="Arial"/>
                </a:rPr>
                <a:t>Refrigerated capacity</a:t>
              </a:r>
            </a:p>
          </p:txBody>
        </p:sp>
        <p:sp>
          <p:nvSpPr>
            <p:cNvPr id="13" name="s9 Rounded Rectangle 12"/>
            <p:cNvSpPr/>
            <p:nvPr/>
          </p:nvSpPr>
          <p:spPr>
            <a:xfrm>
              <a:off x="2743200" y="4709159"/>
              <a:ext cx="2167585" cy="292608"/>
            </a:xfrm>
            <a:prstGeom prst="roundRect">
              <a:avLst>
                <a:gd name="adj" fmla="val 18750"/>
              </a:avLst>
            </a:prstGeom>
            <a:solidFill>
              <a:srgbClr val="B8C6C1"/>
            </a:solidFill>
            <a:ln>
              <a:noFill/>
            </a:ln>
            <a:effectLst/>
          </p:spPr>
          <p:txBody>
            <a:bodyPr rtlCol="0" anchor="ctr"/>
            <a:lstStyle/>
            <a:p/>
          </p:txBody>
        </p:sp>
        <p:sp>
          <p:nvSpPr>
            <p:cNvPr id="14" name="s9 TextBox 13"/>
            <p:cNvSpPr txBox="1"/>
            <p:nvPr/>
          </p:nvSpPr>
          <p:spPr>
            <a:xfrm>
              <a:off x="5002225" y="4663440"/>
              <a:ext cx="1188720" cy="365760"/>
            </a:xfrm>
            <a:prstGeom prst="rect">
              <a:avLst/>
            </a:prstGeom>
            <a:noFill/>
          </p:spPr>
          <p:txBody>
            <a:bodyPr wrap="square" lIns="0" rIns="0" tIns="0" bIns="0" anchor="ctr">
              <a:spAutoFit/>
            </a:bodyPr>
            <a:lstStyle/>
            <a:p>
              <a:pPr algn="l">
                <a:lnSpc>
                  <a:spcPct val="108000"/>
                </a:lnSpc>
              </a:pPr>
              <a:r>
                <a:rPr sz="1400" b="1" i="0">
                  <a:solidFill>
                    <a:srgbClr val="031B08"/>
                  </a:solidFill>
                  <a:latin typeface="Arial"/>
                </a:rPr>
                <a:t>172.4 m³</a:t>
              </a:r>
            </a:p>
          </p:txBody>
        </p:sp>
        <p:cxnSp>
          <p:nvCxnSpPr>
            <p:cNvPr id="15" name="s9 Connector 14"/>
            <p:cNvCxnSpPr/>
            <p:nvPr/>
          </p:nvCxnSpPr>
          <p:spPr>
            <a:xfrm>
              <a:off x="4910785" y="4114800"/>
              <a:ext cx="0" cy="1024128"/>
            </a:xfrm>
            <a:prstGeom prst="line">
              <a:avLst/>
            </a:prstGeom>
            <a:ln w="15875">
              <a:solidFill>
                <a:srgbClr val="E11900"/>
              </a:solidFill>
              <a:prstDash val="dash"/>
            </a:ln>
            <a:effectLst/>
          </p:spPr>
        </p:cxnSp>
        <p:sp>
          <p:nvSpPr>
            <p:cNvPr id="16" name="s9 TextBox 15"/>
            <p:cNvSpPr txBox="1"/>
            <p:nvPr/>
          </p:nvSpPr>
          <p:spPr>
            <a:xfrm>
              <a:off x="548640" y="5349240"/>
              <a:ext cx="5669280" cy="548640"/>
            </a:xfrm>
            <a:prstGeom prst="rect">
              <a:avLst/>
            </a:prstGeom>
            <a:noFill/>
          </p:spPr>
          <p:txBody>
            <a:bodyPr wrap="square" lIns="0" rIns="0" tIns="0" bIns="0" anchor="t">
              <a:spAutoFit/>
            </a:bodyPr>
            <a:lstStyle/>
            <a:p>
              <a:pPr algn="l">
                <a:lnSpc>
                  <a:spcPct val="108000"/>
                </a:lnSpc>
              </a:pPr>
              <a:r>
                <a:rPr sz="1350" b="1" i="0">
                  <a:solidFill>
                    <a:srgbClr val="031B08"/>
                  </a:solidFill>
                  <a:latin typeface="Arial"/>
                </a:rPr>
                <a:t>1,911 of 1,956 </a:t>
              </a:r>
              <a:r>
                <a:rPr sz="1350" b="0" i="0">
                  <a:solidFill>
                    <a:srgbClr val="4C5851"/>
                  </a:solidFill>
                  <a:latin typeface="Arial"/>
                </a:rPr>
                <a:t>orders that slipped a day were Peliyagoda chilled</a:t>
              </a:r>
            </a:p>
          </p:txBody>
        </p:sp>
      </p:grpSp>
      <p:grpSp>
        <p:nvGrpSpPr>
          <p:cNvPr id="21" name="s9 Group 20"/>
          <p:cNvGrpSpPr/>
          <p:nvPr/>
        </p:nvGrpSpPr>
        <p:grpSpPr>
          <a:xfrm>
            <a:off x="6537960" y="1691640"/>
            <a:ext cx="5105095" cy="2342987"/>
            <a:chOff x="6537960" y="1691640"/>
            <a:chExt cx="5105095" cy="2342987"/>
          </a:xfrm>
        </p:grpSpPr>
        <p:sp>
          <p:nvSpPr>
            <p:cNvPr id="18" name="s9 Rounded Rectangle 17"/>
            <p:cNvSpPr/>
            <p:nvPr/>
          </p:nvSpPr>
          <p:spPr>
            <a:xfrm>
              <a:off x="6537960" y="1691640"/>
              <a:ext cx="5105095" cy="1885787"/>
            </a:xfrm>
            <a:prstGeom prst="roundRect">
              <a:avLst>
                <a:gd name="adj" fmla="val 7758"/>
              </a:avLst>
            </a:prstGeom>
            <a:solidFill>
              <a:srgbClr val="FFFFFF"/>
            </a:solidFill>
            <a:ln w="12700">
              <a:solidFill>
                <a:srgbClr val="D9E3DE"/>
              </a:solidFill>
            </a:ln>
            <a:effectLst/>
          </p:spPr>
          <p:txBody>
            <a:bodyPr rtlCol="0" anchor="ctr"/>
            <a:lstStyle/>
            <a:p/>
          </p:txBody>
        </p:sp>
        <p:pic>
          <p:nvPicPr>
            <p:cNvPr id="19" name="s9 Picture 18" descr="app_reason.png"/>
            <p:cNvPicPr>
              <a:picLocks noChangeAspect="1"/>
            </p:cNvPicPr>
            <p:nvPr/>
          </p:nvPicPr>
          <p:blipFill>
            <a:blip r:embed="rId3"/>
            <a:stretch>
              <a:fillRect/>
            </a:stretch>
          </p:blipFill>
          <p:spPr>
            <a:xfrm>
              <a:off x="6537960" y="1691640"/>
              <a:ext cx="5105095" cy="1885787"/>
            </a:xfrm>
            <a:prstGeom prst="roundRect">
              <a:avLst>
                <a:gd name="adj" fmla="val 7758"/>
              </a:avLst>
            </a:prstGeom>
          </p:spPr>
        </p:pic>
        <p:sp>
          <p:nvSpPr>
            <p:cNvPr id="20" name="s9 TextBox 19"/>
            <p:cNvSpPr txBox="1"/>
            <p:nvPr/>
          </p:nvSpPr>
          <p:spPr>
            <a:xfrm>
              <a:off x="6537960" y="3760307"/>
              <a:ext cx="5105095" cy="274320"/>
            </a:xfrm>
            <a:prstGeom prst="rect">
              <a:avLst/>
            </a:prstGeom>
            <a:noFill/>
          </p:spPr>
          <p:txBody>
            <a:bodyPr wrap="square" lIns="0" rIns="0" tIns="0" bIns="0" anchor="t">
              <a:spAutoFit/>
            </a:bodyPr>
            <a:lstStyle/>
            <a:p>
              <a:pPr algn="l">
                <a:lnSpc>
                  <a:spcPct val="108000"/>
                </a:lnSpc>
              </a:pPr>
              <a:r>
                <a:rPr sz="1250" b="1" i="0">
                  <a:solidFill>
                    <a:srgbClr val="031B08"/>
                  </a:solidFill>
                  <a:latin typeface="Arial"/>
                </a:rPr>
                <a:t>In the app: </a:t>
              </a:r>
              <a:r>
                <a:rPr sz="1250" b="0" i="0">
                  <a:solidFill>
                    <a:srgbClr val="4C5851"/>
                  </a:solidFill>
                  <a:latin typeface="Arial"/>
                </a:rPr>
                <a:t>every waiting order shows the rule that stopped it</a:t>
              </a:r>
            </a:p>
          </p:txBody>
        </p:sp>
      </p:grpSp>
      <p:grpSp>
        <p:nvGrpSpPr>
          <p:cNvPr id="29" name="s9 Group 28"/>
          <p:cNvGrpSpPr/>
          <p:nvPr/>
        </p:nvGrpSpPr>
        <p:grpSpPr>
          <a:xfrm>
            <a:off x="6537960" y="4126067"/>
            <a:ext cx="5105095" cy="1965960"/>
            <a:chOff x="6537960" y="4126067"/>
            <a:chExt cx="5105095" cy="1965960"/>
          </a:xfrm>
        </p:grpSpPr>
        <p:sp>
          <p:nvSpPr>
            <p:cNvPr id="22" name="s9 Rounded Rectangle 21"/>
            <p:cNvSpPr/>
            <p:nvPr/>
          </p:nvSpPr>
          <p:spPr>
            <a:xfrm>
              <a:off x="6537960" y="4126067"/>
              <a:ext cx="5105095" cy="1481328"/>
            </a:xfrm>
            <a:prstGeom prst="roundRect">
              <a:avLst>
                <a:gd name="adj" fmla="val 9876"/>
              </a:avLst>
            </a:prstGeom>
            <a:solidFill>
              <a:srgbClr val="EFE8FB"/>
            </a:solidFill>
            <a:ln>
              <a:noFill/>
            </a:ln>
            <a:effectLst/>
          </p:spPr>
          <p:txBody>
            <a:bodyPr rtlCol="0" anchor="ctr"/>
            <a:lstStyle/>
            <a:p/>
          </p:txBody>
        </p:sp>
        <p:sp>
          <p:nvSpPr>
            <p:cNvPr id="23" name="s9 TextBox 22"/>
            <p:cNvSpPr txBox="1"/>
            <p:nvPr/>
          </p:nvSpPr>
          <p:spPr>
            <a:xfrm>
              <a:off x="6858000" y="4308947"/>
              <a:ext cx="4465015" cy="320040"/>
            </a:xfrm>
            <a:prstGeom prst="rect">
              <a:avLst/>
            </a:prstGeom>
            <a:noFill/>
          </p:spPr>
          <p:txBody>
            <a:bodyPr wrap="square" lIns="0" rIns="0" tIns="0" bIns="0" anchor="t">
              <a:spAutoFit/>
            </a:bodyPr>
            <a:lstStyle/>
            <a:p>
              <a:pPr algn="l">
                <a:lnSpc>
                  <a:spcPct val="108000"/>
                </a:lnSpc>
              </a:pPr>
              <a:r>
                <a:rPr sz="1450" b="1" i="0">
                  <a:solidFill>
                    <a:srgbClr val="031B08"/>
                  </a:solidFill>
                  <a:latin typeface="Arial"/>
                </a:rPr>
                <a:t>What if one refrigerated truck comes back?</a:t>
              </a:r>
            </a:p>
          </p:txBody>
        </p:sp>
        <p:sp>
          <p:nvSpPr>
            <p:cNvPr id="24" name="s9 TextBox 23"/>
            <p:cNvSpPr txBox="1"/>
            <p:nvPr/>
          </p:nvSpPr>
          <p:spPr>
            <a:xfrm>
              <a:off x="6858000" y="4656419"/>
              <a:ext cx="2377440" cy="502920"/>
            </a:xfrm>
            <a:prstGeom prst="rect">
              <a:avLst/>
            </a:prstGeom>
            <a:noFill/>
          </p:spPr>
          <p:txBody>
            <a:bodyPr wrap="square" lIns="0" rIns="0" tIns="0" bIns="0" anchor="t">
              <a:spAutoFit/>
            </a:bodyPr>
            <a:lstStyle/>
            <a:p>
              <a:pPr algn="l">
                <a:lnSpc>
                  <a:spcPct val="108000"/>
                </a:lnSpc>
              </a:pPr>
              <a:r>
                <a:rPr sz="2800" b="1" i="0">
                  <a:solidFill>
                    <a:srgbClr val="5B2EB5"/>
                  </a:solidFill>
                  <a:latin typeface="Arial"/>
                </a:rPr>
                <a:t>+9 orders</a:t>
              </a:r>
            </a:p>
          </p:txBody>
        </p:sp>
        <p:sp>
          <p:nvSpPr>
            <p:cNvPr id="25" name="s9 TextBox 24"/>
            <p:cNvSpPr txBox="1"/>
            <p:nvPr/>
          </p:nvSpPr>
          <p:spPr>
            <a:xfrm>
              <a:off x="6858000" y="5150195"/>
              <a:ext cx="2377440" cy="274320"/>
            </a:xfrm>
            <a:prstGeom prst="rect">
              <a:avLst/>
            </a:prstGeom>
            <a:noFill/>
          </p:spPr>
          <p:txBody>
            <a:bodyPr wrap="square" lIns="0" rIns="0" tIns="0" bIns="0" anchor="t">
              <a:spAutoFit/>
            </a:bodyPr>
            <a:lstStyle/>
            <a:p>
              <a:pPr algn="l">
                <a:lnSpc>
                  <a:spcPct val="108000"/>
                </a:lnSpc>
              </a:pPr>
              <a:r>
                <a:rPr sz="1200" b="0" i="0">
                  <a:solidFill>
                    <a:srgbClr val="4C5851"/>
                  </a:solidFill>
                  <a:latin typeface="Arial"/>
                </a:rPr>
                <a:t>81 instead of 72 in the live app</a:t>
              </a:r>
            </a:p>
          </p:txBody>
        </p:sp>
        <p:sp>
          <p:nvSpPr>
            <p:cNvPr id="26" name="s9 TextBox 25"/>
            <p:cNvSpPr txBox="1"/>
            <p:nvPr/>
          </p:nvSpPr>
          <p:spPr>
            <a:xfrm>
              <a:off x="9235440" y="4656419"/>
              <a:ext cx="2194560" cy="502920"/>
            </a:xfrm>
            <a:prstGeom prst="rect">
              <a:avLst/>
            </a:prstGeom>
            <a:noFill/>
          </p:spPr>
          <p:txBody>
            <a:bodyPr wrap="square" lIns="0" rIns="0" tIns="0" bIns="0" anchor="t">
              <a:spAutoFit/>
            </a:bodyPr>
            <a:lstStyle/>
            <a:p>
              <a:pPr algn="l">
                <a:lnSpc>
                  <a:spcPct val="108000"/>
                </a:lnSpc>
              </a:pPr>
              <a:r>
                <a:rPr sz="2800" b="1" i="0">
                  <a:solidFill>
                    <a:srgbClr val="5B2EB5"/>
                  </a:solidFill>
                  <a:latin typeface="Arial"/>
                </a:rPr>
                <a:t>+48% chilled</a:t>
              </a:r>
            </a:p>
          </p:txBody>
        </p:sp>
        <p:sp>
          <p:nvSpPr>
            <p:cNvPr id="27" name="s9 TextBox 26"/>
            <p:cNvSpPr txBox="1"/>
            <p:nvPr/>
          </p:nvSpPr>
          <p:spPr>
            <a:xfrm>
              <a:off x="9235440" y="5150195"/>
              <a:ext cx="2194560" cy="274320"/>
            </a:xfrm>
            <a:prstGeom prst="rect">
              <a:avLst/>
            </a:prstGeom>
            <a:noFill/>
          </p:spPr>
          <p:txBody>
            <a:bodyPr wrap="square" lIns="0" rIns="0" tIns="0" bIns="0" anchor="t">
              <a:spAutoFit/>
            </a:bodyPr>
            <a:lstStyle/>
            <a:p>
              <a:pPr algn="l">
                <a:lnSpc>
                  <a:spcPct val="108000"/>
                </a:lnSpc>
              </a:pPr>
              <a:r>
                <a:rPr sz="1200" b="0" i="0">
                  <a:solidFill>
                    <a:srgbClr val="4C5851"/>
                  </a:solidFill>
                  <a:latin typeface="Arial"/>
                </a:rPr>
                <a:t>161 m³ instead of 109 m³</a:t>
              </a:r>
            </a:p>
          </p:txBody>
        </p:sp>
        <p:sp>
          <p:nvSpPr>
            <p:cNvPr id="28" name="s9 TextBox 27"/>
            <p:cNvSpPr txBox="1"/>
            <p:nvPr/>
          </p:nvSpPr>
          <p:spPr>
            <a:xfrm>
              <a:off x="6537960" y="5726267"/>
              <a:ext cx="5105095" cy="365760"/>
            </a:xfrm>
            <a:prstGeom prst="rect">
              <a:avLst/>
            </a:prstGeom>
            <a:noFill/>
          </p:spPr>
          <p:txBody>
            <a:bodyPr wrap="square" lIns="0" rIns="0" tIns="0" bIns="0" anchor="t">
              <a:spAutoFit/>
            </a:bodyPr>
            <a:lstStyle/>
            <a:p>
              <a:pPr algn="l">
                <a:lnSpc>
                  <a:spcPct val="105000"/>
                </a:lnSpc>
              </a:pPr>
              <a:r>
                <a:rPr sz="1050" b="0" i="0">
                  <a:solidFill>
                    <a:srgbClr val="66736B"/>
                  </a:solidFill>
                  <a:latin typeface="Arial"/>
                </a:rPr>
                <a:t>The live app also enforces every store’s delivery window and fuel quota (Datathon plan: 77 of 85).</a:t>
              </a:r>
            </a:p>
          </p:txBody>
        </p:sp>
      </p:grpSp>
      <p:sp>
        <p:nvSpPr>
          <p:cNvPr id="30" name="s9 TextBox 29"/>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31" name="s9 TextBox 30"/>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9</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anim calcmode="lin" valueType="num">
                                      <p:cBhvr>
                                        <p:cTn id="13" dur="500" decel="100000" fill="hold"/>
                                        <p:tgtEl>
                                          <p:spTgt spid="17"/>
                                        </p:tgtEl>
                                        <p:attrNameLst>
                                          <p:attrName>ppt_x</p:attrName>
                                        </p:attrNameLst>
                                      </p:cBhvr>
                                      <p:tavLst>
                                        <p:tav tm="0">
                                          <p:val>
                                            <p:strVal val="#ppt_x"/>
                                          </p:val>
                                        </p:tav>
                                        <p:tav tm="100000">
                                          <p:val>
                                            <p:strVal val="#ppt_x"/>
                                          </p:val>
                                        </p:tav>
                                      </p:tavLst>
                                    </p:anim>
                                    <p:anim calcmode="lin" valueType="num">
                                      <p:cBhvr>
                                        <p:cTn id="14" dur="500" decel="100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50"/>
                                        <p:tgtEl>
                                          <p:spTgt spid="21"/>
                                        </p:tgtEl>
                                      </p:cBhvr>
                                    </p:animEffect>
                                    <p:anim calcmode="lin" valueType="num">
                                      <p:cBhvr>
                                        <p:cTn id="20" dur="550" decel="100000" fill="hold"/>
                                        <p:tgtEl>
                                          <p:spTgt spid="21"/>
                                        </p:tgtEl>
                                        <p:attrNameLst>
                                          <p:attrName>ppt_x</p:attrName>
                                        </p:attrNameLst>
                                      </p:cBhvr>
                                      <p:tavLst>
                                        <p:tav tm="0">
                                          <p:val>
                                            <p:strVal val="#ppt_x"/>
                                          </p:val>
                                        </p:tav>
                                        <p:tav tm="100000">
                                          <p:val>
                                            <p:strVal val="#ppt_x"/>
                                          </p:val>
                                        </p:tav>
                                      </p:tavLst>
                                    </p:anim>
                                    <p:anim calcmode="lin" valueType="num">
                                      <p:cBhvr>
                                        <p:cTn id="21" dur="550" decel="10000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550"/>
                            </p:stCondLst>
                            <p:childTnLst>
                              <p:par>
                                <p:cTn id="23" presetID="42" presetClass="entr" presetSubtype="0" fill="hold" nodeType="afterEffect">
                                  <p:stCondLst>
                                    <p:cond delay="15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50"/>
                                        <p:tgtEl>
                                          <p:spTgt spid="29"/>
                                        </p:tgtEl>
                                      </p:cBhvr>
                                    </p:animEffect>
                                    <p:anim calcmode="lin" valueType="num">
                                      <p:cBhvr>
                                        <p:cTn id="26" dur="550" decel="100000" fill="hold"/>
                                        <p:tgtEl>
                                          <p:spTgt spid="29"/>
                                        </p:tgtEl>
                                        <p:attrNameLst>
                                          <p:attrName>ppt_x</p:attrName>
                                        </p:attrNameLst>
                                      </p:cBhvr>
                                      <p:tavLst>
                                        <p:tav tm="0">
                                          <p:val>
                                            <p:strVal val="#ppt_x"/>
                                          </p:val>
                                        </p:tav>
                                        <p:tav tm="100000">
                                          <p:val>
                                            <p:strVal val="#ppt_x"/>
                                          </p:val>
                                        </p:tav>
                                      </p:tavLst>
                                    </p:anim>
                                    <p:anim calcmode="lin" valueType="num">
                                      <p:cBhvr>
                                        <p:cTn id="27" dur="550" decel="100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0 Rounded Rectangle 1"/>
          <p:cNvSpPr/>
          <p:nvPr/>
        </p:nvSpPr>
        <p:spPr>
          <a:xfrm>
            <a:off x="548640" y="457200"/>
            <a:ext cx="799938"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Impact</a:t>
            </a:r>
          </a:p>
        </p:txBody>
      </p:sp>
      <p:sp>
        <p:nvSpPr>
          <p:cNvPr id="3" name="s10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What changes for Waypoint</a:t>
            </a:r>
          </a:p>
        </p:txBody>
      </p:sp>
      <p:grpSp>
        <p:nvGrpSpPr>
          <p:cNvPr id="8" name="s10 Group 7"/>
          <p:cNvGrpSpPr/>
          <p:nvPr/>
        </p:nvGrpSpPr>
        <p:grpSpPr>
          <a:xfrm>
            <a:off x="548640" y="1691640"/>
            <a:ext cx="6400800" cy="713232"/>
            <a:chOff x="548640" y="1691640"/>
            <a:chExt cx="6400800" cy="713232"/>
          </a:xfrm>
        </p:grpSpPr>
        <p:sp>
          <p:nvSpPr>
            <p:cNvPr id="4" name="s10 TextBox 3"/>
            <p:cNvSpPr txBox="1"/>
            <p:nvPr/>
          </p:nvSpPr>
          <p:spPr>
            <a:xfrm>
              <a:off x="548640" y="1975104"/>
              <a:ext cx="173736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Dispatcher</a:t>
              </a:r>
            </a:p>
          </p:txBody>
        </p:sp>
        <p:sp>
          <p:nvSpPr>
            <p:cNvPr id="5" name="s10 TextBox 4"/>
            <p:cNvSpPr txBox="1"/>
            <p:nvPr/>
          </p:nvSpPr>
          <p:spPr>
            <a:xfrm>
              <a:off x="2377440" y="1691640"/>
              <a:ext cx="4572000" cy="292608"/>
            </a:xfrm>
            <a:prstGeom prst="rect">
              <a:avLst/>
            </a:prstGeom>
            <a:noFill/>
          </p:spPr>
          <p:txBody>
            <a:bodyPr wrap="square" lIns="0" rIns="0" tIns="0" bIns="0" anchor="t">
              <a:spAutoFit/>
            </a:bodyPr>
            <a:lstStyle/>
            <a:p>
              <a:pPr algn="l">
                <a:lnSpc>
                  <a:spcPct val="108000"/>
                </a:lnSpc>
              </a:pPr>
              <a:r>
                <a:rPr sz="1250" b="0" i="0" strike="sngStrike">
                  <a:solidFill>
                    <a:srgbClr val="66736B"/>
                  </a:solidFill>
                  <a:latin typeface="Arial"/>
                </a:rPr>
                <a:t>spreadsheet and memory</a:t>
              </a:r>
            </a:p>
          </p:txBody>
        </p:sp>
        <p:sp>
          <p:nvSpPr>
            <p:cNvPr id="6" name="s10 TextBox 5"/>
            <p:cNvSpPr txBox="1"/>
            <p:nvPr/>
          </p:nvSpPr>
          <p:spPr>
            <a:xfrm>
              <a:off x="2377440" y="1965960"/>
              <a:ext cx="4572000"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One explained plan, every stop on record</a:t>
              </a:r>
            </a:p>
          </p:txBody>
        </p:sp>
        <p:cxnSp>
          <p:nvCxnSpPr>
            <p:cNvPr id="7" name="s10 Connector 6"/>
            <p:cNvCxnSpPr/>
            <p:nvPr/>
          </p:nvCxnSpPr>
          <p:spPr>
            <a:xfrm>
              <a:off x="548640" y="2404872"/>
              <a:ext cx="6400800" cy="0"/>
            </a:xfrm>
            <a:prstGeom prst="line">
              <a:avLst/>
            </a:prstGeom>
            <a:ln w="9525">
              <a:solidFill>
                <a:srgbClr val="D9E3DE"/>
              </a:solidFill>
            </a:ln>
            <a:effectLst/>
          </p:spPr>
        </p:cxnSp>
      </p:grpSp>
      <p:grpSp>
        <p:nvGrpSpPr>
          <p:cNvPr id="13" name="s10 Group 12"/>
          <p:cNvGrpSpPr/>
          <p:nvPr/>
        </p:nvGrpSpPr>
        <p:grpSpPr>
          <a:xfrm>
            <a:off x="548640" y="2542032"/>
            <a:ext cx="6400800" cy="713232"/>
            <a:chOff x="548640" y="2542032"/>
            <a:chExt cx="6400800" cy="713232"/>
          </a:xfrm>
        </p:grpSpPr>
        <p:sp>
          <p:nvSpPr>
            <p:cNvPr id="9" name="s10 TextBox 8"/>
            <p:cNvSpPr txBox="1"/>
            <p:nvPr/>
          </p:nvSpPr>
          <p:spPr>
            <a:xfrm>
              <a:off x="548640" y="2825496"/>
              <a:ext cx="173736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Loader</a:t>
              </a:r>
            </a:p>
          </p:txBody>
        </p:sp>
        <p:sp>
          <p:nvSpPr>
            <p:cNvPr id="10" name="s10 TextBox 9"/>
            <p:cNvSpPr txBox="1"/>
            <p:nvPr/>
          </p:nvSpPr>
          <p:spPr>
            <a:xfrm>
              <a:off x="2377440" y="2542032"/>
              <a:ext cx="4572000" cy="292608"/>
            </a:xfrm>
            <a:prstGeom prst="rect">
              <a:avLst/>
            </a:prstGeom>
            <a:noFill/>
          </p:spPr>
          <p:txBody>
            <a:bodyPr wrap="square" lIns="0" rIns="0" tIns="0" bIns="0" anchor="t">
              <a:spAutoFit/>
            </a:bodyPr>
            <a:lstStyle/>
            <a:p>
              <a:pPr algn="l">
                <a:lnSpc>
                  <a:spcPct val="108000"/>
                </a:lnSpc>
              </a:pPr>
              <a:r>
                <a:rPr sz="1250" b="0" i="0" strike="sngStrike">
                  <a:solidFill>
                    <a:srgbClr val="66736B"/>
                  </a:solidFill>
                  <a:latin typeface="Arial"/>
                </a:rPr>
                <a:t>printed list that goes stale</a:t>
              </a:r>
            </a:p>
          </p:txBody>
        </p:sp>
        <p:sp>
          <p:nvSpPr>
            <p:cNvPr id="11" name="s10 TextBox 10"/>
            <p:cNvSpPr txBox="1"/>
            <p:nvPr/>
          </p:nvSpPr>
          <p:spPr>
            <a:xfrm>
              <a:off x="2377440" y="2816352"/>
              <a:ext cx="4572000"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Live load list, damage flagged early</a:t>
              </a:r>
            </a:p>
          </p:txBody>
        </p:sp>
        <p:cxnSp>
          <p:nvCxnSpPr>
            <p:cNvPr id="12" name="s10 Connector 11"/>
            <p:cNvCxnSpPr/>
            <p:nvPr/>
          </p:nvCxnSpPr>
          <p:spPr>
            <a:xfrm>
              <a:off x="548640" y="3255264"/>
              <a:ext cx="6400800" cy="0"/>
            </a:xfrm>
            <a:prstGeom prst="line">
              <a:avLst/>
            </a:prstGeom>
            <a:ln w="9525">
              <a:solidFill>
                <a:srgbClr val="D9E3DE"/>
              </a:solidFill>
            </a:ln>
            <a:effectLst/>
          </p:spPr>
        </p:cxnSp>
      </p:grpSp>
      <p:grpSp>
        <p:nvGrpSpPr>
          <p:cNvPr id="18" name="s10 Group 17"/>
          <p:cNvGrpSpPr/>
          <p:nvPr/>
        </p:nvGrpSpPr>
        <p:grpSpPr>
          <a:xfrm>
            <a:off x="548640" y="3392424"/>
            <a:ext cx="6400800" cy="713232"/>
            <a:chOff x="548640" y="3392424"/>
            <a:chExt cx="6400800" cy="713232"/>
          </a:xfrm>
        </p:grpSpPr>
        <p:sp>
          <p:nvSpPr>
            <p:cNvPr id="14" name="s10 TextBox 13"/>
            <p:cNvSpPr txBox="1"/>
            <p:nvPr/>
          </p:nvSpPr>
          <p:spPr>
            <a:xfrm>
              <a:off x="548640" y="3675887"/>
              <a:ext cx="173736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Driver</a:t>
              </a:r>
            </a:p>
          </p:txBody>
        </p:sp>
        <p:sp>
          <p:nvSpPr>
            <p:cNvPr id="15" name="s10 TextBox 14"/>
            <p:cNvSpPr txBox="1"/>
            <p:nvPr/>
          </p:nvSpPr>
          <p:spPr>
            <a:xfrm>
              <a:off x="2377440" y="3392424"/>
              <a:ext cx="4572000" cy="292608"/>
            </a:xfrm>
            <a:prstGeom prst="rect">
              <a:avLst/>
            </a:prstGeom>
            <a:noFill/>
          </p:spPr>
          <p:txBody>
            <a:bodyPr wrap="square" lIns="0" rIns="0" tIns="0" bIns="0" anchor="t">
              <a:spAutoFit/>
            </a:bodyPr>
            <a:lstStyle/>
            <a:p>
              <a:pPr algn="l">
                <a:lnSpc>
                  <a:spcPct val="108000"/>
                </a:lnSpc>
              </a:pPr>
              <a:r>
                <a:rPr sz="1250" b="0" i="0" strike="sngStrike">
                  <a:solidFill>
                    <a:srgbClr val="66736B"/>
                  </a:solidFill>
                  <a:latin typeface="Arial"/>
                </a:rPr>
                <a:t>paper and phone calls</a:t>
              </a:r>
            </a:p>
          </p:txBody>
        </p:sp>
        <p:sp>
          <p:nvSpPr>
            <p:cNvPr id="16" name="s10 TextBox 15"/>
            <p:cNvSpPr txBox="1"/>
            <p:nvPr/>
          </p:nvSpPr>
          <p:spPr>
            <a:xfrm>
              <a:off x="2377440" y="3666744"/>
              <a:ext cx="4572000"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Next stop on the phone, works offline</a:t>
              </a:r>
            </a:p>
          </p:txBody>
        </p:sp>
        <p:cxnSp>
          <p:nvCxnSpPr>
            <p:cNvPr id="17" name="s10 Connector 16"/>
            <p:cNvCxnSpPr/>
            <p:nvPr/>
          </p:nvCxnSpPr>
          <p:spPr>
            <a:xfrm>
              <a:off x="548640" y="4105656"/>
              <a:ext cx="6400800" cy="0"/>
            </a:xfrm>
            <a:prstGeom prst="line">
              <a:avLst/>
            </a:prstGeom>
            <a:ln w="9525">
              <a:solidFill>
                <a:srgbClr val="D9E3DE"/>
              </a:solidFill>
            </a:ln>
            <a:effectLst/>
          </p:spPr>
        </p:cxnSp>
      </p:grpSp>
      <p:grpSp>
        <p:nvGrpSpPr>
          <p:cNvPr id="23" name="s10 Group 22"/>
          <p:cNvGrpSpPr/>
          <p:nvPr/>
        </p:nvGrpSpPr>
        <p:grpSpPr>
          <a:xfrm>
            <a:off x="548640" y="4242816"/>
            <a:ext cx="6400800" cy="713232"/>
            <a:chOff x="548640" y="4242816"/>
            <a:chExt cx="6400800" cy="713232"/>
          </a:xfrm>
        </p:grpSpPr>
        <p:sp>
          <p:nvSpPr>
            <p:cNvPr id="19" name="s10 TextBox 18"/>
            <p:cNvSpPr txBox="1"/>
            <p:nvPr/>
          </p:nvSpPr>
          <p:spPr>
            <a:xfrm>
              <a:off x="548640" y="4526280"/>
              <a:ext cx="173736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Store manager</a:t>
              </a:r>
            </a:p>
          </p:txBody>
        </p:sp>
        <p:sp>
          <p:nvSpPr>
            <p:cNvPr id="20" name="s10 TextBox 19"/>
            <p:cNvSpPr txBox="1"/>
            <p:nvPr/>
          </p:nvSpPr>
          <p:spPr>
            <a:xfrm>
              <a:off x="2377440" y="4242816"/>
              <a:ext cx="4572000" cy="292608"/>
            </a:xfrm>
            <a:prstGeom prst="rect">
              <a:avLst/>
            </a:prstGeom>
            <a:noFill/>
          </p:spPr>
          <p:txBody>
            <a:bodyPr wrap="square" lIns="0" rIns="0" tIns="0" bIns="0" anchor="t">
              <a:spAutoFit/>
            </a:bodyPr>
            <a:lstStyle/>
            <a:p>
              <a:pPr algn="l">
                <a:lnSpc>
                  <a:spcPct val="108000"/>
                </a:lnSpc>
              </a:pPr>
              <a:r>
                <a:rPr sz="1250" b="0" i="0" strike="sngStrike">
                  <a:solidFill>
                    <a:srgbClr val="66736B"/>
                  </a:solidFill>
                  <a:latin typeface="Arial"/>
                </a:rPr>
                <a:t>calls to ask where it is</a:t>
              </a:r>
            </a:p>
          </p:txBody>
        </p:sp>
        <p:sp>
          <p:nvSpPr>
            <p:cNvPr id="21" name="s10 TextBox 20"/>
            <p:cNvSpPr txBox="1"/>
            <p:nvPr/>
          </p:nvSpPr>
          <p:spPr>
            <a:xfrm>
              <a:off x="2377440" y="4517136"/>
              <a:ext cx="4572000"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Arrival time, PIN receipt, photo reports</a:t>
              </a:r>
            </a:p>
          </p:txBody>
        </p:sp>
        <p:cxnSp>
          <p:nvCxnSpPr>
            <p:cNvPr id="22" name="s10 Connector 21"/>
            <p:cNvCxnSpPr/>
            <p:nvPr/>
          </p:nvCxnSpPr>
          <p:spPr>
            <a:xfrm>
              <a:off x="548640" y="4956048"/>
              <a:ext cx="6400800" cy="0"/>
            </a:xfrm>
            <a:prstGeom prst="line">
              <a:avLst/>
            </a:prstGeom>
            <a:ln w="9525">
              <a:solidFill>
                <a:srgbClr val="D9E3DE"/>
              </a:solidFill>
            </a:ln>
            <a:effectLst/>
          </p:spPr>
        </p:cxnSp>
      </p:grpSp>
      <p:grpSp>
        <p:nvGrpSpPr>
          <p:cNvPr id="27" name="s10 Group 26"/>
          <p:cNvGrpSpPr/>
          <p:nvPr/>
        </p:nvGrpSpPr>
        <p:grpSpPr>
          <a:xfrm>
            <a:off x="548640" y="5093208"/>
            <a:ext cx="6400800" cy="649224"/>
            <a:chOff x="548640" y="5093208"/>
            <a:chExt cx="6400800" cy="649224"/>
          </a:xfrm>
        </p:grpSpPr>
        <p:sp>
          <p:nvSpPr>
            <p:cNvPr id="24" name="s10 TextBox 23"/>
            <p:cNvSpPr txBox="1"/>
            <p:nvPr/>
          </p:nvSpPr>
          <p:spPr>
            <a:xfrm>
              <a:off x="548640" y="5376672"/>
              <a:ext cx="1737360" cy="36576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Management</a:t>
              </a:r>
            </a:p>
          </p:txBody>
        </p:sp>
        <p:sp>
          <p:nvSpPr>
            <p:cNvPr id="25" name="s10 TextBox 24"/>
            <p:cNvSpPr txBox="1"/>
            <p:nvPr/>
          </p:nvSpPr>
          <p:spPr>
            <a:xfrm>
              <a:off x="2377440" y="5093208"/>
              <a:ext cx="4572000" cy="292608"/>
            </a:xfrm>
            <a:prstGeom prst="rect">
              <a:avLst/>
            </a:prstGeom>
            <a:noFill/>
          </p:spPr>
          <p:txBody>
            <a:bodyPr wrap="square" lIns="0" rIns="0" tIns="0" bIns="0" anchor="t">
              <a:spAutoFit/>
            </a:bodyPr>
            <a:lstStyle/>
            <a:p>
              <a:pPr algn="l">
                <a:lnSpc>
                  <a:spcPct val="108000"/>
                </a:lnSpc>
              </a:pPr>
              <a:r>
                <a:rPr sz="1250" b="0" i="0" strike="sngStrike">
                  <a:solidFill>
                    <a:srgbClr val="66736B"/>
                  </a:solidFill>
                  <a:latin typeface="Arial"/>
                </a:rPr>
                <a:t>festival capacity guessed</a:t>
              </a:r>
            </a:p>
          </p:txBody>
        </p:sp>
        <p:sp>
          <p:nvSpPr>
            <p:cNvPr id="26" name="s10 TextBox 25"/>
            <p:cNvSpPr txBox="1"/>
            <p:nvPr/>
          </p:nvSpPr>
          <p:spPr>
            <a:xfrm>
              <a:off x="2377440" y="5367528"/>
              <a:ext cx="4572000"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Fleet needs known 10 weeks ahead</a:t>
              </a:r>
            </a:p>
          </p:txBody>
        </p:sp>
      </p:grpSp>
      <p:grpSp>
        <p:nvGrpSpPr>
          <p:cNvPr id="36" name="s10 Group 35"/>
          <p:cNvGrpSpPr/>
          <p:nvPr/>
        </p:nvGrpSpPr>
        <p:grpSpPr>
          <a:xfrm>
            <a:off x="7635240" y="1572768"/>
            <a:ext cx="4007815" cy="4553712"/>
            <a:chOff x="7635240" y="1572768"/>
            <a:chExt cx="4007815" cy="4553712"/>
          </a:xfrm>
        </p:grpSpPr>
        <p:sp>
          <p:nvSpPr>
            <p:cNvPr id="28" name="s10 TextBox 27"/>
            <p:cNvSpPr txBox="1"/>
            <p:nvPr/>
          </p:nvSpPr>
          <p:spPr>
            <a:xfrm>
              <a:off x="7635240" y="1572768"/>
              <a:ext cx="4005072" cy="914400"/>
            </a:xfrm>
            <a:prstGeom prst="rect">
              <a:avLst/>
            </a:prstGeom>
            <a:noFill/>
          </p:spPr>
          <p:txBody>
            <a:bodyPr wrap="square" lIns="0" rIns="0" tIns="0" bIns="0" anchor="t">
              <a:spAutoFit/>
            </a:bodyPr>
            <a:lstStyle/>
            <a:p>
              <a:pPr algn="l">
                <a:lnSpc>
                  <a:spcPct val="108000"/>
                </a:lnSpc>
              </a:pPr>
              <a:r>
                <a:rPr sz="4800" b="1" i="0" spc="-150">
                  <a:solidFill>
                    <a:srgbClr val="0A6B63"/>
                  </a:solidFill>
                  <a:latin typeface="Arial"/>
                </a:rPr>
                <a:t>LKR 26.5m</a:t>
              </a:r>
            </a:p>
          </p:txBody>
        </p:sp>
        <p:sp>
          <p:nvSpPr>
            <p:cNvPr id="29" name="s10 TextBox 28"/>
            <p:cNvSpPr txBox="1"/>
            <p:nvPr/>
          </p:nvSpPr>
          <p:spPr>
            <a:xfrm>
              <a:off x="7635240" y="2487168"/>
              <a:ext cx="4005072" cy="365760"/>
            </a:xfrm>
            <a:prstGeom prst="rect">
              <a:avLst/>
            </a:prstGeom>
            <a:noFill/>
          </p:spPr>
          <p:txBody>
            <a:bodyPr wrap="square" lIns="0" rIns="0" tIns="0" bIns="0" anchor="t">
              <a:spAutoFit/>
            </a:bodyPr>
            <a:lstStyle/>
            <a:p>
              <a:pPr algn="l">
                <a:lnSpc>
                  <a:spcPct val="108000"/>
                </a:lnSpc>
              </a:pPr>
              <a:r>
                <a:rPr sz="1600" b="0" i="0">
                  <a:solidFill>
                    <a:srgbClr val="1C2B26"/>
                  </a:solidFill>
                  <a:latin typeface="Arial"/>
                </a:rPr>
                <a:t>expected value a year</a:t>
              </a:r>
            </a:p>
          </p:txBody>
        </p:sp>
        <p:cxnSp>
          <p:nvCxnSpPr>
            <p:cNvPr id="30" name="s10 Connector 29"/>
            <p:cNvCxnSpPr/>
            <p:nvPr/>
          </p:nvCxnSpPr>
          <p:spPr>
            <a:xfrm>
              <a:off x="7635240" y="3063240"/>
              <a:ext cx="4007815" cy="0"/>
            </a:xfrm>
            <a:prstGeom prst="line">
              <a:avLst/>
            </a:prstGeom>
            <a:ln w="9525">
              <a:solidFill>
                <a:srgbClr val="D9E3DE"/>
              </a:solidFill>
            </a:ln>
            <a:effectLst/>
          </p:spPr>
        </p:cxnSp>
        <p:sp>
          <p:nvSpPr>
            <p:cNvPr id="31" name="s10 TextBox 30"/>
            <p:cNvSpPr txBox="1"/>
            <p:nvPr/>
          </p:nvSpPr>
          <p:spPr>
            <a:xfrm>
              <a:off x="7635240" y="3246120"/>
              <a:ext cx="4005072" cy="548640"/>
            </a:xfrm>
            <a:prstGeom prst="rect">
              <a:avLst/>
            </a:prstGeom>
            <a:noFill/>
          </p:spPr>
          <p:txBody>
            <a:bodyPr wrap="square" lIns="0" rIns="0" tIns="0" bIns="0" anchor="t">
              <a:spAutoFit/>
            </a:bodyPr>
            <a:lstStyle/>
            <a:p>
              <a:pPr algn="l">
                <a:lnSpc>
                  <a:spcPct val="108000"/>
                </a:lnSpc>
              </a:pPr>
              <a:r>
                <a:rPr sz="3000" b="1" i="0">
                  <a:solidFill>
                    <a:srgbClr val="031B08"/>
                  </a:solidFill>
                  <a:latin typeface="Arial"/>
                </a:rPr>
                <a:t>LKR 8–12m</a:t>
              </a:r>
            </a:p>
          </p:txBody>
        </p:sp>
        <p:sp>
          <p:nvSpPr>
            <p:cNvPr id="32" name="s10 TextBox 31"/>
            <p:cNvSpPr txBox="1"/>
            <p:nvPr/>
          </p:nvSpPr>
          <p:spPr>
            <a:xfrm>
              <a:off x="7635240" y="3794760"/>
              <a:ext cx="4005072" cy="457200"/>
            </a:xfrm>
            <a:prstGeom prst="rect">
              <a:avLst/>
            </a:prstGeom>
            <a:noFill/>
          </p:spPr>
          <p:txBody>
            <a:bodyPr wrap="square" lIns="0" rIns="0" tIns="0" bIns="0" anchor="t">
              <a:spAutoFit/>
            </a:bodyPr>
            <a:lstStyle/>
            <a:p>
              <a:pPr algn="l">
                <a:lnSpc>
                  <a:spcPct val="105000"/>
                </a:lnSpc>
              </a:pPr>
              <a:r>
                <a:rPr sz="1400" b="0" i="0">
                  <a:solidFill>
                    <a:srgbClr val="4C5851"/>
                  </a:solidFill>
                  <a:latin typeface="Arial"/>
                </a:rPr>
                <a:t>to build, then about LKR 19,000 a month to run</a:t>
              </a:r>
            </a:p>
          </p:txBody>
        </p:sp>
        <p:sp>
          <p:nvSpPr>
            <p:cNvPr id="33" name="s10 TextBox 32"/>
            <p:cNvSpPr txBox="1"/>
            <p:nvPr/>
          </p:nvSpPr>
          <p:spPr>
            <a:xfrm>
              <a:off x="7635240" y="4480560"/>
              <a:ext cx="4005072" cy="548640"/>
            </a:xfrm>
            <a:prstGeom prst="rect">
              <a:avLst/>
            </a:prstGeom>
            <a:noFill/>
          </p:spPr>
          <p:txBody>
            <a:bodyPr wrap="square" lIns="0" rIns="0" tIns="0" bIns="0" anchor="t">
              <a:spAutoFit/>
            </a:bodyPr>
            <a:lstStyle/>
            <a:p>
              <a:pPr algn="l">
                <a:lnSpc>
                  <a:spcPct val="108000"/>
                </a:lnSpc>
              </a:pPr>
              <a:r>
                <a:rPr sz="3000" b="1" i="0">
                  <a:solidFill>
                    <a:srgbClr val="031B08"/>
                  </a:solidFill>
                  <a:latin typeface="Arial"/>
                </a:rPr>
                <a:t>About 5 months</a:t>
              </a:r>
            </a:p>
          </p:txBody>
        </p:sp>
        <p:sp>
          <p:nvSpPr>
            <p:cNvPr id="34" name="s10 TextBox 33"/>
            <p:cNvSpPr txBox="1"/>
            <p:nvPr/>
          </p:nvSpPr>
          <p:spPr>
            <a:xfrm>
              <a:off x="7635240" y="5029200"/>
              <a:ext cx="4005072"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to pay back after rollout</a:t>
              </a:r>
            </a:p>
          </p:txBody>
        </p:sp>
        <p:sp>
          <p:nvSpPr>
            <p:cNvPr id="35" name="s10 TextBox 34"/>
            <p:cNvSpPr txBox="1"/>
            <p:nvPr/>
          </p:nvSpPr>
          <p:spPr>
            <a:xfrm>
              <a:off x="7635240" y="5669280"/>
              <a:ext cx="4005072" cy="457200"/>
            </a:xfrm>
            <a:prstGeom prst="rect">
              <a:avLst/>
            </a:prstGeom>
            <a:noFill/>
          </p:spPr>
          <p:txBody>
            <a:bodyPr wrap="square" lIns="0" rIns="0" tIns="0" bIns="0" anchor="t">
              <a:spAutoFit/>
            </a:bodyPr>
            <a:lstStyle/>
            <a:p>
              <a:pPr algn="l">
                <a:lnSpc>
                  <a:spcPct val="108000"/>
                </a:lnSpc>
              </a:pPr>
              <a:r>
                <a:rPr sz="1100" b="0" i="0">
                  <a:solidFill>
                    <a:srgbClr val="66736B"/>
                  </a:solidFill>
                  <a:latin typeface="Arial"/>
                </a:rPr>
                <a:t>Team estimates from public data; the pilot measures each one.</a:t>
              </a:r>
            </a:p>
          </p:txBody>
        </p:sp>
      </p:grpSp>
      <p:sp>
        <p:nvSpPr>
          <p:cNvPr id="37" name="s10 TextBox 36"/>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38" name="s10 TextBox 37"/>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10</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anim calcmode="lin" valueType="num">
                                      <p:cBhvr>
                                        <p:cTn id="8" dur="350" decel="100000" fill="hold"/>
                                        <p:tgtEl>
                                          <p:spTgt spid="8"/>
                                        </p:tgtEl>
                                        <p:attrNameLst>
                                          <p:attrName>ppt_x</p:attrName>
                                        </p:attrNameLst>
                                      </p:cBhvr>
                                      <p:tavLst>
                                        <p:tav tm="0">
                                          <p:val>
                                            <p:strVal val="#ppt_x"/>
                                          </p:val>
                                        </p:tav>
                                        <p:tav tm="100000">
                                          <p:val>
                                            <p:strVal val="#ppt_x"/>
                                          </p:val>
                                        </p:tav>
                                      </p:tavLst>
                                    </p:anim>
                                    <p:anim calcmode="lin" valueType="num">
                                      <p:cBhvr>
                                        <p:cTn id="9" dur="350" decel="100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5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50"/>
                                        <p:tgtEl>
                                          <p:spTgt spid="13"/>
                                        </p:tgtEl>
                                      </p:cBhvr>
                                    </p:animEffect>
                                    <p:anim calcmode="lin" valueType="num">
                                      <p:cBhvr>
                                        <p:cTn id="14" dur="350" decel="100000" fill="hold"/>
                                        <p:tgtEl>
                                          <p:spTgt spid="13"/>
                                        </p:tgtEl>
                                        <p:attrNameLst>
                                          <p:attrName>ppt_x</p:attrName>
                                        </p:attrNameLst>
                                      </p:cBhvr>
                                      <p:tavLst>
                                        <p:tav tm="0">
                                          <p:val>
                                            <p:strVal val="#ppt_x"/>
                                          </p:val>
                                        </p:tav>
                                        <p:tav tm="100000">
                                          <p:val>
                                            <p:strVal val="#ppt_x"/>
                                          </p:val>
                                        </p:tav>
                                      </p:tavLst>
                                    </p:anim>
                                    <p:anim calcmode="lin" valueType="num">
                                      <p:cBhvr>
                                        <p:cTn id="15" dur="350" decel="1000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800"/>
                            </p:stCondLst>
                            <p:childTnLst>
                              <p:par>
                                <p:cTn id="17" presetID="42" presetClass="entr" presetSubtype="0" fill="hold" nodeType="afterEffect">
                                  <p:stCondLst>
                                    <p:cond delay="5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350"/>
                                        <p:tgtEl>
                                          <p:spTgt spid="18"/>
                                        </p:tgtEl>
                                      </p:cBhvr>
                                    </p:animEffect>
                                    <p:anim calcmode="lin" valueType="num">
                                      <p:cBhvr>
                                        <p:cTn id="20" dur="350" decel="100000" fill="hold"/>
                                        <p:tgtEl>
                                          <p:spTgt spid="18"/>
                                        </p:tgtEl>
                                        <p:attrNameLst>
                                          <p:attrName>ppt_x</p:attrName>
                                        </p:attrNameLst>
                                      </p:cBhvr>
                                      <p:tavLst>
                                        <p:tav tm="0">
                                          <p:val>
                                            <p:strVal val="#ppt_x"/>
                                          </p:val>
                                        </p:tav>
                                        <p:tav tm="100000">
                                          <p:val>
                                            <p:strVal val="#ppt_x"/>
                                          </p:val>
                                        </p:tav>
                                      </p:tavLst>
                                    </p:anim>
                                    <p:anim calcmode="lin" valueType="num">
                                      <p:cBhvr>
                                        <p:cTn id="21" dur="350" decel="100000" fill="hold"/>
                                        <p:tgtEl>
                                          <p:spTgt spid="18"/>
                                        </p:tgtEl>
                                        <p:attrNameLst>
                                          <p:attrName>ppt_y</p:attrName>
                                        </p:attrNameLst>
                                      </p:cBhvr>
                                      <p:tavLst>
                                        <p:tav tm="0">
                                          <p:val>
                                            <p:strVal val="#ppt_y+.1"/>
                                          </p:val>
                                        </p:tav>
                                        <p:tav tm="100000">
                                          <p:val>
                                            <p:strVal val="#ppt_y"/>
                                          </p:val>
                                        </p:tav>
                                      </p:tavLst>
                                    </p:anim>
                                  </p:childTnLst>
                                </p:cTn>
                              </p:par>
                            </p:childTnLst>
                          </p:cTn>
                        </p:par>
                        <p:par>
                          <p:cTn id="22" fill="hold">
                            <p:stCondLst>
                              <p:cond delay="1200"/>
                            </p:stCondLst>
                            <p:childTnLst>
                              <p:par>
                                <p:cTn id="23" presetID="42" presetClass="entr" presetSubtype="0" fill="hold" nodeType="afterEffect">
                                  <p:stCondLst>
                                    <p:cond delay="5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350"/>
                                        <p:tgtEl>
                                          <p:spTgt spid="23"/>
                                        </p:tgtEl>
                                      </p:cBhvr>
                                    </p:animEffect>
                                    <p:anim calcmode="lin" valueType="num">
                                      <p:cBhvr>
                                        <p:cTn id="26" dur="350" decel="100000" fill="hold"/>
                                        <p:tgtEl>
                                          <p:spTgt spid="23"/>
                                        </p:tgtEl>
                                        <p:attrNameLst>
                                          <p:attrName>ppt_x</p:attrName>
                                        </p:attrNameLst>
                                      </p:cBhvr>
                                      <p:tavLst>
                                        <p:tav tm="0">
                                          <p:val>
                                            <p:strVal val="#ppt_x"/>
                                          </p:val>
                                        </p:tav>
                                        <p:tav tm="100000">
                                          <p:val>
                                            <p:strVal val="#ppt_x"/>
                                          </p:val>
                                        </p:tav>
                                      </p:tavLst>
                                    </p:anim>
                                    <p:anim calcmode="lin" valueType="num">
                                      <p:cBhvr>
                                        <p:cTn id="27" dur="350" decel="100000" fill="hold"/>
                                        <p:tgtEl>
                                          <p:spTgt spid="23"/>
                                        </p:tgtEl>
                                        <p:attrNameLst>
                                          <p:attrName>ppt_y</p:attrName>
                                        </p:attrNameLst>
                                      </p:cBhvr>
                                      <p:tavLst>
                                        <p:tav tm="0">
                                          <p:val>
                                            <p:strVal val="#ppt_y+.1"/>
                                          </p:val>
                                        </p:tav>
                                        <p:tav tm="100000">
                                          <p:val>
                                            <p:strVal val="#ppt_y"/>
                                          </p:val>
                                        </p:tav>
                                      </p:tavLst>
                                    </p:anim>
                                  </p:childTnLst>
                                </p:cTn>
                              </p:par>
                            </p:childTnLst>
                          </p:cTn>
                        </p:par>
                        <p:par>
                          <p:cTn id="28" fill="hold">
                            <p:stCondLst>
                              <p:cond delay="1600"/>
                            </p:stCondLst>
                            <p:childTnLst>
                              <p:par>
                                <p:cTn id="29" presetID="42" presetClass="entr" presetSubtype="0" fill="hold" nodeType="afterEffect">
                                  <p:stCondLst>
                                    <p:cond delay="5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350"/>
                                        <p:tgtEl>
                                          <p:spTgt spid="27"/>
                                        </p:tgtEl>
                                      </p:cBhvr>
                                    </p:animEffect>
                                    <p:anim calcmode="lin" valueType="num">
                                      <p:cBhvr>
                                        <p:cTn id="32" dur="350" decel="100000" fill="hold"/>
                                        <p:tgtEl>
                                          <p:spTgt spid="27"/>
                                        </p:tgtEl>
                                        <p:attrNameLst>
                                          <p:attrName>ppt_x</p:attrName>
                                        </p:attrNameLst>
                                      </p:cBhvr>
                                      <p:tavLst>
                                        <p:tav tm="0">
                                          <p:val>
                                            <p:strVal val="#ppt_x"/>
                                          </p:val>
                                        </p:tav>
                                        <p:tav tm="100000">
                                          <p:val>
                                            <p:strVal val="#ppt_x"/>
                                          </p:val>
                                        </p:tav>
                                      </p:tavLst>
                                    </p:anim>
                                    <p:anim calcmode="lin" valueType="num">
                                      <p:cBhvr>
                                        <p:cTn id="33" dur="350" decel="100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6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1 Rounded Rectangle 1"/>
          <p:cNvSpPr/>
          <p:nvPr/>
        </p:nvSpPr>
        <p:spPr>
          <a:xfrm>
            <a:off x="548640" y="457200"/>
            <a:ext cx="873111" cy="292608"/>
          </a:xfrm>
          <a:prstGeom prst="roundRect">
            <a:avLst>
              <a:gd name="adj" fmla="val 50000"/>
            </a:avLst>
          </a:prstGeom>
          <a:solidFill>
            <a:srgbClr val="B7F2ED"/>
          </a:solidFill>
          <a:ln>
            <a:noFill/>
          </a:ln>
          <a:effectLst/>
        </p:spPr>
        <p:txBody>
          <a:bodyPr rtlCol="0" anchor="ctr" lIns="0" rIns="0" tIns="0" bIns="0" wrap="none"/>
          <a:lstStyle/>
          <a:p>
            <a:pPr algn="ctr"/>
            <a:r>
              <a:rPr sz="1150" b="1" i="0">
                <a:solidFill>
                  <a:srgbClr val="031B08"/>
                </a:solidFill>
                <a:latin typeface="Arial"/>
              </a:rPr>
              <a:t>Our ask</a:t>
            </a:r>
          </a:p>
        </p:txBody>
      </p:sp>
      <p:sp>
        <p:nvSpPr>
          <p:cNvPr id="3" name="s11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031B08"/>
                </a:solidFill>
                <a:latin typeface="Arial"/>
              </a:rPr>
              <a:t>An 8-week pilot at the Kandy hub</a:t>
            </a:r>
          </a:p>
        </p:txBody>
      </p:sp>
      <p:sp>
        <p:nvSpPr>
          <p:cNvPr id="4" name="s11 TextBox 3"/>
          <p:cNvSpPr txBox="1"/>
          <p:nvPr/>
        </p:nvSpPr>
        <p:spPr>
          <a:xfrm>
            <a:off x="548640" y="1536192"/>
            <a:ext cx="11094415" cy="292608"/>
          </a:xfrm>
          <a:prstGeom prst="rect">
            <a:avLst/>
          </a:prstGeom>
          <a:noFill/>
        </p:spPr>
        <p:txBody>
          <a:bodyPr wrap="square" lIns="0" rIns="0" tIns="0" bIns="0" anchor="t">
            <a:spAutoFit/>
          </a:bodyPr>
          <a:lstStyle/>
          <a:p>
            <a:pPr algn="l">
              <a:lnSpc>
                <a:spcPct val="108000"/>
              </a:lnSpc>
            </a:pPr>
            <a:r>
              <a:rPr sz="1300" b="0" i="0">
                <a:solidFill>
                  <a:srgbClr val="4C5851"/>
                </a:solidFill>
                <a:latin typeface="Arial"/>
              </a:rPr>
              <a:t>Kandy first: 45 of the 120 stores, so the risk is contained, and mobile signal drops on the Kandy corridor, so offline is tested where it matters.</a:t>
            </a:r>
          </a:p>
        </p:txBody>
      </p:sp>
      <p:grpSp>
        <p:nvGrpSpPr>
          <p:cNvPr id="19" name="s11 Group 18"/>
          <p:cNvGrpSpPr/>
          <p:nvPr/>
        </p:nvGrpSpPr>
        <p:grpSpPr>
          <a:xfrm>
            <a:off x="548640" y="2011680"/>
            <a:ext cx="11094415" cy="1097280"/>
            <a:chOff x="548640" y="2011680"/>
            <a:chExt cx="11094415" cy="1097280"/>
          </a:xfrm>
        </p:grpSpPr>
        <p:sp>
          <p:nvSpPr>
            <p:cNvPr id="5" name="s11 Rounded Rectangle 4"/>
            <p:cNvSpPr/>
            <p:nvPr/>
          </p:nvSpPr>
          <p:spPr>
            <a:xfrm>
              <a:off x="548640" y="2011680"/>
              <a:ext cx="11094415" cy="1097280"/>
            </a:xfrm>
            <a:prstGeom prst="roundRect">
              <a:avLst>
                <a:gd name="adj" fmla="val 13333"/>
              </a:avLst>
            </a:prstGeom>
            <a:solidFill>
              <a:srgbClr val="FFFFFF"/>
            </a:solidFill>
            <a:ln w="12700">
              <a:solidFill>
                <a:srgbClr val="D9E3DE"/>
              </a:solidFill>
            </a:ln>
            <a:effectLst/>
          </p:spPr>
          <p:txBody>
            <a:bodyPr rtlCol="0" anchor="ctr"/>
            <a:lstStyle/>
            <a:p/>
          </p:txBody>
        </p:sp>
        <p:sp>
          <p:nvSpPr>
            <p:cNvPr id="6" name="s11 Oval 5"/>
            <p:cNvSpPr/>
            <p:nvPr/>
          </p:nvSpPr>
          <p:spPr>
            <a:xfrm>
              <a:off x="868680" y="2331720"/>
              <a:ext cx="457200" cy="457200"/>
            </a:xfrm>
            <a:prstGeom prst="ellipse">
              <a:avLst/>
            </a:prstGeom>
            <a:solidFill>
              <a:srgbClr val="031B08"/>
            </a:solidFill>
            <a:ln>
              <a:noFill/>
            </a:ln>
            <a:effectLst/>
          </p:spPr>
          <p:txBody>
            <a:bodyPr rtlCol="0" anchor="ctr"/>
            <a:lstStyle/>
            <a:p>
              <a:pPr algn="ctr"/>
            </a:p>
          </p:txBody>
        </p:sp>
        <p:sp>
          <p:nvSpPr>
            <p:cNvPr id="7" name="s11 TextBox 6"/>
            <p:cNvSpPr txBox="1"/>
            <p:nvPr/>
          </p:nvSpPr>
          <p:spPr>
            <a:xfrm>
              <a:off x="868680" y="2331720"/>
              <a:ext cx="457200" cy="457200"/>
            </a:xfrm>
            <a:prstGeom prst="rect">
              <a:avLst/>
            </a:prstGeom>
            <a:noFill/>
          </p:spPr>
          <p:txBody>
            <a:bodyPr wrap="square" lIns="0" rIns="0" tIns="0" bIns="0" anchor="ctr">
              <a:spAutoFit/>
            </a:bodyPr>
            <a:lstStyle/>
            <a:p>
              <a:pPr algn="ctr">
                <a:lnSpc>
                  <a:spcPct val="108000"/>
                </a:lnSpc>
              </a:pPr>
              <a:r>
                <a:rPr sz="1500" b="1" i="0">
                  <a:solidFill>
                    <a:srgbClr val="FFFFFF"/>
                  </a:solidFill>
                  <a:latin typeface="Arial"/>
                </a:rPr>
                <a:t>1</a:t>
              </a:r>
            </a:p>
          </p:txBody>
        </p:sp>
        <p:sp>
          <p:nvSpPr>
            <p:cNvPr id="8" name="s11 TextBox 7"/>
            <p:cNvSpPr txBox="1"/>
            <p:nvPr/>
          </p:nvSpPr>
          <p:spPr>
            <a:xfrm>
              <a:off x="1463040" y="2249424"/>
              <a:ext cx="210312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Weeks 1–4 · Shadow</a:t>
              </a:r>
            </a:p>
          </p:txBody>
        </p:sp>
        <p:sp>
          <p:nvSpPr>
            <p:cNvPr id="9" name="s11 TextBox 8"/>
            <p:cNvSpPr txBox="1"/>
            <p:nvPr/>
          </p:nvSpPr>
          <p:spPr>
            <a:xfrm>
              <a:off x="1463040" y="2578608"/>
              <a:ext cx="2103120" cy="320040"/>
            </a:xfrm>
            <a:prstGeom prst="rect">
              <a:avLst/>
            </a:prstGeom>
            <a:noFill/>
          </p:spPr>
          <p:txBody>
            <a:bodyPr wrap="square" lIns="0" rIns="0" tIns="0" bIns="0" anchor="t">
              <a:spAutoFit/>
            </a:bodyPr>
            <a:lstStyle/>
            <a:p>
              <a:pPr algn="l">
                <a:lnSpc>
                  <a:spcPct val="108000"/>
                </a:lnSpc>
              </a:pPr>
              <a:r>
                <a:rPr sz="1250" b="0" i="0">
                  <a:solidFill>
                    <a:srgbClr val="4C5851"/>
                  </a:solidFill>
                  <a:latin typeface="Arial"/>
                </a:rPr>
                <a:t>beside today’s process</a:t>
              </a:r>
            </a:p>
          </p:txBody>
        </p:sp>
        <p:sp>
          <p:nvSpPr>
            <p:cNvPr id="10" name="s11 Oval 9"/>
            <p:cNvSpPr/>
            <p:nvPr/>
          </p:nvSpPr>
          <p:spPr>
            <a:xfrm>
              <a:off x="3657600" y="2331720"/>
              <a:ext cx="457200" cy="457200"/>
            </a:xfrm>
            <a:prstGeom prst="ellipse">
              <a:avLst/>
            </a:prstGeom>
            <a:solidFill>
              <a:srgbClr val="031B08"/>
            </a:solidFill>
            <a:ln>
              <a:noFill/>
            </a:ln>
            <a:effectLst/>
          </p:spPr>
          <p:txBody>
            <a:bodyPr rtlCol="0" anchor="ctr"/>
            <a:lstStyle/>
            <a:p>
              <a:pPr algn="ctr"/>
            </a:p>
          </p:txBody>
        </p:sp>
        <p:sp>
          <p:nvSpPr>
            <p:cNvPr id="11" name="s11 TextBox 10"/>
            <p:cNvSpPr txBox="1"/>
            <p:nvPr/>
          </p:nvSpPr>
          <p:spPr>
            <a:xfrm>
              <a:off x="3657600" y="2331720"/>
              <a:ext cx="457200" cy="457200"/>
            </a:xfrm>
            <a:prstGeom prst="rect">
              <a:avLst/>
            </a:prstGeom>
            <a:noFill/>
          </p:spPr>
          <p:txBody>
            <a:bodyPr wrap="square" lIns="0" rIns="0" tIns="0" bIns="0" anchor="ctr">
              <a:spAutoFit/>
            </a:bodyPr>
            <a:lstStyle/>
            <a:p>
              <a:pPr algn="ctr">
                <a:lnSpc>
                  <a:spcPct val="108000"/>
                </a:lnSpc>
              </a:pPr>
              <a:r>
                <a:rPr sz="1500" b="1" i="0">
                  <a:solidFill>
                    <a:srgbClr val="FFFFFF"/>
                  </a:solidFill>
                  <a:latin typeface="Arial"/>
                </a:rPr>
                <a:t>2</a:t>
              </a:r>
            </a:p>
          </p:txBody>
        </p:sp>
        <p:sp>
          <p:nvSpPr>
            <p:cNvPr id="12" name="s11 TextBox 11"/>
            <p:cNvSpPr txBox="1"/>
            <p:nvPr/>
          </p:nvSpPr>
          <p:spPr>
            <a:xfrm>
              <a:off x="4251960" y="2249424"/>
              <a:ext cx="210312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Weeks 5–8 · Live</a:t>
              </a:r>
            </a:p>
          </p:txBody>
        </p:sp>
        <p:sp>
          <p:nvSpPr>
            <p:cNvPr id="13" name="s11 TextBox 12"/>
            <p:cNvSpPr txBox="1"/>
            <p:nvPr/>
          </p:nvSpPr>
          <p:spPr>
            <a:xfrm>
              <a:off x="4251960" y="2578608"/>
              <a:ext cx="2103120" cy="320040"/>
            </a:xfrm>
            <a:prstGeom prst="rect">
              <a:avLst/>
            </a:prstGeom>
            <a:noFill/>
          </p:spPr>
          <p:txBody>
            <a:bodyPr wrap="square" lIns="0" rIns="0" tIns="0" bIns="0" anchor="t">
              <a:spAutoFit/>
            </a:bodyPr>
            <a:lstStyle/>
            <a:p>
              <a:pPr algn="l">
                <a:lnSpc>
                  <a:spcPct val="108000"/>
                </a:lnSpc>
              </a:pPr>
              <a:r>
                <a:rPr sz="1250" b="0" i="0">
                  <a:solidFill>
                    <a:srgbClr val="4C5851"/>
                  </a:solidFill>
                  <a:latin typeface="Arial"/>
                </a:rPr>
                <a:t>the whole day runs in GO</a:t>
              </a:r>
            </a:p>
          </p:txBody>
        </p:sp>
        <p:sp>
          <p:nvSpPr>
            <p:cNvPr id="14" name="s11 Oval 13"/>
            <p:cNvSpPr/>
            <p:nvPr/>
          </p:nvSpPr>
          <p:spPr>
            <a:xfrm>
              <a:off x="6446520" y="2331720"/>
              <a:ext cx="457200" cy="457200"/>
            </a:xfrm>
            <a:prstGeom prst="ellipse">
              <a:avLst/>
            </a:prstGeom>
            <a:solidFill>
              <a:srgbClr val="031B08"/>
            </a:solidFill>
            <a:ln>
              <a:noFill/>
            </a:ln>
            <a:effectLst/>
          </p:spPr>
          <p:txBody>
            <a:bodyPr rtlCol="0" anchor="ctr"/>
            <a:lstStyle/>
            <a:p>
              <a:pPr algn="ctr"/>
            </a:p>
          </p:txBody>
        </p:sp>
        <p:sp>
          <p:nvSpPr>
            <p:cNvPr id="15" name="s11 TextBox 14"/>
            <p:cNvSpPr txBox="1"/>
            <p:nvPr/>
          </p:nvSpPr>
          <p:spPr>
            <a:xfrm>
              <a:off x="6446520" y="2331720"/>
              <a:ext cx="457200" cy="457200"/>
            </a:xfrm>
            <a:prstGeom prst="rect">
              <a:avLst/>
            </a:prstGeom>
            <a:noFill/>
          </p:spPr>
          <p:txBody>
            <a:bodyPr wrap="square" lIns="0" rIns="0" tIns="0" bIns="0" anchor="ctr">
              <a:spAutoFit/>
            </a:bodyPr>
            <a:lstStyle/>
            <a:p>
              <a:pPr algn="ctr">
                <a:lnSpc>
                  <a:spcPct val="108000"/>
                </a:lnSpc>
              </a:pPr>
              <a:r>
                <a:rPr sz="1500" b="1" i="0">
                  <a:solidFill>
                    <a:srgbClr val="FFFFFF"/>
                  </a:solidFill>
                  <a:latin typeface="Arial"/>
                </a:rPr>
                <a:t>3</a:t>
              </a:r>
            </a:p>
          </p:txBody>
        </p:sp>
        <p:sp>
          <p:nvSpPr>
            <p:cNvPr id="16" name="s11 TextBox 15"/>
            <p:cNvSpPr txBox="1"/>
            <p:nvPr/>
          </p:nvSpPr>
          <p:spPr>
            <a:xfrm>
              <a:off x="7040880" y="2249424"/>
              <a:ext cx="2103120" cy="320040"/>
            </a:xfrm>
            <a:prstGeom prst="rect">
              <a:avLst/>
            </a:prstGeom>
            <a:noFill/>
          </p:spPr>
          <p:txBody>
            <a:bodyPr wrap="square" lIns="0" rIns="0" tIns="0" bIns="0" anchor="t">
              <a:spAutoFit/>
            </a:bodyPr>
            <a:lstStyle/>
            <a:p>
              <a:pPr algn="l">
                <a:lnSpc>
                  <a:spcPct val="108000"/>
                </a:lnSpc>
              </a:pPr>
              <a:r>
                <a:rPr sz="1500" b="1" i="0">
                  <a:solidFill>
                    <a:srgbClr val="031B08"/>
                  </a:solidFill>
                  <a:latin typeface="Arial"/>
                </a:rPr>
                <a:t>Week 9 · Go/no-go</a:t>
              </a:r>
            </a:p>
          </p:txBody>
        </p:sp>
        <p:sp>
          <p:nvSpPr>
            <p:cNvPr id="17" name="s11 TextBox 16"/>
            <p:cNvSpPr txBox="1"/>
            <p:nvPr/>
          </p:nvSpPr>
          <p:spPr>
            <a:xfrm>
              <a:off x="7040880" y="2578608"/>
              <a:ext cx="2103120" cy="320040"/>
            </a:xfrm>
            <a:prstGeom prst="rect">
              <a:avLst/>
            </a:prstGeom>
            <a:noFill/>
          </p:spPr>
          <p:txBody>
            <a:bodyPr wrap="square" lIns="0" rIns="0" tIns="0" bIns="0" anchor="t">
              <a:spAutoFit/>
            </a:bodyPr>
            <a:lstStyle/>
            <a:p>
              <a:pPr algn="l">
                <a:lnSpc>
                  <a:spcPct val="108000"/>
                </a:lnSpc>
              </a:pPr>
              <a:r>
                <a:rPr sz="1250" b="0" i="0">
                  <a:solidFill>
                    <a:srgbClr val="4C5851"/>
                  </a:solidFill>
                  <a:latin typeface="Arial"/>
                </a:rPr>
                <a:t>judged on four numbers</a:t>
              </a:r>
            </a:p>
          </p:txBody>
        </p:sp>
        <p:sp>
          <p:nvSpPr>
            <p:cNvPr id="18" name="s11 Rounded Rectangle 17"/>
            <p:cNvSpPr/>
            <p:nvPr/>
          </p:nvSpPr>
          <p:spPr>
            <a:xfrm>
              <a:off x="9498636" y="2331720"/>
              <a:ext cx="1870098" cy="457200"/>
            </a:xfrm>
            <a:prstGeom prst="roundRect">
              <a:avLst>
                <a:gd name="adj" fmla="val 50000"/>
              </a:avLst>
            </a:prstGeom>
            <a:solidFill>
              <a:srgbClr val="031B08"/>
            </a:solidFill>
            <a:ln>
              <a:noFill/>
            </a:ln>
            <a:effectLst/>
          </p:spPr>
          <p:txBody>
            <a:bodyPr rtlCol="0" anchor="ctr" lIns="0" rIns="0" tIns="0" bIns="0" wrap="none"/>
            <a:lstStyle/>
            <a:p>
              <a:pPr algn="ctr"/>
              <a:r>
                <a:rPr sz="1400" b="1" i="0">
                  <a:solidFill>
                    <a:srgbClr val="FFFFFF"/>
                  </a:solidFill>
                  <a:latin typeface="Arial"/>
                </a:rPr>
                <a:t>Then Peliyagoda</a:t>
              </a:r>
            </a:p>
          </p:txBody>
        </p:sp>
      </p:grpSp>
      <p:grpSp>
        <p:nvGrpSpPr>
          <p:cNvPr id="23" name="s11 Group 22"/>
          <p:cNvGrpSpPr/>
          <p:nvPr/>
        </p:nvGrpSpPr>
        <p:grpSpPr>
          <a:xfrm>
            <a:off x="548640" y="3474720"/>
            <a:ext cx="2602153" cy="1325880"/>
            <a:chOff x="548640" y="3474720"/>
            <a:chExt cx="2602153" cy="1325880"/>
          </a:xfrm>
        </p:grpSpPr>
        <p:sp>
          <p:nvSpPr>
            <p:cNvPr id="20" name="s11 Rounded Rectangle 19"/>
            <p:cNvSpPr/>
            <p:nvPr/>
          </p:nvSpPr>
          <p:spPr>
            <a:xfrm>
              <a:off x="548640" y="3474720"/>
              <a:ext cx="2602153" cy="1325880"/>
            </a:xfrm>
            <a:prstGeom prst="roundRect">
              <a:avLst>
                <a:gd name="adj" fmla="val 11034"/>
              </a:avLst>
            </a:prstGeom>
            <a:solidFill>
              <a:srgbClr val="FFFFFF"/>
            </a:solidFill>
            <a:ln w="12700">
              <a:solidFill>
                <a:srgbClr val="D9E3DE"/>
              </a:solidFill>
            </a:ln>
            <a:effectLst/>
          </p:spPr>
          <p:txBody>
            <a:bodyPr rtlCol="0" anchor="ctr"/>
            <a:lstStyle/>
            <a:p/>
          </p:txBody>
        </p:sp>
        <p:sp>
          <p:nvSpPr>
            <p:cNvPr id="21" name="s11 TextBox 20"/>
            <p:cNvSpPr txBox="1"/>
            <p:nvPr/>
          </p:nvSpPr>
          <p:spPr>
            <a:xfrm>
              <a:off x="822959" y="3639312"/>
              <a:ext cx="2144953" cy="594360"/>
            </a:xfrm>
            <a:prstGeom prst="rect">
              <a:avLst/>
            </a:prstGeom>
            <a:noFill/>
          </p:spPr>
          <p:txBody>
            <a:bodyPr wrap="square" lIns="0" rIns="0" tIns="0" bIns="0" anchor="t">
              <a:spAutoFit/>
            </a:bodyPr>
            <a:lstStyle/>
            <a:p>
              <a:pPr algn="l">
                <a:lnSpc>
                  <a:spcPct val="108000"/>
                </a:lnSpc>
              </a:pPr>
              <a:r>
                <a:rPr sz="3600" b="1" i="0" spc="-100">
                  <a:solidFill>
                    <a:srgbClr val="0A6B63"/>
                  </a:solidFill>
                  <a:latin typeface="Arial"/>
                </a:rPr>
                <a:t>+5 pts</a:t>
              </a:r>
            </a:p>
          </p:txBody>
        </p:sp>
        <p:sp>
          <p:nvSpPr>
            <p:cNvPr id="22" name="s11 TextBox 21"/>
            <p:cNvSpPr txBox="1"/>
            <p:nvPr/>
          </p:nvSpPr>
          <p:spPr>
            <a:xfrm>
              <a:off x="822959" y="4297680"/>
              <a:ext cx="2144953" cy="365760"/>
            </a:xfrm>
            <a:prstGeom prst="rect">
              <a:avLst/>
            </a:prstGeom>
            <a:noFill/>
          </p:spPr>
          <p:txBody>
            <a:bodyPr wrap="square" lIns="0" rIns="0" tIns="0" bIns="0" anchor="t">
              <a:spAutoFit/>
            </a:bodyPr>
            <a:lstStyle/>
            <a:p>
              <a:pPr algn="l">
                <a:lnSpc>
                  <a:spcPct val="108000"/>
                </a:lnSpc>
              </a:pPr>
              <a:r>
                <a:rPr sz="1400" b="0" i="0">
                  <a:solidFill>
                    <a:srgbClr val="1C2B26"/>
                  </a:solidFill>
                  <a:latin typeface="Arial"/>
                </a:rPr>
                <a:t>Fresh before 8 AM</a:t>
              </a:r>
            </a:p>
          </p:txBody>
        </p:sp>
      </p:grpSp>
      <p:grpSp>
        <p:nvGrpSpPr>
          <p:cNvPr id="27" name="s11 Group 26"/>
          <p:cNvGrpSpPr/>
          <p:nvPr/>
        </p:nvGrpSpPr>
        <p:grpSpPr>
          <a:xfrm>
            <a:off x="3379393" y="3474720"/>
            <a:ext cx="2602153" cy="1325880"/>
            <a:chOff x="3379393" y="3474720"/>
            <a:chExt cx="2602153" cy="1325880"/>
          </a:xfrm>
        </p:grpSpPr>
        <p:sp>
          <p:nvSpPr>
            <p:cNvPr id="24" name="s11 Rounded Rectangle 23"/>
            <p:cNvSpPr/>
            <p:nvPr/>
          </p:nvSpPr>
          <p:spPr>
            <a:xfrm>
              <a:off x="3379393" y="3474720"/>
              <a:ext cx="2602153" cy="1325880"/>
            </a:xfrm>
            <a:prstGeom prst="roundRect">
              <a:avLst>
                <a:gd name="adj" fmla="val 11034"/>
              </a:avLst>
            </a:prstGeom>
            <a:solidFill>
              <a:srgbClr val="FFFFFF"/>
            </a:solidFill>
            <a:ln w="12700">
              <a:solidFill>
                <a:srgbClr val="D9E3DE"/>
              </a:solidFill>
            </a:ln>
            <a:effectLst/>
          </p:spPr>
          <p:txBody>
            <a:bodyPr rtlCol="0" anchor="ctr"/>
            <a:lstStyle/>
            <a:p/>
          </p:txBody>
        </p:sp>
        <p:sp>
          <p:nvSpPr>
            <p:cNvPr id="25" name="s11 TextBox 24"/>
            <p:cNvSpPr txBox="1"/>
            <p:nvPr/>
          </p:nvSpPr>
          <p:spPr>
            <a:xfrm>
              <a:off x="3653713" y="3639312"/>
              <a:ext cx="2144953" cy="594360"/>
            </a:xfrm>
            <a:prstGeom prst="rect">
              <a:avLst/>
            </a:prstGeom>
            <a:noFill/>
          </p:spPr>
          <p:txBody>
            <a:bodyPr wrap="square" lIns="0" rIns="0" tIns="0" bIns="0" anchor="t">
              <a:spAutoFit/>
            </a:bodyPr>
            <a:lstStyle/>
            <a:p>
              <a:pPr algn="l">
                <a:lnSpc>
                  <a:spcPct val="108000"/>
                </a:lnSpc>
              </a:pPr>
              <a:r>
                <a:rPr sz="3600" b="1" i="0" spc="-100">
                  <a:solidFill>
                    <a:srgbClr val="0A6B63"/>
                  </a:solidFill>
                  <a:latin typeface="Arial"/>
                </a:rPr>
                <a:t>−30%</a:t>
              </a:r>
            </a:p>
          </p:txBody>
        </p:sp>
        <p:sp>
          <p:nvSpPr>
            <p:cNvPr id="26" name="s11 TextBox 25"/>
            <p:cNvSpPr txBox="1"/>
            <p:nvPr/>
          </p:nvSpPr>
          <p:spPr>
            <a:xfrm>
              <a:off x="3653713" y="4297680"/>
              <a:ext cx="2144953" cy="365760"/>
            </a:xfrm>
            <a:prstGeom prst="rect">
              <a:avLst/>
            </a:prstGeom>
            <a:noFill/>
          </p:spPr>
          <p:txBody>
            <a:bodyPr wrap="square" lIns="0" rIns="0" tIns="0" bIns="0" anchor="t">
              <a:spAutoFit/>
            </a:bodyPr>
            <a:lstStyle/>
            <a:p>
              <a:pPr algn="l">
                <a:lnSpc>
                  <a:spcPct val="108000"/>
                </a:lnSpc>
              </a:pPr>
              <a:r>
                <a:rPr sz="1400" b="0" i="0">
                  <a:solidFill>
                    <a:srgbClr val="1C2B26"/>
                  </a:solidFill>
                  <a:latin typeface="Arial"/>
                </a:rPr>
                <a:t>dispatcher calls per trip</a:t>
              </a:r>
            </a:p>
          </p:txBody>
        </p:sp>
      </p:grpSp>
      <p:grpSp>
        <p:nvGrpSpPr>
          <p:cNvPr id="31" name="s11 Group 30"/>
          <p:cNvGrpSpPr/>
          <p:nvPr/>
        </p:nvGrpSpPr>
        <p:grpSpPr>
          <a:xfrm>
            <a:off x="6210147" y="3474720"/>
            <a:ext cx="2602153" cy="1325880"/>
            <a:chOff x="6210147" y="3474720"/>
            <a:chExt cx="2602153" cy="1325880"/>
          </a:xfrm>
        </p:grpSpPr>
        <p:sp>
          <p:nvSpPr>
            <p:cNvPr id="28" name="s11 Rounded Rectangle 27"/>
            <p:cNvSpPr/>
            <p:nvPr/>
          </p:nvSpPr>
          <p:spPr>
            <a:xfrm>
              <a:off x="6210147" y="3474720"/>
              <a:ext cx="2602153" cy="1325880"/>
            </a:xfrm>
            <a:prstGeom prst="roundRect">
              <a:avLst>
                <a:gd name="adj" fmla="val 11034"/>
              </a:avLst>
            </a:prstGeom>
            <a:solidFill>
              <a:srgbClr val="FFFFFF"/>
            </a:solidFill>
            <a:ln w="12700">
              <a:solidFill>
                <a:srgbClr val="D9E3DE"/>
              </a:solidFill>
            </a:ln>
            <a:effectLst/>
          </p:spPr>
          <p:txBody>
            <a:bodyPr rtlCol="0" anchor="ctr"/>
            <a:lstStyle/>
            <a:p/>
          </p:txBody>
        </p:sp>
        <p:sp>
          <p:nvSpPr>
            <p:cNvPr id="29" name="s11 TextBox 28"/>
            <p:cNvSpPr txBox="1"/>
            <p:nvPr/>
          </p:nvSpPr>
          <p:spPr>
            <a:xfrm>
              <a:off x="6484467" y="3639312"/>
              <a:ext cx="2144953" cy="594360"/>
            </a:xfrm>
            <a:prstGeom prst="rect">
              <a:avLst/>
            </a:prstGeom>
            <a:noFill/>
          </p:spPr>
          <p:txBody>
            <a:bodyPr wrap="square" lIns="0" rIns="0" tIns="0" bIns="0" anchor="t">
              <a:spAutoFit/>
            </a:bodyPr>
            <a:lstStyle/>
            <a:p>
              <a:pPr algn="l">
                <a:lnSpc>
                  <a:spcPct val="108000"/>
                </a:lnSpc>
              </a:pPr>
              <a:r>
                <a:rPr sz="3600" b="1" i="0" spc="-100">
                  <a:solidFill>
                    <a:srgbClr val="0A6B63"/>
                  </a:solidFill>
                  <a:latin typeface="Arial"/>
                </a:rPr>
                <a:t>−20%</a:t>
              </a:r>
            </a:p>
          </p:txBody>
        </p:sp>
        <p:sp>
          <p:nvSpPr>
            <p:cNvPr id="30" name="s11 TextBox 29"/>
            <p:cNvSpPr txBox="1"/>
            <p:nvPr/>
          </p:nvSpPr>
          <p:spPr>
            <a:xfrm>
              <a:off x="6484467" y="4297680"/>
              <a:ext cx="2144953" cy="365760"/>
            </a:xfrm>
            <a:prstGeom prst="rect">
              <a:avLst/>
            </a:prstGeom>
            <a:noFill/>
          </p:spPr>
          <p:txBody>
            <a:bodyPr wrap="square" lIns="0" rIns="0" tIns="0" bIns="0" anchor="t">
              <a:spAutoFit/>
            </a:bodyPr>
            <a:lstStyle/>
            <a:p>
              <a:pPr algn="l">
                <a:lnSpc>
                  <a:spcPct val="108000"/>
                </a:lnSpc>
              </a:pPr>
              <a:r>
                <a:rPr sz="1400" b="0" i="0">
                  <a:solidFill>
                    <a:srgbClr val="1C2B26"/>
                  </a:solidFill>
                  <a:latin typeface="Arial"/>
                </a:rPr>
                <a:t>damaged-goods write-offs</a:t>
              </a:r>
            </a:p>
          </p:txBody>
        </p:sp>
      </p:grpSp>
      <p:grpSp>
        <p:nvGrpSpPr>
          <p:cNvPr id="35" name="s11 Group 34"/>
          <p:cNvGrpSpPr/>
          <p:nvPr/>
        </p:nvGrpSpPr>
        <p:grpSpPr>
          <a:xfrm>
            <a:off x="9040901" y="3474720"/>
            <a:ext cx="2602153" cy="1325880"/>
            <a:chOff x="9040901" y="3474720"/>
            <a:chExt cx="2602153" cy="1325880"/>
          </a:xfrm>
        </p:grpSpPr>
        <p:sp>
          <p:nvSpPr>
            <p:cNvPr id="32" name="s11 Rounded Rectangle 31"/>
            <p:cNvSpPr/>
            <p:nvPr/>
          </p:nvSpPr>
          <p:spPr>
            <a:xfrm>
              <a:off x="9040901" y="3474720"/>
              <a:ext cx="2602153" cy="1325880"/>
            </a:xfrm>
            <a:prstGeom prst="roundRect">
              <a:avLst>
                <a:gd name="adj" fmla="val 11034"/>
              </a:avLst>
            </a:prstGeom>
            <a:solidFill>
              <a:srgbClr val="FFFFFF"/>
            </a:solidFill>
            <a:ln w="12700">
              <a:solidFill>
                <a:srgbClr val="D9E3DE"/>
              </a:solidFill>
            </a:ln>
            <a:effectLst/>
          </p:spPr>
          <p:txBody>
            <a:bodyPr rtlCol="0" anchor="ctr"/>
            <a:lstStyle/>
            <a:p/>
          </p:txBody>
        </p:sp>
        <p:sp>
          <p:nvSpPr>
            <p:cNvPr id="33" name="s11 TextBox 32"/>
            <p:cNvSpPr txBox="1"/>
            <p:nvPr/>
          </p:nvSpPr>
          <p:spPr>
            <a:xfrm>
              <a:off x="9315221" y="3639312"/>
              <a:ext cx="2144953" cy="594360"/>
            </a:xfrm>
            <a:prstGeom prst="rect">
              <a:avLst/>
            </a:prstGeom>
            <a:noFill/>
          </p:spPr>
          <p:txBody>
            <a:bodyPr wrap="square" lIns="0" rIns="0" tIns="0" bIns="0" anchor="t">
              <a:spAutoFit/>
            </a:bodyPr>
            <a:lstStyle/>
            <a:p>
              <a:pPr algn="l">
                <a:lnSpc>
                  <a:spcPct val="108000"/>
                </a:lnSpc>
              </a:pPr>
              <a:r>
                <a:rPr sz="3600" b="1" i="0" spc="-100">
                  <a:solidFill>
                    <a:srgbClr val="0A6B63"/>
                  </a:solidFill>
                  <a:latin typeface="Arial"/>
                </a:rPr>
                <a:t>90%+</a:t>
              </a:r>
            </a:p>
          </p:txBody>
        </p:sp>
        <p:sp>
          <p:nvSpPr>
            <p:cNvPr id="34" name="s11 TextBox 33"/>
            <p:cNvSpPr txBox="1"/>
            <p:nvPr/>
          </p:nvSpPr>
          <p:spPr>
            <a:xfrm>
              <a:off x="9315221" y="4297680"/>
              <a:ext cx="2144953" cy="365760"/>
            </a:xfrm>
            <a:prstGeom prst="rect">
              <a:avLst/>
            </a:prstGeom>
            <a:noFill/>
          </p:spPr>
          <p:txBody>
            <a:bodyPr wrap="square" lIns="0" rIns="0" tIns="0" bIns="0" anchor="t">
              <a:spAutoFit/>
            </a:bodyPr>
            <a:lstStyle/>
            <a:p>
              <a:pPr algn="l">
                <a:lnSpc>
                  <a:spcPct val="108000"/>
                </a:lnSpc>
              </a:pPr>
              <a:r>
                <a:rPr sz="1400" b="0" i="0">
                  <a:solidFill>
                    <a:srgbClr val="1C2B26"/>
                  </a:solidFill>
                  <a:latin typeface="Arial"/>
                </a:rPr>
                <a:t>stops recorded in the app</a:t>
              </a:r>
            </a:p>
          </p:txBody>
        </p:sp>
      </p:grpSp>
      <p:sp>
        <p:nvSpPr>
          <p:cNvPr id="36" name="!!closing"/>
          <p:cNvSpPr/>
          <p:nvPr/>
        </p:nvSpPr>
        <p:spPr>
          <a:xfrm>
            <a:off x="548640" y="5166360"/>
            <a:ext cx="11094415" cy="731520"/>
          </a:xfrm>
          <a:prstGeom prst="roundRect">
            <a:avLst>
              <a:gd name="adj" fmla="val 50000"/>
            </a:avLst>
          </a:prstGeom>
          <a:solidFill>
            <a:srgbClr val="031B08"/>
          </a:solidFill>
          <a:ln>
            <a:noFill/>
          </a:ln>
          <a:effectLst/>
        </p:spPr>
        <p:txBody>
          <a:bodyPr rtlCol="0" anchor="ctr"/>
          <a:lstStyle/>
          <a:p/>
        </p:txBody>
      </p:sp>
      <p:sp>
        <p:nvSpPr>
          <p:cNvPr id="37" name="s11 TextBox 36"/>
          <p:cNvSpPr txBox="1"/>
          <p:nvPr/>
        </p:nvSpPr>
        <p:spPr>
          <a:xfrm>
            <a:off x="548640" y="5166360"/>
            <a:ext cx="11094415" cy="731520"/>
          </a:xfrm>
          <a:prstGeom prst="rect">
            <a:avLst/>
          </a:prstGeom>
          <a:noFill/>
        </p:spPr>
        <p:txBody>
          <a:bodyPr wrap="square" lIns="0" rIns="0" tIns="0" bIns="0" anchor="ctr">
            <a:spAutoFit/>
          </a:bodyPr>
          <a:lstStyle/>
          <a:p>
            <a:pPr algn="ctr">
              <a:lnSpc>
                <a:spcPct val="108000"/>
              </a:lnSpc>
            </a:pPr>
            <a:r>
              <a:rPr sz="2200" b="1" i="0">
                <a:solidFill>
                  <a:srgbClr val="FFFFFF"/>
                </a:solidFill>
                <a:latin typeface="Arial"/>
              </a:rPr>
              <a:t>Waypoint </a:t>
            </a:r>
            <a:r>
              <a:rPr sz="2200" b="1" i="0">
                <a:solidFill>
                  <a:srgbClr val="00E169"/>
                </a:solidFill>
                <a:latin typeface="Arial"/>
              </a:rPr>
              <a:t>GO</a:t>
            </a:r>
            <a:r>
              <a:rPr sz="2200" b="1" i="0">
                <a:solidFill>
                  <a:srgbClr val="A8BDB0"/>
                </a:solidFill>
                <a:latin typeface="Arial"/>
              </a:rPr>
              <a:t> · </a:t>
            </a:r>
            <a:r>
              <a:rPr sz="2200" b="1" i="0">
                <a:solidFill>
                  <a:srgbClr val="00E169"/>
                </a:solidFill>
                <a:latin typeface="Arial"/>
              </a:rPr>
              <a:t>G</a:t>
            </a:r>
            <a:r>
              <a:rPr sz="2200" b="1" i="0">
                <a:solidFill>
                  <a:srgbClr val="FFFFFF"/>
                </a:solidFill>
                <a:latin typeface="Arial"/>
              </a:rPr>
              <a:t>round </a:t>
            </a:r>
            <a:r>
              <a:rPr sz="2200" b="1" i="0">
                <a:solidFill>
                  <a:srgbClr val="00E169"/>
                </a:solidFill>
                <a:latin typeface="Arial"/>
              </a:rPr>
              <a:t>O</a:t>
            </a:r>
            <a:r>
              <a:rPr sz="2200" b="1" i="0">
                <a:solidFill>
                  <a:srgbClr val="FFFFFF"/>
                </a:solidFill>
                <a:latin typeface="Arial"/>
              </a:rPr>
              <a:t>perations, made intelligent</a:t>
            </a:r>
          </a:p>
        </p:txBody>
      </p:sp>
      <p:sp>
        <p:nvSpPr>
          <p:cNvPr id="38" name="s11 TextBox 37"/>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39" name="s11 TextBox 38"/>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11</a:t>
            </a: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grpId="0">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42"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decel="100000" fill="hold"/>
                                        <p:tgtEl>
                                          <p:spTgt spid="19"/>
                                        </p:tgtEl>
                                        <p:attrNameLst>
                                          <p:attrName>ppt_x</p:attrName>
                                        </p:attrNameLst>
                                      </p:cBhvr>
                                      <p:tavLst>
                                        <p:tav tm="0">
                                          <p:val>
                                            <p:strVal val="#ppt_x"/>
                                          </p:val>
                                        </p:tav>
                                        <p:tav tm="100000">
                                          <p:val>
                                            <p:strVal val="#ppt_x"/>
                                          </p:val>
                                        </p:tav>
                                      </p:tavLst>
                                    </p:anim>
                                    <p:anim calcmode="lin" valueType="num">
                                      <p:cBhvr>
                                        <p:cTn id="13" dur="500" decel="100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350"/>
                                        <p:tgtEl>
                                          <p:spTgt spid="23"/>
                                        </p:tgtEl>
                                      </p:cBhvr>
                                    </p:animEffect>
                                    <p:anim calcmode="lin" valueType="num">
                                      <p:cBhvr>
                                        <p:cTn id="19" dur="350" decel="100000" fill="hold"/>
                                        <p:tgtEl>
                                          <p:spTgt spid="23"/>
                                        </p:tgtEl>
                                        <p:attrNameLst>
                                          <p:attrName>ppt_x</p:attrName>
                                        </p:attrNameLst>
                                      </p:cBhvr>
                                      <p:tavLst>
                                        <p:tav tm="0">
                                          <p:val>
                                            <p:strVal val="#ppt_x"/>
                                          </p:val>
                                        </p:tav>
                                        <p:tav tm="100000">
                                          <p:val>
                                            <p:strVal val="#ppt_x"/>
                                          </p:val>
                                        </p:tav>
                                      </p:tavLst>
                                    </p:anim>
                                    <p:anim calcmode="lin" valueType="num">
                                      <p:cBhvr>
                                        <p:cTn id="20" dur="350" decel="100000" fill="hold"/>
                                        <p:tgtEl>
                                          <p:spTgt spid="23"/>
                                        </p:tgtEl>
                                        <p:attrNameLst>
                                          <p:attrName>ppt_y</p:attrName>
                                        </p:attrNameLst>
                                      </p:cBhvr>
                                      <p:tavLst>
                                        <p:tav tm="0">
                                          <p:val>
                                            <p:strVal val="#ppt_y+.1"/>
                                          </p:val>
                                        </p:tav>
                                        <p:tav tm="100000">
                                          <p:val>
                                            <p:strVal val="#ppt_y"/>
                                          </p:val>
                                        </p:tav>
                                      </p:tavLst>
                                    </p:anim>
                                  </p:childTnLst>
                                </p:cTn>
                              </p:par>
                            </p:childTnLst>
                          </p:cTn>
                        </p:par>
                        <p:par>
                          <p:cTn id="21" fill="hold">
                            <p:stCondLst>
                              <p:cond delay="350"/>
                            </p:stCondLst>
                            <p:childTnLst>
                              <p:par>
                                <p:cTn id="22" presetID="42" presetClass="entr" presetSubtype="0"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anim calcmode="lin" valueType="num">
                                      <p:cBhvr>
                                        <p:cTn id="25" dur="350" decel="100000" fill="hold"/>
                                        <p:tgtEl>
                                          <p:spTgt spid="27"/>
                                        </p:tgtEl>
                                        <p:attrNameLst>
                                          <p:attrName>ppt_x</p:attrName>
                                        </p:attrNameLst>
                                      </p:cBhvr>
                                      <p:tavLst>
                                        <p:tav tm="0">
                                          <p:val>
                                            <p:strVal val="#ppt_x"/>
                                          </p:val>
                                        </p:tav>
                                        <p:tav tm="100000">
                                          <p:val>
                                            <p:strVal val="#ppt_x"/>
                                          </p:val>
                                        </p:tav>
                                      </p:tavLst>
                                    </p:anim>
                                    <p:anim calcmode="lin" valueType="num">
                                      <p:cBhvr>
                                        <p:cTn id="26" dur="350" decel="100000" fill="hold"/>
                                        <p:tgtEl>
                                          <p:spTgt spid="27"/>
                                        </p:tgtEl>
                                        <p:attrNameLst>
                                          <p:attrName>ppt_y</p:attrName>
                                        </p:attrNameLst>
                                      </p:cBhvr>
                                      <p:tavLst>
                                        <p:tav tm="0">
                                          <p:val>
                                            <p:strVal val="#ppt_y+.1"/>
                                          </p:val>
                                        </p:tav>
                                        <p:tav tm="100000">
                                          <p:val>
                                            <p:strVal val="#ppt_y"/>
                                          </p:val>
                                        </p:tav>
                                      </p:tavLst>
                                    </p:anim>
                                  </p:childTnLst>
                                </p:cTn>
                              </p:par>
                            </p:childTnLst>
                          </p:cTn>
                        </p:par>
                        <p:par>
                          <p:cTn id="27" fill="hold">
                            <p:stCondLst>
                              <p:cond delay="700"/>
                            </p:stCondLst>
                            <p:childTnLst>
                              <p:par>
                                <p:cTn id="28" presetID="42" presetClass="entr" presetSubtype="0" fill="hold" nodeType="after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350"/>
                                        <p:tgtEl>
                                          <p:spTgt spid="31"/>
                                        </p:tgtEl>
                                      </p:cBhvr>
                                    </p:animEffect>
                                    <p:anim calcmode="lin" valueType="num">
                                      <p:cBhvr>
                                        <p:cTn id="31" dur="350" decel="100000" fill="hold"/>
                                        <p:tgtEl>
                                          <p:spTgt spid="31"/>
                                        </p:tgtEl>
                                        <p:attrNameLst>
                                          <p:attrName>ppt_x</p:attrName>
                                        </p:attrNameLst>
                                      </p:cBhvr>
                                      <p:tavLst>
                                        <p:tav tm="0">
                                          <p:val>
                                            <p:strVal val="#ppt_x"/>
                                          </p:val>
                                        </p:tav>
                                        <p:tav tm="100000">
                                          <p:val>
                                            <p:strVal val="#ppt_x"/>
                                          </p:val>
                                        </p:tav>
                                      </p:tavLst>
                                    </p:anim>
                                    <p:anim calcmode="lin" valueType="num">
                                      <p:cBhvr>
                                        <p:cTn id="32" dur="350" decel="100000" fill="hold"/>
                                        <p:tgtEl>
                                          <p:spTgt spid="31"/>
                                        </p:tgtEl>
                                        <p:attrNameLst>
                                          <p:attrName>ppt_y</p:attrName>
                                        </p:attrNameLst>
                                      </p:cBhvr>
                                      <p:tavLst>
                                        <p:tav tm="0">
                                          <p:val>
                                            <p:strVal val="#ppt_y+.1"/>
                                          </p:val>
                                        </p:tav>
                                        <p:tav tm="100000">
                                          <p:val>
                                            <p:strVal val="#ppt_y"/>
                                          </p:val>
                                        </p:tav>
                                      </p:tavLst>
                                    </p:anim>
                                  </p:childTnLst>
                                </p:cTn>
                              </p:par>
                            </p:childTnLst>
                          </p:cTn>
                        </p:par>
                        <p:par>
                          <p:cTn id="33" fill="hold">
                            <p:stCondLst>
                              <p:cond delay="1050"/>
                            </p:stCondLst>
                            <p:childTnLst>
                              <p:par>
                                <p:cTn id="34" presetID="42" presetClass="entr" presetSubtype="0" fill="hold" nodeType="after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350"/>
                                        <p:tgtEl>
                                          <p:spTgt spid="35"/>
                                        </p:tgtEl>
                                      </p:cBhvr>
                                    </p:animEffect>
                                    <p:anim calcmode="lin" valueType="num">
                                      <p:cBhvr>
                                        <p:cTn id="37" dur="350" decel="100000" fill="hold"/>
                                        <p:tgtEl>
                                          <p:spTgt spid="35"/>
                                        </p:tgtEl>
                                        <p:attrNameLst>
                                          <p:attrName>ppt_x</p:attrName>
                                        </p:attrNameLst>
                                      </p:cBhvr>
                                      <p:tavLst>
                                        <p:tav tm="0">
                                          <p:val>
                                            <p:strVal val="#ppt_x"/>
                                          </p:val>
                                        </p:tav>
                                        <p:tav tm="100000">
                                          <p:val>
                                            <p:strVal val="#ppt_x"/>
                                          </p:val>
                                        </p:tav>
                                      </p:tavLst>
                                    </p:anim>
                                    <p:anim calcmode="lin" valueType="num">
                                      <p:cBhvr>
                                        <p:cTn id="38" dur="350" decel="100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grpId="0">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anim calcmode="lin" valueType="num">
                                      <p:cBhvr>
                                        <p:cTn id="44" dur="500" decel="100000" fill="hold"/>
                                        <p:tgtEl>
                                          <p:spTgt spid="36"/>
                                        </p:tgtEl>
                                        <p:attrNameLst>
                                          <p:attrName>ppt_x</p:attrName>
                                        </p:attrNameLst>
                                      </p:cBhvr>
                                      <p:tavLst>
                                        <p:tav tm="0">
                                          <p:val>
                                            <p:strVal val="#ppt_x"/>
                                          </p:val>
                                        </p:tav>
                                        <p:tav tm="100000">
                                          <p:val>
                                            <p:strVal val="#ppt_x"/>
                                          </p:val>
                                        </p:tav>
                                      </p:tavLst>
                                    </p:anim>
                                    <p:anim calcmode="lin" valueType="num">
                                      <p:cBhvr>
                                        <p:cTn id="45" dur="500" decel="100000" fill="hold"/>
                                        <p:tgtEl>
                                          <p:spTgt spid="36"/>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grpId="0">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anim calcmode="lin" valueType="num">
                                      <p:cBhvr>
                                        <p:cTn id="49" dur="500" decel="100000" fill="hold"/>
                                        <p:tgtEl>
                                          <p:spTgt spid="37"/>
                                        </p:tgtEl>
                                        <p:attrNameLst>
                                          <p:attrName>ppt_x</p:attrName>
                                        </p:attrNameLst>
                                      </p:cBhvr>
                                      <p:tavLst>
                                        <p:tav tm="0">
                                          <p:val>
                                            <p:strVal val="#ppt_x"/>
                                          </p:val>
                                        </p:tav>
                                        <p:tav tm="100000">
                                          <p:val>
                                            <p:strVal val="#ppt_x"/>
                                          </p:val>
                                        </p:tav>
                                      </p:tavLst>
                                    </p:anim>
                                    <p:anim calcmode="lin" valueType="num">
                                      <p:cBhvr>
                                        <p:cTn id="50" dur="500" decel="100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6" grpId="0" animBg="1"/>
      <p:bldP spid="3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31B08"/>
        </a:solidFill>
        <a:effectLst/>
      </p:bgPr>
    </p:bg>
    <p:spTree>
      <p:nvGrpSpPr>
        <p:cNvPr id="1" name=""/>
        <p:cNvGrpSpPr/>
        <p:nvPr/>
      </p:nvGrpSpPr>
      <p:grpSpPr/>
      <p:sp>
        <p:nvSpPr>
          <p:cNvPr id="2" name="!!closing"/>
          <p:cNvSpPr/>
          <p:nvPr/>
        </p:nvSpPr>
        <p:spPr>
          <a:xfrm>
            <a:off x="-457200" y="-457200"/>
            <a:ext cx="13106095" cy="7772400"/>
          </a:xfrm>
          <a:prstGeom prst="roundRect">
            <a:avLst>
              <a:gd name="adj" fmla="val 4705"/>
            </a:avLst>
          </a:prstGeom>
          <a:solidFill>
            <a:srgbClr val="031B08"/>
          </a:solidFill>
          <a:ln>
            <a:noFill/>
          </a:ln>
          <a:effectLst/>
        </p:spPr>
        <p:txBody>
          <a:bodyPr rtlCol="0" anchor="ctr"/>
          <a:lstStyle/>
          <a:p/>
        </p:txBody>
      </p:sp>
      <p:sp>
        <p:nvSpPr>
          <p:cNvPr id="3" name="s12 Oval 2"/>
          <p:cNvSpPr/>
          <p:nvPr/>
        </p:nvSpPr>
        <p:spPr>
          <a:xfrm>
            <a:off x="6949440" y="-2926080"/>
            <a:ext cx="7680960" cy="7680960"/>
          </a:xfrm>
          <a:prstGeom prst="ellipse">
            <a:avLst/>
          </a:prstGeom>
          <a:solidFill>
            <a:srgbClr val="4FD8A4">
              <a:alpha val="7000"/>
            </a:srgbClr>
          </a:solidFill>
          <a:ln>
            <a:noFill/>
          </a:ln>
          <a:effectLst/>
        </p:spPr>
        <p:txBody>
          <a:bodyPr rtlCol="0" anchor="ctr"/>
          <a:lstStyle/>
          <a:p>
            <a:pPr algn="ctr"/>
          </a:p>
        </p:txBody>
      </p:sp>
      <p:pic>
        <p:nvPicPr>
          <p:cNvPr id="4" name="s12 Picture 3" descr="logo.png"/>
          <p:cNvPicPr>
            <a:picLocks noChangeAspect="1"/>
          </p:cNvPicPr>
          <p:nvPr/>
        </p:nvPicPr>
        <p:blipFill>
          <a:blip r:embed="rId3"/>
          <a:stretch>
            <a:fillRect/>
          </a:stretch>
        </p:blipFill>
        <p:spPr>
          <a:xfrm>
            <a:off x="548640" y="822960"/>
            <a:ext cx="3108960" cy="1596367"/>
          </a:xfrm>
          <a:prstGeom prst="rect">
            <a:avLst/>
          </a:prstGeom>
        </p:spPr>
      </p:pic>
      <p:sp>
        <p:nvSpPr>
          <p:cNvPr id="5" name="s12 TextBox 4"/>
          <p:cNvSpPr txBox="1"/>
          <p:nvPr/>
        </p:nvSpPr>
        <p:spPr>
          <a:xfrm>
            <a:off x="548640" y="2606040"/>
            <a:ext cx="7315200" cy="1005840"/>
          </a:xfrm>
          <a:prstGeom prst="rect">
            <a:avLst/>
          </a:prstGeom>
          <a:noFill/>
        </p:spPr>
        <p:txBody>
          <a:bodyPr wrap="square" lIns="0" rIns="0" tIns="0" bIns="0" anchor="t">
            <a:spAutoFit/>
          </a:bodyPr>
          <a:lstStyle/>
          <a:p>
            <a:pPr algn="l">
              <a:lnSpc>
                <a:spcPct val="108000"/>
              </a:lnSpc>
            </a:pPr>
            <a:r>
              <a:rPr sz="6000" b="1" i="0" spc="-150">
                <a:solidFill>
                  <a:srgbClr val="FFFFFF"/>
                </a:solidFill>
                <a:latin typeface="Arial"/>
              </a:rPr>
              <a:t>Thank you</a:t>
            </a:r>
          </a:p>
        </p:txBody>
      </p:sp>
      <p:sp>
        <p:nvSpPr>
          <p:cNvPr id="6" name="s12 TextBox 5"/>
          <p:cNvSpPr txBox="1"/>
          <p:nvPr/>
        </p:nvSpPr>
        <p:spPr>
          <a:xfrm>
            <a:off x="548640" y="3657600"/>
            <a:ext cx="8229600" cy="411480"/>
          </a:xfrm>
          <a:prstGeom prst="rect">
            <a:avLst/>
          </a:prstGeom>
          <a:noFill/>
        </p:spPr>
        <p:txBody>
          <a:bodyPr wrap="square" lIns="0" rIns="0" tIns="0" bIns="0" anchor="t">
            <a:spAutoFit/>
          </a:bodyPr>
          <a:lstStyle/>
          <a:p>
            <a:pPr algn="l">
              <a:lnSpc>
                <a:spcPct val="108000"/>
              </a:lnSpc>
            </a:pPr>
            <a:r>
              <a:rPr sz="2200" b="1" i="0">
                <a:solidFill>
                  <a:srgbClr val="00E169"/>
                </a:solidFill>
                <a:latin typeface="Arial"/>
              </a:rPr>
              <a:t>G</a:t>
            </a:r>
            <a:r>
              <a:rPr sz="2200" b="0" i="0">
                <a:solidFill>
                  <a:srgbClr val="FFFFFF"/>
                </a:solidFill>
                <a:latin typeface="Arial"/>
              </a:rPr>
              <a:t>round </a:t>
            </a:r>
            <a:r>
              <a:rPr sz="2200" b="1" i="0">
                <a:solidFill>
                  <a:srgbClr val="00E169"/>
                </a:solidFill>
                <a:latin typeface="Arial"/>
              </a:rPr>
              <a:t>O</a:t>
            </a:r>
            <a:r>
              <a:rPr sz="2200" b="0" i="0">
                <a:solidFill>
                  <a:srgbClr val="FFFFFF"/>
                </a:solidFill>
                <a:latin typeface="Arial"/>
              </a:rPr>
              <a:t>perations</a:t>
            </a:r>
            <a:r>
              <a:rPr sz="2200" b="0" i="0">
                <a:solidFill>
                  <a:srgbClr val="A8BDB0"/>
                </a:solidFill>
                <a:latin typeface="Arial"/>
              </a:rPr>
              <a:t>, made intelligent</a:t>
            </a:r>
          </a:p>
        </p:txBody>
      </p:sp>
      <p:sp>
        <p:nvSpPr>
          <p:cNvPr id="7" name="s12 TextBox 6"/>
          <p:cNvSpPr txBox="1"/>
          <p:nvPr/>
        </p:nvSpPr>
        <p:spPr>
          <a:xfrm>
            <a:off x="548640" y="4251960"/>
            <a:ext cx="7315200" cy="365760"/>
          </a:xfrm>
          <a:prstGeom prst="rect">
            <a:avLst/>
          </a:prstGeom>
          <a:noFill/>
        </p:spPr>
        <p:txBody>
          <a:bodyPr wrap="square" lIns="0" rIns="0" tIns="0" bIns="0" anchor="t">
            <a:spAutoFit/>
          </a:bodyPr>
          <a:lstStyle/>
          <a:p>
            <a:pPr algn="l">
              <a:lnSpc>
                <a:spcPct val="108000"/>
              </a:lnSpc>
            </a:pPr>
            <a:r>
              <a:rPr sz="1500" b="0" i="0">
                <a:solidFill>
                  <a:srgbClr val="A8BDB0"/>
                </a:solidFill>
                <a:latin typeface="Arial"/>
              </a:rPr>
              <a:t>waypointgo.live · questions welcome</a:t>
            </a:r>
          </a:p>
        </p:txBody>
      </p:sp>
      <p:grpSp>
        <p:nvGrpSpPr>
          <p:cNvPr id="11" name="s12 Group 10"/>
          <p:cNvGrpSpPr/>
          <p:nvPr/>
        </p:nvGrpSpPr>
        <p:grpSpPr>
          <a:xfrm>
            <a:off x="548640" y="4983480"/>
            <a:ext cx="3545738" cy="1143000"/>
            <a:chOff x="548640" y="4983480"/>
            <a:chExt cx="3545738" cy="1143000"/>
          </a:xfrm>
        </p:grpSpPr>
        <p:sp>
          <p:nvSpPr>
            <p:cNvPr id="8" name="s12 Rounded Rectangle 7"/>
            <p:cNvSpPr/>
            <p:nvPr/>
          </p:nvSpPr>
          <p:spPr>
            <a:xfrm>
              <a:off x="548640" y="4983480"/>
              <a:ext cx="3545738" cy="1143000"/>
            </a:xfrm>
            <a:prstGeom prst="roundRect">
              <a:avLst>
                <a:gd name="adj" fmla="val 12800"/>
              </a:avLst>
            </a:prstGeom>
            <a:solidFill>
              <a:srgbClr val="0C2B21"/>
            </a:solidFill>
            <a:ln w="12700">
              <a:solidFill>
                <a:srgbClr val="1D5A50"/>
              </a:solidFill>
            </a:ln>
            <a:effectLst/>
          </p:spPr>
          <p:txBody>
            <a:bodyPr rtlCol="0" anchor="ctr"/>
            <a:lstStyle/>
            <a:p/>
          </p:txBody>
        </p:sp>
        <p:sp>
          <p:nvSpPr>
            <p:cNvPr id="9" name="s12 TextBox 8"/>
            <p:cNvSpPr txBox="1"/>
            <p:nvPr/>
          </p:nvSpPr>
          <p:spPr>
            <a:xfrm>
              <a:off x="822959" y="5148072"/>
              <a:ext cx="3088538" cy="594360"/>
            </a:xfrm>
            <a:prstGeom prst="rect">
              <a:avLst/>
            </a:prstGeom>
            <a:noFill/>
          </p:spPr>
          <p:txBody>
            <a:bodyPr wrap="square" lIns="0" rIns="0" tIns="0" bIns="0" anchor="t">
              <a:spAutoFit/>
            </a:bodyPr>
            <a:lstStyle/>
            <a:p>
              <a:pPr algn="l">
                <a:lnSpc>
                  <a:spcPct val="108000"/>
                </a:lnSpc>
              </a:pPr>
              <a:r>
                <a:rPr sz="2800" b="1" i="0" spc="-100">
                  <a:solidFill>
                    <a:srgbClr val="00E169"/>
                  </a:solidFill>
                  <a:latin typeface="Arial"/>
                </a:rPr>
                <a:t>7 in 10</a:t>
              </a:r>
            </a:p>
          </p:txBody>
        </p:sp>
        <p:sp>
          <p:nvSpPr>
            <p:cNvPr id="10" name="s12 TextBox 9"/>
            <p:cNvSpPr txBox="1"/>
            <p:nvPr/>
          </p:nvSpPr>
          <p:spPr>
            <a:xfrm>
              <a:off x="822959" y="5623560"/>
              <a:ext cx="3088538" cy="365760"/>
            </a:xfrm>
            <a:prstGeom prst="rect">
              <a:avLst/>
            </a:prstGeom>
            <a:noFill/>
          </p:spPr>
          <p:txBody>
            <a:bodyPr wrap="square" lIns="0" rIns="0" tIns="0" bIns="0" anchor="t">
              <a:spAutoFit/>
            </a:bodyPr>
            <a:lstStyle/>
            <a:p>
              <a:pPr algn="l">
                <a:lnSpc>
                  <a:spcPct val="108000"/>
                </a:lnSpc>
              </a:pPr>
              <a:r>
                <a:rPr sz="1300" b="0" i="0">
                  <a:solidFill>
                    <a:srgbClr val="A8BDB0"/>
                  </a:solidFill>
                  <a:latin typeface="Arial"/>
                </a:rPr>
                <a:t>late deliveries flagged early</a:t>
              </a:r>
            </a:p>
          </p:txBody>
        </p:sp>
      </p:grpSp>
      <p:grpSp>
        <p:nvGrpSpPr>
          <p:cNvPr id="15" name="s12 Group 14"/>
          <p:cNvGrpSpPr/>
          <p:nvPr/>
        </p:nvGrpSpPr>
        <p:grpSpPr>
          <a:xfrm>
            <a:off x="4322978" y="4983480"/>
            <a:ext cx="3545738" cy="1143000"/>
            <a:chOff x="4322978" y="4983480"/>
            <a:chExt cx="3545738" cy="1143000"/>
          </a:xfrm>
        </p:grpSpPr>
        <p:sp>
          <p:nvSpPr>
            <p:cNvPr id="12" name="s12 Rounded Rectangle 11"/>
            <p:cNvSpPr/>
            <p:nvPr/>
          </p:nvSpPr>
          <p:spPr>
            <a:xfrm>
              <a:off x="4322978" y="4983480"/>
              <a:ext cx="3545738" cy="1143000"/>
            </a:xfrm>
            <a:prstGeom prst="roundRect">
              <a:avLst>
                <a:gd name="adj" fmla="val 12800"/>
              </a:avLst>
            </a:prstGeom>
            <a:solidFill>
              <a:srgbClr val="0C2B21"/>
            </a:solidFill>
            <a:ln w="12700">
              <a:solidFill>
                <a:srgbClr val="1D5A50"/>
              </a:solidFill>
            </a:ln>
            <a:effectLst/>
          </p:spPr>
          <p:txBody>
            <a:bodyPr rtlCol="0" anchor="ctr"/>
            <a:lstStyle/>
            <a:p/>
          </p:txBody>
        </p:sp>
        <p:sp>
          <p:nvSpPr>
            <p:cNvPr id="13" name="s12 TextBox 12"/>
            <p:cNvSpPr txBox="1"/>
            <p:nvPr/>
          </p:nvSpPr>
          <p:spPr>
            <a:xfrm>
              <a:off x="4597298" y="5148072"/>
              <a:ext cx="3088538" cy="594360"/>
            </a:xfrm>
            <a:prstGeom prst="rect">
              <a:avLst/>
            </a:prstGeom>
            <a:noFill/>
          </p:spPr>
          <p:txBody>
            <a:bodyPr wrap="square" lIns="0" rIns="0" tIns="0" bIns="0" anchor="t">
              <a:spAutoFit/>
            </a:bodyPr>
            <a:lstStyle/>
            <a:p>
              <a:pPr algn="l">
                <a:lnSpc>
                  <a:spcPct val="108000"/>
                </a:lnSpc>
              </a:pPr>
              <a:r>
                <a:rPr sz="2800" b="1" i="0" spc="-100">
                  <a:solidFill>
                    <a:srgbClr val="00E169"/>
                  </a:solidFill>
                  <a:latin typeface="Arial"/>
                </a:rPr>
                <a:t>LKR 26.5m</a:t>
              </a:r>
            </a:p>
          </p:txBody>
        </p:sp>
        <p:sp>
          <p:nvSpPr>
            <p:cNvPr id="14" name="s12 TextBox 13"/>
            <p:cNvSpPr txBox="1"/>
            <p:nvPr/>
          </p:nvSpPr>
          <p:spPr>
            <a:xfrm>
              <a:off x="4597298" y="5623560"/>
              <a:ext cx="3088538" cy="365760"/>
            </a:xfrm>
            <a:prstGeom prst="rect">
              <a:avLst/>
            </a:prstGeom>
            <a:noFill/>
          </p:spPr>
          <p:txBody>
            <a:bodyPr wrap="square" lIns="0" rIns="0" tIns="0" bIns="0" anchor="t">
              <a:spAutoFit/>
            </a:bodyPr>
            <a:lstStyle/>
            <a:p>
              <a:pPr algn="l">
                <a:lnSpc>
                  <a:spcPct val="108000"/>
                </a:lnSpc>
              </a:pPr>
              <a:r>
                <a:rPr sz="1300" b="0" i="0">
                  <a:solidFill>
                    <a:srgbClr val="A8BDB0"/>
                  </a:solidFill>
                  <a:latin typeface="Arial"/>
                </a:rPr>
                <a:t>expected value a year (estimate)</a:t>
              </a:r>
            </a:p>
          </p:txBody>
        </p:sp>
      </p:grpSp>
      <p:grpSp>
        <p:nvGrpSpPr>
          <p:cNvPr id="19" name="s12 Group 18"/>
          <p:cNvGrpSpPr/>
          <p:nvPr/>
        </p:nvGrpSpPr>
        <p:grpSpPr>
          <a:xfrm>
            <a:off x="8097316" y="4983480"/>
            <a:ext cx="3545738" cy="1143000"/>
            <a:chOff x="8097316" y="4983480"/>
            <a:chExt cx="3545738" cy="1143000"/>
          </a:xfrm>
        </p:grpSpPr>
        <p:sp>
          <p:nvSpPr>
            <p:cNvPr id="16" name="s12 Rounded Rectangle 15"/>
            <p:cNvSpPr/>
            <p:nvPr/>
          </p:nvSpPr>
          <p:spPr>
            <a:xfrm>
              <a:off x="8097316" y="4983480"/>
              <a:ext cx="3545738" cy="1143000"/>
            </a:xfrm>
            <a:prstGeom prst="roundRect">
              <a:avLst>
                <a:gd name="adj" fmla="val 12800"/>
              </a:avLst>
            </a:prstGeom>
            <a:solidFill>
              <a:srgbClr val="0C2B21"/>
            </a:solidFill>
            <a:ln w="12700">
              <a:solidFill>
                <a:srgbClr val="1D5A50"/>
              </a:solidFill>
            </a:ln>
            <a:effectLst/>
          </p:spPr>
          <p:txBody>
            <a:bodyPr rtlCol="0" anchor="ctr"/>
            <a:lstStyle/>
            <a:p/>
          </p:txBody>
        </p:sp>
        <p:sp>
          <p:nvSpPr>
            <p:cNvPr id="17" name="s12 TextBox 16"/>
            <p:cNvSpPr txBox="1"/>
            <p:nvPr/>
          </p:nvSpPr>
          <p:spPr>
            <a:xfrm>
              <a:off x="8371636" y="5148072"/>
              <a:ext cx="3088538" cy="594360"/>
            </a:xfrm>
            <a:prstGeom prst="rect">
              <a:avLst/>
            </a:prstGeom>
            <a:noFill/>
          </p:spPr>
          <p:txBody>
            <a:bodyPr wrap="square" lIns="0" rIns="0" tIns="0" bIns="0" anchor="t">
              <a:spAutoFit/>
            </a:bodyPr>
            <a:lstStyle/>
            <a:p>
              <a:pPr algn="l">
                <a:lnSpc>
                  <a:spcPct val="108000"/>
                </a:lnSpc>
              </a:pPr>
              <a:r>
                <a:rPr sz="2800" b="1" i="0" spc="-100">
                  <a:solidFill>
                    <a:srgbClr val="00E169"/>
                  </a:solidFill>
                  <a:latin typeface="Arial"/>
                </a:rPr>
                <a:t>8 weeks</a:t>
              </a:r>
            </a:p>
          </p:txBody>
        </p:sp>
        <p:sp>
          <p:nvSpPr>
            <p:cNvPr id="18" name="s12 TextBox 17"/>
            <p:cNvSpPr txBox="1"/>
            <p:nvPr/>
          </p:nvSpPr>
          <p:spPr>
            <a:xfrm>
              <a:off x="8371636" y="5623560"/>
              <a:ext cx="3088538" cy="365760"/>
            </a:xfrm>
            <a:prstGeom prst="rect">
              <a:avLst/>
            </a:prstGeom>
            <a:noFill/>
          </p:spPr>
          <p:txBody>
            <a:bodyPr wrap="square" lIns="0" rIns="0" tIns="0" bIns="0" anchor="t">
              <a:spAutoFit/>
            </a:bodyPr>
            <a:lstStyle/>
            <a:p>
              <a:pPr algn="l">
                <a:lnSpc>
                  <a:spcPct val="108000"/>
                </a:lnSpc>
              </a:pPr>
              <a:r>
                <a:rPr sz="1300" b="0" i="0">
                  <a:solidFill>
                    <a:srgbClr val="A8BDB0"/>
                  </a:solidFill>
                  <a:latin typeface="Arial"/>
                </a:rPr>
                <a:t>pilot at the Kandy hub</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800" decel="100000" fill="hold"/>
                                        <p:tgtEl>
                                          <p:spTgt spid="4"/>
                                        </p:tgtEl>
                                        <p:attrNameLst>
                                          <p:attrName>ppt_x</p:attrName>
                                        </p:attrNameLst>
                                      </p:cBhvr>
                                      <p:tavLst>
                                        <p:tav tm="0">
                                          <p:val>
                                            <p:strVal val="1+#ppt_w/2"/>
                                          </p:val>
                                        </p:tav>
                                        <p:tav tm="100000">
                                          <p:val>
                                            <p:strVal val="#ppt_x"/>
                                          </p:val>
                                        </p:tav>
                                      </p:tavLst>
                                    </p:anim>
                                    <p:anim calcmode="lin" valueType="num">
                                      <p:cBhvr additive="base">
                                        <p:cTn id="8" dur="800" decel="1000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800"/>
                            </p:stCondLst>
                            <p:childTnLst>
                              <p:par>
                                <p:cTn id="10" presetID="42" presetClass="entr" presetSubtype="0" fill="hold" nodeType="afterEffect" grpId="0">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decel="100000" fill="hold"/>
                                        <p:tgtEl>
                                          <p:spTgt spid="5"/>
                                        </p:tgtEl>
                                        <p:attrNameLst>
                                          <p:attrName>ppt_x</p:attrName>
                                        </p:attrNameLst>
                                      </p:cBhvr>
                                      <p:tavLst>
                                        <p:tav tm="0">
                                          <p:val>
                                            <p:strVal val="#ppt_x"/>
                                          </p:val>
                                        </p:tav>
                                        <p:tav tm="100000">
                                          <p:val>
                                            <p:strVal val="#ppt_x"/>
                                          </p:val>
                                        </p:tav>
                                      </p:tavLst>
                                    </p:anim>
                                    <p:anim calcmode="lin" valueType="num">
                                      <p:cBhvr>
                                        <p:cTn id="14" dur="500" decel="100000" fill="hold"/>
                                        <p:tgtEl>
                                          <p:spTgt spid="5"/>
                                        </p:tgtEl>
                                        <p:attrNameLst>
                                          <p:attrName>ppt_y</p:attrName>
                                        </p:attrNameLst>
                                      </p:cBhvr>
                                      <p:tavLst>
                                        <p:tav tm="0">
                                          <p:val>
                                            <p:strVal val="#ppt_y+.1"/>
                                          </p:val>
                                        </p:tav>
                                        <p:tav tm="100000">
                                          <p:val>
                                            <p:strVal val="#ppt_y"/>
                                          </p:val>
                                        </p:tav>
                                      </p:tavLst>
                                    </p:anim>
                                  </p:childTnLst>
                                </p:cTn>
                              </p:par>
                            </p:childTnLst>
                          </p:cTn>
                        </p:par>
                        <p:par>
                          <p:cTn id="15" fill="hold">
                            <p:stCondLst>
                              <p:cond delay="1300"/>
                            </p:stCondLst>
                            <p:childTnLst>
                              <p:par>
                                <p:cTn id="16" presetID="22" presetClass="entr" presetSubtype="8" fill="hold" nodeType="afterEffect" grpId="0">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700"/>
                                        <p:tgtEl>
                                          <p:spTgt spid="6"/>
                                        </p:tgtEl>
                                      </p:cBhvr>
                                    </p:animEffect>
                                  </p:childTnLst>
                                </p:cTn>
                              </p:par>
                            </p:childTnLst>
                          </p:cTn>
                        </p:par>
                        <p:par>
                          <p:cTn id="19" fill="hold">
                            <p:stCondLst>
                              <p:cond delay="2000"/>
                            </p:stCondLst>
                            <p:childTnLst>
                              <p:par>
                                <p:cTn id="20" presetID="10" presetClass="entr" presetSubtype="0" fill="hold" nodeType="afterEffect" grpId="0">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00"/>
                                        <p:tgtEl>
                                          <p:spTgt spid="7"/>
                                        </p:tgtEl>
                                      </p:cBhvr>
                                    </p:animEffect>
                                  </p:childTnLst>
                                </p:cTn>
                              </p:par>
                            </p:childTnLst>
                          </p:cTn>
                        </p:par>
                        <p:par>
                          <p:cTn id="23" fill="hold">
                            <p:stCondLst>
                              <p:cond delay="2300"/>
                            </p:stCondLst>
                            <p:childTnLst>
                              <p:par>
                                <p:cTn id="24" presetID="42" presetClass="entr" presetSubtype="0" fill="hold" nodeType="afterEffect">
                                  <p:stCondLst>
                                    <p:cond delay="4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50"/>
                                        <p:tgtEl>
                                          <p:spTgt spid="11"/>
                                        </p:tgtEl>
                                      </p:cBhvr>
                                    </p:animEffect>
                                    <p:anim calcmode="lin" valueType="num">
                                      <p:cBhvr>
                                        <p:cTn id="27" dur="350" decel="100000" fill="hold"/>
                                        <p:tgtEl>
                                          <p:spTgt spid="11"/>
                                        </p:tgtEl>
                                        <p:attrNameLst>
                                          <p:attrName>ppt_x</p:attrName>
                                        </p:attrNameLst>
                                      </p:cBhvr>
                                      <p:tavLst>
                                        <p:tav tm="0">
                                          <p:val>
                                            <p:strVal val="#ppt_x"/>
                                          </p:val>
                                        </p:tav>
                                        <p:tav tm="100000">
                                          <p:val>
                                            <p:strVal val="#ppt_x"/>
                                          </p:val>
                                        </p:tav>
                                      </p:tavLst>
                                    </p:anim>
                                    <p:anim calcmode="lin" valueType="num">
                                      <p:cBhvr>
                                        <p:cTn id="28" dur="350" decel="100000" fill="hold"/>
                                        <p:tgtEl>
                                          <p:spTgt spid="11"/>
                                        </p:tgtEl>
                                        <p:attrNameLst>
                                          <p:attrName>ppt_y</p:attrName>
                                        </p:attrNameLst>
                                      </p:cBhvr>
                                      <p:tavLst>
                                        <p:tav tm="0">
                                          <p:val>
                                            <p:strVal val="#ppt_y+.1"/>
                                          </p:val>
                                        </p:tav>
                                        <p:tav tm="100000">
                                          <p:val>
                                            <p:strVal val="#ppt_y"/>
                                          </p:val>
                                        </p:tav>
                                      </p:tavLst>
                                    </p:anim>
                                  </p:childTnLst>
                                </p:cTn>
                              </p:par>
                            </p:childTnLst>
                          </p:cTn>
                        </p:par>
                        <p:par>
                          <p:cTn id="29" fill="hold">
                            <p:stCondLst>
                              <p:cond delay="2690"/>
                            </p:stCondLst>
                            <p:childTnLst>
                              <p:par>
                                <p:cTn id="30" presetID="42" presetClass="entr" presetSubtype="0" fill="hold" nodeType="afterEffect">
                                  <p:stCondLst>
                                    <p:cond delay="4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50"/>
                                        <p:tgtEl>
                                          <p:spTgt spid="15"/>
                                        </p:tgtEl>
                                      </p:cBhvr>
                                    </p:animEffect>
                                    <p:anim calcmode="lin" valueType="num">
                                      <p:cBhvr>
                                        <p:cTn id="33" dur="350" decel="100000" fill="hold"/>
                                        <p:tgtEl>
                                          <p:spTgt spid="15"/>
                                        </p:tgtEl>
                                        <p:attrNameLst>
                                          <p:attrName>ppt_x</p:attrName>
                                        </p:attrNameLst>
                                      </p:cBhvr>
                                      <p:tavLst>
                                        <p:tav tm="0">
                                          <p:val>
                                            <p:strVal val="#ppt_x"/>
                                          </p:val>
                                        </p:tav>
                                        <p:tav tm="100000">
                                          <p:val>
                                            <p:strVal val="#ppt_x"/>
                                          </p:val>
                                        </p:tav>
                                      </p:tavLst>
                                    </p:anim>
                                    <p:anim calcmode="lin" valueType="num">
                                      <p:cBhvr>
                                        <p:cTn id="34" dur="350" decel="100000" fill="hold"/>
                                        <p:tgtEl>
                                          <p:spTgt spid="15"/>
                                        </p:tgtEl>
                                        <p:attrNameLst>
                                          <p:attrName>ppt_y</p:attrName>
                                        </p:attrNameLst>
                                      </p:cBhvr>
                                      <p:tavLst>
                                        <p:tav tm="0">
                                          <p:val>
                                            <p:strVal val="#ppt_y+.1"/>
                                          </p:val>
                                        </p:tav>
                                        <p:tav tm="100000">
                                          <p:val>
                                            <p:strVal val="#ppt_y"/>
                                          </p:val>
                                        </p:tav>
                                      </p:tavLst>
                                    </p:anim>
                                  </p:childTnLst>
                                </p:cTn>
                              </p:par>
                            </p:childTnLst>
                          </p:cTn>
                        </p:par>
                        <p:par>
                          <p:cTn id="35" fill="hold">
                            <p:stCondLst>
                              <p:cond delay="3080"/>
                            </p:stCondLst>
                            <p:childTnLst>
                              <p:par>
                                <p:cTn id="36" presetID="42" presetClass="entr" presetSubtype="0" fill="hold" nodeType="afterEffect">
                                  <p:stCondLst>
                                    <p:cond delay="4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350"/>
                                        <p:tgtEl>
                                          <p:spTgt spid="19"/>
                                        </p:tgtEl>
                                      </p:cBhvr>
                                    </p:animEffect>
                                    <p:anim calcmode="lin" valueType="num">
                                      <p:cBhvr>
                                        <p:cTn id="39" dur="350" decel="100000" fill="hold"/>
                                        <p:tgtEl>
                                          <p:spTgt spid="19"/>
                                        </p:tgtEl>
                                        <p:attrNameLst>
                                          <p:attrName>ppt_x</p:attrName>
                                        </p:attrNameLst>
                                      </p:cBhvr>
                                      <p:tavLst>
                                        <p:tav tm="0">
                                          <p:val>
                                            <p:strVal val="#ppt_x"/>
                                          </p:val>
                                        </p:tav>
                                        <p:tav tm="100000">
                                          <p:val>
                                            <p:strVal val="#ppt_x"/>
                                          </p:val>
                                        </p:tav>
                                      </p:tavLst>
                                    </p:anim>
                                    <p:anim calcmode="lin" valueType="num">
                                      <p:cBhvr>
                                        <p:cTn id="40" dur="350" decel="100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1B08"/>
        </a:solidFill>
        <a:effectLst/>
      </p:bgPr>
    </p:bg>
    <p:spTree>
      <p:nvGrpSpPr>
        <p:cNvPr id="1" name=""/>
        <p:cNvGrpSpPr/>
        <p:nvPr/>
      </p:nvGrpSpPr>
      <p:grpSpPr/>
      <p:sp>
        <p:nvSpPr>
          <p:cNvPr id="2" name="s13 Rounded Rectangle 1"/>
          <p:cNvSpPr/>
          <p:nvPr/>
        </p:nvSpPr>
        <p:spPr>
          <a:xfrm>
            <a:off x="548640" y="457200"/>
            <a:ext cx="856778" cy="292608"/>
          </a:xfrm>
          <a:prstGeom prst="roundRect">
            <a:avLst>
              <a:gd name="adj" fmla="val 50000"/>
            </a:avLst>
          </a:prstGeom>
          <a:solidFill>
            <a:srgbClr val="123A2E"/>
          </a:solidFill>
          <a:ln>
            <a:noFill/>
          </a:ln>
          <a:effectLst/>
        </p:spPr>
        <p:txBody>
          <a:bodyPr rtlCol="0" anchor="ctr" lIns="0" rIns="0" tIns="0" bIns="0" wrap="none"/>
          <a:lstStyle/>
          <a:p>
            <a:pPr algn="ctr"/>
            <a:r>
              <a:rPr sz="1150" b="1" i="0">
                <a:solidFill>
                  <a:srgbClr val="4FD8A4"/>
                </a:solidFill>
                <a:latin typeface="Arial"/>
              </a:rPr>
              <a:t>Backup</a:t>
            </a:r>
          </a:p>
        </p:txBody>
      </p:sp>
      <p:sp>
        <p:nvSpPr>
          <p:cNvPr id="3" name="s13 TextBox 2"/>
          <p:cNvSpPr txBox="1"/>
          <p:nvPr/>
        </p:nvSpPr>
        <p:spPr>
          <a:xfrm>
            <a:off x="548640" y="896112"/>
            <a:ext cx="11094415" cy="731520"/>
          </a:xfrm>
          <a:prstGeom prst="rect">
            <a:avLst/>
          </a:prstGeom>
          <a:noFill/>
        </p:spPr>
        <p:txBody>
          <a:bodyPr wrap="square" lIns="0" rIns="0" tIns="0" bIns="0" anchor="t">
            <a:spAutoFit/>
          </a:bodyPr>
          <a:lstStyle/>
          <a:p>
            <a:pPr algn="l">
              <a:lnSpc>
                <a:spcPct val="108000"/>
              </a:lnSpc>
            </a:pPr>
            <a:r>
              <a:rPr sz="3400" b="1" i="0" spc="-80">
                <a:solidFill>
                  <a:srgbClr val="EDF5F0"/>
                </a:solidFill>
                <a:latin typeface="Arial"/>
              </a:rPr>
              <a:t>Answers at a glance</a:t>
            </a:r>
          </a:p>
        </p:txBody>
      </p:sp>
      <p:sp>
        <p:nvSpPr>
          <p:cNvPr id="4" name="s13 Rounded Rectangle 3">
            <a:hlinkClick action="ppaction://hlinksldjump" r:id="rId3"/>
          </p:cNvPr>
          <p:cNvSpPr/>
          <p:nvPr/>
        </p:nvSpPr>
        <p:spPr>
          <a:xfrm>
            <a:off x="548640" y="1828800"/>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5" name="s13 TextBox 4"/>
          <p:cNvSpPr txBox="1"/>
          <p:nvPr/>
        </p:nvSpPr>
        <p:spPr>
          <a:xfrm>
            <a:off x="749808" y="1828800"/>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14</a:t>
            </a:r>
          </a:p>
        </p:txBody>
      </p:sp>
      <p:sp>
        <p:nvSpPr>
          <p:cNvPr id="6" name="s13 TextBox 5"/>
          <p:cNvSpPr txBox="1"/>
          <p:nvPr/>
        </p:nvSpPr>
        <p:spPr>
          <a:xfrm>
            <a:off x="1325880" y="1828800"/>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How GO is built</a:t>
            </a:r>
          </a:p>
        </p:txBody>
      </p:sp>
      <p:sp>
        <p:nvSpPr>
          <p:cNvPr id="7" name="s13 Rounded Rectangle 6">
            <a:hlinkClick action="ppaction://hlinksldjump" r:id="rId4"/>
          </p:cNvPr>
          <p:cNvSpPr/>
          <p:nvPr/>
        </p:nvSpPr>
        <p:spPr>
          <a:xfrm>
            <a:off x="548640" y="2432304"/>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8" name="s13 TextBox 7"/>
          <p:cNvSpPr txBox="1"/>
          <p:nvPr/>
        </p:nvSpPr>
        <p:spPr>
          <a:xfrm>
            <a:off x="749808" y="2432304"/>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15</a:t>
            </a:r>
          </a:p>
        </p:txBody>
      </p:sp>
      <p:sp>
        <p:nvSpPr>
          <p:cNvPr id="9" name="s13 TextBox 8"/>
          <p:cNvSpPr txBox="1"/>
          <p:nvPr/>
        </p:nvSpPr>
        <p:spPr>
          <a:xfrm>
            <a:off x="1325880" y="2432304"/>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The planning engine</a:t>
            </a:r>
          </a:p>
        </p:txBody>
      </p:sp>
      <p:sp>
        <p:nvSpPr>
          <p:cNvPr id="10" name="s13 Rounded Rectangle 9">
            <a:hlinkClick action="ppaction://hlinksldjump" r:id="rId5"/>
          </p:cNvPr>
          <p:cNvSpPr/>
          <p:nvPr/>
        </p:nvSpPr>
        <p:spPr>
          <a:xfrm>
            <a:off x="548640" y="3035808"/>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11" name="s13 TextBox 10"/>
          <p:cNvSpPr txBox="1"/>
          <p:nvPr/>
        </p:nvSpPr>
        <p:spPr>
          <a:xfrm>
            <a:off x="749808" y="3035808"/>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16</a:t>
            </a:r>
          </a:p>
        </p:txBody>
      </p:sp>
      <p:sp>
        <p:nvSpPr>
          <p:cNvPr id="12" name="s13 TextBox 11"/>
          <p:cNvSpPr txBox="1"/>
          <p:nvPr/>
        </p:nvSpPr>
        <p:spPr>
          <a:xfrm>
            <a:off x="1325880" y="3035808"/>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Task 1 · Late risk and unloading time</a:t>
            </a:r>
          </a:p>
        </p:txBody>
      </p:sp>
      <p:sp>
        <p:nvSpPr>
          <p:cNvPr id="13" name="s13 Rounded Rectangle 12">
            <a:hlinkClick action="ppaction://hlinksldjump" r:id="rId6"/>
          </p:cNvPr>
          <p:cNvSpPr/>
          <p:nvPr/>
        </p:nvSpPr>
        <p:spPr>
          <a:xfrm>
            <a:off x="548640" y="3639312"/>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14" name="s13 TextBox 13"/>
          <p:cNvSpPr txBox="1"/>
          <p:nvPr/>
        </p:nvSpPr>
        <p:spPr>
          <a:xfrm>
            <a:off x="749808" y="3639312"/>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17</a:t>
            </a:r>
          </a:p>
        </p:txBody>
      </p:sp>
      <p:sp>
        <p:nvSpPr>
          <p:cNvPr id="15" name="s13 TextBox 14"/>
          <p:cNvSpPr txBox="1"/>
          <p:nvPr/>
        </p:nvSpPr>
        <p:spPr>
          <a:xfrm>
            <a:off x="1325880" y="3639312"/>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Task 2A · Demand forecast</a:t>
            </a:r>
          </a:p>
        </p:txBody>
      </p:sp>
      <p:sp>
        <p:nvSpPr>
          <p:cNvPr id="16" name="s13 Rounded Rectangle 15">
            <a:hlinkClick action="ppaction://hlinksldjump" r:id="rId7"/>
          </p:cNvPr>
          <p:cNvSpPr/>
          <p:nvPr/>
        </p:nvSpPr>
        <p:spPr>
          <a:xfrm>
            <a:off x="548640" y="4242816"/>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17" name="s13 TextBox 16"/>
          <p:cNvSpPr txBox="1"/>
          <p:nvPr/>
        </p:nvSpPr>
        <p:spPr>
          <a:xfrm>
            <a:off x="749808" y="4242816"/>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18</a:t>
            </a:r>
          </a:p>
        </p:txBody>
      </p:sp>
      <p:sp>
        <p:nvSpPr>
          <p:cNvPr id="18" name="s13 TextBox 17"/>
          <p:cNvSpPr txBox="1"/>
          <p:nvPr/>
        </p:nvSpPr>
        <p:spPr>
          <a:xfrm>
            <a:off x="1325880" y="4242816"/>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Task 2B · The peak-day plan</a:t>
            </a:r>
          </a:p>
        </p:txBody>
      </p:sp>
      <p:sp>
        <p:nvSpPr>
          <p:cNvPr id="19" name="s13 Rounded Rectangle 18">
            <a:hlinkClick action="ppaction://hlinksldjump" r:id="rId8"/>
          </p:cNvPr>
          <p:cNvSpPr/>
          <p:nvPr/>
        </p:nvSpPr>
        <p:spPr>
          <a:xfrm>
            <a:off x="548640" y="4846320"/>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20" name="s13 TextBox 19"/>
          <p:cNvSpPr txBox="1"/>
          <p:nvPr/>
        </p:nvSpPr>
        <p:spPr>
          <a:xfrm>
            <a:off x="749808" y="4846320"/>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19</a:t>
            </a:r>
          </a:p>
        </p:txBody>
      </p:sp>
      <p:sp>
        <p:nvSpPr>
          <p:cNvPr id="21" name="s13 TextBox 20"/>
          <p:cNvSpPr txBox="1"/>
          <p:nvPr/>
        </p:nvSpPr>
        <p:spPr>
          <a:xfrm>
            <a:off x="1325880" y="4846320"/>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Trust, safety and privacy</a:t>
            </a:r>
          </a:p>
        </p:txBody>
      </p:sp>
      <p:sp>
        <p:nvSpPr>
          <p:cNvPr id="22" name="s13 Rounded Rectangle 21">
            <a:hlinkClick action="ppaction://hlinksldjump" r:id="rId9"/>
          </p:cNvPr>
          <p:cNvSpPr/>
          <p:nvPr/>
        </p:nvSpPr>
        <p:spPr>
          <a:xfrm>
            <a:off x="548640" y="5449824"/>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23" name="s13 TextBox 22"/>
          <p:cNvSpPr txBox="1"/>
          <p:nvPr/>
        </p:nvSpPr>
        <p:spPr>
          <a:xfrm>
            <a:off x="749808" y="5449824"/>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20</a:t>
            </a:r>
          </a:p>
        </p:txBody>
      </p:sp>
      <p:sp>
        <p:nvSpPr>
          <p:cNvPr id="24" name="s13 TextBox 23"/>
          <p:cNvSpPr txBox="1"/>
          <p:nvPr/>
        </p:nvSpPr>
        <p:spPr>
          <a:xfrm>
            <a:off x="1325880" y="5449824"/>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Works offline, fails gracefully</a:t>
            </a:r>
          </a:p>
        </p:txBody>
      </p:sp>
      <p:sp>
        <p:nvSpPr>
          <p:cNvPr id="25" name="s13 Rounded Rectangle 24">
            <a:hlinkClick action="ppaction://hlinksldjump" r:id="rId10"/>
          </p:cNvPr>
          <p:cNvSpPr/>
          <p:nvPr/>
        </p:nvSpPr>
        <p:spPr>
          <a:xfrm>
            <a:off x="6233007" y="1828800"/>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26" name="s13 TextBox 25"/>
          <p:cNvSpPr txBox="1"/>
          <p:nvPr/>
        </p:nvSpPr>
        <p:spPr>
          <a:xfrm>
            <a:off x="6434175" y="1828800"/>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21</a:t>
            </a:r>
          </a:p>
        </p:txBody>
      </p:sp>
      <p:sp>
        <p:nvSpPr>
          <p:cNvPr id="27" name="s13 TextBox 26"/>
          <p:cNvSpPr txBox="1"/>
          <p:nvPr/>
        </p:nvSpPr>
        <p:spPr>
          <a:xfrm>
            <a:off x="7010247" y="1828800"/>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Business case</a:t>
            </a:r>
          </a:p>
        </p:txBody>
      </p:sp>
      <p:sp>
        <p:nvSpPr>
          <p:cNvPr id="28" name="s13 Rounded Rectangle 27">
            <a:hlinkClick action="ppaction://hlinksldjump" r:id="rId11"/>
          </p:cNvPr>
          <p:cNvSpPr/>
          <p:nvPr/>
        </p:nvSpPr>
        <p:spPr>
          <a:xfrm>
            <a:off x="6233007" y="2432304"/>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29" name="s13 TextBox 28"/>
          <p:cNvSpPr txBox="1"/>
          <p:nvPr/>
        </p:nvSpPr>
        <p:spPr>
          <a:xfrm>
            <a:off x="6434175" y="2432304"/>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22</a:t>
            </a:r>
          </a:p>
        </p:txBody>
      </p:sp>
      <p:sp>
        <p:nvSpPr>
          <p:cNvPr id="30" name="s13 TextBox 29"/>
          <p:cNvSpPr txBox="1"/>
          <p:nvPr/>
        </p:nvSpPr>
        <p:spPr>
          <a:xfrm>
            <a:off x="7010247" y="2432304"/>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Rollout plan and risks</a:t>
            </a:r>
          </a:p>
        </p:txBody>
      </p:sp>
      <p:sp>
        <p:nvSpPr>
          <p:cNvPr id="31" name="s13 Rounded Rectangle 30">
            <a:hlinkClick action="ppaction://hlinksldjump" r:id="rId12"/>
          </p:cNvPr>
          <p:cNvSpPr/>
          <p:nvPr/>
        </p:nvSpPr>
        <p:spPr>
          <a:xfrm>
            <a:off x="6233007" y="3035808"/>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32" name="s13 TextBox 31"/>
          <p:cNvSpPr txBox="1"/>
          <p:nvPr/>
        </p:nvSpPr>
        <p:spPr>
          <a:xfrm>
            <a:off x="6434175" y="3035808"/>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23</a:t>
            </a:r>
          </a:p>
        </p:txBody>
      </p:sp>
      <p:sp>
        <p:nvSpPr>
          <p:cNvPr id="33" name="s13 TextBox 32"/>
          <p:cNvSpPr txBox="1"/>
          <p:nvPr/>
        </p:nvSpPr>
        <p:spPr>
          <a:xfrm>
            <a:off x="7010247" y="3035808"/>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Beyond Waypoint: market and revenue</a:t>
            </a:r>
          </a:p>
        </p:txBody>
      </p:sp>
      <p:sp>
        <p:nvSpPr>
          <p:cNvPr id="34" name="s13 Rounded Rectangle 33">
            <a:hlinkClick action="ppaction://hlinksldjump" r:id="rId13"/>
          </p:cNvPr>
          <p:cNvSpPr/>
          <p:nvPr/>
        </p:nvSpPr>
        <p:spPr>
          <a:xfrm>
            <a:off x="6233007" y="3639312"/>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35" name="s13 TextBox 34"/>
          <p:cNvSpPr txBox="1"/>
          <p:nvPr/>
        </p:nvSpPr>
        <p:spPr>
          <a:xfrm>
            <a:off x="6434175" y="3639312"/>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24</a:t>
            </a:r>
          </a:p>
        </p:txBody>
      </p:sp>
      <p:sp>
        <p:nvSpPr>
          <p:cNvPr id="36" name="s13 TextBox 35"/>
          <p:cNvSpPr txBox="1"/>
          <p:nvPr/>
        </p:nvSpPr>
        <p:spPr>
          <a:xfrm>
            <a:off x="7010247" y="3639312"/>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From design to product, and our honest limits</a:t>
            </a:r>
          </a:p>
        </p:txBody>
      </p:sp>
      <p:sp>
        <p:nvSpPr>
          <p:cNvPr id="37" name="s13 Rounded Rectangle 36">
            <a:hlinkClick action="ppaction://hlinksldjump" r:id="rId14"/>
          </p:cNvPr>
          <p:cNvSpPr/>
          <p:nvPr/>
        </p:nvSpPr>
        <p:spPr>
          <a:xfrm>
            <a:off x="6233007" y="4242816"/>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38" name="s13 TextBox 37"/>
          <p:cNvSpPr txBox="1"/>
          <p:nvPr/>
        </p:nvSpPr>
        <p:spPr>
          <a:xfrm>
            <a:off x="6434175" y="4242816"/>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25</a:t>
            </a:r>
          </a:p>
        </p:txBody>
      </p:sp>
      <p:sp>
        <p:nvSpPr>
          <p:cNvPr id="39" name="s13 TextBox 38"/>
          <p:cNvSpPr txBox="1"/>
          <p:nvPr/>
        </p:nvSpPr>
        <p:spPr>
          <a:xfrm>
            <a:off x="7010247" y="4242816"/>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Engineering quality</a:t>
            </a:r>
          </a:p>
        </p:txBody>
      </p:sp>
      <p:sp>
        <p:nvSpPr>
          <p:cNvPr id="40" name="s13 Rounded Rectangle 39">
            <a:hlinkClick action="ppaction://hlinksldjump" r:id="rId15"/>
          </p:cNvPr>
          <p:cNvSpPr/>
          <p:nvPr/>
        </p:nvSpPr>
        <p:spPr>
          <a:xfrm>
            <a:off x="6233007" y="4846320"/>
            <a:ext cx="5410047" cy="475488"/>
          </a:xfrm>
          <a:prstGeom prst="roundRect">
            <a:avLst>
              <a:gd name="adj" fmla="val 50000"/>
            </a:avLst>
          </a:prstGeom>
          <a:solidFill>
            <a:srgbClr val="0C2B21"/>
          </a:solidFill>
          <a:ln w="12700">
            <a:solidFill>
              <a:srgbClr val="1D5A50"/>
            </a:solidFill>
          </a:ln>
          <a:effectLst/>
        </p:spPr>
        <p:txBody>
          <a:bodyPr rtlCol="0" anchor="ctr"/>
          <a:lstStyle/>
          <a:p/>
        </p:txBody>
      </p:sp>
      <p:sp>
        <p:nvSpPr>
          <p:cNvPr id="41" name="s13 TextBox 40"/>
          <p:cNvSpPr txBox="1"/>
          <p:nvPr/>
        </p:nvSpPr>
        <p:spPr>
          <a:xfrm>
            <a:off x="6434175" y="4846320"/>
            <a:ext cx="640080" cy="475488"/>
          </a:xfrm>
          <a:prstGeom prst="rect">
            <a:avLst/>
          </a:prstGeom>
          <a:noFill/>
        </p:spPr>
        <p:txBody>
          <a:bodyPr wrap="square" lIns="0" rIns="0" tIns="0" bIns="0" anchor="ctr">
            <a:spAutoFit/>
          </a:bodyPr>
          <a:lstStyle/>
          <a:p>
            <a:pPr algn="l">
              <a:lnSpc>
                <a:spcPct val="108000"/>
              </a:lnSpc>
            </a:pPr>
            <a:r>
              <a:rPr sz="1500" b="1" i="0">
                <a:solidFill>
                  <a:srgbClr val="00E169"/>
                </a:solidFill>
                <a:latin typeface="Arial"/>
              </a:rPr>
              <a:t>26</a:t>
            </a:r>
          </a:p>
        </p:txBody>
      </p:sp>
      <p:sp>
        <p:nvSpPr>
          <p:cNvPr id="42" name="s13 TextBox 41"/>
          <p:cNvSpPr txBox="1"/>
          <p:nvPr/>
        </p:nvSpPr>
        <p:spPr>
          <a:xfrm>
            <a:off x="7010247" y="4846320"/>
            <a:ext cx="4495647" cy="475488"/>
          </a:xfrm>
          <a:prstGeom prst="rect">
            <a:avLst/>
          </a:prstGeom>
          <a:noFill/>
        </p:spPr>
        <p:txBody>
          <a:bodyPr wrap="square" lIns="0" rIns="0" tIns="0" bIns="0" anchor="ctr">
            <a:spAutoFit/>
          </a:bodyPr>
          <a:lstStyle/>
          <a:p>
            <a:pPr algn="l">
              <a:lnSpc>
                <a:spcPct val="108000"/>
              </a:lnSpc>
            </a:pPr>
            <a:r>
              <a:rPr sz="1400" b="0" i="0">
                <a:solidFill>
                  <a:srgbClr val="FFFFFF"/>
                </a:solidFill>
                <a:latin typeface="Arial"/>
              </a:rPr>
              <a:t>Numbers at a glance</a:t>
            </a:r>
          </a:p>
        </p:txBody>
      </p:sp>
      <p:sp>
        <p:nvSpPr>
          <p:cNvPr id="43" name="s13 TextBox 42"/>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A8BDB0"/>
                </a:solidFill>
                <a:latin typeface="Arial"/>
              </a:rPr>
              <a:t>Waypoint GO · Team Xception</a:t>
            </a:r>
          </a:p>
        </p:txBody>
      </p:sp>
      <p:sp>
        <p:nvSpPr>
          <p:cNvPr id="44" name="s13 TextBox 43"/>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A8BDB0"/>
                </a:solidFill>
                <a:latin typeface="Arial"/>
              </a:rPr>
              <a:t>13</a:t>
            </a:r>
          </a:p>
        </p:txBody>
      </p:sp>
    </p:spTree>
  </p:cSld>
  <p:clrMapOvr>
    <a:masterClrMapping/>
  </p:clrMapOvr>
  <p:transition spd="fast">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4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14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14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How GO is built</a:t>
            </a:r>
          </a:p>
        </p:txBody>
      </p:sp>
      <p:sp>
        <p:nvSpPr>
          <p:cNvPr id="5" name="s14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One web app for every role, a modular backend, and the models served beside it</a:t>
            </a:r>
          </a:p>
        </p:txBody>
      </p:sp>
      <p:sp>
        <p:nvSpPr>
          <p:cNvPr id="6" name="s14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14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14</a:t>
            </a:r>
          </a:p>
        </p:txBody>
      </p:sp>
      <p:sp>
        <p:nvSpPr>
          <p:cNvPr id="8" name="s14 Rounded Rectangle 7"/>
          <p:cNvSpPr/>
          <p:nvPr/>
        </p:nvSpPr>
        <p:spPr>
          <a:xfrm>
            <a:off x="548640" y="1691640"/>
            <a:ext cx="2602153" cy="3886200"/>
          </a:xfrm>
          <a:prstGeom prst="roundRect">
            <a:avLst>
              <a:gd name="adj" fmla="val 5622"/>
            </a:avLst>
          </a:prstGeom>
          <a:solidFill>
            <a:srgbClr val="FFFFFF"/>
          </a:solidFill>
          <a:ln w="12700">
            <a:solidFill>
              <a:srgbClr val="D9E3DE"/>
            </a:solidFill>
          </a:ln>
          <a:effectLst/>
        </p:spPr>
        <p:txBody>
          <a:bodyPr rtlCol="0" anchor="ctr"/>
          <a:lstStyle/>
          <a:p/>
        </p:txBody>
      </p:sp>
      <p:sp>
        <p:nvSpPr>
          <p:cNvPr id="9" name="s14 Rounded Rectangle 8"/>
          <p:cNvSpPr/>
          <p:nvPr/>
        </p:nvSpPr>
        <p:spPr>
          <a:xfrm>
            <a:off x="548640" y="1691640"/>
            <a:ext cx="2602153" cy="502920"/>
          </a:xfrm>
          <a:prstGeom prst="roundRect">
            <a:avLst>
              <a:gd name="adj" fmla="val 32727"/>
            </a:avLst>
          </a:prstGeom>
          <a:solidFill>
            <a:srgbClr val="B7F2ED"/>
          </a:solidFill>
          <a:ln>
            <a:noFill/>
          </a:ln>
          <a:effectLst/>
        </p:spPr>
        <p:txBody>
          <a:bodyPr rtlCol="0" anchor="ctr"/>
          <a:lstStyle/>
          <a:p/>
        </p:txBody>
      </p:sp>
      <p:sp>
        <p:nvSpPr>
          <p:cNvPr id="10" name="s14 TextBox 9"/>
          <p:cNvSpPr txBox="1"/>
          <p:nvPr/>
        </p:nvSpPr>
        <p:spPr>
          <a:xfrm>
            <a:off x="731520" y="1691640"/>
            <a:ext cx="2327833" cy="502920"/>
          </a:xfrm>
          <a:prstGeom prst="rect">
            <a:avLst/>
          </a:prstGeom>
          <a:noFill/>
        </p:spPr>
        <p:txBody>
          <a:bodyPr wrap="square" lIns="0" rIns="0" tIns="0" bIns="0" anchor="ctr">
            <a:spAutoFit/>
          </a:bodyPr>
          <a:lstStyle/>
          <a:p>
            <a:pPr algn="l">
              <a:lnSpc>
                <a:spcPct val="108000"/>
              </a:lnSpc>
            </a:pPr>
            <a:r>
              <a:rPr sz="1400" b="1" i="0">
                <a:solidFill>
                  <a:srgbClr val="031B08"/>
                </a:solidFill>
                <a:latin typeface="Arial"/>
              </a:rPr>
              <a:t>People</a:t>
            </a:r>
          </a:p>
        </p:txBody>
      </p:sp>
      <p:sp>
        <p:nvSpPr>
          <p:cNvPr id="11" name="s14 Oval 10"/>
          <p:cNvSpPr/>
          <p:nvPr/>
        </p:nvSpPr>
        <p:spPr>
          <a:xfrm>
            <a:off x="749808" y="2450592"/>
            <a:ext cx="82296" cy="82296"/>
          </a:xfrm>
          <a:prstGeom prst="ellipse">
            <a:avLst/>
          </a:prstGeom>
          <a:solidFill>
            <a:srgbClr val="0A6B63"/>
          </a:solidFill>
          <a:ln>
            <a:noFill/>
          </a:ln>
          <a:effectLst/>
        </p:spPr>
        <p:txBody>
          <a:bodyPr rtlCol="0" anchor="ctr"/>
          <a:lstStyle/>
          <a:p>
            <a:pPr algn="ctr"/>
          </a:p>
        </p:txBody>
      </p:sp>
      <p:sp>
        <p:nvSpPr>
          <p:cNvPr id="12" name="s14 TextBox 11"/>
          <p:cNvSpPr txBox="1"/>
          <p:nvPr/>
        </p:nvSpPr>
        <p:spPr>
          <a:xfrm>
            <a:off x="914400" y="2359152"/>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Store manager · desktop or phone</a:t>
            </a:r>
          </a:p>
        </p:txBody>
      </p:sp>
      <p:sp>
        <p:nvSpPr>
          <p:cNvPr id="13" name="s14 Oval 12"/>
          <p:cNvSpPr/>
          <p:nvPr/>
        </p:nvSpPr>
        <p:spPr>
          <a:xfrm>
            <a:off x="749808" y="3054096"/>
            <a:ext cx="82296" cy="82296"/>
          </a:xfrm>
          <a:prstGeom prst="ellipse">
            <a:avLst/>
          </a:prstGeom>
          <a:solidFill>
            <a:srgbClr val="0A6B63"/>
          </a:solidFill>
          <a:ln>
            <a:noFill/>
          </a:ln>
          <a:effectLst/>
        </p:spPr>
        <p:txBody>
          <a:bodyPr rtlCol="0" anchor="ctr"/>
          <a:lstStyle/>
          <a:p>
            <a:pPr algn="ctr"/>
          </a:p>
        </p:txBody>
      </p:sp>
      <p:sp>
        <p:nvSpPr>
          <p:cNvPr id="14" name="s14 TextBox 13"/>
          <p:cNvSpPr txBox="1"/>
          <p:nvPr/>
        </p:nvSpPr>
        <p:spPr>
          <a:xfrm>
            <a:off x="914400" y="2962656"/>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Dispatcher · desktop</a:t>
            </a:r>
          </a:p>
        </p:txBody>
      </p:sp>
      <p:sp>
        <p:nvSpPr>
          <p:cNvPr id="15" name="s14 Oval 14"/>
          <p:cNvSpPr/>
          <p:nvPr/>
        </p:nvSpPr>
        <p:spPr>
          <a:xfrm>
            <a:off x="749808" y="3657600"/>
            <a:ext cx="82296" cy="82296"/>
          </a:xfrm>
          <a:prstGeom prst="ellipse">
            <a:avLst/>
          </a:prstGeom>
          <a:solidFill>
            <a:srgbClr val="0A6B63"/>
          </a:solidFill>
          <a:ln>
            <a:noFill/>
          </a:ln>
          <a:effectLst/>
        </p:spPr>
        <p:txBody>
          <a:bodyPr rtlCol="0" anchor="ctr"/>
          <a:lstStyle/>
          <a:p>
            <a:pPr algn="ctr"/>
          </a:p>
        </p:txBody>
      </p:sp>
      <p:sp>
        <p:nvSpPr>
          <p:cNvPr id="16" name="s14 TextBox 15"/>
          <p:cNvSpPr txBox="1"/>
          <p:nvPr/>
        </p:nvSpPr>
        <p:spPr>
          <a:xfrm>
            <a:off x="914400" y="3566160"/>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Loader · shared tablet, PIN</a:t>
            </a:r>
          </a:p>
        </p:txBody>
      </p:sp>
      <p:sp>
        <p:nvSpPr>
          <p:cNvPr id="17" name="s14 Oval 16"/>
          <p:cNvSpPr/>
          <p:nvPr/>
        </p:nvSpPr>
        <p:spPr>
          <a:xfrm>
            <a:off x="749808" y="4261104"/>
            <a:ext cx="82296" cy="82296"/>
          </a:xfrm>
          <a:prstGeom prst="ellipse">
            <a:avLst/>
          </a:prstGeom>
          <a:solidFill>
            <a:srgbClr val="0A6B63"/>
          </a:solidFill>
          <a:ln>
            <a:noFill/>
          </a:ln>
          <a:effectLst/>
        </p:spPr>
        <p:txBody>
          <a:bodyPr rtlCol="0" anchor="ctr"/>
          <a:lstStyle/>
          <a:p>
            <a:pPr algn="ctr"/>
          </a:p>
        </p:txBody>
      </p:sp>
      <p:sp>
        <p:nvSpPr>
          <p:cNvPr id="18" name="s14 TextBox 17"/>
          <p:cNvSpPr txBox="1"/>
          <p:nvPr/>
        </p:nvSpPr>
        <p:spPr>
          <a:xfrm>
            <a:off x="914400" y="4169664"/>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Driver · phone, offline</a:t>
            </a:r>
          </a:p>
        </p:txBody>
      </p:sp>
      <p:sp>
        <p:nvSpPr>
          <p:cNvPr id="19" name="s14 Oval 18"/>
          <p:cNvSpPr/>
          <p:nvPr/>
        </p:nvSpPr>
        <p:spPr>
          <a:xfrm>
            <a:off x="749808" y="4864608"/>
            <a:ext cx="82296" cy="82296"/>
          </a:xfrm>
          <a:prstGeom prst="ellipse">
            <a:avLst/>
          </a:prstGeom>
          <a:solidFill>
            <a:srgbClr val="0A6B63"/>
          </a:solidFill>
          <a:ln>
            <a:noFill/>
          </a:ln>
          <a:effectLst/>
        </p:spPr>
        <p:txBody>
          <a:bodyPr rtlCol="0" anchor="ctr"/>
          <a:lstStyle/>
          <a:p>
            <a:pPr algn="ctr"/>
          </a:p>
        </p:txBody>
      </p:sp>
      <p:sp>
        <p:nvSpPr>
          <p:cNvPr id="20" name="s14 TextBox 19"/>
          <p:cNvSpPr txBox="1"/>
          <p:nvPr/>
        </p:nvSpPr>
        <p:spPr>
          <a:xfrm>
            <a:off x="914400" y="4773168"/>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AI assistants · Claude, ChatGPT via MCP</a:t>
            </a:r>
          </a:p>
        </p:txBody>
      </p:sp>
      <p:cxnSp>
        <p:nvCxnSpPr>
          <p:cNvPr id="21" name="s14 Connector 20"/>
          <p:cNvCxnSpPr/>
          <p:nvPr/>
        </p:nvCxnSpPr>
        <p:spPr>
          <a:xfrm>
            <a:off x="3178225" y="3611880"/>
            <a:ext cx="173736" cy="0"/>
          </a:xfrm>
          <a:prstGeom prst="line">
            <a:avLst/>
          </a:prstGeom>
          <a:ln w="25400">
            <a:solidFill>
              <a:srgbClr val="0A6B63"/>
            </a:solidFill>
            <a:tailEnd type="triangle" w="med" len="med"/>
          </a:ln>
          <a:effectLst/>
        </p:spPr>
      </p:cxnSp>
      <p:sp>
        <p:nvSpPr>
          <p:cNvPr id="22" name="s14 Rounded Rectangle 21"/>
          <p:cNvSpPr/>
          <p:nvPr/>
        </p:nvSpPr>
        <p:spPr>
          <a:xfrm>
            <a:off x="3379393" y="1691640"/>
            <a:ext cx="2602153" cy="3886200"/>
          </a:xfrm>
          <a:prstGeom prst="roundRect">
            <a:avLst>
              <a:gd name="adj" fmla="val 5622"/>
            </a:avLst>
          </a:prstGeom>
          <a:solidFill>
            <a:srgbClr val="FFFFFF"/>
          </a:solidFill>
          <a:ln w="12700">
            <a:solidFill>
              <a:srgbClr val="D9E3DE"/>
            </a:solidFill>
          </a:ln>
          <a:effectLst/>
        </p:spPr>
        <p:txBody>
          <a:bodyPr rtlCol="0" anchor="ctr"/>
          <a:lstStyle/>
          <a:p/>
        </p:txBody>
      </p:sp>
      <p:sp>
        <p:nvSpPr>
          <p:cNvPr id="23" name="s14 Rounded Rectangle 22"/>
          <p:cNvSpPr/>
          <p:nvPr/>
        </p:nvSpPr>
        <p:spPr>
          <a:xfrm>
            <a:off x="3379393" y="1691640"/>
            <a:ext cx="2602153" cy="502920"/>
          </a:xfrm>
          <a:prstGeom prst="roundRect">
            <a:avLst>
              <a:gd name="adj" fmla="val 32727"/>
            </a:avLst>
          </a:prstGeom>
          <a:solidFill>
            <a:srgbClr val="DDEFEC"/>
          </a:solidFill>
          <a:ln>
            <a:noFill/>
          </a:ln>
          <a:effectLst/>
        </p:spPr>
        <p:txBody>
          <a:bodyPr rtlCol="0" anchor="ctr"/>
          <a:lstStyle/>
          <a:p/>
        </p:txBody>
      </p:sp>
      <p:sp>
        <p:nvSpPr>
          <p:cNvPr id="24" name="s14 TextBox 23"/>
          <p:cNvSpPr txBox="1"/>
          <p:nvPr/>
        </p:nvSpPr>
        <p:spPr>
          <a:xfrm>
            <a:off x="3562273" y="1691640"/>
            <a:ext cx="2327833" cy="502920"/>
          </a:xfrm>
          <a:prstGeom prst="rect">
            <a:avLst/>
          </a:prstGeom>
          <a:noFill/>
        </p:spPr>
        <p:txBody>
          <a:bodyPr wrap="square" lIns="0" rIns="0" tIns="0" bIns="0" anchor="ctr">
            <a:spAutoFit/>
          </a:bodyPr>
          <a:lstStyle/>
          <a:p>
            <a:pPr algn="l">
              <a:lnSpc>
                <a:spcPct val="108000"/>
              </a:lnSpc>
            </a:pPr>
            <a:r>
              <a:rPr sz="1400" b="1" i="0">
                <a:solidFill>
                  <a:srgbClr val="031B08"/>
                </a:solidFill>
                <a:latin typeface="Arial"/>
              </a:rPr>
              <a:t>Web app (Next.js PWA)</a:t>
            </a:r>
          </a:p>
        </p:txBody>
      </p:sp>
      <p:sp>
        <p:nvSpPr>
          <p:cNvPr id="25" name="s14 Oval 24"/>
          <p:cNvSpPr/>
          <p:nvPr/>
        </p:nvSpPr>
        <p:spPr>
          <a:xfrm>
            <a:off x="3580561" y="2450592"/>
            <a:ext cx="82296" cy="82296"/>
          </a:xfrm>
          <a:prstGeom prst="ellipse">
            <a:avLst/>
          </a:prstGeom>
          <a:solidFill>
            <a:srgbClr val="0A6B63"/>
          </a:solidFill>
          <a:ln>
            <a:noFill/>
          </a:ln>
          <a:effectLst/>
        </p:spPr>
        <p:txBody>
          <a:bodyPr rtlCol="0" anchor="ctr"/>
          <a:lstStyle/>
          <a:p>
            <a:pPr algn="ctr"/>
          </a:p>
        </p:txBody>
      </p:sp>
      <p:sp>
        <p:nvSpPr>
          <p:cNvPr id="26" name="s14 TextBox 25"/>
          <p:cNvSpPr txBox="1"/>
          <p:nvPr/>
        </p:nvSpPr>
        <p:spPr>
          <a:xfrm>
            <a:off x="3745153" y="2359152"/>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Four role workspaces</a:t>
            </a:r>
          </a:p>
        </p:txBody>
      </p:sp>
      <p:sp>
        <p:nvSpPr>
          <p:cNvPr id="27" name="s14 Oval 26"/>
          <p:cNvSpPr/>
          <p:nvPr/>
        </p:nvSpPr>
        <p:spPr>
          <a:xfrm>
            <a:off x="3580561" y="3054096"/>
            <a:ext cx="82296" cy="82296"/>
          </a:xfrm>
          <a:prstGeom prst="ellipse">
            <a:avLst/>
          </a:prstGeom>
          <a:solidFill>
            <a:srgbClr val="0A6B63"/>
          </a:solidFill>
          <a:ln>
            <a:noFill/>
          </a:ln>
          <a:effectLst/>
        </p:spPr>
        <p:txBody>
          <a:bodyPr rtlCol="0" anchor="ctr"/>
          <a:lstStyle/>
          <a:p>
            <a:pPr algn="ctr"/>
          </a:p>
        </p:txBody>
      </p:sp>
      <p:sp>
        <p:nvSpPr>
          <p:cNvPr id="28" name="s14 TextBox 27"/>
          <p:cNvSpPr txBox="1"/>
          <p:nvPr/>
        </p:nvSpPr>
        <p:spPr>
          <a:xfrm>
            <a:off x="3745153" y="2962656"/>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Offline queue, replayed exactly once</a:t>
            </a:r>
          </a:p>
        </p:txBody>
      </p:sp>
      <p:sp>
        <p:nvSpPr>
          <p:cNvPr id="29" name="s14 Oval 28"/>
          <p:cNvSpPr/>
          <p:nvPr/>
        </p:nvSpPr>
        <p:spPr>
          <a:xfrm>
            <a:off x="3580561" y="3657600"/>
            <a:ext cx="82296" cy="82296"/>
          </a:xfrm>
          <a:prstGeom prst="ellipse">
            <a:avLst/>
          </a:prstGeom>
          <a:solidFill>
            <a:srgbClr val="0A6B63"/>
          </a:solidFill>
          <a:ln>
            <a:noFill/>
          </a:ln>
          <a:effectLst/>
        </p:spPr>
        <p:txBody>
          <a:bodyPr rtlCol="0" anchor="ctr"/>
          <a:lstStyle/>
          <a:p>
            <a:pPr algn="ctr"/>
          </a:p>
        </p:txBody>
      </p:sp>
      <p:sp>
        <p:nvSpPr>
          <p:cNvPr id="30" name="s14 TextBox 29"/>
          <p:cNvSpPr txBox="1"/>
          <p:nvPr/>
        </p:nvSpPr>
        <p:spPr>
          <a:xfrm>
            <a:off x="3745153" y="3566160"/>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Service worker and caches</a:t>
            </a:r>
          </a:p>
        </p:txBody>
      </p:sp>
      <p:sp>
        <p:nvSpPr>
          <p:cNvPr id="31" name="s14 Oval 30"/>
          <p:cNvSpPr/>
          <p:nvPr/>
        </p:nvSpPr>
        <p:spPr>
          <a:xfrm>
            <a:off x="3580561" y="4261104"/>
            <a:ext cx="82296" cy="82296"/>
          </a:xfrm>
          <a:prstGeom prst="ellipse">
            <a:avLst/>
          </a:prstGeom>
          <a:solidFill>
            <a:srgbClr val="0A6B63"/>
          </a:solidFill>
          <a:ln>
            <a:noFill/>
          </a:ln>
          <a:effectLst/>
        </p:spPr>
        <p:txBody>
          <a:bodyPr rtlCol="0" anchor="ctr"/>
          <a:lstStyle/>
          <a:p>
            <a:pPr algn="ctr"/>
          </a:p>
        </p:txBody>
      </p:sp>
      <p:sp>
        <p:nvSpPr>
          <p:cNvPr id="32" name="s14 TextBox 31"/>
          <p:cNvSpPr txBox="1"/>
          <p:nvPr/>
        </p:nvSpPr>
        <p:spPr>
          <a:xfrm>
            <a:off x="3745153" y="4169664"/>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Sinhala, Tamil, English</a:t>
            </a:r>
          </a:p>
        </p:txBody>
      </p:sp>
      <p:cxnSp>
        <p:nvCxnSpPr>
          <p:cNvPr id="33" name="s14 Connector 32"/>
          <p:cNvCxnSpPr/>
          <p:nvPr/>
        </p:nvCxnSpPr>
        <p:spPr>
          <a:xfrm>
            <a:off x="6008979" y="3611880"/>
            <a:ext cx="173736" cy="0"/>
          </a:xfrm>
          <a:prstGeom prst="line">
            <a:avLst/>
          </a:prstGeom>
          <a:ln w="25400">
            <a:solidFill>
              <a:srgbClr val="0A6B63"/>
            </a:solidFill>
            <a:tailEnd type="triangle" w="med" len="med"/>
          </a:ln>
          <a:effectLst/>
        </p:spPr>
      </p:cxnSp>
      <p:sp>
        <p:nvSpPr>
          <p:cNvPr id="34" name="s14 Rounded Rectangle 33"/>
          <p:cNvSpPr/>
          <p:nvPr/>
        </p:nvSpPr>
        <p:spPr>
          <a:xfrm>
            <a:off x="6210147" y="1691640"/>
            <a:ext cx="2602153" cy="3886200"/>
          </a:xfrm>
          <a:prstGeom prst="roundRect">
            <a:avLst>
              <a:gd name="adj" fmla="val 5622"/>
            </a:avLst>
          </a:prstGeom>
          <a:solidFill>
            <a:srgbClr val="FFFFFF"/>
          </a:solidFill>
          <a:ln w="12700">
            <a:solidFill>
              <a:srgbClr val="D9E3DE"/>
            </a:solidFill>
          </a:ln>
          <a:effectLst/>
        </p:spPr>
        <p:txBody>
          <a:bodyPr rtlCol="0" anchor="ctr"/>
          <a:lstStyle/>
          <a:p/>
        </p:txBody>
      </p:sp>
      <p:sp>
        <p:nvSpPr>
          <p:cNvPr id="35" name="s14 Rounded Rectangle 34"/>
          <p:cNvSpPr/>
          <p:nvPr/>
        </p:nvSpPr>
        <p:spPr>
          <a:xfrm>
            <a:off x="6210147" y="1691640"/>
            <a:ext cx="2602153" cy="502920"/>
          </a:xfrm>
          <a:prstGeom prst="roundRect">
            <a:avLst>
              <a:gd name="adj" fmla="val 32727"/>
            </a:avLst>
          </a:prstGeom>
          <a:solidFill>
            <a:srgbClr val="DDEFEC"/>
          </a:solidFill>
          <a:ln>
            <a:noFill/>
          </a:ln>
          <a:effectLst/>
        </p:spPr>
        <p:txBody>
          <a:bodyPr rtlCol="0" anchor="ctr"/>
          <a:lstStyle/>
          <a:p/>
        </p:txBody>
      </p:sp>
      <p:sp>
        <p:nvSpPr>
          <p:cNvPr id="36" name="s14 TextBox 35"/>
          <p:cNvSpPr txBox="1"/>
          <p:nvPr/>
        </p:nvSpPr>
        <p:spPr>
          <a:xfrm>
            <a:off x="6393027" y="1691640"/>
            <a:ext cx="2327833" cy="502920"/>
          </a:xfrm>
          <a:prstGeom prst="rect">
            <a:avLst/>
          </a:prstGeom>
          <a:noFill/>
        </p:spPr>
        <p:txBody>
          <a:bodyPr wrap="square" lIns="0" rIns="0" tIns="0" bIns="0" anchor="ctr">
            <a:spAutoFit/>
          </a:bodyPr>
          <a:lstStyle/>
          <a:p>
            <a:pPr algn="l">
              <a:lnSpc>
                <a:spcPct val="108000"/>
              </a:lnSpc>
            </a:pPr>
            <a:r>
              <a:rPr sz="1400" b="1" i="0">
                <a:solidFill>
                  <a:srgbClr val="031B08"/>
                </a:solidFill>
                <a:latin typeface="Arial"/>
              </a:rPr>
              <a:t>Backend (Spring Boot)</a:t>
            </a:r>
          </a:p>
        </p:txBody>
      </p:sp>
      <p:sp>
        <p:nvSpPr>
          <p:cNvPr id="37" name="s14 Oval 36"/>
          <p:cNvSpPr/>
          <p:nvPr/>
        </p:nvSpPr>
        <p:spPr>
          <a:xfrm>
            <a:off x="6411315" y="2450592"/>
            <a:ext cx="82296" cy="82296"/>
          </a:xfrm>
          <a:prstGeom prst="ellipse">
            <a:avLst/>
          </a:prstGeom>
          <a:solidFill>
            <a:srgbClr val="0A6B63"/>
          </a:solidFill>
          <a:ln>
            <a:noFill/>
          </a:ln>
          <a:effectLst/>
        </p:spPr>
        <p:txBody>
          <a:bodyPr rtlCol="0" anchor="ctr"/>
          <a:lstStyle/>
          <a:p>
            <a:pPr algn="ctr"/>
          </a:p>
        </p:txBody>
      </p:sp>
      <p:sp>
        <p:nvSpPr>
          <p:cNvPr id="38" name="s14 TextBox 37"/>
          <p:cNvSpPr txBox="1"/>
          <p:nvPr/>
        </p:nvSpPr>
        <p:spPr>
          <a:xfrm>
            <a:off x="6575907" y="2359152"/>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14 modules, from ordering to intelligence</a:t>
            </a:r>
          </a:p>
        </p:txBody>
      </p:sp>
      <p:sp>
        <p:nvSpPr>
          <p:cNvPr id="39" name="s14 Oval 38"/>
          <p:cNvSpPr/>
          <p:nvPr/>
        </p:nvSpPr>
        <p:spPr>
          <a:xfrm>
            <a:off x="6411315" y="3054096"/>
            <a:ext cx="82296" cy="82296"/>
          </a:xfrm>
          <a:prstGeom prst="ellipse">
            <a:avLst/>
          </a:prstGeom>
          <a:solidFill>
            <a:srgbClr val="0A6B63"/>
          </a:solidFill>
          <a:ln>
            <a:noFill/>
          </a:ln>
          <a:effectLst/>
        </p:spPr>
        <p:txBody>
          <a:bodyPr rtlCol="0" anchor="ctr"/>
          <a:lstStyle/>
          <a:p>
            <a:pPr algn="ctr"/>
          </a:p>
        </p:txBody>
      </p:sp>
      <p:sp>
        <p:nvSpPr>
          <p:cNvPr id="40" name="s14 TextBox 39"/>
          <p:cNvSpPr txBox="1"/>
          <p:nvPr/>
        </p:nvSpPr>
        <p:spPr>
          <a:xfrm>
            <a:off x="6575907" y="2962656"/>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One command path: permission check + audit</a:t>
            </a:r>
          </a:p>
        </p:txBody>
      </p:sp>
      <p:sp>
        <p:nvSpPr>
          <p:cNvPr id="41" name="s14 Oval 40"/>
          <p:cNvSpPr/>
          <p:nvPr/>
        </p:nvSpPr>
        <p:spPr>
          <a:xfrm>
            <a:off x="6411315" y="3657600"/>
            <a:ext cx="82296" cy="82296"/>
          </a:xfrm>
          <a:prstGeom prst="ellipse">
            <a:avLst/>
          </a:prstGeom>
          <a:solidFill>
            <a:srgbClr val="0A6B63"/>
          </a:solidFill>
          <a:ln>
            <a:noFill/>
          </a:ln>
          <a:effectLst/>
        </p:spPr>
        <p:txBody>
          <a:bodyPr rtlCol="0" anchor="ctr"/>
          <a:lstStyle/>
          <a:p>
            <a:pPr algn="ctr"/>
          </a:p>
        </p:txBody>
      </p:sp>
      <p:sp>
        <p:nvSpPr>
          <p:cNvPr id="42" name="s14 TextBox 41"/>
          <p:cNvSpPr txBox="1"/>
          <p:nvPr/>
        </p:nvSpPr>
        <p:spPr>
          <a:xfrm>
            <a:off x="6575907" y="3566160"/>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Events and a live change stream</a:t>
            </a:r>
          </a:p>
        </p:txBody>
      </p:sp>
      <p:cxnSp>
        <p:nvCxnSpPr>
          <p:cNvPr id="43" name="s14 Connector 42"/>
          <p:cNvCxnSpPr/>
          <p:nvPr/>
        </p:nvCxnSpPr>
        <p:spPr>
          <a:xfrm>
            <a:off x="8839733" y="3611880"/>
            <a:ext cx="173736" cy="0"/>
          </a:xfrm>
          <a:prstGeom prst="line">
            <a:avLst/>
          </a:prstGeom>
          <a:ln w="25400">
            <a:solidFill>
              <a:srgbClr val="0A6B63"/>
            </a:solidFill>
            <a:tailEnd type="triangle" w="med" len="med"/>
          </a:ln>
          <a:effectLst/>
        </p:spPr>
      </p:cxnSp>
      <p:sp>
        <p:nvSpPr>
          <p:cNvPr id="44" name="s14 Rounded Rectangle 43"/>
          <p:cNvSpPr/>
          <p:nvPr/>
        </p:nvSpPr>
        <p:spPr>
          <a:xfrm>
            <a:off x="9040901" y="1691640"/>
            <a:ext cx="2602153" cy="3886200"/>
          </a:xfrm>
          <a:prstGeom prst="roundRect">
            <a:avLst>
              <a:gd name="adj" fmla="val 5622"/>
            </a:avLst>
          </a:prstGeom>
          <a:solidFill>
            <a:srgbClr val="FFFFFF"/>
          </a:solidFill>
          <a:ln w="12700">
            <a:solidFill>
              <a:srgbClr val="D9E3DE"/>
            </a:solidFill>
          </a:ln>
          <a:effectLst/>
        </p:spPr>
        <p:txBody>
          <a:bodyPr rtlCol="0" anchor="ctr"/>
          <a:lstStyle/>
          <a:p/>
        </p:txBody>
      </p:sp>
      <p:sp>
        <p:nvSpPr>
          <p:cNvPr id="45" name="s14 Rounded Rectangle 44"/>
          <p:cNvSpPr/>
          <p:nvPr/>
        </p:nvSpPr>
        <p:spPr>
          <a:xfrm>
            <a:off x="9040901" y="1691640"/>
            <a:ext cx="2602153" cy="502920"/>
          </a:xfrm>
          <a:prstGeom prst="roundRect">
            <a:avLst>
              <a:gd name="adj" fmla="val 32727"/>
            </a:avLst>
          </a:prstGeom>
          <a:solidFill>
            <a:srgbClr val="EFE8FB"/>
          </a:solidFill>
          <a:ln>
            <a:noFill/>
          </a:ln>
          <a:effectLst/>
        </p:spPr>
        <p:txBody>
          <a:bodyPr rtlCol="0" anchor="ctr"/>
          <a:lstStyle/>
          <a:p/>
        </p:txBody>
      </p:sp>
      <p:sp>
        <p:nvSpPr>
          <p:cNvPr id="46" name="s14 TextBox 45"/>
          <p:cNvSpPr txBox="1"/>
          <p:nvPr/>
        </p:nvSpPr>
        <p:spPr>
          <a:xfrm>
            <a:off x="9223781" y="1691640"/>
            <a:ext cx="2327833" cy="502920"/>
          </a:xfrm>
          <a:prstGeom prst="rect">
            <a:avLst/>
          </a:prstGeom>
          <a:noFill/>
        </p:spPr>
        <p:txBody>
          <a:bodyPr wrap="square" lIns="0" rIns="0" tIns="0" bIns="0" anchor="ctr">
            <a:spAutoFit/>
          </a:bodyPr>
          <a:lstStyle/>
          <a:p>
            <a:pPr algn="l">
              <a:lnSpc>
                <a:spcPct val="108000"/>
              </a:lnSpc>
            </a:pPr>
            <a:r>
              <a:rPr sz="1400" b="1" i="0">
                <a:solidFill>
                  <a:srgbClr val="031B08"/>
                </a:solidFill>
                <a:latin typeface="Arial"/>
              </a:rPr>
              <a:t>Data and models</a:t>
            </a:r>
          </a:p>
        </p:txBody>
      </p:sp>
      <p:sp>
        <p:nvSpPr>
          <p:cNvPr id="47" name="s14 Oval 46"/>
          <p:cNvSpPr/>
          <p:nvPr/>
        </p:nvSpPr>
        <p:spPr>
          <a:xfrm>
            <a:off x="9242069" y="2450592"/>
            <a:ext cx="82296" cy="82296"/>
          </a:xfrm>
          <a:prstGeom prst="ellipse">
            <a:avLst/>
          </a:prstGeom>
          <a:solidFill>
            <a:srgbClr val="0A6B63"/>
          </a:solidFill>
          <a:ln>
            <a:noFill/>
          </a:ln>
          <a:effectLst/>
        </p:spPr>
        <p:txBody>
          <a:bodyPr rtlCol="0" anchor="ctr"/>
          <a:lstStyle/>
          <a:p>
            <a:pPr algn="ctr"/>
          </a:p>
        </p:txBody>
      </p:sp>
      <p:sp>
        <p:nvSpPr>
          <p:cNvPr id="48" name="s14 TextBox 47"/>
          <p:cNvSpPr txBox="1"/>
          <p:nvPr/>
        </p:nvSpPr>
        <p:spPr>
          <a:xfrm>
            <a:off x="9406661" y="2359152"/>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PostgreSQL 16 · row-level security · 188 migrations</a:t>
            </a:r>
          </a:p>
        </p:txBody>
      </p:sp>
      <p:sp>
        <p:nvSpPr>
          <p:cNvPr id="49" name="s14 Oval 48"/>
          <p:cNvSpPr/>
          <p:nvPr/>
        </p:nvSpPr>
        <p:spPr>
          <a:xfrm>
            <a:off x="9242069" y="3054096"/>
            <a:ext cx="82296" cy="82296"/>
          </a:xfrm>
          <a:prstGeom prst="ellipse">
            <a:avLst/>
          </a:prstGeom>
          <a:solidFill>
            <a:srgbClr val="0A6B63"/>
          </a:solidFill>
          <a:ln>
            <a:noFill/>
          </a:ln>
          <a:effectLst/>
        </p:spPr>
        <p:txBody>
          <a:bodyPr rtlCol="0" anchor="ctr"/>
          <a:lstStyle/>
          <a:p>
            <a:pPr algn="ctr"/>
          </a:p>
        </p:txBody>
      </p:sp>
      <p:sp>
        <p:nvSpPr>
          <p:cNvPr id="50" name="s14 TextBox 49"/>
          <p:cNvSpPr txBox="1"/>
          <p:nvPr/>
        </p:nvSpPr>
        <p:spPr>
          <a:xfrm>
            <a:off x="9406661" y="2962656"/>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Model service (FastAPI): late risk + demand</a:t>
            </a:r>
          </a:p>
        </p:txBody>
      </p:sp>
      <p:sp>
        <p:nvSpPr>
          <p:cNvPr id="51" name="s14 Oval 50"/>
          <p:cNvSpPr/>
          <p:nvPr/>
        </p:nvSpPr>
        <p:spPr>
          <a:xfrm>
            <a:off x="9242069" y="3657600"/>
            <a:ext cx="82296" cy="82296"/>
          </a:xfrm>
          <a:prstGeom prst="ellipse">
            <a:avLst/>
          </a:prstGeom>
          <a:solidFill>
            <a:srgbClr val="0A6B63"/>
          </a:solidFill>
          <a:ln>
            <a:noFill/>
          </a:ln>
          <a:effectLst/>
        </p:spPr>
        <p:txBody>
          <a:bodyPr rtlCol="0" anchor="ctr"/>
          <a:lstStyle/>
          <a:p>
            <a:pPr algn="ctr"/>
          </a:p>
        </p:txBody>
      </p:sp>
      <p:sp>
        <p:nvSpPr>
          <p:cNvPr id="52" name="s14 TextBox 51"/>
          <p:cNvSpPr txBox="1"/>
          <p:nvPr/>
        </p:nvSpPr>
        <p:spPr>
          <a:xfrm>
            <a:off x="9406661" y="3566160"/>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Checksums and file scan; fallback estimate if down</a:t>
            </a:r>
          </a:p>
        </p:txBody>
      </p:sp>
      <p:sp>
        <p:nvSpPr>
          <p:cNvPr id="53" name="s14 Oval 52"/>
          <p:cNvSpPr/>
          <p:nvPr/>
        </p:nvSpPr>
        <p:spPr>
          <a:xfrm>
            <a:off x="9242069" y="4261104"/>
            <a:ext cx="82296" cy="82296"/>
          </a:xfrm>
          <a:prstGeom prst="ellipse">
            <a:avLst/>
          </a:prstGeom>
          <a:solidFill>
            <a:srgbClr val="0A6B63"/>
          </a:solidFill>
          <a:ln>
            <a:noFill/>
          </a:ln>
          <a:effectLst/>
        </p:spPr>
        <p:txBody>
          <a:bodyPr rtlCol="0" anchor="ctr"/>
          <a:lstStyle/>
          <a:p>
            <a:pPr algn="ctr"/>
          </a:p>
        </p:txBody>
      </p:sp>
      <p:sp>
        <p:nvSpPr>
          <p:cNvPr id="54" name="s14 TextBox 53"/>
          <p:cNvSpPr txBox="1"/>
          <p:nvPr/>
        </p:nvSpPr>
        <p:spPr>
          <a:xfrm>
            <a:off x="9406661" y="4169664"/>
            <a:ext cx="2099233" cy="566928"/>
          </a:xfrm>
          <a:prstGeom prst="rect">
            <a:avLst/>
          </a:prstGeom>
          <a:noFill/>
        </p:spPr>
        <p:txBody>
          <a:bodyPr wrap="square" lIns="0" rIns="0" tIns="0" bIns="0" anchor="t">
            <a:spAutoFit/>
          </a:bodyPr>
          <a:lstStyle/>
          <a:p>
            <a:pPr algn="l">
              <a:lnSpc>
                <a:spcPct val="102000"/>
              </a:lnSpc>
            </a:pPr>
            <a:r>
              <a:rPr sz="1200" b="0" i="0">
                <a:solidFill>
                  <a:srgbClr val="1C2B26"/>
                </a:solidFill>
                <a:latin typeface="Arial"/>
              </a:rPr>
              <a:t>Language AI gateway: off by default, masked, capped</a:t>
            </a:r>
          </a:p>
        </p:txBody>
      </p:sp>
      <p:sp>
        <p:nvSpPr>
          <p:cNvPr id="55" name="s14 Rounded Rectangle 54"/>
          <p:cNvSpPr/>
          <p:nvPr/>
        </p:nvSpPr>
        <p:spPr>
          <a:xfrm>
            <a:off x="548640" y="5742432"/>
            <a:ext cx="11094415" cy="502920"/>
          </a:xfrm>
          <a:prstGeom prst="roundRect">
            <a:avLst>
              <a:gd name="adj" fmla="val 49090"/>
            </a:avLst>
          </a:prstGeom>
          <a:solidFill>
            <a:srgbClr val="031B08"/>
          </a:solidFill>
          <a:ln>
            <a:noFill/>
          </a:ln>
          <a:effectLst/>
        </p:spPr>
        <p:txBody>
          <a:bodyPr rtlCol="0" anchor="ctr"/>
          <a:lstStyle/>
          <a:p/>
        </p:txBody>
      </p:sp>
      <p:sp>
        <p:nvSpPr>
          <p:cNvPr id="56" name="s14 TextBox 55"/>
          <p:cNvSpPr txBox="1"/>
          <p:nvPr/>
        </p:nvSpPr>
        <p:spPr>
          <a:xfrm>
            <a:off x="548640" y="5742432"/>
            <a:ext cx="11094415" cy="502920"/>
          </a:xfrm>
          <a:prstGeom prst="rect">
            <a:avLst/>
          </a:prstGeom>
          <a:noFill/>
        </p:spPr>
        <p:txBody>
          <a:bodyPr wrap="square" lIns="0" rIns="0" tIns="0" bIns="0" anchor="ctr">
            <a:spAutoFit/>
          </a:bodyPr>
          <a:lstStyle/>
          <a:p>
            <a:pPr algn="ctr">
              <a:lnSpc>
                <a:spcPct val="108000"/>
              </a:lnSpc>
            </a:pPr>
            <a:r>
              <a:rPr sz="1250" b="0" i="0">
                <a:solidFill>
                  <a:srgbClr val="FFFFFF"/>
                </a:solidFill>
                <a:latin typeface="Arial"/>
              </a:rPr>
              <a:t>Runs on one server (≈ LKR 19,000 a month) with Docker Compose · Prometheus, Grafana, Loki and alerts · tests on every pull request</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5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15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15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The planning engine</a:t>
            </a:r>
          </a:p>
        </p:txBody>
      </p:sp>
      <p:sp>
        <p:nvSpPr>
          <p:cNvPr id="5" name="s15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Every order checked against every rule; people make the final call, with a reason</a:t>
            </a:r>
          </a:p>
        </p:txBody>
      </p:sp>
      <p:sp>
        <p:nvSpPr>
          <p:cNvPr id="6" name="s15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15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15</a:t>
            </a:r>
          </a:p>
        </p:txBody>
      </p:sp>
      <p:graphicFrame>
        <p:nvGraphicFramePr>
          <p:cNvPr id="8" name="s15 Table 7"/>
          <p:cNvGraphicFramePr>
            <a:graphicFrameLocks noGrp="1"/>
          </p:cNvGraphicFramePr>
          <p:nvPr/>
        </p:nvGraphicFramePr>
        <p:xfrm>
          <a:off x="548640" y="1691640"/>
          <a:ext cx="5669280" cy="2852928"/>
        </p:xfrm>
        <a:graphic>
          <a:graphicData uri="http://schemas.openxmlformats.org/drawingml/2006/table">
            <a:tbl>
              <a:tblPr firstRow="0" bandRow="0">
                <a:tableStyleId>{5C22544A-7EE6-4342-B048-85BDC9FD1C3A}</a:tableStyleId>
              </a:tblPr>
              <a:tblGrid>
                <a:gridCol w="1645920"/>
                <a:gridCol w="4023360"/>
              </a:tblGrid>
              <a:tr h="475488">
                <a:tc>
                  <a:txBody>
                    <a:bodyPr wrap="square"/>
                    <a:lstStyle/>
                    <a:p>
                      <a:r>
                        <a:rPr sz="1200" b="1">
                          <a:solidFill>
                            <a:srgbClr val="FFFFFF"/>
                          </a:solidFill>
                          <a:latin typeface="Arial"/>
                        </a:rPr>
                        <a:t>Step</a:t>
                      </a:r>
                    </a:p>
                  </a:txBody>
                  <a:tcPr marL="73152" marR="73152" marT="27432" marB="27432" anchor="ctr">
                    <a:solidFill>
                      <a:srgbClr val="031B08"/>
                    </a:solidFill>
                  </a:tcPr>
                </a:tc>
                <a:tc>
                  <a:txBody>
                    <a:bodyPr wrap="square"/>
                    <a:lstStyle/>
                    <a:p>
                      <a:r>
                        <a:rPr sz="1200" b="1">
                          <a:solidFill>
                            <a:srgbClr val="FFFFFF"/>
                          </a:solidFill>
                          <a:latin typeface="Arial"/>
                        </a:rPr>
                        <a:t>What happens</a:t>
                      </a:r>
                    </a:p>
                  </a:txBody>
                  <a:tcPr marL="73152" marR="73152" marT="27432" marB="27432" anchor="ctr">
                    <a:solidFill>
                      <a:srgbClr val="031B08"/>
                    </a:solidFill>
                  </a:tcPr>
                </a:tc>
              </a:tr>
              <a:tr h="475488">
                <a:tc>
                  <a:txBody>
                    <a:bodyPr wrap="square"/>
                    <a:lstStyle/>
                    <a:p>
                      <a:r>
                        <a:rPr sz="1200" b="1">
                          <a:solidFill>
                            <a:srgbClr val="031B08"/>
                          </a:solidFill>
                          <a:latin typeface="Arial"/>
                        </a:rPr>
                        <a:t>1 · Place</a:t>
                      </a:r>
                    </a:p>
                  </a:txBody>
                  <a:tcPr marL="73152" marR="73152" marT="27432" marB="27432" anchor="ctr">
                    <a:solidFill>
                      <a:srgbClr val="FFFFFF"/>
                    </a:solidFill>
                  </a:tcPr>
                </a:tc>
                <a:tc>
                  <a:txBody>
                    <a:bodyPr wrap="square"/>
                    <a:lstStyle/>
                    <a:p>
                      <a:r>
                        <a:rPr sz="1200" b="0">
                          <a:solidFill>
                            <a:srgbClr val="1C2B26"/>
                          </a:solidFill>
                          <a:latin typeface="Arial"/>
                        </a:rPr>
                        <a:t>Orders placed in priority order; earlier deferrals first (9 rules)</a:t>
                      </a:r>
                    </a:p>
                  </a:txBody>
                  <a:tcPr marL="73152" marR="73152" marT="27432" marB="27432" anchor="ctr">
                    <a:solidFill>
                      <a:srgbClr val="FFFFFF"/>
                    </a:solidFill>
                  </a:tcPr>
                </a:tc>
              </a:tr>
              <a:tr h="475488">
                <a:tc>
                  <a:txBody>
                    <a:bodyPr wrap="square"/>
                    <a:lstStyle/>
                    <a:p>
                      <a:r>
                        <a:rPr sz="1200" b="1">
                          <a:solidFill>
                            <a:srgbClr val="031B08"/>
                          </a:solidFill>
                          <a:latin typeface="Arial"/>
                        </a:rPr>
                        <a:t>2 · Re-plan reefers</a:t>
                      </a:r>
                    </a:p>
                  </a:txBody>
                  <a:tcPr marL="73152" marR="73152" marT="27432" marB="27432" anchor="ctr">
                    <a:solidFill>
                      <a:srgbClr val="F1F6F5"/>
                    </a:solidFill>
                  </a:tcPr>
                </a:tc>
                <a:tc>
                  <a:txBody>
                    <a:bodyPr wrap="square"/>
                    <a:lstStyle/>
                    <a:p>
                      <a:r>
                        <a:rPr sz="1200" b="0">
                          <a:solidFill>
                            <a:srgbClr val="1C2B26"/>
                          </a:solidFill>
                          <a:latin typeface="Arial"/>
                        </a:rPr>
                        <a:t>Refrigerated vehicles planned again as a whole; kept only if better</a:t>
                      </a:r>
                    </a:p>
                  </a:txBody>
                  <a:tcPr marL="73152" marR="73152" marT="27432" marB="27432" anchor="ctr">
                    <a:solidFill>
                      <a:srgbClr val="F1F6F5"/>
                    </a:solidFill>
                  </a:tcPr>
                </a:tc>
              </a:tr>
              <a:tr h="475488">
                <a:tc>
                  <a:txBody>
                    <a:bodyPr wrap="square"/>
                    <a:lstStyle/>
                    <a:p>
                      <a:r>
                        <a:rPr sz="1200" b="1">
                          <a:solidFill>
                            <a:srgbClr val="031B08"/>
                          </a:solidFill>
                          <a:latin typeface="Arial"/>
                        </a:rPr>
                        <a:t>3 · Optimise</a:t>
                      </a:r>
                    </a:p>
                  </a:txBody>
                  <a:tcPr marL="73152" marR="73152" marT="27432" marB="27432" anchor="ctr">
                    <a:solidFill>
                      <a:srgbClr val="FFFFFF"/>
                    </a:solidFill>
                  </a:tcPr>
                </a:tc>
                <a:tc>
                  <a:txBody>
                    <a:bodyPr wrap="square"/>
                    <a:lstStyle/>
                    <a:p>
                      <a:r>
                        <a:rPr sz="1200" b="0">
                          <a:solidFill>
                            <a:srgbClr val="1C2B26"/>
                          </a:solidFill>
                          <a:latin typeface="Arial"/>
                        </a:rPr>
                        <a:t>Same orders on fewer vehicles, trips and litres (1 vehicle, 3 trips, 15 L saved)</a:t>
                      </a:r>
                    </a:p>
                  </a:txBody>
                  <a:tcPr marL="73152" marR="73152" marT="27432" marB="27432" anchor="ctr">
                    <a:solidFill>
                      <a:srgbClr val="FFFFFF"/>
                    </a:solidFill>
                  </a:tcPr>
                </a:tc>
              </a:tr>
              <a:tr h="475488">
                <a:tc>
                  <a:txBody>
                    <a:bodyPr wrap="square"/>
                    <a:lstStyle/>
                    <a:p>
                      <a:r>
                        <a:rPr sz="1200" b="1">
                          <a:solidFill>
                            <a:srgbClr val="031B08"/>
                          </a:solidFill>
                          <a:latin typeface="Arial"/>
                        </a:rPr>
                        <a:t>4 · Decide</a:t>
                      </a:r>
                    </a:p>
                  </a:txBody>
                  <a:tcPr marL="73152" marR="73152" marT="27432" marB="27432" anchor="ctr">
                    <a:solidFill>
                      <a:srgbClr val="F1F6F5"/>
                    </a:solidFill>
                  </a:tcPr>
                </a:tc>
                <a:tc>
                  <a:txBody>
                    <a:bodyPr wrap="square"/>
                    <a:lstStyle/>
                    <a:p>
                      <a:r>
                        <a:rPr sz="1200" b="0">
                          <a:solidFill>
                            <a:srgbClr val="1C2B26"/>
                          </a:solidFill>
                          <a:latin typeface="Arial"/>
                        </a:rPr>
                        <a:t>Dispatcher places by hand, swaps or keeps deferred, always with a reason</a:t>
                      </a:r>
                    </a:p>
                  </a:txBody>
                  <a:tcPr marL="73152" marR="73152" marT="27432" marB="27432" anchor="ctr">
                    <a:solidFill>
                      <a:srgbClr val="F1F6F5"/>
                    </a:solidFill>
                  </a:tcPr>
                </a:tc>
              </a:tr>
              <a:tr h="475488">
                <a:tc>
                  <a:txBody>
                    <a:bodyPr wrap="square"/>
                    <a:lstStyle/>
                    <a:p>
                      <a:r>
                        <a:rPr sz="1200" b="1">
                          <a:solidFill>
                            <a:srgbClr val="031B08"/>
                          </a:solidFill>
                          <a:latin typeface="Arial"/>
                        </a:rPr>
                        <a:t>5 · Publish</a:t>
                      </a:r>
                    </a:p>
                  </a:txBody>
                  <a:tcPr marL="73152" marR="73152" marT="27432" marB="27432" anchor="ctr">
                    <a:solidFill>
                      <a:srgbClr val="FFFFFF"/>
                    </a:solidFill>
                  </a:tcPr>
                </a:tc>
                <a:tc>
                  <a:txBody>
                    <a:bodyPr wrap="square"/>
                    <a:lstStyle/>
                    <a:p>
                      <a:r>
                        <a:rPr sz="1200" b="0">
                          <a:solidFill>
                            <a:srgbClr val="1C2B26"/>
                          </a:solidFill>
                          <a:latin typeface="Arial"/>
                        </a:rPr>
                        <a:t>Every rule checked again; loaders, drivers and stores are told</a:t>
                      </a:r>
                    </a:p>
                  </a:txBody>
                  <a:tcPr marL="73152" marR="73152" marT="27432" marB="27432" anchor="ctr">
                    <a:solidFill>
                      <a:srgbClr val="FFFFFF"/>
                    </a:solidFill>
                  </a:tcPr>
                </a:tc>
              </a:tr>
            </a:tbl>
          </a:graphicData>
        </a:graphic>
      </p:graphicFrame>
      <p:graphicFrame>
        <p:nvGraphicFramePr>
          <p:cNvPr id="9" name="s15 Table 8"/>
          <p:cNvGraphicFramePr>
            <a:graphicFrameLocks noGrp="1"/>
          </p:cNvGraphicFramePr>
          <p:nvPr/>
        </p:nvGraphicFramePr>
        <p:xfrm>
          <a:off x="6446520" y="1691640"/>
          <a:ext cx="5193792" cy="2852928"/>
        </p:xfrm>
        <a:graphic>
          <a:graphicData uri="http://schemas.openxmlformats.org/drawingml/2006/table">
            <a:tbl>
              <a:tblPr firstRow="0" bandRow="0">
                <a:tableStyleId>{5C22544A-7EE6-4342-B048-85BDC9FD1C3A}</a:tableStyleId>
              </a:tblPr>
              <a:tblGrid>
                <a:gridCol w="1325880"/>
                <a:gridCol w="3867912"/>
              </a:tblGrid>
              <a:tr h="475488">
                <a:tc>
                  <a:txBody>
                    <a:bodyPr wrap="square"/>
                    <a:lstStyle/>
                    <a:p>
                      <a:r>
                        <a:rPr sz="1200" b="1">
                          <a:solidFill>
                            <a:srgbClr val="FFFFFF"/>
                          </a:solidFill>
                          <a:latin typeface="Arial"/>
                        </a:rPr>
                        <a:t>Check</a:t>
                      </a:r>
                    </a:p>
                  </a:txBody>
                  <a:tcPr marL="73152" marR="73152" marT="27432" marB="27432" anchor="ctr">
                    <a:solidFill>
                      <a:srgbClr val="031B08"/>
                    </a:solidFill>
                  </a:tcPr>
                </a:tc>
                <a:tc>
                  <a:txBody>
                    <a:bodyPr wrap="square"/>
                    <a:lstStyle/>
                    <a:p>
                      <a:r>
                        <a:rPr sz="1200" b="1">
                          <a:solidFill>
                            <a:srgbClr val="FFFFFF"/>
                          </a:solidFill>
                          <a:latin typeface="Arial"/>
                        </a:rPr>
                        <a:t>13 checks per order</a:t>
                      </a:r>
                    </a:p>
                  </a:txBody>
                  <a:tcPr marL="73152" marR="73152" marT="27432" marB="27432" anchor="ctr">
                    <a:solidFill>
                      <a:srgbClr val="031B08"/>
                    </a:solidFill>
                  </a:tcPr>
                </a:tc>
              </a:tr>
              <a:tr h="475488">
                <a:tc>
                  <a:txBody>
                    <a:bodyPr wrap="square"/>
                    <a:lstStyle/>
                    <a:p>
                      <a:r>
                        <a:rPr sz="1200" b="1">
                          <a:solidFill>
                            <a:srgbClr val="031B08"/>
                          </a:solidFill>
                          <a:latin typeface="Arial"/>
                        </a:rPr>
                        <a:t>Vehicle</a:t>
                      </a:r>
                    </a:p>
                  </a:txBody>
                  <a:tcPr marL="73152" marR="73152" marT="27432" marB="27432" anchor="ctr">
                    <a:solidFill>
                      <a:srgbClr val="FFFFFF"/>
                    </a:solidFill>
                  </a:tcPr>
                </a:tc>
                <a:tc>
                  <a:txBody>
                    <a:bodyPr wrap="square"/>
                    <a:lstStyle/>
                    <a:p>
                      <a:r>
                        <a:rPr sz="1200" b="0">
                          <a:solidFill>
                            <a:srgbClr val="1C2B26"/>
                          </a:solidFill>
                          <a:latin typeface="Arial"/>
                        </a:rPr>
                        <a:t>available, home depot, refrigerated, van-only</a:t>
                      </a:r>
                    </a:p>
                  </a:txBody>
                  <a:tcPr marL="73152" marR="73152" marT="27432" marB="27432" anchor="ctr">
                    <a:solidFill>
                      <a:srgbClr val="FFFFFF"/>
                    </a:solidFill>
                  </a:tcPr>
                </a:tc>
              </a:tr>
              <a:tr h="475488">
                <a:tc>
                  <a:txBody>
                    <a:bodyPr wrap="square"/>
                    <a:lstStyle/>
                    <a:p>
                      <a:r>
                        <a:rPr sz="1200" b="1">
                          <a:solidFill>
                            <a:srgbClr val="031B08"/>
                          </a:solidFill>
                          <a:latin typeface="Arial"/>
                        </a:rPr>
                        <a:t>Trip</a:t>
                      </a:r>
                    </a:p>
                  </a:txBody>
                  <a:tcPr marL="73152" marR="73152" marT="27432" marB="27432" anchor="ctr">
                    <a:solidFill>
                      <a:srgbClr val="F1F6F5"/>
                    </a:solidFill>
                  </a:tcPr>
                </a:tc>
                <a:tc>
                  <a:txBody>
                    <a:bodyPr wrap="square"/>
                    <a:lstStyle/>
                    <a:p>
                      <a:r>
                        <a:rPr sz="1200" b="0">
                          <a:solidFill>
                            <a:srgbClr val="1C2B26"/>
                          </a:solidFill>
                          <a:latin typeface="Arial"/>
                        </a:rPr>
                        <a:t>one brand and district, one temperature</a:t>
                      </a:r>
                    </a:p>
                  </a:txBody>
                  <a:tcPr marL="73152" marR="73152" marT="27432" marB="27432" anchor="ctr">
                    <a:solidFill>
                      <a:srgbClr val="F1F6F5"/>
                    </a:solidFill>
                  </a:tcPr>
                </a:tc>
              </a:tr>
              <a:tr h="475488">
                <a:tc>
                  <a:txBody>
                    <a:bodyPr wrap="square"/>
                    <a:lstStyle/>
                    <a:p>
                      <a:r>
                        <a:rPr sz="1200" b="1">
                          <a:solidFill>
                            <a:srgbClr val="031B08"/>
                          </a:solidFill>
                          <a:latin typeface="Arial"/>
                        </a:rPr>
                        <a:t>Capacity</a:t>
                      </a:r>
                    </a:p>
                  </a:txBody>
                  <a:tcPr marL="73152" marR="73152" marT="27432" marB="27432" anchor="ctr">
                    <a:solidFill>
                      <a:srgbClr val="FFFFFF"/>
                    </a:solidFill>
                  </a:tcPr>
                </a:tc>
                <a:tc>
                  <a:txBody>
                    <a:bodyPr wrap="square"/>
                    <a:lstStyle/>
                    <a:p>
                      <a:r>
                        <a:rPr sz="1200" b="0">
                          <a:solidFill>
                            <a:srgbClr val="1C2B26"/>
                          </a:solidFill>
                          <a:latin typeface="Arial"/>
                        </a:rPr>
                        <a:t>weight and volume, no split orders</a:t>
                      </a:r>
                    </a:p>
                  </a:txBody>
                  <a:tcPr marL="73152" marR="73152" marT="27432" marB="27432" anchor="ctr">
                    <a:solidFill>
                      <a:srgbClr val="FFFFFF"/>
                    </a:solidFill>
                  </a:tcPr>
                </a:tc>
              </a:tr>
              <a:tr h="475488">
                <a:tc>
                  <a:txBody>
                    <a:bodyPr wrap="square"/>
                    <a:lstStyle/>
                    <a:p>
                      <a:r>
                        <a:rPr sz="1200" b="1">
                          <a:solidFill>
                            <a:srgbClr val="031B08"/>
                          </a:solidFill>
                          <a:latin typeface="Arial"/>
                        </a:rPr>
                        <a:t>Time</a:t>
                      </a:r>
                    </a:p>
                  </a:txBody>
                  <a:tcPr marL="73152" marR="73152" marT="27432" marB="27432" anchor="ctr">
                    <a:solidFill>
                      <a:srgbClr val="F1F6F5"/>
                    </a:solidFill>
                  </a:tcPr>
                </a:tc>
                <a:tc>
                  <a:txBody>
                    <a:bodyPr wrap="square"/>
                    <a:lstStyle/>
                    <a:p>
                      <a:r>
                        <a:rPr sz="1200" b="0">
                          <a:solidFill>
                            <a:srgbClr val="1C2B26"/>
                          </a:solidFill>
                          <a:latin typeface="Arial"/>
                        </a:rPr>
                        <a:t>delivery window, 2 trips a day, Fresh 270 min</a:t>
                      </a:r>
                    </a:p>
                  </a:txBody>
                  <a:tcPr marL="73152" marR="73152" marT="27432" marB="27432" anchor="ctr">
                    <a:solidFill>
                      <a:srgbClr val="F1F6F5"/>
                    </a:solidFill>
                  </a:tcPr>
                </a:tc>
              </a:tr>
              <a:tr h="475488">
                <a:tc>
                  <a:txBody>
                    <a:bodyPr wrap="square"/>
                    <a:lstStyle/>
                    <a:p>
                      <a:r>
                        <a:rPr sz="1200" b="1">
                          <a:solidFill>
                            <a:srgbClr val="031B08"/>
                          </a:solidFill>
                          <a:latin typeface="Arial"/>
                        </a:rPr>
                        <a:t>Fuel</a:t>
                      </a:r>
                    </a:p>
                  </a:txBody>
                  <a:tcPr marL="73152" marR="73152" marT="27432" marB="27432" anchor="ctr">
                    <a:solidFill>
                      <a:srgbClr val="FFFFFF"/>
                    </a:solidFill>
                  </a:tcPr>
                </a:tc>
                <a:tc>
                  <a:txBody>
                    <a:bodyPr wrap="square"/>
                    <a:lstStyle/>
                    <a:p>
                      <a:r>
                        <a:rPr sz="1200" b="0">
                          <a:solidFill>
                            <a:srgbClr val="1C2B26"/>
                          </a:solidFill>
                          <a:latin typeface="Arial"/>
                        </a:rPr>
                        <a:t>weekly quota per vehicle</a:t>
                      </a:r>
                    </a:p>
                  </a:txBody>
                  <a:tcPr marL="73152" marR="73152" marT="27432" marB="27432" anchor="ctr">
                    <a:solidFill>
                      <a:srgbClr val="FFFFFF"/>
                    </a:solidFill>
                  </a:tcPr>
                </a:tc>
              </a:tr>
            </a:tbl>
          </a:graphicData>
        </a:graphic>
      </p:graphicFrame>
      <p:sp>
        <p:nvSpPr>
          <p:cNvPr id="10" name="s15 Rounded Rectangle 9"/>
          <p:cNvSpPr/>
          <p:nvPr/>
        </p:nvSpPr>
        <p:spPr>
          <a:xfrm>
            <a:off x="548640" y="4709160"/>
            <a:ext cx="11094415" cy="1325880"/>
          </a:xfrm>
          <a:prstGeom prst="roundRect">
            <a:avLst>
              <a:gd name="adj" fmla="val 11034"/>
            </a:avLst>
          </a:prstGeom>
          <a:solidFill>
            <a:srgbClr val="DDEFEC"/>
          </a:solidFill>
          <a:ln>
            <a:noFill/>
          </a:ln>
          <a:effectLst/>
        </p:spPr>
        <p:txBody>
          <a:bodyPr rtlCol="0" anchor="ctr"/>
          <a:lstStyle/>
          <a:p/>
        </p:txBody>
      </p:sp>
      <p:sp>
        <p:nvSpPr>
          <p:cNvPr id="11" name="s15 TextBox 10"/>
          <p:cNvSpPr txBox="1"/>
          <p:nvPr/>
        </p:nvSpPr>
        <p:spPr>
          <a:xfrm>
            <a:off x="822959" y="4709160"/>
            <a:ext cx="10545775" cy="1325880"/>
          </a:xfrm>
          <a:prstGeom prst="rect">
            <a:avLst/>
          </a:prstGeom>
          <a:noFill/>
        </p:spPr>
        <p:txBody>
          <a:bodyPr wrap="square" lIns="0" rIns="0" tIns="0" bIns="0" anchor="ctr">
            <a:spAutoFit/>
          </a:bodyPr>
          <a:lstStyle/>
          <a:p>
            <a:pPr algn="l">
              <a:lnSpc>
                <a:spcPct val="110000"/>
              </a:lnSpc>
              <a:spcAft>
                <a:spcPts val="600"/>
              </a:spcAft>
            </a:pPr>
            <a:r>
              <a:rPr sz="1250" b="1" i="0">
                <a:solidFill>
                  <a:srgbClr val="031B08"/>
                </a:solidFill>
                <a:latin typeface="Arial"/>
              </a:rPr>
              <a:t>Explanations come from the engine, not guesswork: </a:t>
            </a:r>
            <a:r>
              <a:rPr sz="1250" b="0" i="0">
                <a:solidFill>
                  <a:srgbClr val="1C2B26"/>
                </a:solidFill>
                <a:latin typeface="Arial"/>
              </a:rPr>
              <a:t>each waiting order shows the rule that stopped it, what was fine, where it could go, the closest it came and the smallest change. A what-if re-runs the day with one more vehicle without changing the plan.</a:t>
            </a:r>
          </a:p>
          <a:p>
            <a:pPr algn="l">
              <a:lnSpc>
                <a:spcPct val="110000"/>
              </a:lnSpc>
              <a:spcAft>
                <a:spcPts val="600"/>
              </a:spcAft>
            </a:pPr>
            <a:r>
              <a:rPr sz="1250" b="1" i="0">
                <a:solidFill>
                  <a:srgbClr val="031B08"/>
                </a:solidFill>
                <a:latin typeface="Arial"/>
              </a:rPr>
              <a:t>Why 72 in the app and 77 in the Datathon? </a:t>
            </a:r>
            <a:r>
              <a:rPr sz="1250" b="0" i="0">
                <a:solidFill>
                  <a:srgbClr val="1C2B26"/>
                </a:solidFill>
                <a:latin typeface="Arial"/>
              </a:rPr>
              <a:t>The app also enforces every store’s delivery window and fuel quota; the Datathon plan used the booklet’s time budgets, where 3 stops arrived 16 to 87 minutes late.</a:t>
            </a:r>
          </a:p>
        </p:txBody>
      </p:sp>
    </p:spTree>
  </p:cSld>
  <p:clrMapOvr>
    <a:masterClrMapping/>
  </p:clrMapOvr>
  <p:transition spd="fast">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6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16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16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Task 1 · Late risk and unloading time</a:t>
            </a:r>
          </a:p>
        </p:txBody>
      </p:sp>
      <p:sp>
        <p:nvSpPr>
          <p:cNvPr id="5" name="s16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Labels built from the route records; a simulator and LightGBM, blended</a:t>
            </a:r>
          </a:p>
        </p:txBody>
      </p:sp>
      <p:sp>
        <p:nvSpPr>
          <p:cNvPr id="6" name="s16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16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16</a:t>
            </a:r>
          </a:p>
        </p:txBody>
      </p:sp>
      <p:graphicFrame>
        <p:nvGraphicFramePr>
          <p:cNvPr id="8" name="s16 Table 7"/>
          <p:cNvGraphicFramePr>
            <a:graphicFrameLocks noGrp="1"/>
          </p:cNvGraphicFramePr>
          <p:nvPr/>
        </p:nvGraphicFramePr>
        <p:xfrm>
          <a:off x="548640" y="1691640"/>
          <a:ext cx="6949440" cy="2688336"/>
        </p:xfrm>
        <a:graphic>
          <a:graphicData uri="http://schemas.openxmlformats.org/drawingml/2006/table">
            <a:tbl>
              <a:tblPr firstRow="0" bandRow="0">
                <a:tableStyleId>{5C22544A-7EE6-4342-B048-85BDC9FD1C3A}</a:tableStyleId>
              </a:tblPr>
              <a:tblGrid>
                <a:gridCol w="2148840"/>
                <a:gridCol w="1097280"/>
                <a:gridCol w="1097280"/>
                <a:gridCol w="1188720"/>
                <a:gridCol w="1417320"/>
              </a:tblGrid>
              <a:tr h="384048">
                <a:tc>
                  <a:txBody>
                    <a:bodyPr wrap="square"/>
                    <a:lstStyle/>
                    <a:p>
                      <a:r>
                        <a:rPr sz="1200" b="1">
                          <a:solidFill>
                            <a:srgbClr val="FFFFFF"/>
                          </a:solidFill>
                          <a:latin typeface="Arial"/>
                        </a:rPr>
                        <a:t>6 unseen weeks</a:t>
                      </a:r>
                    </a:p>
                  </a:txBody>
                  <a:tcPr marL="73152" marR="73152" marT="27432" marB="27432" anchor="ctr">
                    <a:solidFill>
                      <a:srgbClr val="031B08"/>
                    </a:solidFill>
                  </a:tcPr>
                </a:tc>
                <a:tc>
                  <a:txBody>
                    <a:bodyPr wrap="square"/>
                    <a:lstStyle/>
                    <a:p>
                      <a:r>
                        <a:rPr sz="1200" b="1">
                          <a:solidFill>
                            <a:srgbClr val="FFFFFF"/>
                          </a:solidFill>
                          <a:latin typeface="Arial"/>
                        </a:rPr>
                        <a:t>Statistical</a:t>
                      </a:r>
                    </a:p>
                  </a:txBody>
                  <a:tcPr marL="73152" marR="73152" marT="27432" marB="27432" anchor="ctr">
                    <a:solidFill>
                      <a:srgbClr val="031B08"/>
                    </a:solidFill>
                  </a:tcPr>
                </a:tc>
                <a:tc>
                  <a:txBody>
                    <a:bodyPr wrap="square"/>
                    <a:lstStyle/>
                    <a:p>
                      <a:r>
                        <a:rPr sz="1200" b="1">
                          <a:solidFill>
                            <a:srgbClr val="FFFFFF"/>
                          </a:solidFill>
                          <a:latin typeface="Arial"/>
                        </a:rPr>
                        <a:t>LightGBM</a:t>
                      </a:r>
                    </a:p>
                  </a:txBody>
                  <a:tcPr marL="73152" marR="73152" marT="27432" marB="27432" anchor="ctr">
                    <a:solidFill>
                      <a:srgbClr val="031B08"/>
                    </a:solidFill>
                  </a:tcPr>
                </a:tc>
                <a:tc>
                  <a:txBody>
                    <a:bodyPr wrap="square"/>
                    <a:lstStyle/>
                    <a:p>
                      <a:r>
                        <a:rPr sz="1200" b="1">
                          <a:solidFill>
                            <a:srgbClr val="FFFFFF"/>
                          </a:solidFill>
                          <a:latin typeface="Arial"/>
                        </a:rPr>
                        <a:t>Ensemble</a:t>
                      </a:r>
                    </a:p>
                  </a:txBody>
                  <a:tcPr marL="73152" marR="73152" marT="27432" marB="27432" anchor="ctr">
                    <a:solidFill>
                      <a:srgbClr val="031B08"/>
                    </a:solidFill>
                  </a:tcPr>
                </a:tc>
                <a:tc>
                  <a:txBody>
                    <a:bodyPr wrap="square"/>
                    <a:lstStyle/>
                    <a:p>
                      <a:r>
                        <a:rPr sz="1200" b="1">
                          <a:solidFill>
                            <a:srgbClr val="FFFFFF"/>
                          </a:solidFill>
                          <a:latin typeface="Arial"/>
                        </a:rPr>
                        <a:t>Selected</a:t>
                      </a:r>
                    </a:p>
                  </a:txBody>
                  <a:tcPr marL="73152" marR="73152" marT="27432" marB="27432" anchor="ctr">
                    <a:solidFill>
                      <a:srgbClr val="031B08"/>
                    </a:solidFill>
                  </a:tcPr>
                </a:tc>
              </a:tr>
              <a:tr h="384048">
                <a:tc>
                  <a:txBody>
                    <a:bodyPr wrap="square"/>
                    <a:lstStyle/>
                    <a:p>
                      <a:r>
                        <a:rPr sz="1200" b="1">
                          <a:solidFill>
                            <a:srgbClr val="031B08"/>
                          </a:solidFill>
                          <a:latin typeface="Arial"/>
                        </a:rPr>
                        <a:t>Unloading error (min)</a:t>
                      </a:r>
                    </a:p>
                  </a:txBody>
                  <a:tcPr marL="73152" marR="73152" marT="27432" marB="27432" anchor="ctr">
                    <a:solidFill>
                      <a:srgbClr val="FFFFFF"/>
                    </a:solidFill>
                  </a:tcPr>
                </a:tc>
                <a:tc>
                  <a:txBody>
                    <a:bodyPr wrap="square"/>
                    <a:lstStyle/>
                    <a:p>
                      <a:r>
                        <a:rPr sz="1200" b="0">
                          <a:solidFill>
                            <a:srgbClr val="1C2B26"/>
                          </a:solidFill>
                          <a:latin typeface="Arial"/>
                        </a:rPr>
                        <a:t>5.24</a:t>
                      </a:r>
                    </a:p>
                  </a:txBody>
                  <a:tcPr marL="73152" marR="73152" marT="27432" marB="27432" anchor="ctr">
                    <a:solidFill>
                      <a:srgbClr val="FFFFFF"/>
                    </a:solidFill>
                  </a:tcPr>
                </a:tc>
                <a:tc>
                  <a:txBody>
                    <a:bodyPr wrap="square"/>
                    <a:lstStyle/>
                    <a:p>
                      <a:r>
                        <a:rPr sz="1200" b="0">
                          <a:solidFill>
                            <a:srgbClr val="1C2B26"/>
                          </a:solidFill>
                          <a:latin typeface="Arial"/>
                        </a:rPr>
                        <a:t>3.75</a:t>
                      </a:r>
                    </a:p>
                  </a:txBody>
                  <a:tcPr marL="73152" marR="73152" marT="27432" marB="27432" anchor="ctr">
                    <a:solidFill>
                      <a:srgbClr val="FFFFFF"/>
                    </a:solidFill>
                  </a:tcPr>
                </a:tc>
                <a:tc>
                  <a:txBody>
                    <a:bodyPr wrap="square"/>
                    <a:lstStyle/>
                    <a:p>
                      <a:r>
                        <a:rPr sz="1200" b="0">
                          <a:solidFill>
                            <a:srgbClr val="1C2B26"/>
                          </a:solidFill>
                          <a:latin typeface="Arial"/>
                        </a:rPr>
                        <a:t>3.66</a:t>
                      </a:r>
                    </a:p>
                  </a:txBody>
                  <a:tcPr marL="73152" marR="73152" marT="27432" marB="27432" anchor="ctr">
                    <a:solidFill>
                      <a:srgbClr val="FFFFFF"/>
                    </a:solidFill>
                  </a:tcPr>
                </a:tc>
                <a:tc>
                  <a:txBody>
                    <a:bodyPr wrap="square"/>
                    <a:lstStyle/>
                    <a:p>
                      <a:r>
                        <a:rPr sz="1200" b="0">
                          <a:solidFill>
                            <a:srgbClr val="1C2B26"/>
                          </a:solidFill>
                          <a:latin typeface="Arial"/>
                        </a:rPr>
                        <a:t>3.72</a:t>
                      </a:r>
                    </a:p>
                  </a:txBody>
                  <a:tcPr marL="73152" marR="73152" marT="27432" marB="27432" anchor="ctr">
                    <a:solidFill>
                      <a:srgbClr val="FFFFFF"/>
                    </a:solidFill>
                  </a:tcPr>
                </a:tc>
              </a:tr>
              <a:tr h="384048">
                <a:tc>
                  <a:txBody>
                    <a:bodyPr wrap="square"/>
                    <a:lstStyle/>
                    <a:p>
                      <a:r>
                        <a:rPr sz="1200" b="1">
                          <a:solidFill>
                            <a:srgbClr val="031B08"/>
                          </a:solidFill>
                          <a:latin typeface="Arial"/>
                        </a:rPr>
                        <a:t>Late log-loss</a:t>
                      </a:r>
                    </a:p>
                  </a:txBody>
                  <a:tcPr marL="73152" marR="73152" marT="27432" marB="27432" anchor="ctr">
                    <a:solidFill>
                      <a:srgbClr val="F1F6F5"/>
                    </a:solidFill>
                  </a:tcPr>
                </a:tc>
                <a:tc>
                  <a:txBody>
                    <a:bodyPr wrap="square"/>
                    <a:lstStyle/>
                    <a:p>
                      <a:r>
                        <a:rPr sz="1200" b="0">
                          <a:solidFill>
                            <a:srgbClr val="1C2B26"/>
                          </a:solidFill>
                          <a:latin typeface="Arial"/>
                        </a:rPr>
                        <a:t>0.302</a:t>
                      </a:r>
                    </a:p>
                  </a:txBody>
                  <a:tcPr marL="73152" marR="73152" marT="27432" marB="27432" anchor="ctr">
                    <a:solidFill>
                      <a:srgbClr val="F1F6F5"/>
                    </a:solidFill>
                  </a:tcPr>
                </a:tc>
                <a:tc>
                  <a:txBody>
                    <a:bodyPr wrap="square"/>
                    <a:lstStyle/>
                    <a:p>
                      <a:r>
                        <a:rPr sz="1200" b="0">
                          <a:solidFill>
                            <a:srgbClr val="1C2B26"/>
                          </a:solidFill>
                          <a:latin typeface="Arial"/>
                        </a:rPr>
                        <a:t>0.133</a:t>
                      </a:r>
                    </a:p>
                  </a:txBody>
                  <a:tcPr marL="73152" marR="73152" marT="27432" marB="27432" anchor="ctr">
                    <a:solidFill>
                      <a:srgbClr val="F1F6F5"/>
                    </a:solidFill>
                  </a:tcPr>
                </a:tc>
                <a:tc>
                  <a:txBody>
                    <a:bodyPr wrap="square"/>
                    <a:lstStyle/>
                    <a:p>
                      <a:r>
                        <a:rPr sz="1200" b="0">
                          <a:solidFill>
                            <a:srgbClr val="1C2B26"/>
                          </a:solidFill>
                          <a:latin typeface="Arial"/>
                        </a:rPr>
                        <a:t>0.125</a:t>
                      </a:r>
                    </a:p>
                  </a:txBody>
                  <a:tcPr marL="73152" marR="73152" marT="27432" marB="27432" anchor="ctr">
                    <a:solidFill>
                      <a:srgbClr val="F1F6F5"/>
                    </a:solidFill>
                  </a:tcPr>
                </a:tc>
                <a:tc>
                  <a:txBody>
                    <a:bodyPr wrap="square"/>
                    <a:lstStyle/>
                    <a:p>
                      <a:r>
                        <a:rPr sz="1200" b="0">
                          <a:solidFill>
                            <a:srgbClr val="1C2B26"/>
                          </a:solidFill>
                          <a:latin typeface="Arial"/>
                        </a:rPr>
                        <a:t>0.131</a:t>
                      </a:r>
                    </a:p>
                  </a:txBody>
                  <a:tcPr marL="73152" marR="73152" marT="27432" marB="27432" anchor="ctr">
                    <a:solidFill>
                      <a:srgbClr val="F1F6F5"/>
                    </a:solidFill>
                  </a:tcPr>
                </a:tc>
              </a:tr>
              <a:tr h="384048">
                <a:tc>
                  <a:txBody>
                    <a:bodyPr wrap="square"/>
                    <a:lstStyle/>
                    <a:p>
                      <a:r>
                        <a:rPr sz="1200" b="1">
                          <a:solidFill>
                            <a:srgbClr val="031B08"/>
                          </a:solidFill>
                          <a:latin typeface="Arial"/>
                        </a:rPr>
                        <a:t>Correct at 0.5</a:t>
                      </a:r>
                    </a:p>
                  </a:txBody>
                  <a:tcPr marL="73152" marR="73152" marT="27432" marB="27432" anchor="ctr">
                    <a:solidFill>
                      <a:srgbClr val="FFFFFF"/>
                    </a:solidFill>
                  </a:tcPr>
                </a:tc>
                <a:tc>
                  <a:txBody>
                    <a:bodyPr wrap="square"/>
                    <a:lstStyle/>
                    <a:p>
                      <a:r>
                        <a:rPr sz="1200" b="0">
                          <a:solidFill>
                            <a:srgbClr val="1C2B26"/>
                          </a:solidFill>
                          <a:latin typeface="Arial"/>
                        </a:rPr>
                        <a:t>85.8%</a:t>
                      </a:r>
                    </a:p>
                  </a:txBody>
                  <a:tcPr marL="73152" marR="73152" marT="27432" marB="27432" anchor="ctr">
                    <a:solidFill>
                      <a:srgbClr val="FFFFFF"/>
                    </a:solidFill>
                  </a:tcPr>
                </a:tc>
                <a:tc>
                  <a:txBody>
                    <a:bodyPr wrap="square"/>
                    <a:lstStyle/>
                    <a:p>
                      <a:r>
                        <a:rPr sz="1200" b="0">
                          <a:solidFill>
                            <a:srgbClr val="1C2B26"/>
                          </a:solidFill>
                          <a:latin typeface="Arial"/>
                        </a:rPr>
                        <a:t>94.5%</a:t>
                      </a:r>
                    </a:p>
                  </a:txBody>
                  <a:tcPr marL="73152" marR="73152" marT="27432" marB="27432" anchor="ctr">
                    <a:solidFill>
                      <a:srgbClr val="FFFFFF"/>
                    </a:solidFill>
                  </a:tcPr>
                </a:tc>
                <a:tc>
                  <a:txBody>
                    <a:bodyPr wrap="square"/>
                    <a:lstStyle/>
                    <a:p>
                      <a:r>
                        <a:rPr sz="1200" b="0">
                          <a:solidFill>
                            <a:srgbClr val="1C2B26"/>
                          </a:solidFill>
                          <a:latin typeface="Arial"/>
                        </a:rPr>
                        <a:t>94.6%</a:t>
                      </a:r>
                    </a:p>
                  </a:txBody>
                  <a:tcPr marL="73152" marR="73152" marT="27432" marB="27432" anchor="ctr">
                    <a:solidFill>
                      <a:srgbClr val="FFFFFF"/>
                    </a:solidFill>
                  </a:tcPr>
                </a:tc>
                <a:tc>
                  <a:txBody>
                    <a:bodyPr wrap="square"/>
                    <a:lstStyle/>
                    <a:p>
                      <a:r>
                        <a:rPr sz="1200" b="0">
                          <a:solidFill>
                            <a:srgbClr val="1C2B26"/>
                          </a:solidFill>
                          <a:latin typeface="Arial"/>
                        </a:rPr>
                        <a:t>94.5%</a:t>
                      </a:r>
                    </a:p>
                  </a:txBody>
                  <a:tcPr marL="73152" marR="73152" marT="27432" marB="27432" anchor="ctr">
                    <a:solidFill>
                      <a:srgbClr val="FFFFFF"/>
                    </a:solidFill>
                  </a:tcPr>
                </a:tc>
              </a:tr>
              <a:tr h="384048">
                <a:tc>
                  <a:txBody>
                    <a:bodyPr wrap="square"/>
                    <a:lstStyle/>
                    <a:p>
                      <a:r>
                        <a:rPr sz="1200" b="1">
                          <a:solidFill>
                            <a:srgbClr val="031B08"/>
                          </a:solidFill>
                          <a:latin typeface="Arial"/>
                        </a:rPr>
                        <a:t>False alarms</a:t>
                      </a:r>
                    </a:p>
                  </a:txBody>
                  <a:tcPr marL="73152" marR="73152" marT="27432" marB="27432" anchor="ctr">
                    <a:solidFill>
                      <a:srgbClr val="F1F6F5"/>
                    </a:solidFill>
                  </a:tcPr>
                </a:tc>
                <a:tc>
                  <a:txBody>
                    <a:bodyPr wrap="square"/>
                    <a:lstStyle/>
                    <a:p>
                      <a:r>
                        <a:rPr sz="1200" b="0">
                          <a:solidFill>
                            <a:srgbClr val="1C2B26"/>
                          </a:solidFill>
                          <a:latin typeface="Arial"/>
                        </a:rPr>
                        <a:t>368</a:t>
                      </a:r>
                    </a:p>
                  </a:txBody>
                  <a:tcPr marL="73152" marR="73152" marT="27432" marB="27432" anchor="ctr">
                    <a:solidFill>
                      <a:srgbClr val="F1F6F5"/>
                    </a:solidFill>
                  </a:tcPr>
                </a:tc>
                <a:tc>
                  <a:txBody>
                    <a:bodyPr wrap="square"/>
                    <a:lstStyle/>
                    <a:p>
                      <a:r>
                        <a:rPr sz="1200" b="0">
                          <a:solidFill>
                            <a:srgbClr val="1C2B26"/>
                          </a:solidFill>
                          <a:latin typeface="Arial"/>
                        </a:rPr>
                        <a:t>115</a:t>
                      </a:r>
                    </a:p>
                  </a:txBody>
                  <a:tcPr marL="73152" marR="73152" marT="27432" marB="27432" anchor="ctr">
                    <a:solidFill>
                      <a:srgbClr val="F1F6F5"/>
                    </a:solidFill>
                  </a:tcPr>
                </a:tc>
                <a:tc>
                  <a:txBody>
                    <a:bodyPr wrap="square"/>
                    <a:lstStyle/>
                    <a:p>
                      <a:r>
                        <a:rPr sz="1200" b="0">
                          <a:solidFill>
                            <a:srgbClr val="1C2B26"/>
                          </a:solidFill>
                          <a:latin typeface="Arial"/>
                        </a:rPr>
                        <a:t>89</a:t>
                      </a:r>
                    </a:p>
                  </a:txBody>
                  <a:tcPr marL="73152" marR="73152" marT="27432" marB="27432" anchor="ctr">
                    <a:solidFill>
                      <a:srgbClr val="F1F6F5"/>
                    </a:solidFill>
                  </a:tcPr>
                </a:tc>
                <a:tc>
                  <a:txBody>
                    <a:bodyPr wrap="square"/>
                    <a:lstStyle/>
                    <a:p>
                      <a:r>
                        <a:rPr sz="1200" b="0">
                          <a:solidFill>
                            <a:srgbClr val="1C2B26"/>
                          </a:solidFill>
                          <a:latin typeface="Arial"/>
                        </a:rPr>
                        <a:t>95</a:t>
                      </a:r>
                    </a:p>
                  </a:txBody>
                  <a:tcPr marL="73152" marR="73152" marT="27432" marB="27432" anchor="ctr">
                    <a:solidFill>
                      <a:srgbClr val="F1F6F5"/>
                    </a:solidFill>
                  </a:tcPr>
                </a:tc>
              </a:tr>
              <a:tr h="384048">
                <a:tc>
                  <a:txBody>
                    <a:bodyPr wrap="square"/>
                    <a:lstStyle/>
                    <a:p>
                      <a:r>
                        <a:rPr sz="1200" b="1">
                          <a:solidFill>
                            <a:srgbClr val="031B08"/>
                          </a:solidFill>
                          <a:latin typeface="Arial"/>
                        </a:rPr>
                        <a:t>Training time</a:t>
                      </a:r>
                    </a:p>
                  </a:txBody>
                  <a:tcPr marL="73152" marR="73152" marT="27432" marB="27432" anchor="ctr">
                    <a:solidFill>
                      <a:srgbClr val="FFFFFF"/>
                    </a:solidFill>
                  </a:tcPr>
                </a:tc>
                <a:tc>
                  <a:txBody>
                    <a:bodyPr wrap="square"/>
                    <a:lstStyle/>
                    <a:p>
                      <a:r>
                        <a:rPr sz="1200" b="0">
                          <a:solidFill>
                            <a:srgbClr val="1C2B26"/>
                          </a:solidFill>
                          <a:latin typeface="Arial"/>
                        </a:rPr>
                        <a:t>0.01 s</a:t>
                      </a:r>
                    </a:p>
                  </a:txBody>
                  <a:tcPr marL="73152" marR="73152" marT="27432" marB="27432" anchor="ctr">
                    <a:solidFill>
                      <a:srgbClr val="FFFFFF"/>
                    </a:solidFill>
                  </a:tcPr>
                </a:tc>
                <a:tc>
                  <a:txBody>
                    <a:bodyPr wrap="square"/>
                    <a:lstStyle/>
                    <a:p>
                      <a:r>
                        <a:rPr sz="1200" b="0">
                          <a:solidFill>
                            <a:srgbClr val="1C2B26"/>
                          </a:solidFill>
                          <a:latin typeface="Arial"/>
                        </a:rPr>
                        <a:t>18 s</a:t>
                      </a:r>
                    </a:p>
                  </a:txBody>
                  <a:tcPr marL="73152" marR="73152" marT="27432" marB="27432" anchor="ctr">
                    <a:solidFill>
                      <a:srgbClr val="FFFFFF"/>
                    </a:solidFill>
                  </a:tcPr>
                </a:tc>
                <a:tc>
                  <a:txBody>
                    <a:bodyPr wrap="square"/>
                    <a:lstStyle/>
                    <a:p>
                      <a:r>
                        <a:rPr sz="1200" b="0">
                          <a:solidFill>
                            <a:srgbClr val="1C2B26"/>
                          </a:solidFill>
                          <a:latin typeface="Arial"/>
                        </a:rPr>
                        <a:t>16 min</a:t>
                      </a:r>
                    </a:p>
                  </a:txBody>
                  <a:tcPr marL="73152" marR="73152" marT="27432" marB="27432" anchor="ctr">
                    <a:solidFill>
                      <a:srgbClr val="FFFFFF"/>
                    </a:solidFill>
                  </a:tcPr>
                </a:tc>
                <a:tc>
                  <a:txBody>
                    <a:bodyPr wrap="square"/>
                    <a:lstStyle/>
                    <a:p>
                      <a:r>
                        <a:rPr sz="1200" b="0">
                          <a:solidFill>
                            <a:srgbClr val="1C2B26"/>
                          </a:solidFill>
                          <a:latin typeface="Arial"/>
                        </a:rPr>
                        <a:t>1.5 min</a:t>
                      </a:r>
                    </a:p>
                  </a:txBody>
                  <a:tcPr marL="73152" marR="73152" marT="27432" marB="27432" anchor="ctr">
                    <a:solidFill>
                      <a:srgbClr val="FFFFFF"/>
                    </a:solidFill>
                  </a:tcPr>
                </a:tc>
              </a:tr>
              <a:tr h="384048">
                <a:tc>
                  <a:txBody>
                    <a:bodyPr wrap="square"/>
                    <a:lstStyle/>
                    <a:p>
                      <a:r>
                        <a:rPr sz="1200" b="1">
                          <a:solidFill>
                            <a:srgbClr val="031B08"/>
                          </a:solidFill>
                          <a:latin typeface="Arial"/>
                        </a:rPr>
                        <a:t>Per order / size</a:t>
                      </a:r>
                    </a:p>
                  </a:txBody>
                  <a:tcPr marL="73152" marR="73152" marT="27432" marB="27432" anchor="ctr">
                    <a:solidFill>
                      <a:srgbClr val="F1F6F5"/>
                    </a:solidFill>
                  </a:tcPr>
                </a:tc>
                <a:tc>
                  <a:txBody>
                    <a:bodyPr wrap="square"/>
                    <a:lstStyle/>
                    <a:p>
                      <a:r>
                        <a:rPr sz="1200" b="0">
                          <a:solidFill>
                            <a:srgbClr val="1C2B26"/>
                          </a:solidFill>
                          <a:latin typeface="Arial"/>
                        </a:rPr>
                        <a:t>–</a:t>
                      </a:r>
                    </a:p>
                  </a:txBody>
                  <a:tcPr marL="73152" marR="73152" marT="27432" marB="27432" anchor="ctr">
                    <a:solidFill>
                      <a:srgbClr val="F1F6F5"/>
                    </a:solidFill>
                  </a:tcPr>
                </a:tc>
                <a:tc>
                  <a:txBody>
                    <a:bodyPr wrap="square"/>
                    <a:lstStyle/>
                    <a:p>
                      <a:r>
                        <a:rPr sz="1200" b="0">
                          <a:solidFill>
                            <a:srgbClr val="1C2B26"/>
                          </a:solidFill>
                          <a:latin typeface="Arial"/>
                        </a:rPr>
                        <a:t>–</a:t>
                      </a:r>
                    </a:p>
                  </a:txBody>
                  <a:tcPr marL="73152" marR="73152" marT="27432" marB="27432" anchor="ctr">
                    <a:solidFill>
                      <a:srgbClr val="F1F6F5"/>
                    </a:solidFill>
                  </a:tcPr>
                </a:tc>
                <a:tc>
                  <a:txBody>
                    <a:bodyPr wrap="square"/>
                    <a:lstStyle/>
                    <a:p>
                      <a:r>
                        <a:rPr sz="1200" b="0">
                          <a:solidFill>
                            <a:srgbClr val="1C2B26"/>
                          </a:solidFill>
                          <a:latin typeface="Arial"/>
                        </a:rPr>
                        <a:t>2 s · 33 MB</a:t>
                      </a:r>
                    </a:p>
                  </a:txBody>
                  <a:tcPr marL="73152" marR="73152" marT="27432" marB="27432" anchor="ctr">
                    <a:solidFill>
                      <a:srgbClr val="F1F6F5"/>
                    </a:solidFill>
                  </a:tcPr>
                </a:tc>
                <a:tc>
                  <a:txBody>
                    <a:bodyPr wrap="square"/>
                    <a:lstStyle/>
                    <a:p>
                      <a:r>
                        <a:rPr sz="1200" b="0">
                          <a:solidFill>
                            <a:srgbClr val="1C2B26"/>
                          </a:solidFill>
                          <a:latin typeface="Arial"/>
                        </a:rPr>
                        <a:t>48 ms · 9.7 MB</a:t>
                      </a:r>
                    </a:p>
                  </a:txBody>
                  <a:tcPr marL="73152" marR="73152" marT="27432" marB="27432" anchor="ctr">
                    <a:solidFill>
                      <a:srgbClr val="F1F6F5"/>
                    </a:solidFill>
                  </a:tcPr>
                </a:tc>
              </a:tr>
            </a:tbl>
          </a:graphicData>
        </a:graphic>
      </p:graphicFrame>
      <p:sp>
        <p:nvSpPr>
          <p:cNvPr id="9" name="s16 Oval 8"/>
          <p:cNvSpPr/>
          <p:nvPr/>
        </p:nvSpPr>
        <p:spPr>
          <a:xfrm>
            <a:off x="7863840" y="1865376"/>
            <a:ext cx="100584" cy="100584"/>
          </a:xfrm>
          <a:prstGeom prst="ellipse">
            <a:avLst/>
          </a:prstGeom>
          <a:solidFill>
            <a:srgbClr val="0A6B63"/>
          </a:solidFill>
          <a:ln>
            <a:noFill/>
          </a:ln>
          <a:effectLst/>
        </p:spPr>
        <p:txBody>
          <a:bodyPr rtlCol="0" anchor="ctr"/>
          <a:lstStyle/>
          <a:p>
            <a:pPr algn="ctr"/>
          </a:p>
        </p:txBody>
      </p:sp>
      <p:sp>
        <p:nvSpPr>
          <p:cNvPr id="10" name="s16 TextBox 9"/>
          <p:cNvSpPr txBox="1"/>
          <p:nvPr/>
        </p:nvSpPr>
        <p:spPr>
          <a:xfrm>
            <a:off x="8092440" y="1783080"/>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Service time = leave − later of (arrival, window open)</a:t>
            </a:r>
          </a:p>
        </p:txBody>
      </p:sp>
      <p:sp>
        <p:nvSpPr>
          <p:cNvPr id="11" name="s16 Oval 10"/>
          <p:cNvSpPr/>
          <p:nvPr/>
        </p:nvSpPr>
        <p:spPr>
          <a:xfrm>
            <a:off x="7863840" y="2450591"/>
            <a:ext cx="100584" cy="100584"/>
          </a:xfrm>
          <a:prstGeom prst="ellipse">
            <a:avLst/>
          </a:prstGeom>
          <a:solidFill>
            <a:srgbClr val="0A6B63"/>
          </a:solidFill>
          <a:ln>
            <a:noFill/>
          </a:ln>
          <a:effectLst/>
        </p:spPr>
        <p:txBody>
          <a:bodyPr rtlCol="0" anchor="ctr"/>
          <a:lstStyle/>
          <a:p>
            <a:pPr algn="ctr"/>
          </a:p>
        </p:txBody>
      </p:sp>
      <p:sp>
        <p:nvSpPr>
          <p:cNvPr id="12" name="s16 TextBox 11"/>
          <p:cNvSpPr txBox="1"/>
          <p:nvPr/>
        </p:nvSpPr>
        <p:spPr>
          <a:xfrm>
            <a:off x="8092440" y="2368296"/>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Late = arrival after the window closes</a:t>
            </a:r>
          </a:p>
        </p:txBody>
      </p:sp>
      <p:sp>
        <p:nvSpPr>
          <p:cNvPr id="13" name="s16 Oval 12"/>
          <p:cNvSpPr/>
          <p:nvPr/>
        </p:nvSpPr>
        <p:spPr>
          <a:xfrm>
            <a:off x="7863840" y="3035808"/>
            <a:ext cx="100584" cy="100584"/>
          </a:xfrm>
          <a:prstGeom prst="ellipse">
            <a:avLst/>
          </a:prstGeom>
          <a:solidFill>
            <a:srgbClr val="0A6B63"/>
          </a:solidFill>
          <a:ln>
            <a:noFill/>
          </a:ln>
          <a:effectLst/>
        </p:spPr>
        <p:txBody>
          <a:bodyPr rtlCol="0" anchor="ctr"/>
          <a:lstStyle/>
          <a:p>
            <a:pPr algn="ctr"/>
          </a:p>
        </p:txBody>
      </p:sp>
      <p:sp>
        <p:nvSpPr>
          <p:cNvPr id="14" name="s16 TextBox 13"/>
          <p:cNvSpPr txBox="1"/>
          <p:nvPr/>
        </p:nvSpPr>
        <p:spPr>
          <a:xfrm>
            <a:off x="8092440" y="2953512"/>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Simulator: hundreds of runs per route, delays carried stop to stop</a:t>
            </a:r>
          </a:p>
        </p:txBody>
      </p:sp>
      <p:sp>
        <p:nvSpPr>
          <p:cNvPr id="15" name="s16 Oval 14"/>
          <p:cNvSpPr/>
          <p:nvPr/>
        </p:nvSpPr>
        <p:spPr>
          <a:xfrm>
            <a:off x="7863840" y="3621024"/>
            <a:ext cx="100584" cy="100584"/>
          </a:xfrm>
          <a:prstGeom prst="ellipse">
            <a:avLst/>
          </a:prstGeom>
          <a:solidFill>
            <a:srgbClr val="0A6B63"/>
          </a:solidFill>
          <a:ln>
            <a:noFill/>
          </a:ln>
          <a:effectLst/>
        </p:spPr>
        <p:txBody>
          <a:bodyPr rtlCol="0" anchor="ctr"/>
          <a:lstStyle/>
          <a:p>
            <a:pPr algn="ctr"/>
          </a:p>
        </p:txBody>
      </p:sp>
      <p:sp>
        <p:nvSpPr>
          <p:cNvPr id="16" name="s16 TextBox 15"/>
          <p:cNvSpPr txBox="1"/>
          <p:nvPr/>
        </p:nvSpPr>
        <p:spPr>
          <a:xfrm>
            <a:off x="8092440" y="3538728"/>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Blend in log-odds: 50/50 for lateness, 55/45 for minutes</a:t>
            </a:r>
          </a:p>
        </p:txBody>
      </p:sp>
      <p:sp>
        <p:nvSpPr>
          <p:cNvPr id="17" name="s16 Oval 16"/>
          <p:cNvSpPr/>
          <p:nvPr/>
        </p:nvSpPr>
        <p:spPr>
          <a:xfrm>
            <a:off x="7863840" y="4206240"/>
            <a:ext cx="100584" cy="100584"/>
          </a:xfrm>
          <a:prstGeom prst="ellipse">
            <a:avLst/>
          </a:prstGeom>
          <a:solidFill>
            <a:srgbClr val="0A6B63"/>
          </a:solidFill>
          <a:ln>
            <a:noFill/>
          </a:ln>
          <a:effectLst/>
        </p:spPr>
        <p:txBody>
          <a:bodyPr rtlCol="0" anchor="ctr"/>
          <a:lstStyle/>
          <a:p>
            <a:pPr algn="ctr"/>
          </a:p>
        </p:txBody>
      </p:sp>
      <p:sp>
        <p:nvSpPr>
          <p:cNvPr id="18" name="s16 TextBox 17"/>
          <p:cNvSpPr txBox="1"/>
          <p:nvPr/>
        </p:nvSpPr>
        <p:spPr>
          <a:xfrm>
            <a:off x="8092440" y="4123944"/>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Caught 488 of 678 late; 84% of flags right; AUC 0.976</a:t>
            </a:r>
          </a:p>
        </p:txBody>
      </p:sp>
      <p:sp>
        <p:nvSpPr>
          <p:cNvPr id="19" name="s16 Oval 18"/>
          <p:cNvSpPr/>
          <p:nvPr/>
        </p:nvSpPr>
        <p:spPr>
          <a:xfrm>
            <a:off x="7863840" y="4791456"/>
            <a:ext cx="100584" cy="100584"/>
          </a:xfrm>
          <a:prstGeom prst="ellipse">
            <a:avLst/>
          </a:prstGeom>
          <a:solidFill>
            <a:srgbClr val="0A6B63"/>
          </a:solidFill>
          <a:ln>
            <a:noFill/>
          </a:ln>
          <a:effectLst/>
        </p:spPr>
        <p:txBody>
          <a:bodyPr rtlCol="0" anchor="ctr"/>
          <a:lstStyle/>
          <a:p>
            <a:pPr algn="ctr"/>
          </a:p>
        </p:txBody>
      </p:sp>
      <p:sp>
        <p:nvSpPr>
          <p:cNvPr id="20" name="s16 TextBox 19"/>
          <p:cNvSpPr txBox="1"/>
          <p:nvPr/>
        </p:nvSpPr>
        <p:spPr>
          <a:xfrm>
            <a:off x="8092440" y="4709160"/>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AUC 0.976: a late stop ranks riskier than an on-time one 97.6% of the time</a:t>
            </a:r>
          </a:p>
        </p:txBody>
      </p:sp>
      <p:sp>
        <p:nvSpPr>
          <p:cNvPr id="21" name="s16 Oval 20"/>
          <p:cNvSpPr/>
          <p:nvPr/>
        </p:nvSpPr>
        <p:spPr>
          <a:xfrm>
            <a:off x="7863840" y="5376672"/>
            <a:ext cx="100584" cy="100584"/>
          </a:xfrm>
          <a:prstGeom prst="ellipse">
            <a:avLst/>
          </a:prstGeom>
          <a:solidFill>
            <a:srgbClr val="0A6B63"/>
          </a:solidFill>
          <a:ln>
            <a:noFill/>
          </a:ln>
          <a:effectLst/>
        </p:spPr>
        <p:txBody>
          <a:bodyPr rtlCol="0" anchor="ctr"/>
          <a:lstStyle/>
          <a:p>
            <a:pPr algn="ctr"/>
          </a:p>
        </p:txBody>
      </p:sp>
      <p:sp>
        <p:nvSpPr>
          <p:cNvPr id="22" name="s16 TextBox 21"/>
          <p:cNvSpPr txBox="1"/>
          <p:nvPr/>
        </p:nvSpPr>
        <p:spPr>
          <a:xfrm>
            <a:off x="8092440" y="5294376"/>
            <a:ext cx="3566160" cy="585216"/>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No road data at planning time: AUC 0.957 (production figure)</a:t>
            </a:r>
          </a:p>
        </p:txBody>
      </p:sp>
      <p:sp>
        <p:nvSpPr>
          <p:cNvPr id="23" name="s16 Rounded Rectangle 22"/>
          <p:cNvSpPr/>
          <p:nvPr/>
        </p:nvSpPr>
        <p:spPr>
          <a:xfrm>
            <a:off x="548640" y="4572000"/>
            <a:ext cx="6949440" cy="1097280"/>
          </a:xfrm>
          <a:prstGeom prst="roundRect">
            <a:avLst>
              <a:gd name="adj" fmla="val 13333"/>
            </a:avLst>
          </a:prstGeom>
          <a:solidFill>
            <a:srgbClr val="DDEFEC"/>
          </a:solidFill>
          <a:ln>
            <a:noFill/>
          </a:ln>
          <a:effectLst/>
        </p:spPr>
        <p:txBody>
          <a:bodyPr rtlCol="0" anchor="ctr"/>
          <a:lstStyle/>
          <a:p/>
        </p:txBody>
      </p:sp>
      <p:sp>
        <p:nvSpPr>
          <p:cNvPr id="24" name="s16 TextBox 23"/>
          <p:cNvSpPr txBox="1"/>
          <p:nvPr/>
        </p:nvSpPr>
        <p:spPr>
          <a:xfrm>
            <a:off x="822959" y="4572000"/>
            <a:ext cx="6492240" cy="1097280"/>
          </a:xfrm>
          <a:prstGeom prst="rect">
            <a:avLst/>
          </a:prstGeom>
          <a:noFill/>
        </p:spPr>
        <p:txBody>
          <a:bodyPr wrap="square" lIns="0" rIns="0" tIns="0" bIns="0" anchor="ctr">
            <a:spAutoFit/>
          </a:bodyPr>
          <a:lstStyle/>
          <a:p>
            <a:pPr algn="l">
              <a:lnSpc>
                <a:spcPct val="110000"/>
              </a:lnSpc>
            </a:pPr>
            <a:r>
              <a:rPr sz="1250" b="1" i="0">
                <a:solidFill>
                  <a:srgbClr val="031B08"/>
                </a:solidFill>
                <a:latin typeface="Arial"/>
              </a:rPr>
              <a:t>Why the selected model? </a:t>
            </a:r>
            <a:r>
              <a:rPr sz="1250" b="0" i="0">
                <a:solidFill>
                  <a:srgbClr val="1C2B26"/>
                </a:solidFill>
                <a:latin typeface="Arial"/>
              </a:rPr>
              <a:t>Within 0.06 minutes of the best, 10 times faster to train than the ensemble, one library, 48 ms per order. In production it must first beat the built-in estimate on our own deliveries (backtest and trust gates).</a:t>
            </a:r>
          </a:p>
        </p:txBody>
      </p:sp>
    </p:spTree>
  </p:cSld>
  <p:clrMapOvr>
    <a:masterClrMapping/>
  </p:clrMapOvr>
  <p:transition spd="fast">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7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17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17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Task 2A · Demand forecast</a:t>
            </a:r>
          </a:p>
        </p:txBody>
      </p:sp>
      <p:sp>
        <p:nvSpPr>
          <p:cNvPr id="5" name="s17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Bottom-up: expected orders × expected size, tested on 25 rolling forecasts</a:t>
            </a:r>
          </a:p>
        </p:txBody>
      </p:sp>
      <p:sp>
        <p:nvSpPr>
          <p:cNvPr id="6" name="s17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17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17</a:t>
            </a:r>
          </a:p>
        </p:txBody>
      </p:sp>
      <p:graphicFrame>
        <p:nvGraphicFramePr>
          <p:cNvPr id="8" name="s17 Table 7"/>
          <p:cNvGraphicFramePr>
            <a:graphicFrameLocks noGrp="1"/>
          </p:cNvGraphicFramePr>
          <p:nvPr/>
        </p:nvGraphicFramePr>
        <p:xfrm>
          <a:off x="548640" y="1691640"/>
          <a:ext cx="6035040" cy="2304288"/>
        </p:xfrm>
        <a:graphic>
          <a:graphicData uri="http://schemas.openxmlformats.org/drawingml/2006/table">
            <a:tbl>
              <a:tblPr firstRow="0" bandRow="0">
                <a:tableStyleId>{5C22544A-7EE6-4342-B048-85BDC9FD1C3A}</a:tableStyleId>
              </a:tblPr>
              <a:tblGrid>
                <a:gridCol w="2468880"/>
                <a:gridCol w="1188720"/>
                <a:gridCol w="1188720"/>
                <a:gridCol w="1188720"/>
              </a:tblGrid>
              <a:tr h="384048">
                <a:tc>
                  <a:txBody>
                    <a:bodyPr wrap="square"/>
                    <a:lstStyle/>
                    <a:p>
                      <a:r>
                        <a:rPr sz="1200" b="1">
                          <a:solidFill>
                            <a:srgbClr val="FFFFFF"/>
                          </a:solidFill>
                          <a:latin typeface="Arial"/>
                        </a:rPr>
                        <a:t>WAPE (miss ÷ volume)</a:t>
                      </a:r>
                    </a:p>
                  </a:txBody>
                  <a:tcPr marL="73152" marR="73152" marT="27432" marB="27432" anchor="ctr">
                    <a:solidFill>
                      <a:srgbClr val="031B08"/>
                    </a:solidFill>
                  </a:tcPr>
                </a:tc>
                <a:tc>
                  <a:txBody>
                    <a:bodyPr wrap="square"/>
                    <a:lstStyle/>
                    <a:p>
                      <a:r>
                        <a:rPr sz="1200" b="1">
                          <a:solidFill>
                            <a:srgbClr val="FFFFFF"/>
                          </a:solidFill>
                          <a:latin typeface="Arial"/>
                        </a:rPr>
                        <a:t>Selection</a:t>
                      </a:r>
                    </a:p>
                  </a:txBody>
                  <a:tcPr marL="73152" marR="73152" marT="27432" marB="27432" anchor="ctr">
                    <a:solidFill>
                      <a:srgbClr val="031B08"/>
                    </a:solidFill>
                  </a:tcPr>
                </a:tc>
                <a:tc>
                  <a:txBody>
                    <a:bodyPr wrap="square"/>
                    <a:lstStyle/>
                    <a:p>
                      <a:r>
                        <a:rPr sz="1200" b="1">
                          <a:solidFill>
                            <a:srgbClr val="FFFFFF"/>
                          </a:solidFill>
                          <a:latin typeface="Arial"/>
                        </a:rPr>
                        <a:t>Test</a:t>
                      </a:r>
                    </a:p>
                  </a:txBody>
                  <a:tcPr marL="73152" marR="73152" marT="27432" marB="27432" anchor="ctr">
                    <a:solidFill>
                      <a:srgbClr val="031B08"/>
                    </a:solidFill>
                  </a:tcPr>
                </a:tc>
                <a:tc>
                  <a:txBody>
                    <a:bodyPr wrap="square"/>
                    <a:lstStyle/>
                    <a:p>
                      <a:r>
                        <a:rPr sz="1200" b="1">
                          <a:solidFill>
                            <a:srgbClr val="FFFFFF"/>
                          </a:solidFill>
                          <a:latin typeface="Arial"/>
                        </a:rPr>
                        <a:t>Latest 6 wk</a:t>
                      </a:r>
                    </a:p>
                  </a:txBody>
                  <a:tcPr marL="73152" marR="73152" marT="27432" marB="27432" anchor="ctr">
                    <a:solidFill>
                      <a:srgbClr val="031B08"/>
                    </a:solidFill>
                  </a:tcPr>
                </a:tc>
              </a:tr>
              <a:tr h="384048">
                <a:tc>
                  <a:txBody>
                    <a:bodyPr wrap="square"/>
                    <a:lstStyle/>
                    <a:p>
                      <a:r>
                        <a:rPr sz="1200" b="1">
                          <a:solidFill>
                            <a:srgbClr val="031B08"/>
                          </a:solidFill>
                          <a:latin typeface="Arial"/>
                        </a:rPr>
                        <a:t>Total volume</a:t>
                      </a:r>
                    </a:p>
                  </a:txBody>
                  <a:tcPr marL="73152" marR="73152" marT="27432" marB="27432" anchor="ctr">
                    <a:solidFill>
                      <a:srgbClr val="DDEFEC"/>
                    </a:solidFill>
                  </a:tcPr>
                </a:tc>
                <a:tc>
                  <a:txBody>
                    <a:bodyPr wrap="square"/>
                    <a:lstStyle/>
                    <a:p>
                      <a:r>
                        <a:rPr sz="1200" b="0">
                          <a:solidFill>
                            <a:srgbClr val="1C2B26"/>
                          </a:solidFill>
                          <a:latin typeface="Arial"/>
                        </a:rPr>
                        <a:t>3.03%</a:t>
                      </a:r>
                    </a:p>
                  </a:txBody>
                  <a:tcPr marL="73152" marR="73152" marT="27432" marB="27432" anchor="ctr">
                    <a:solidFill>
                      <a:srgbClr val="DDEFEC"/>
                    </a:solidFill>
                  </a:tcPr>
                </a:tc>
                <a:tc>
                  <a:txBody>
                    <a:bodyPr wrap="square"/>
                    <a:lstStyle/>
                    <a:p>
                      <a:r>
                        <a:rPr sz="1200" b="0">
                          <a:solidFill>
                            <a:srgbClr val="1C2B26"/>
                          </a:solidFill>
                          <a:latin typeface="Arial"/>
                        </a:rPr>
                        <a:t>3.18%</a:t>
                      </a:r>
                    </a:p>
                  </a:txBody>
                  <a:tcPr marL="73152" marR="73152" marT="27432" marB="27432" anchor="ctr">
                    <a:solidFill>
                      <a:srgbClr val="DDEFEC"/>
                    </a:solidFill>
                  </a:tcPr>
                </a:tc>
                <a:tc>
                  <a:txBody>
                    <a:bodyPr wrap="square"/>
                    <a:lstStyle/>
                    <a:p>
                      <a:r>
                        <a:rPr sz="1200" b="0">
                          <a:solidFill>
                            <a:srgbClr val="1C2B26"/>
                          </a:solidFill>
                          <a:latin typeface="Arial"/>
                        </a:rPr>
                        <a:t>2.99%</a:t>
                      </a:r>
                    </a:p>
                  </a:txBody>
                  <a:tcPr marL="73152" marR="73152" marT="27432" marB="27432" anchor="ctr">
                    <a:solidFill>
                      <a:srgbClr val="DDEFEC"/>
                    </a:solidFill>
                  </a:tcPr>
                </a:tc>
              </a:tr>
              <a:tr h="384048">
                <a:tc>
                  <a:txBody>
                    <a:bodyPr wrap="square"/>
                    <a:lstStyle/>
                    <a:p>
                      <a:r>
                        <a:rPr sz="1200" b="1">
                          <a:solidFill>
                            <a:srgbClr val="031B08"/>
                          </a:solidFill>
                          <a:latin typeface="Arial"/>
                        </a:rPr>
                        <a:t>Chilled volume</a:t>
                      </a:r>
                    </a:p>
                  </a:txBody>
                  <a:tcPr marL="73152" marR="73152" marT="27432" marB="27432" anchor="ctr">
                    <a:solidFill>
                      <a:srgbClr val="F1F6F5"/>
                    </a:solidFill>
                  </a:tcPr>
                </a:tc>
                <a:tc>
                  <a:txBody>
                    <a:bodyPr wrap="square"/>
                    <a:lstStyle/>
                    <a:p>
                      <a:r>
                        <a:rPr sz="1200" b="0">
                          <a:solidFill>
                            <a:srgbClr val="1C2B26"/>
                          </a:solidFill>
                          <a:latin typeface="Arial"/>
                        </a:rPr>
                        <a:t>2.07%</a:t>
                      </a:r>
                    </a:p>
                  </a:txBody>
                  <a:tcPr marL="73152" marR="73152" marT="27432" marB="27432" anchor="ctr">
                    <a:solidFill>
                      <a:srgbClr val="F1F6F5"/>
                    </a:solidFill>
                  </a:tcPr>
                </a:tc>
                <a:tc>
                  <a:txBody>
                    <a:bodyPr wrap="square"/>
                    <a:lstStyle/>
                    <a:p>
                      <a:r>
                        <a:rPr sz="1200" b="0">
                          <a:solidFill>
                            <a:srgbClr val="1C2B26"/>
                          </a:solidFill>
                          <a:latin typeface="Arial"/>
                        </a:rPr>
                        <a:t>1.97%</a:t>
                      </a:r>
                    </a:p>
                  </a:txBody>
                  <a:tcPr marL="73152" marR="73152" marT="27432" marB="27432" anchor="ctr">
                    <a:solidFill>
                      <a:srgbClr val="F1F6F5"/>
                    </a:solidFill>
                  </a:tcPr>
                </a:tc>
                <a:tc>
                  <a:txBody>
                    <a:bodyPr wrap="square"/>
                    <a:lstStyle/>
                    <a:p>
                      <a:r>
                        <a:rPr sz="1200" b="0">
                          <a:solidFill>
                            <a:srgbClr val="1C2B26"/>
                          </a:solidFill>
                          <a:latin typeface="Arial"/>
                        </a:rPr>
                        <a:t>2.65%</a:t>
                      </a:r>
                    </a:p>
                  </a:txBody>
                  <a:tcPr marL="73152" marR="73152" marT="27432" marB="27432" anchor="ctr">
                    <a:solidFill>
                      <a:srgbClr val="F1F6F5"/>
                    </a:solidFill>
                  </a:tcPr>
                </a:tc>
              </a:tr>
              <a:tr h="384048">
                <a:tc>
                  <a:txBody>
                    <a:bodyPr wrap="square"/>
                    <a:lstStyle/>
                    <a:p>
                      <a:r>
                        <a:rPr sz="1200" b="1">
                          <a:solidFill>
                            <a:srgbClr val="031B08"/>
                          </a:solidFill>
                          <a:latin typeface="Arial"/>
                        </a:rPr>
                        <a:t>Same week last year</a:t>
                      </a:r>
                    </a:p>
                  </a:txBody>
                  <a:tcPr marL="73152" marR="73152" marT="27432" marB="27432" anchor="ctr">
                    <a:solidFill>
                      <a:srgbClr val="FFFFFF"/>
                    </a:solidFill>
                  </a:tcPr>
                </a:tc>
                <a:tc>
                  <a:txBody>
                    <a:bodyPr wrap="square"/>
                    <a:lstStyle/>
                    <a:p>
                      <a:r>
                        <a:rPr sz="1200" b="0">
                          <a:solidFill>
                            <a:srgbClr val="1C2B26"/>
                          </a:solidFill>
                          <a:latin typeface="Arial"/>
                        </a:rPr>
                        <a:t>8.26%</a:t>
                      </a:r>
                    </a:p>
                  </a:txBody>
                  <a:tcPr marL="73152" marR="73152" marT="27432" marB="27432" anchor="ctr">
                    <a:solidFill>
                      <a:srgbClr val="FFFFFF"/>
                    </a:solidFill>
                  </a:tcPr>
                </a:tc>
                <a:tc>
                  <a:txBody>
                    <a:bodyPr wrap="square"/>
                    <a:lstStyle/>
                    <a:p>
                      <a:r>
                        <a:rPr sz="1200" b="0">
                          <a:solidFill>
                            <a:srgbClr val="1C2B26"/>
                          </a:solidFill>
                          <a:latin typeface="Arial"/>
                        </a:rPr>
                        <a:t>–</a:t>
                      </a:r>
                    </a:p>
                  </a:txBody>
                  <a:tcPr marL="73152" marR="73152" marT="27432" marB="27432" anchor="ctr">
                    <a:solidFill>
                      <a:srgbClr val="FFFFFF"/>
                    </a:solidFill>
                  </a:tcPr>
                </a:tc>
                <a:tc>
                  <a:txBody>
                    <a:bodyPr wrap="square"/>
                    <a:lstStyle/>
                    <a:p>
                      <a:r>
                        <a:rPr sz="1200" b="0">
                          <a:solidFill>
                            <a:srgbClr val="1C2B26"/>
                          </a:solidFill>
                          <a:latin typeface="Arial"/>
                        </a:rPr>
                        <a:t>–</a:t>
                      </a:r>
                    </a:p>
                  </a:txBody>
                  <a:tcPr marL="73152" marR="73152" marT="27432" marB="27432" anchor="ctr">
                    <a:solidFill>
                      <a:srgbClr val="FFFFFF"/>
                    </a:solidFill>
                  </a:tcPr>
                </a:tc>
              </a:tr>
              <a:tr h="384048">
                <a:tc>
                  <a:txBody>
                    <a:bodyPr wrap="square"/>
                    <a:lstStyle/>
                    <a:p>
                      <a:r>
                        <a:rPr sz="1200" b="1">
                          <a:solidFill>
                            <a:srgbClr val="031B08"/>
                          </a:solidFill>
                          <a:latin typeface="Arial"/>
                        </a:rPr>
                        <a:t>LightGBM, weekly</a:t>
                      </a:r>
                    </a:p>
                  </a:txBody>
                  <a:tcPr marL="73152" marR="73152" marT="27432" marB="27432" anchor="ctr">
                    <a:solidFill>
                      <a:srgbClr val="F1F6F5"/>
                    </a:solidFill>
                  </a:tcPr>
                </a:tc>
                <a:tc>
                  <a:txBody>
                    <a:bodyPr wrap="square"/>
                    <a:lstStyle/>
                    <a:p>
                      <a:r>
                        <a:rPr sz="1200" b="0">
                          <a:solidFill>
                            <a:srgbClr val="1C2B26"/>
                          </a:solidFill>
                          <a:latin typeface="Arial"/>
                        </a:rPr>
                        <a:t>5.98%</a:t>
                      </a:r>
                    </a:p>
                  </a:txBody>
                  <a:tcPr marL="73152" marR="73152" marT="27432" marB="27432" anchor="ctr">
                    <a:solidFill>
                      <a:srgbClr val="F1F6F5"/>
                    </a:solidFill>
                  </a:tcPr>
                </a:tc>
                <a:tc>
                  <a:txBody>
                    <a:bodyPr wrap="square"/>
                    <a:lstStyle/>
                    <a:p>
                      <a:r>
                        <a:rPr sz="1200" b="0">
                          <a:solidFill>
                            <a:srgbClr val="1C2B26"/>
                          </a:solidFill>
                          <a:latin typeface="Arial"/>
                        </a:rPr>
                        <a:t>–</a:t>
                      </a:r>
                    </a:p>
                  </a:txBody>
                  <a:tcPr marL="73152" marR="73152" marT="27432" marB="27432" anchor="ctr">
                    <a:solidFill>
                      <a:srgbClr val="F1F6F5"/>
                    </a:solidFill>
                  </a:tcPr>
                </a:tc>
                <a:tc>
                  <a:txBody>
                    <a:bodyPr wrap="square"/>
                    <a:lstStyle/>
                    <a:p>
                      <a:r>
                        <a:rPr sz="1200" b="0">
                          <a:solidFill>
                            <a:srgbClr val="1C2B26"/>
                          </a:solidFill>
                          <a:latin typeface="Arial"/>
                        </a:rPr>
                        <a:t>–</a:t>
                      </a:r>
                    </a:p>
                  </a:txBody>
                  <a:tcPr marL="73152" marR="73152" marT="27432" marB="27432" anchor="ctr">
                    <a:solidFill>
                      <a:srgbClr val="F1F6F5"/>
                    </a:solidFill>
                  </a:tcPr>
                </a:tc>
              </a:tr>
              <a:tr h="384048">
                <a:tc>
                  <a:txBody>
                    <a:bodyPr wrap="square"/>
                    <a:lstStyle/>
                    <a:p>
                      <a:r>
                        <a:rPr sz="1200" b="1">
                          <a:solidFill>
                            <a:srgbClr val="031B08"/>
                          </a:solidFill>
                          <a:latin typeface="Arial"/>
                        </a:rPr>
                        <a:t>LightGBM, per order</a:t>
                      </a:r>
                    </a:p>
                  </a:txBody>
                  <a:tcPr marL="73152" marR="73152" marT="27432" marB="27432" anchor="ctr">
                    <a:solidFill>
                      <a:srgbClr val="FFFFFF"/>
                    </a:solidFill>
                  </a:tcPr>
                </a:tc>
                <a:tc>
                  <a:txBody>
                    <a:bodyPr wrap="square"/>
                    <a:lstStyle/>
                    <a:p>
                      <a:r>
                        <a:rPr sz="1200" b="0">
                          <a:solidFill>
                            <a:srgbClr val="1C2B26"/>
                          </a:solidFill>
                          <a:latin typeface="Arial"/>
                        </a:rPr>
                        <a:t>4.78%</a:t>
                      </a:r>
                    </a:p>
                  </a:txBody>
                  <a:tcPr marL="73152" marR="73152" marT="27432" marB="27432" anchor="ctr">
                    <a:solidFill>
                      <a:srgbClr val="FFFFFF"/>
                    </a:solidFill>
                  </a:tcPr>
                </a:tc>
                <a:tc>
                  <a:txBody>
                    <a:bodyPr wrap="square"/>
                    <a:lstStyle/>
                    <a:p>
                      <a:r>
                        <a:rPr sz="1200" b="0">
                          <a:solidFill>
                            <a:srgbClr val="1C2B26"/>
                          </a:solidFill>
                          <a:latin typeface="Arial"/>
                        </a:rPr>
                        <a:t>–</a:t>
                      </a:r>
                    </a:p>
                  </a:txBody>
                  <a:tcPr marL="73152" marR="73152" marT="27432" marB="27432" anchor="ctr">
                    <a:solidFill>
                      <a:srgbClr val="FFFFFF"/>
                    </a:solidFill>
                  </a:tcPr>
                </a:tc>
                <a:tc>
                  <a:txBody>
                    <a:bodyPr wrap="square"/>
                    <a:lstStyle/>
                    <a:p>
                      <a:r>
                        <a:rPr sz="1200" b="0">
                          <a:solidFill>
                            <a:srgbClr val="1C2B26"/>
                          </a:solidFill>
                          <a:latin typeface="Arial"/>
                        </a:rPr>
                        <a:t>–</a:t>
                      </a:r>
                    </a:p>
                  </a:txBody>
                  <a:tcPr marL="73152" marR="73152" marT="27432" marB="27432" anchor="ctr">
                    <a:solidFill>
                      <a:srgbClr val="FFFFFF"/>
                    </a:solidFill>
                  </a:tcPr>
                </a:tc>
              </a:tr>
            </a:tbl>
          </a:graphicData>
        </a:graphic>
      </p:graphicFrame>
      <p:sp>
        <p:nvSpPr>
          <p:cNvPr id="9" name="s17 Oval 8"/>
          <p:cNvSpPr/>
          <p:nvPr/>
        </p:nvSpPr>
        <p:spPr>
          <a:xfrm>
            <a:off x="6949440" y="1865376"/>
            <a:ext cx="100584" cy="100584"/>
          </a:xfrm>
          <a:prstGeom prst="ellipse">
            <a:avLst/>
          </a:prstGeom>
          <a:solidFill>
            <a:srgbClr val="0A6B63"/>
          </a:solidFill>
          <a:ln>
            <a:noFill/>
          </a:ln>
          <a:effectLst/>
        </p:spPr>
        <p:txBody>
          <a:bodyPr rtlCol="0" anchor="ctr"/>
          <a:lstStyle/>
          <a:p>
            <a:pPr algn="ctr"/>
          </a:p>
        </p:txBody>
      </p:sp>
      <p:sp>
        <p:nvSpPr>
          <p:cNvPr id="10" name="s17 TextBox 9"/>
          <p:cNvSpPr txBox="1"/>
          <p:nvPr/>
        </p:nvSpPr>
        <p:spPr>
          <a:xfrm>
            <a:off x="7178040" y="1783080"/>
            <a:ext cx="4480560" cy="603504"/>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Count: each store’s ordering days learned from history</a:t>
            </a:r>
          </a:p>
        </p:txBody>
      </p:sp>
      <p:sp>
        <p:nvSpPr>
          <p:cNvPr id="11" name="s17 Oval 10"/>
          <p:cNvSpPr/>
          <p:nvPr/>
        </p:nvSpPr>
        <p:spPr>
          <a:xfrm>
            <a:off x="6949440" y="2468879"/>
            <a:ext cx="100584" cy="100584"/>
          </a:xfrm>
          <a:prstGeom prst="ellipse">
            <a:avLst/>
          </a:prstGeom>
          <a:solidFill>
            <a:srgbClr val="0A6B63"/>
          </a:solidFill>
          <a:ln>
            <a:noFill/>
          </a:ln>
          <a:effectLst/>
        </p:spPr>
        <p:txBody>
          <a:bodyPr rtlCol="0" anchor="ctr"/>
          <a:lstStyle/>
          <a:p>
            <a:pPr algn="ctr"/>
          </a:p>
        </p:txBody>
      </p:sp>
      <p:sp>
        <p:nvSpPr>
          <p:cNvPr id="12" name="s17 TextBox 11"/>
          <p:cNvSpPr txBox="1"/>
          <p:nvPr/>
        </p:nvSpPr>
        <p:spPr>
          <a:xfrm>
            <a:off x="7178040" y="2386584"/>
            <a:ext cx="4480560" cy="603504"/>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Size: four regressions on log volume (Fresh ambient, Fresh chilled, Style, Tech)</a:t>
            </a:r>
          </a:p>
        </p:txBody>
      </p:sp>
      <p:sp>
        <p:nvSpPr>
          <p:cNvPr id="13" name="s17 Oval 12"/>
          <p:cNvSpPr/>
          <p:nvPr/>
        </p:nvSpPr>
        <p:spPr>
          <a:xfrm>
            <a:off x="6949440" y="3072384"/>
            <a:ext cx="100584" cy="100584"/>
          </a:xfrm>
          <a:prstGeom prst="ellipse">
            <a:avLst/>
          </a:prstGeom>
          <a:solidFill>
            <a:srgbClr val="0A6B63"/>
          </a:solidFill>
          <a:ln>
            <a:noFill/>
          </a:ln>
          <a:effectLst/>
        </p:spPr>
        <p:txBody>
          <a:bodyPr rtlCol="0" anchor="ctr"/>
          <a:lstStyle/>
          <a:p>
            <a:pPr algn="ctr"/>
          </a:p>
        </p:txBody>
      </p:sp>
      <p:sp>
        <p:nvSpPr>
          <p:cNvPr id="14" name="s17 TextBox 13"/>
          <p:cNvSpPr txBox="1"/>
          <p:nvPr/>
        </p:nvSpPr>
        <p:spPr>
          <a:xfrm>
            <a:off x="7178040" y="2990088"/>
            <a:ext cx="4480560" cy="603504"/>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Features: store, trend, weekday, payday, monsoon, season, one ramp per festival</a:t>
            </a:r>
          </a:p>
        </p:txBody>
      </p:sp>
      <p:sp>
        <p:nvSpPr>
          <p:cNvPr id="15" name="s17 Oval 14"/>
          <p:cNvSpPr/>
          <p:nvPr/>
        </p:nvSpPr>
        <p:spPr>
          <a:xfrm>
            <a:off x="6949440" y="3675887"/>
            <a:ext cx="100584" cy="100584"/>
          </a:xfrm>
          <a:prstGeom prst="ellipse">
            <a:avLst/>
          </a:prstGeom>
          <a:solidFill>
            <a:srgbClr val="0A6B63"/>
          </a:solidFill>
          <a:ln>
            <a:noFill/>
          </a:ln>
          <a:effectLst/>
        </p:spPr>
        <p:txBody>
          <a:bodyPr rtlCol="0" anchor="ctr"/>
          <a:lstStyle/>
          <a:p>
            <a:pPr algn="ctr"/>
          </a:p>
        </p:txBody>
      </p:sp>
      <p:sp>
        <p:nvSpPr>
          <p:cNvPr id="16" name="s17 TextBox 15"/>
          <p:cNvSpPr txBox="1"/>
          <p:nvPr/>
        </p:nvSpPr>
        <p:spPr>
          <a:xfrm>
            <a:off x="7178040" y="3593591"/>
            <a:ext cx="4480560" cy="603504"/>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Every order counted once, including deferred and 24 recovered never-run orders</a:t>
            </a:r>
          </a:p>
        </p:txBody>
      </p:sp>
      <p:sp>
        <p:nvSpPr>
          <p:cNvPr id="17" name="s17 Oval 16"/>
          <p:cNvSpPr/>
          <p:nvPr/>
        </p:nvSpPr>
        <p:spPr>
          <a:xfrm>
            <a:off x="6949440" y="4279392"/>
            <a:ext cx="100584" cy="100584"/>
          </a:xfrm>
          <a:prstGeom prst="ellipse">
            <a:avLst/>
          </a:prstGeom>
          <a:solidFill>
            <a:srgbClr val="0A6B63"/>
          </a:solidFill>
          <a:ln>
            <a:noFill/>
          </a:ln>
          <a:effectLst/>
        </p:spPr>
        <p:txBody>
          <a:bodyPr rtlCol="0" anchor="ctr"/>
          <a:lstStyle/>
          <a:p>
            <a:pPr algn="ctr"/>
          </a:p>
        </p:txBody>
      </p:sp>
      <p:sp>
        <p:nvSpPr>
          <p:cNvPr id="18" name="s17 TextBox 17"/>
          <p:cNvSpPr txBox="1"/>
          <p:nvPr/>
        </p:nvSpPr>
        <p:spPr>
          <a:xfrm>
            <a:off x="7178040" y="4197096"/>
            <a:ext cx="4480560" cy="603504"/>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701 fitted numbers, 13 KB; reproduces the submission exactly</a:t>
            </a:r>
          </a:p>
        </p:txBody>
      </p:sp>
      <p:sp>
        <p:nvSpPr>
          <p:cNvPr id="19" name="s17 Oval 18"/>
          <p:cNvSpPr/>
          <p:nvPr/>
        </p:nvSpPr>
        <p:spPr>
          <a:xfrm>
            <a:off x="6949440" y="4882896"/>
            <a:ext cx="100584" cy="100584"/>
          </a:xfrm>
          <a:prstGeom prst="ellipse">
            <a:avLst/>
          </a:prstGeom>
          <a:solidFill>
            <a:srgbClr val="0A6B63"/>
          </a:solidFill>
          <a:ln>
            <a:noFill/>
          </a:ln>
          <a:effectLst/>
        </p:spPr>
        <p:txBody>
          <a:bodyPr rtlCol="0" anchor="ctr"/>
          <a:lstStyle/>
          <a:p>
            <a:pPr algn="ctr"/>
          </a:p>
        </p:txBody>
      </p:sp>
      <p:sp>
        <p:nvSpPr>
          <p:cNvPr id="20" name="s17 TextBox 19"/>
          <p:cNvSpPr txBox="1"/>
          <p:nvPr/>
        </p:nvSpPr>
        <p:spPr>
          <a:xfrm>
            <a:off x="7178040" y="4800600"/>
            <a:ext cx="4480560" cy="603504"/>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Beat the benchmark in all 25 tests (3.05% vs 3.76%)</a:t>
            </a:r>
          </a:p>
        </p:txBody>
      </p:sp>
      <p:sp>
        <p:nvSpPr>
          <p:cNvPr id="21" name="s17 Rounded Rectangle 20"/>
          <p:cNvSpPr/>
          <p:nvPr/>
        </p:nvSpPr>
        <p:spPr>
          <a:xfrm>
            <a:off x="548640" y="4160520"/>
            <a:ext cx="6035040" cy="1600200"/>
          </a:xfrm>
          <a:prstGeom prst="roundRect">
            <a:avLst>
              <a:gd name="adj" fmla="val 9142"/>
            </a:avLst>
          </a:prstGeom>
          <a:solidFill>
            <a:srgbClr val="DDEFEC"/>
          </a:solidFill>
          <a:ln>
            <a:noFill/>
          </a:ln>
          <a:effectLst/>
        </p:spPr>
        <p:txBody>
          <a:bodyPr rtlCol="0" anchor="ctr"/>
          <a:lstStyle/>
          <a:p/>
        </p:txBody>
      </p:sp>
      <p:sp>
        <p:nvSpPr>
          <p:cNvPr id="22" name="s17 TextBox 21"/>
          <p:cNvSpPr txBox="1"/>
          <p:nvPr/>
        </p:nvSpPr>
        <p:spPr>
          <a:xfrm>
            <a:off x="822959" y="4160520"/>
            <a:ext cx="5577840" cy="1600200"/>
          </a:xfrm>
          <a:prstGeom prst="rect">
            <a:avLst/>
          </a:prstGeom>
          <a:noFill/>
        </p:spPr>
        <p:txBody>
          <a:bodyPr wrap="square" lIns="0" rIns="0" tIns="0" bIns="0" anchor="ctr">
            <a:spAutoFit/>
          </a:bodyPr>
          <a:lstStyle/>
          <a:p>
            <a:pPr algn="l">
              <a:lnSpc>
                <a:spcPct val="110000"/>
              </a:lnSpc>
              <a:spcAft>
                <a:spcPts val="500"/>
              </a:spcAft>
            </a:pPr>
            <a:r>
              <a:rPr sz="1250" b="1" i="0">
                <a:solidFill>
                  <a:srgbClr val="031B08"/>
                </a:solidFill>
                <a:latin typeface="Arial"/>
              </a:rPr>
              <a:t>Submitted 10 weeks: </a:t>
            </a:r>
            <a:r>
              <a:rPr sz="1250" b="0" i="0">
                <a:solidFill>
                  <a:srgbClr val="1C2B26"/>
                </a:solidFill>
                <a:latin typeface="Arial"/>
              </a:rPr>
              <a:t>18,682 m³ in total, 6,012 m³ chilled.</a:t>
            </a:r>
          </a:p>
          <a:p>
            <a:pPr algn="l">
              <a:lnSpc>
                <a:spcPct val="110000"/>
              </a:lnSpc>
              <a:spcAft>
                <a:spcPts val="500"/>
              </a:spcAft>
            </a:pPr>
            <a:r>
              <a:rPr sz="1250" b="1" i="0">
                <a:solidFill>
                  <a:srgbClr val="031B08"/>
                </a:solidFill>
                <a:latin typeface="Arial"/>
              </a:rPr>
              <a:t>Peak: </a:t>
            </a:r>
            <a:r>
              <a:rPr sz="1250" b="0" i="0">
                <a:solidFill>
                  <a:srgbClr val="1C2B26"/>
                </a:solidFill>
                <a:latin typeface="Arial"/>
              </a:rPr>
              <a:t>week 15, 2,581 m³, before the New Year; low: week 16, 1,230 m³.</a:t>
            </a:r>
          </a:p>
          <a:p>
            <a:pPr algn="l">
              <a:lnSpc>
                <a:spcPct val="110000"/>
              </a:lnSpc>
              <a:spcAft>
                <a:spcPts val="500"/>
              </a:spcAft>
            </a:pPr>
            <a:r>
              <a:rPr sz="1250" b="1" i="0">
                <a:solidFill>
                  <a:srgbClr val="031B08"/>
                </a:solidFill>
                <a:latin typeface="Arial"/>
              </a:rPr>
              <a:t>In the app: </a:t>
            </a:r>
            <a:r>
              <a:rPr sz="1250" b="0" i="0">
                <a:solidFill>
                  <a:srgbClr val="1C2B26"/>
                </a:solidFill>
                <a:latin typeface="Arial"/>
              </a:rPr>
              <a:t>the Forecast screen turns weeks into vehicles, reefers and drivers, and grades each week once it ends.</a:t>
            </a:r>
          </a:p>
        </p:txBody>
      </p:sp>
    </p:spTree>
  </p:cSld>
  <p:clrMapOvr>
    <a:masterClrMapping/>
  </p:clrMapOvr>
  <p:transition spd="fast">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8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18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18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Task 2B · The peak-day plan</a:t>
            </a:r>
          </a:p>
        </p:txBody>
      </p:sp>
      <p:sp>
        <p:nvSpPr>
          <p:cNvPr id="5" name="s18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Exact optimisation (CP-SAT) with a written priority policy</a:t>
            </a:r>
          </a:p>
        </p:txBody>
      </p:sp>
      <p:sp>
        <p:nvSpPr>
          <p:cNvPr id="6" name="s18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18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18</a:t>
            </a:r>
          </a:p>
        </p:txBody>
      </p:sp>
      <p:graphicFrame>
        <p:nvGraphicFramePr>
          <p:cNvPr id="8" name="s18 Table 7"/>
          <p:cNvGraphicFramePr>
            <a:graphicFrameLocks noGrp="1"/>
          </p:cNvGraphicFramePr>
          <p:nvPr/>
        </p:nvGraphicFramePr>
        <p:xfrm>
          <a:off x="548640" y="1691640"/>
          <a:ext cx="5577840" cy="2688336"/>
        </p:xfrm>
        <a:graphic>
          <a:graphicData uri="http://schemas.openxmlformats.org/drawingml/2006/table">
            <a:tbl>
              <a:tblPr firstRow="0" bandRow="0">
                <a:tableStyleId>{5C22544A-7EE6-4342-B048-85BDC9FD1C3A}</a:tableStyleId>
              </a:tblPr>
              <a:tblGrid>
                <a:gridCol w="2194560"/>
                <a:gridCol w="3383280"/>
              </a:tblGrid>
              <a:tr h="448056">
                <a:tc>
                  <a:txBody>
                    <a:bodyPr wrap="square"/>
                    <a:lstStyle/>
                    <a:p>
                      <a:r>
                        <a:rPr sz="1200" b="1">
                          <a:solidFill>
                            <a:srgbClr val="FFFFFF"/>
                          </a:solidFill>
                          <a:latin typeface="Arial"/>
                        </a:rPr>
                        <a:t/>
                      </a:r>
                    </a:p>
                  </a:txBody>
                  <a:tcPr marL="73152" marR="73152" marT="27432" marB="27432" anchor="ctr">
                    <a:solidFill>
                      <a:srgbClr val="031B08"/>
                    </a:solidFill>
                  </a:tcPr>
                </a:tc>
                <a:tc>
                  <a:txBody>
                    <a:bodyPr wrap="square"/>
                    <a:lstStyle/>
                    <a:p>
                      <a:r>
                        <a:rPr sz="1200" b="1">
                          <a:solidFill>
                            <a:srgbClr val="FFFFFF"/>
                          </a:solidFill>
                          <a:latin typeface="Arial"/>
                        </a:rPr>
                        <a:t>Result</a:t>
                      </a:r>
                    </a:p>
                  </a:txBody>
                  <a:tcPr marL="73152" marR="73152" marT="27432" marB="27432" anchor="ctr">
                    <a:solidFill>
                      <a:srgbClr val="031B08"/>
                    </a:solidFill>
                  </a:tcPr>
                </a:tc>
              </a:tr>
              <a:tr h="448056">
                <a:tc>
                  <a:txBody>
                    <a:bodyPr wrap="square"/>
                    <a:lstStyle/>
                    <a:p>
                      <a:r>
                        <a:rPr sz="1200" b="1">
                          <a:solidFill>
                            <a:srgbClr val="031B08"/>
                          </a:solidFill>
                          <a:latin typeface="Arial"/>
                        </a:rPr>
                        <a:t>Orders served</a:t>
                      </a:r>
                    </a:p>
                  </a:txBody>
                  <a:tcPr marL="73152" marR="73152" marT="27432" marB="27432" anchor="ctr">
                    <a:solidFill>
                      <a:srgbClr val="FFFFFF"/>
                    </a:solidFill>
                  </a:tcPr>
                </a:tc>
                <a:tc>
                  <a:txBody>
                    <a:bodyPr wrap="square"/>
                    <a:lstStyle/>
                    <a:p>
                      <a:r>
                        <a:rPr sz="1200" b="0">
                          <a:solidFill>
                            <a:srgbClr val="1C2B26"/>
                          </a:solidFill>
                          <a:latin typeface="Arial"/>
                        </a:rPr>
                        <a:t>77 of 85 (79 is the proven maximum)</a:t>
                      </a:r>
                    </a:p>
                  </a:txBody>
                  <a:tcPr marL="73152" marR="73152" marT="27432" marB="27432" anchor="ctr">
                    <a:solidFill>
                      <a:srgbClr val="FFFFFF"/>
                    </a:solidFill>
                  </a:tcPr>
                </a:tc>
              </a:tr>
              <a:tr h="448056">
                <a:tc>
                  <a:txBody>
                    <a:bodyPr wrap="square"/>
                    <a:lstStyle/>
                    <a:p>
                      <a:r>
                        <a:rPr sz="1200" b="1">
                          <a:solidFill>
                            <a:srgbClr val="031B08"/>
                          </a:solidFill>
                          <a:latin typeface="Arial"/>
                        </a:rPr>
                        <a:t>Trips and vehicles</a:t>
                      </a:r>
                    </a:p>
                  </a:txBody>
                  <a:tcPr marL="73152" marR="73152" marT="27432" marB="27432" anchor="ctr">
                    <a:solidFill>
                      <a:srgbClr val="F1F6F5"/>
                    </a:solidFill>
                  </a:tcPr>
                </a:tc>
                <a:tc>
                  <a:txBody>
                    <a:bodyPr wrap="square"/>
                    <a:lstStyle/>
                    <a:p>
                      <a:r>
                        <a:rPr sz="1200" b="0">
                          <a:solidFill>
                            <a:srgbClr val="1C2B26"/>
                          </a:solidFill>
                          <a:latin typeface="Arial"/>
                        </a:rPr>
                        <a:t>27 trips on 17 vehicles</a:t>
                      </a:r>
                    </a:p>
                  </a:txBody>
                  <a:tcPr marL="73152" marR="73152" marT="27432" marB="27432" anchor="ctr">
                    <a:solidFill>
                      <a:srgbClr val="F1F6F5"/>
                    </a:solidFill>
                  </a:tcPr>
                </a:tc>
              </a:tr>
              <a:tr h="448056">
                <a:tc>
                  <a:txBody>
                    <a:bodyPr wrap="square"/>
                    <a:lstStyle/>
                    <a:p>
                      <a:r>
                        <a:rPr sz="1200" b="1">
                          <a:solidFill>
                            <a:srgbClr val="031B08"/>
                          </a:solidFill>
                          <a:latin typeface="Arial"/>
                        </a:rPr>
                        <a:t>Chilled delivered</a:t>
                      </a:r>
                    </a:p>
                  </a:txBody>
                  <a:tcPr marL="73152" marR="73152" marT="27432" marB="27432" anchor="ctr">
                    <a:solidFill>
                      <a:srgbClr val="FFFFFF"/>
                    </a:solidFill>
                  </a:tcPr>
                </a:tc>
                <a:tc>
                  <a:txBody>
                    <a:bodyPr wrap="square"/>
                    <a:lstStyle/>
                    <a:p>
                      <a:r>
                        <a:rPr sz="1200" b="0">
                          <a:solidFill>
                            <a:srgbClr val="1C2B26"/>
                          </a:solidFill>
                          <a:latin typeface="Arial"/>
                        </a:rPr>
                        <a:t>131.0 of 181.6 m³</a:t>
                      </a:r>
                    </a:p>
                  </a:txBody>
                  <a:tcPr marL="73152" marR="73152" marT="27432" marB="27432" anchor="ctr">
                    <a:solidFill>
                      <a:srgbClr val="FFFFFF"/>
                    </a:solidFill>
                  </a:tcPr>
                </a:tc>
              </a:tr>
              <a:tr h="448056">
                <a:tc>
                  <a:txBody>
                    <a:bodyPr wrap="square"/>
                    <a:lstStyle/>
                    <a:p>
                      <a:r>
                        <a:rPr sz="1200" b="1">
                          <a:solidFill>
                            <a:srgbClr val="031B08"/>
                          </a:solidFill>
                          <a:latin typeface="Arial"/>
                        </a:rPr>
                        <a:t>Feasibility</a:t>
                      </a:r>
                    </a:p>
                  </a:txBody>
                  <a:tcPr marL="73152" marR="73152" marT="27432" marB="27432" anchor="ctr">
                    <a:solidFill>
                      <a:srgbClr val="F1F6F5"/>
                    </a:solidFill>
                  </a:tcPr>
                </a:tc>
                <a:tc>
                  <a:txBody>
                    <a:bodyPr wrap="square"/>
                    <a:lstStyle/>
                    <a:p>
                      <a:r>
                        <a:rPr sz="1200" b="0">
                          <a:solidFill>
                            <a:srgbClr val="1C2B26"/>
                          </a:solidFill>
                          <a:latin typeface="Arial"/>
                        </a:rPr>
                        <a:t>All 7 rules pass the organisers’ checker</a:t>
                      </a:r>
                    </a:p>
                  </a:txBody>
                  <a:tcPr marL="73152" marR="73152" marT="27432" marB="27432" anchor="ctr">
                    <a:solidFill>
                      <a:srgbClr val="F1F6F5"/>
                    </a:solidFill>
                  </a:tcPr>
                </a:tc>
              </a:tr>
              <a:tr h="448056">
                <a:tc>
                  <a:txBody>
                    <a:bodyPr wrap="square"/>
                    <a:lstStyle/>
                    <a:p>
                      <a:r>
                        <a:rPr sz="1200" b="1">
                          <a:solidFill>
                            <a:srgbClr val="031B08"/>
                          </a:solidFill>
                          <a:latin typeface="Arial"/>
                        </a:rPr>
                        <a:t>Late stops (strict clock)</a:t>
                      </a:r>
                    </a:p>
                  </a:txBody>
                  <a:tcPr marL="73152" marR="73152" marT="27432" marB="27432" anchor="ctr">
                    <a:solidFill>
                      <a:srgbClr val="FFFFFF"/>
                    </a:solidFill>
                  </a:tcPr>
                </a:tc>
                <a:tc>
                  <a:txBody>
                    <a:bodyPr wrap="square"/>
                    <a:lstStyle/>
                    <a:p>
                      <a:r>
                        <a:rPr sz="1200" b="0">
                          <a:solidFill>
                            <a:srgbClr val="1C2B26"/>
                          </a:solidFill>
                          <a:latin typeface="Arial"/>
                        </a:rPr>
                        <a:t>3 stops, 16–87 min, fewest of the tied plans</a:t>
                      </a:r>
                    </a:p>
                  </a:txBody>
                  <a:tcPr marL="73152" marR="73152" marT="27432" marB="27432" anchor="ctr">
                    <a:solidFill>
                      <a:srgbClr val="FFFFFF"/>
                    </a:solidFill>
                  </a:tcPr>
                </a:tc>
              </a:tr>
            </a:tbl>
          </a:graphicData>
        </a:graphic>
      </p:graphicFrame>
      <p:graphicFrame>
        <p:nvGraphicFramePr>
          <p:cNvPr id="9" name="s18 Table 8"/>
          <p:cNvGraphicFramePr>
            <a:graphicFrameLocks noGrp="1"/>
          </p:cNvGraphicFramePr>
          <p:nvPr/>
        </p:nvGraphicFramePr>
        <p:xfrm>
          <a:off x="6400800" y="1691640"/>
          <a:ext cx="5239512" cy="2688336"/>
        </p:xfrm>
        <a:graphic>
          <a:graphicData uri="http://schemas.openxmlformats.org/drawingml/2006/table">
            <a:tbl>
              <a:tblPr firstRow="0" bandRow="0">
                <a:tableStyleId>{5C22544A-7EE6-4342-B048-85BDC9FD1C3A}</a:tableStyleId>
              </a:tblPr>
              <a:tblGrid>
                <a:gridCol w="457200"/>
                <a:gridCol w="4782312"/>
              </a:tblGrid>
              <a:tr h="384048">
                <a:tc>
                  <a:txBody>
                    <a:bodyPr wrap="square"/>
                    <a:lstStyle/>
                    <a:p>
                      <a:r>
                        <a:rPr sz="1200" b="1">
                          <a:solidFill>
                            <a:srgbClr val="FFFFFF"/>
                          </a:solidFill>
                          <a:latin typeface="Arial"/>
                        </a:rPr>
                        <a:t>#</a:t>
                      </a:r>
                    </a:p>
                  </a:txBody>
                  <a:tcPr marL="73152" marR="73152" marT="27432" marB="27432" anchor="ctr">
                    <a:solidFill>
                      <a:srgbClr val="031B08"/>
                    </a:solidFill>
                  </a:tcPr>
                </a:tc>
                <a:tc>
                  <a:txBody>
                    <a:bodyPr wrap="square"/>
                    <a:lstStyle/>
                    <a:p>
                      <a:r>
                        <a:rPr sz="1200" b="1">
                          <a:solidFill>
                            <a:srgbClr val="FFFFFF"/>
                          </a:solidFill>
                          <a:latin typeface="Arial"/>
                        </a:rPr>
                        <a:t>Priority rules, in order</a:t>
                      </a:r>
                    </a:p>
                  </a:txBody>
                  <a:tcPr marL="73152" marR="73152" marT="27432" marB="27432" anchor="ctr">
                    <a:solidFill>
                      <a:srgbClr val="031B08"/>
                    </a:solidFill>
                  </a:tcPr>
                </a:tc>
              </a:tr>
              <a:tr h="384048">
                <a:tc>
                  <a:txBody>
                    <a:bodyPr wrap="square"/>
                    <a:lstStyle/>
                    <a:p>
                      <a:r>
                        <a:rPr sz="1200" b="0">
                          <a:solidFill>
                            <a:srgbClr val="1C2B26"/>
                          </a:solidFill>
                          <a:latin typeface="Arial"/>
                        </a:rPr>
                        <a:t>1</a:t>
                      </a:r>
                    </a:p>
                  </a:txBody>
                  <a:tcPr marL="73152" marR="73152" marT="27432" marB="27432" anchor="ctr">
                    <a:solidFill>
                      <a:srgbClr val="FFFFFF"/>
                    </a:solidFill>
                  </a:tcPr>
                </a:tc>
                <a:tc>
                  <a:txBody>
                    <a:bodyPr wrap="square"/>
                    <a:lstStyle/>
                    <a:p>
                      <a:r>
                        <a:rPr sz="1200" b="0">
                          <a:solidFill>
                            <a:srgbClr val="1C2B26"/>
                          </a:solidFill>
                          <a:latin typeface="Arial"/>
                        </a:rPr>
                        <a:t>Serve the 10 orders deferred yesterday</a:t>
                      </a:r>
                    </a:p>
                  </a:txBody>
                  <a:tcPr marL="73152" marR="73152" marT="27432" marB="27432" anchor="ctr">
                    <a:solidFill>
                      <a:srgbClr val="FFFFFF"/>
                    </a:solidFill>
                  </a:tcPr>
                </a:tc>
              </a:tr>
              <a:tr h="384048">
                <a:tc>
                  <a:txBody>
                    <a:bodyPr wrap="square"/>
                    <a:lstStyle/>
                    <a:p>
                      <a:r>
                        <a:rPr sz="1200" b="0">
                          <a:solidFill>
                            <a:srgbClr val="1C2B26"/>
                          </a:solidFill>
                          <a:latin typeface="Arial"/>
                        </a:rPr>
                        <a:t>2</a:t>
                      </a:r>
                    </a:p>
                  </a:txBody>
                  <a:tcPr marL="73152" marR="73152" marT="27432" marB="27432" anchor="ctr">
                    <a:solidFill>
                      <a:srgbClr val="F1F6F5"/>
                    </a:solidFill>
                  </a:tcPr>
                </a:tc>
                <a:tc>
                  <a:txBody>
                    <a:bodyPr wrap="square"/>
                    <a:lstStyle/>
                    <a:p>
                      <a:r>
                        <a:rPr sz="1200" b="0">
                          <a:solidFill>
                            <a:srgbClr val="1C2B26"/>
                          </a:solidFill>
                          <a:latin typeface="Arial"/>
                        </a:rPr>
                        <a:t>Serve the 3 van-only chilled orders (reefer van)</a:t>
                      </a:r>
                    </a:p>
                  </a:txBody>
                  <a:tcPr marL="73152" marR="73152" marT="27432" marB="27432" anchor="ctr">
                    <a:solidFill>
                      <a:srgbClr val="F1F6F5"/>
                    </a:solidFill>
                  </a:tcPr>
                </a:tc>
              </a:tr>
              <a:tr h="384048">
                <a:tc>
                  <a:txBody>
                    <a:bodyPr wrap="square"/>
                    <a:lstStyle/>
                    <a:p>
                      <a:r>
                        <a:rPr sz="1200" b="0">
                          <a:solidFill>
                            <a:srgbClr val="1C2B26"/>
                          </a:solidFill>
                          <a:latin typeface="Arial"/>
                        </a:rPr>
                        <a:t>3</a:t>
                      </a:r>
                    </a:p>
                  </a:txBody>
                  <a:tcPr marL="73152" marR="73152" marT="27432" marB="27432" anchor="ctr">
                    <a:solidFill>
                      <a:srgbClr val="FFFFFF"/>
                    </a:solidFill>
                  </a:tcPr>
                </a:tc>
                <a:tc>
                  <a:txBody>
                    <a:bodyPr wrap="square"/>
                    <a:lstStyle/>
                    <a:p>
                      <a:r>
                        <a:rPr sz="1200" b="0">
                          <a:solidFill>
                            <a:srgbClr val="1C2B26"/>
                          </a:solidFill>
                          <a:latin typeface="Arial"/>
                        </a:rPr>
                        <a:t>Most orders served</a:t>
                      </a:r>
                    </a:p>
                  </a:txBody>
                  <a:tcPr marL="73152" marR="73152" marT="27432" marB="27432" anchor="ctr">
                    <a:solidFill>
                      <a:srgbClr val="FFFFFF"/>
                    </a:solidFill>
                  </a:tcPr>
                </a:tc>
              </a:tr>
              <a:tr h="384048">
                <a:tc>
                  <a:txBody>
                    <a:bodyPr wrap="square"/>
                    <a:lstStyle/>
                    <a:p>
                      <a:r>
                        <a:rPr sz="1200" b="0">
                          <a:solidFill>
                            <a:srgbClr val="1C2B26"/>
                          </a:solidFill>
                          <a:latin typeface="Arial"/>
                        </a:rPr>
                        <a:t>4</a:t>
                      </a:r>
                    </a:p>
                  </a:txBody>
                  <a:tcPr marL="73152" marR="73152" marT="27432" marB="27432" anchor="ctr">
                    <a:solidFill>
                      <a:srgbClr val="F1F6F5"/>
                    </a:solidFill>
                  </a:tcPr>
                </a:tc>
                <a:tc>
                  <a:txBody>
                    <a:bodyPr wrap="square"/>
                    <a:lstStyle/>
                    <a:p>
                      <a:r>
                        <a:rPr sz="1200" b="0">
                          <a:solidFill>
                            <a:srgbClr val="1C2B26"/>
                          </a:solidFill>
                          <a:latin typeface="Arial"/>
                        </a:rPr>
                        <a:t>Most chilled m³ on reefers; then urgency</a:t>
                      </a:r>
                    </a:p>
                  </a:txBody>
                  <a:tcPr marL="73152" marR="73152" marT="27432" marB="27432" anchor="ctr">
                    <a:solidFill>
                      <a:srgbClr val="F1F6F5"/>
                    </a:solidFill>
                  </a:tcPr>
                </a:tc>
              </a:tr>
              <a:tr h="384048">
                <a:tc>
                  <a:txBody>
                    <a:bodyPr wrap="square"/>
                    <a:lstStyle/>
                    <a:p>
                      <a:r>
                        <a:rPr sz="1200" b="0">
                          <a:solidFill>
                            <a:srgbClr val="1C2B26"/>
                          </a:solidFill>
                          <a:latin typeface="Arial"/>
                        </a:rPr>
                        <a:t>5</a:t>
                      </a:r>
                    </a:p>
                  </a:txBody>
                  <a:tcPr marL="73152" marR="73152" marT="27432" marB="27432" anchor="ctr">
                    <a:solidFill>
                      <a:srgbClr val="FFFFFF"/>
                    </a:solidFill>
                  </a:tcPr>
                </a:tc>
                <a:tc>
                  <a:txBody>
                    <a:bodyPr wrap="square"/>
                    <a:lstStyle/>
                    <a:p>
                      <a:r>
                        <a:rPr sz="1200" b="0">
                          <a:solidFill>
                            <a:srgbClr val="1C2B26"/>
                          </a:solidFill>
                          <a:latin typeface="Arial"/>
                        </a:rPr>
                        <a:t>Fewest trips, then fewest vehicles</a:t>
                      </a:r>
                    </a:p>
                  </a:txBody>
                  <a:tcPr marL="73152" marR="73152" marT="27432" marB="27432" anchor="ctr">
                    <a:solidFill>
                      <a:srgbClr val="FFFFFF"/>
                    </a:solidFill>
                  </a:tcPr>
                </a:tc>
              </a:tr>
              <a:tr h="384048">
                <a:tc>
                  <a:txBody>
                    <a:bodyPr wrap="square"/>
                    <a:lstStyle/>
                    <a:p>
                      <a:r>
                        <a:rPr sz="1200" b="0">
                          <a:solidFill>
                            <a:srgbClr val="1C2B26"/>
                          </a:solidFill>
                          <a:latin typeface="Arial"/>
                        </a:rPr>
                        <a:t>6</a:t>
                      </a:r>
                    </a:p>
                  </a:txBody>
                  <a:tcPr marL="73152" marR="73152" marT="27432" marB="27432" anchor="ctr">
                    <a:solidFill>
                      <a:srgbClr val="F1F6F5"/>
                    </a:solidFill>
                  </a:tcPr>
                </a:tc>
                <a:tc>
                  <a:txBody>
                    <a:bodyPr wrap="square"/>
                    <a:lstStyle/>
                    <a:p>
                      <a:r>
                        <a:rPr sz="1200" b="0">
                          <a:solidFill>
                            <a:srgbClr val="1C2B26"/>
                          </a:solidFill>
                          <a:latin typeface="Arial"/>
                        </a:rPr>
                        <a:t>Fewest late stops</a:t>
                      </a:r>
                    </a:p>
                  </a:txBody>
                  <a:tcPr marL="73152" marR="73152" marT="27432" marB="27432" anchor="ctr">
                    <a:solidFill>
                      <a:srgbClr val="F1F6F5"/>
                    </a:solidFill>
                  </a:tcPr>
                </a:tc>
              </a:tr>
            </a:tbl>
          </a:graphicData>
        </a:graphic>
      </p:graphicFrame>
      <p:sp>
        <p:nvSpPr>
          <p:cNvPr id="10" name="s18 Rounded Rectangle 9"/>
          <p:cNvSpPr/>
          <p:nvPr/>
        </p:nvSpPr>
        <p:spPr>
          <a:xfrm>
            <a:off x="548640" y="4663440"/>
            <a:ext cx="11094415" cy="1188720"/>
          </a:xfrm>
          <a:prstGeom prst="roundRect">
            <a:avLst>
              <a:gd name="adj" fmla="val 12307"/>
            </a:avLst>
          </a:prstGeom>
          <a:solidFill>
            <a:srgbClr val="DDEFEC"/>
          </a:solidFill>
          <a:ln>
            <a:noFill/>
          </a:ln>
          <a:effectLst/>
        </p:spPr>
        <p:txBody>
          <a:bodyPr rtlCol="0" anchor="ctr"/>
          <a:lstStyle/>
          <a:p/>
        </p:txBody>
      </p:sp>
      <p:sp>
        <p:nvSpPr>
          <p:cNvPr id="11" name="s18 TextBox 10"/>
          <p:cNvSpPr txBox="1"/>
          <p:nvPr/>
        </p:nvSpPr>
        <p:spPr>
          <a:xfrm>
            <a:off x="822959" y="4663440"/>
            <a:ext cx="10545775" cy="1188720"/>
          </a:xfrm>
          <a:prstGeom prst="rect">
            <a:avLst/>
          </a:prstGeom>
          <a:noFill/>
        </p:spPr>
        <p:txBody>
          <a:bodyPr wrap="square" lIns="0" rIns="0" tIns="0" bIns="0" anchor="ctr">
            <a:spAutoFit/>
          </a:bodyPr>
          <a:lstStyle/>
          <a:p>
            <a:pPr algn="l">
              <a:lnSpc>
                <a:spcPct val="110000"/>
              </a:lnSpc>
              <a:spcAft>
                <a:spcPts val="600"/>
              </a:spcAft>
            </a:pPr>
            <a:r>
              <a:rPr sz="1250" b="1" i="0">
                <a:solidFill>
                  <a:srgbClr val="031B08"/>
                </a:solidFill>
                <a:latin typeface="Arial"/>
              </a:rPr>
              <a:t>Limiting resource: </a:t>
            </a:r>
            <a:r>
              <a:rPr sz="1250" b="0" i="0">
                <a:solidFill>
                  <a:srgbClr val="1C2B26"/>
                </a:solidFill>
                <a:latin typeface="Arial"/>
              </a:rPr>
              <a:t>26 chilled orders need 181.6 m³; the 4 available reefers (refrigerated vehicles) carry 172.4 m³ in two trips. Six deferrals were unavoidable; two were the cost of rule 1 (9.76 m³).</a:t>
            </a:r>
          </a:p>
          <a:p>
            <a:pPr algn="l">
              <a:lnSpc>
                <a:spcPct val="110000"/>
              </a:lnSpc>
              <a:spcAft>
                <a:spcPts val="600"/>
              </a:spcAft>
            </a:pPr>
            <a:r>
              <a:rPr sz="1250" b="1" i="0">
                <a:solidFill>
                  <a:srgbClr val="031B08"/>
                </a:solidFill>
                <a:latin typeface="Arial"/>
              </a:rPr>
              <a:t>Recommendation: </a:t>
            </a:r>
            <a:r>
              <a:rPr sz="1250" b="0" i="0">
                <a:solidFill>
                  <a:srgbClr val="1C2B26"/>
                </a:solidFill>
                <a:latin typeface="Arial"/>
              </a:rPr>
              <a:t>release workshop reefers VEH004 and VEH005, and all 26 chilled orders are served; split the 40.7 m³ Style order at entry.</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19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19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19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Trust, safety and privacy</a:t>
            </a:r>
          </a:p>
        </p:txBody>
      </p:sp>
      <p:sp>
        <p:nvSpPr>
          <p:cNvPr id="5" name="s19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Advice, never autopilot; every AI answer checked; every action audited</a:t>
            </a:r>
          </a:p>
        </p:txBody>
      </p:sp>
      <p:sp>
        <p:nvSpPr>
          <p:cNvPr id="6" name="s19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19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19</a:t>
            </a:r>
          </a:p>
        </p:txBody>
      </p:sp>
      <p:sp>
        <p:nvSpPr>
          <p:cNvPr id="8" name="s19 Rounded Rectangle 7"/>
          <p:cNvSpPr/>
          <p:nvPr/>
        </p:nvSpPr>
        <p:spPr>
          <a:xfrm>
            <a:off x="548640" y="1691640"/>
            <a:ext cx="3545738" cy="3886200"/>
          </a:xfrm>
          <a:prstGeom prst="roundRect">
            <a:avLst>
              <a:gd name="adj" fmla="val 4126"/>
            </a:avLst>
          </a:prstGeom>
          <a:solidFill>
            <a:srgbClr val="FFFFFF"/>
          </a:solidFill>
          <a:ln w="12700">
            <a:solidFill>
              <a:srgbClr val="D9E3DE"/>
            </a:solidFill>
          </a:ln>
          <a:effectLst/>
        </p:spPr>
        <p:txBody>
          <a:bodyPr rtlCol="0" anchor="ctr"/>
          <a:lstStyle/>
          <a:p/>
        </p:txBody>
      </p:sp>
      <p:sp>
        <p:nvSpPr>
          <p:cNvPr id="9" name="s19 TextBox 8"/>
          <p:cNvSpPr txBox="1"/>
          <p:nvPr/>
        </p:nvSpPr>
        <p:spPr>
          <a:xfrm>
            <a:off x="777240" y="1810512"/>
            <a:ext cx="3179978"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Models</a:t>
            </a:r>
          </a:p>
        </p:txBody>
      </p:sp>
      <p:sp>
        <p:nvSpPr>
          <p:cNvPr id="10" name="s19 Oval 9"/>
          <p:cNvSpPr/>
          <p:nvPr/>
        </p:nvSpPr>
        <p:spPr>
          <a:xfrm>
            <a:off x="777240" y="2368296"/>
            <a:ext cx="100584" cy="100584"/>
          </a:xfrm>
          <a:prstGeom prst="ellipse">
            <a:avLst/>
          </a:prstGeom>
          <a:solidFill>
            <a:srgbClr val="0A6B63"/>
          </a:solidFill>
          <a:ln>
            <a:noFill/>
          </a:ln>
          <a:effectLst/>
        </p:spPr>
        <p:txBody>
          <a:bodyPr rtlCol="0" anchor="ctr"/>
          <a:lstStyle/>
          <a:p>
            <a:pPr algn="ctr"/>
          </a:p>
        </p:txBody>
      </p:sp>
      <p:sp>
        <p:nvSpPr>
          <p:cNvPr id="11" name="s19 TextBox 10"/>
          <p:cNvSpPr txBox="1"/>
          <p:nvPr/>
        </p:nvSpPr>
        <p:spPr>
          <a:xfrm>
            <a:off x="1005840" y="2286000"/>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Predictions are advice: they never change a plan</a:t>
            </a:r>
          </a:p>
        </p:txBody>
      </p:sp>
      <p:sp>
        <p:nvSpPr>
          <p:cNvPr id="12" name="s19 Oval 11"/>
          <p:cNvSpPr/>
          <p:nvPr/>
        </p:nvSpPr>
        <p:spPr>
          <a:xfrm>
            <a:off x="777240" y="3026663"/>
            <a:ext cx="100584" cy="100584"/>
          </a:xfrm>
          <a:prstGeom prst="ellipse">
            <a:avLst/>
          </a:prstGeom>
          <a:solidFill>
            <a:srgbClr val="0A6B63"/>
          </a:solidFill>
          <a:ln>
            <a:noFill/>
          </a:ln>
          <a:effectLst/>
        </p:spPr>
        <p:txBody>
          <a:bodyPr rtlCol="0" anchor="ctr"/>
          <a:lstStyle/>
          <a:p>
            <a:pPr algn="ctr"/>
          </a:p>
        </p:txBody>
      </p:sp>
      <p:sp>
        <p:nvSpPr>
          <p:cNvPr id="13" name="s19 TextBox 12"/>
          <p:cNvSpPr txBox="1"/>
          <p:nvPr/>
        </p:nvSpPr>
        <p:spPr>
          <a:xfrm>
            <a:off x="1005840" y="2944368"/>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Trust gates before going live: precision ≥ 60%, recall ≥ 70%, calibrated</a:t>
            </a:r>
          </a:p>
        </p:txBody>
      </p:sp>
      <p:sp>
        <p:nvSpPr>
          <p:cNvPr id="14" name="s19 Oval 13"/>
          <p:cNvSpPr/>
          <p:nvPr/>
        </p:nvSpPr>
        <p:spPr>
          <a:xfrm>
            <a:off x="777240" y="3685032"/>
            <a:ext cx="100584" cy="100584"/>
          </a:xfrm>
          <a:prstGeom prst="ellipse">
            <a:avLst/>
          </a:prstGeom>
          <a:solidFill>
            <a:srgbClr val="0A6B63"/>
          </a:solidFill>
          <a:ln>
            <a:noFill/>
          </a:ln>
          <a:effectLst/>
        </p:spPr>
        <p:txBody>
          <a:bodyPr rtlCol="0" anchor="ctr"/>
          <a:lstStyle/>
          <a:p>
            <a:pPr algn="ctr"/>
          </a:p>
        </p:txBody>
      </p:sp>
      <p:sp>
        <p:nvSpPr>
          <p:cNvPr id="15" name="s19 TextBox 14"/>
          <p:cNvSpPr txBox="1"/>
          <p:nvPr/>
        </p:nvSpPr>
        <p:spPr>
          <a:xfrm>
            <a:off x="1005840" y="3602736"/>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Outcomes recorded, daily metrics, drift alerts</a:t>
            </a:r>
          </a:p>
        </p:txBody>
      </p:sp>
      <p:sp>
        <p:nvSpPr>
          <p:cNvPr id="16" name="s19 Oval 15"/>
          <p:cNvSpPr/>
          <p:nvPr/>
        </p:nvSpPr>
        <p:spPr>
          <a:xfrm>
            <a:off x="777240" y="4343400"/>
            <a:ext cx="100584" cy="100584"/>
          </a:xfrm>
          <a:prstGeom prst="ellipse">
            <a:avLst/>
          </a:prstGeom>
          <a:solidFill>
            <a:srgbClr val="0A6B63"/>
          </a:solidFill>
          <a:ln>
            <a:noFill/>
          </a:ln>
          <a:effectLst/>
        </p:spPr>
        <p:txBody>
          <a:bodyPr rtlCol="0" anchor="ctr"/>
          <a:lstStyle/>
          <a:p>
            <a:pPr algn="ctr"/>
          </a:p>
        </p:txBody>
      </p:sp>
      <p:sp>
        <p:nvSpPr>
          <p:cNvPr id="17" name="s19 TextBox 16"/>
          <p:cNvSpPr txBox="1"/>
          <p:nvPr/>
        </p:nvSpPr>
        <p:spPr>
          <a:xfrm>
            <a:off x="1005840" y="4261104"/>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Shadow candidate on every plan; worse model rolled back</a:t>
            </a:r>
          </a:p>
        </p:txBody>
      </p:sp>
      <p:sp>
        <p:nvSpPr>
          <p:cNvPr id="18" name="s19 Oval 17"/>
          <p:cNvSpPr/>
          <p:nvPr/>
        </p:nvSpPr>
        <p:spPr>
          <a:xfrm>
            <a:off x="777240" y="5001768"/>
            <a:ext cx="100584" cy="100584"/>
          </a:xfrm>
          <a:prstGeom prst="ellipse">
            <a:avLst/>
          </a:prstGeom>
          <a:solidFill>
            <a:srgbClr val="0A6B63"/>
          </a:solidFill>
          <a:ln>
            <a:noFill/>
          </a:ln>
          <a:effectLst/>
        </p:spPr>
        <p:txBody>
          <a:bodyPr rtlCol="0" anchor="ctr"/>
          <a:lstStyle/>
          <a:p>
            <a:pPr algn="ctr"/>
          </a:p>
        </p:txBody>
      </p:sp>
      <p:sp>
        <p:nvSpPr>
          <p:cNvPr id="19" name="s19 TextBox 18"/>
          <p:cNvSpPr txBox="1"/>
          <p:nvPr/>
        </p:nvSpPr>
        <p:spPr>
          <a:xfrm>
            <a:off x="1005840" y="4919472"/>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Competition models off in production until own-data model passes</a:t>
            </a:r>
          </a:p>
        </p:txBody>
      </p:sp>
      <p:sp>
        <p:nvSpPr>
          <p:cNvPr id="20" name="s19 Rounded Rectangle 19"/>
          <p:cNvSpPr/>
          <p:nvPr/>
        </p:nvSpPr>
        <p:spPr>
          <a:xfrm>
            <a:off x="4322978" y="1691640"/>
            <a:ext cx="3545738" cy="3886200"/>
          </a:xfrm>
          <a:prstGeom prst="roundRect">
            <a:avLst>
              <a:gd name="adj" fmla="val 4126"/>
            </a:avLst>
          </a:prstGeom>
          <a:solidFill>
            <a:srgbClr val="FFFFFF"/>
          </a:solidFill>
          <a:ln w="12700">
            <a:solidFill>
              <a:srgbClr val="D9E3DE"/>
            </a:solidFill>
          </a:ln>
          <a:effectLst/>
        </p:spPr>
        <p:txBody>
          <a:bodyPr rtlCol="0" anchor="ctr"/>
          <a:lstStyle/>
          <a:p/>
        </p:txBody>
      </p:sp>
      <p:sp>
        <p:nvSpPr>
          <p:cNvPr id="21" name="s19 TextBox 20"/>
          <p:cNvSpPr txBox="1"/>
          <p:nvPr/>
        </p:nvSpPr>
        <p:spPr>
          <a:xfrm>
            <a:off x="4551578" y="1810512"/>
            <a:ext cx="3179978"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Language AI</a:t>
            </a:r>
          </a:p>
        </p:txBody>
      </p:sp>
      <p:sp>
        <p:nvSpPr>
          <p:cNvPr id="22" name="s19 Oval 21"/>
          <p:cNvSpPr/>
          <p:nvPr/>
        </p:nvSpPr>
        <p:spPr>
          <a:xfrm>
            <a:off x="4551578" y="2368296"/>
            <a:ext cx="100584" cy="100584"/>
          </a:xfrm>
          <a:prstGeom prst="ellipse">
            <a:avLst/>
          </a:prstGeom>
          <a:solidFill>
            <a:srgbClr val="0A6B63"/>
          </a:solidFill>
          <a:ln>
            <a:noFill/>
          </a:ln>
          <a:effectLst/>
        </p:spPr>
        <p:txBody>
          <a:bodyPr rtlCol="0" anchor="ctr"/>
          <a:lstStyle/>
          <a:p>
            <a:pPr algn="ctr"/>
          </a:p>
        </p:txBody>
      </p:sp>
      <p:sp>
        <p:nvSpPr>
          <p:cNvPr id="23" name="s19 TextBox 22"/>
          <p:cNvSpPr txBox="1"/>
          <p:nvPr/>
        </p:nvSpPr>
        <p:spPr>
          <a:xfrm>
            <a:off x="4780178" y="2286000"/>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Off by default; a daily call cap</a:t>
            </a:r>
          </a:p>
        </p:txBody>
      </p:sp>
      <p:sp>
        <p:nvSpPr>
          <p:cNvPr id="24" name="s19 Oval 23"/>
          <p:cNvSpPr/>
          <p:nvPr/>
        </p:nvSpPr>
        <p:spPr>
          <a:xfrm>
            <a:off x="4551578" y="3026663"/>
            <a:ext cx="100584" cy="100584"/>
          </a:xfrm>
          <a:prstGeom prst="ellipse">
            <a:avLst/>
          </a:prstGeom>
          <a:solidFill>
            <a:srgbClr val="0A6B63"/>
          </a:solidFill>
          <a:ln>
            <a:noFill/>
          </a:ln>
          <a:effectLst/>
        </p:spPr>
        <p:txBody>
          <a:bodyPr rtlCol="0" anchor="ctr"/>
          <a:lstStyle/>
          <a:p>
            <a:pPr algn="ctr"/>
          </a:p>
        </p:txBody>
      </p:sp>
      <p:sp>
        <p:nvSpPr>
          <p:cNvPr id="25" name="s19 TextBox 24"/>
          <p:cNvSpPr txBox="1"/>
          <p:nvPr/>
        </p:nvSpPr>
        <p:spPr>
          <a:xfrm>
            <a:off x="4780178" y="2944368"/>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Only allow-listed facts are sent; names masked</a:t>
            </a:r>
          </a:p>
        </p:txBody>
      </p:sp>
      <p:sp>
        <p:nvSpPr>
          <p:cNvPr id="26" name="s19 Oval 25"/>
          <p:cNvSpPr/>
          <p:nvPr/>
        </p:nvSpPr>
        <p:spPr>
          <a:xfrm>
            <a:off x="4551578" y="3685032"/>
            <a:ext cx="100584" cy="100584"/>
          </a:xfrm>
          <a:prstGeom prst="ellipse">
            <a:avLst/>
          </a:prstGeom>
          <a:solidFill>
            <a:srgbClr val="0A6B63"/>
          </a:solidFill>
          <a:ln>
            <a:noFill/>
          </a:ln>
          <a:effectLst/>
        </p:spPr>
        <p:txBody>
          <a:bodyPr rtlCol="0" anchor="ctr"/>
          <a:lstStyle/>
          <a:p>
            <a:pPr algn="ctr"/>
          </a:p>
        </p:txBody>
      </p:sp>
      <p:sp>
        <p:nvSpPr>
          <p:cNvPr id="27" name="s19 TextBox 26"/>
          <p:cNvSpPr txBox="1"/>
          <p:nvPr/>
        </p:nvSpPr>
        <p:spPr>
          <a:xfrm>
            <a:off x="4780178" y="3602736"/>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Any number not in the facts → the plain sentence stands</a:t>
            </a:r>
          </a:p>
        </p:txBody>
      </p:sp>
      <p:sp>
        <p:nvSpPr>
          <p:cNvPr id="28" name="s19 Oval 27"/>
          <p:cNvSpPr/>
          <p:nvPr/>
        </p:nvSpPr>
        <p:spPr>
          <a:xfrm>
            <a:off x="4551578" y="4343400"/>
            <a:ext cx="100584" cy="100584"/>
          </a:xfrm>
          <a:prstGeom prst="ellipse">
            <a:avLst/>
          </a:prstGeom>
          <a:solidFill>
            <a:srgbClr val="0A6B63"/>
          </a:solidFill>
          <a:ln>
            <a:noFill/>
          </a:ln>
          <a:effectLst/>
        </p:spPr>
        <p:txBody>
          <a:bodyPr rtlCol="0" anchor="ctr"/>
          <a:lstStyle/>
          <a:p>
            <a:pPr algn="ctr"/>
          </a:p>
        </p:txBody>
      </p:sp>
      <p:sp>
        <p:nvSpPr>
          <p:cNvPr id="29" name="s19 TextBox 28"/>
          <p:cNvSpPr txBox="1"/>
          <p:nvPr/>
        </p:nvSpPr>
        <p:spPr>
          <a:xfrm>
            <a:off x="4780178" y="4261104"/>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Zero retention; prompt version logged</a:t>
            </a:r>
          </a:p>
        </p:txBody>
      </p:sp>
      <p:sp>
        <p:nvSpPr>
          <p:cNvPr id="30" name="s19 Oval 29"/>
          <p:cNvSpPr/>
          <p:nvPr/>
        </p:nvSpPr>
        <p:spPr>
          <a:xfrm>
            <a:off x="4551578" y="5001768"/>
            <a:ext cx="100584" cy="100584"/>
          </a:xfrm>
          <a:prstGeom prst="ellipse">
            <a:avLst/>
          </a:prstGeom>
          <a:solidFill>
            <a:srgbClr val="0A6B63"/>
          </a:solidFill>
          <a:ln>
            <a:noFill/>
          </a:ln>
          <a:effectLst/>
        </p:spPr>
        <p:txBody>
          <a:bodyPr rtlCol="0" anchor="ctr"/>
          <a:lstStyle/>
          <a:p>
            <a:pPr algn="ctr"/>
          </a:p>
        </p:txBody>
      </p:sp>
      <p:sp>
        <p:nvSpPr>
          <p:cNvPr id="31" name="s19 TextBox 30"/>
          <p:cNvSpPr txBox="1"/>
          <p:nvPr/>
        </p:nvSpPr>
        <p:spPr>
          <a:xfrm>
            <a:off x="4780178" y="4919472"/>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An outside AI (Jev) sorts problem reports, in shadow only</a:t>
            </a:r>
          </a:p>
        </p:txBody>
      </p:sp>
      <p:sp>
        <p:nvSpPr>
          <p:cNvPr id="32" name="s19 Rounded Rectangle 31"/>
          <p:cNvSpPr/>
          <p:nvPr/>
        </p:nvSpPr>
        <p:spPr>
          <a:xfrm>
            <a:off x="8097316" y="1691640"/>
            <a:ext cx="3545738" cy="3886200"/>
          </a:xfrm>
          <a:prstGeom prst="roundRect">
            <a:avLst>
              <a:gd name="adj" fmla="val 4126"/>
            </a:avLst>
          </a:prstGeom>
          <a:solidFill>
            <a:srgbClr val="FFFFFF"/>
          </a:solidFill>
          <a:ln w="12700">
            <a:solidFill>
              <a:srgbClr val="D9E3DE"/>
            </a:solidFill>
          </a:ln>
          <a:effectLst/>
        </p:spPr>
        <p:txBody>
          <a:bodyPr rtlCol="0" anchor="ctr"/>
          <a:lstStyle/>
          <a:p/>
        </p:txBody>
      </p:sp>
      <p:sp>
        <p:nvSpPr>
          <p:cNvPr id="33" name="s19 TextBox 32"/>
          <p:cNvSpPr txBox="1"/>
          <p:nvPr/>
        </p:nvSpPr>
        <p:spPr>
          <a:xfrm>
            <a:off x="8325916" y="1810512"/>
            <a:ext cx="3179978"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Access and data</a:t>
            </a:r>
          </a:p>
        </p:txBody>
      </p:sp>
      <p:sp>
        <p:nvSpPr>
          <p:cNvPr id="34" name="s19 Oval 33"/>
          <p:cNvSpPr/>
          <p:nvPr/>
        </p:nvSpPr>
        <p:spPr>
          <a:xfrm>
            <a:off x="8325916" y="2368296"/>
            <a:ext cx="100584" cy="100584"/>
          </a:xfrm>
          <a:prstGeom prst="ellipse">
            <a:avLst/>
          </a:prstGeom>
          <a:solidFill>
            <a:srgbClr val="0A6B63"/>
          </a:solidFill>
          <a:ln>
            <a:noFill/>
          </a:ln>
          <a:effectLst/>
        </p:spPr>
        <p:txBody>
          <a:bodyPr rtlCol="0" anchor="ctr"/>
          <a:lstStyle/>
          <a:p>
            <a:pPr algn="ctr"/>
          </a:p>
        </p:txBody>
      </p:sp>
      <p:sp>
        <p:nvSpPr>
          <p:cNvPr id="35" name="s19 TextBox 34"/>
          <p:cNvSpPr txBox="1"/>
          <p:nvPr/>
        </p:nvSpPr>
        <p:spPr>
          <a:xfrm>
            <a:off x="8554516" y="2286000"/>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Role + depot, store or vehicle scope on every request</a:t>
            </a:r>
          </a:p>
        </p:txBody>
      </p:sp>
      <p:sp>
        <p:nvSpPr>
          <p:cNvPr id="36" name="s19 Oval 35"/>
          <p:cNvSpPr/>
          <p:nvPr/>
        </p:nvSpPr>
        <p:spPr>
          <a:xfrm>
            <a:off x="8325916" y="3026663"/>
            <a:ext cx="100584" cy="100584"/>
          </a:xfrm>
          <a:prstGeom prst="ellipse">
            <a:avLst/>
          </a:prstGeom>
          <a:solidFill>
            <a:srgbClr val="0A6B63"/>
          </a:solidFill>
          <a:ln>
            <a:noFill/>
          </a:ln>
          <a:effectLst/>
        </p:spPr>
        <p:txBody>
          <a:bodyPr rtlCol="0" anchor="ctr"/>
          <a:lstStyle/>
          <a:p>
            <a:pPr algn="ctr"/>
          </a:p>
        </p:txBody>
      </p:sp>
      <p:sp>
        <p:nvSpPr>
          <p:cNvPr id="37" name="s19 TextBox 36"/>
          <p:cNvSpPr txBox="1"/>
          <p:nvPr/>
        </p:nvSpPr>
        <p:spPr>
          <a:xfrm>
            <a:off x="8554516" y="2944368"/>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Row-level security in the database</a:t>
            </a:r>
          </a:p>
        </p:txBody>
      </p:sp>
      <p:sp>
        <p:nvSpPr>
          <p:cNvPr id="38" name="s19 Oval 37"/>
          <p:cNvSpPr/>
          <p:nvPr/>
        </p:nvSpPr>
        <p:spPr>
          <a:xfrm>
            <a:off x="8325916" y="3685032"/>
            <a:ext cx="100584" cy="100584"/>
          </a:xfrm>
          <a:prstGeom prst="ellipse">
            <a:avLst/>
          </a:prstGeom>
          <a:solidFill>
            <a:srgbClr val="0A6B63"/>
          </a:solidFill>
          <a:ln>
            <a:noFill/>
          </a:ln>
          <a:effectLst/>
        </p:spPr>
        <p:txBody>
          <a:bodyPr rtlCol="0" anchor="ctr"/>
          <a:lstStyle/>
          <a:p>
            <a:pPr algn="ctr"/>
          </a:p>
        </p:txBody>
      </p:sp>
      <p:sp>
        <p:nvSpPr>
          <p:cNvPr id="39" name="s19 TextBox 38"/>
          <p:cNvSpPr txBox="1"/>
          <p:nvPr/>
        </p:nvSpPr>
        <p:spPr>
          <a:xfrm>
            <a:off x="8554516" y="3602736"/>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Every command and AI call audited</a:t>
            </a:r>
          </a:p>
        </p:txBody>
      </p:sp>
      <p:sp>
        <p:nvSpPr>
          <p:cNvPr id="40" name="s19 Oval 39"/>
          <p:cNvSpPr/>
          <p:nvPr/>
        </p:nvSpPr>
        <p:spPr>
          <a:xfrm>
            <a:off x="8325916" y="4343400"/>
            <a:ext cx="100584" cy="100584"/>
          </a:xfrm>
          <a:prstGeom prst="ellipse">
            <a:avLst/>
          </a:prstGeom>
          <a:solidFill>
            <a:srgbClr val="0A6B63"/>
          </a:solidFill>
          <a:ln>
            <a:noFill/>
          </a:ln>
          <a:effectLst/>
        </p:spPr>
        <p:txBody>
          <a:bodyPr rtlCol="0" anchor="ctr"/>
          <a:lstStyle/>
          <a:p>
            <a:pPr algn="ctr"/>
          </a:p>
        </p:txBody>
      </p:sp>
      <p:sp>
        <p:nvSpPr>
          <p:cNvPr id="41" name="s19 TextBox 40"/>
          <p:cNvSpPr txBox="1"/>
          <p:nvPr/>
        </p:nvSpPr>
        <p:spPr>
          <a:xfrm>
            <a:off x="8554516" y="4261104"/>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Sessions 12 h, 2 h idle; login throttling</a:t>
            </a:r>
          </a:p>
        </p:txBody>
      </p:sp>
      <p:sp>
        <p:nvSpPr>
          <p:cNvPr id="42" name="s19 Oval 41"/>
          <p:cNvSpPr/>
          <p:nvPr/>
        </p:nvSpPr>
        <p:spPr>
          <a:xfrm>
            <a:off x="8325916" y="5001768"/>
            <a:ext cx="100584" cy="100584"/>
          </a:xfrm>
          <a:prstGeom prst="ellipse">
            <a:avLst/>
          </a:prstGeom>
          <a:solidFill>
            <a:srgbClr val="0A6B63"/>
          </a:solidFill>
          <a:ln>
            <a:noFill/>
          </a:ln>
          <a:effectLst/>
        </p:spPr>
        <p:txBody>
          <a:bodyPr rtlCol="0" anchor="ctr"/>
          <a:lstStyle/>
          <a:p>
            <a:pPr algn="ctr"/>
          </a:p>
        </p:txBody>
      </p:sp>
      <p:sp>
        <p:nvSpPr>
          <p:cNvPr id="43" name="s19 TextBox 42"/>
          <p:cNvSpPr txBox="1"/>
          <p:nvPr/>
        </p:nvSpPr>
        <p:spPr>
          <a:xfrm>
            <a:off x="8554516" y="4919472"/>
            <a:ext cx="2905658" cy="658368"/>
          </a:xfrm>
          <a:prstGeom prst="rect">
            <a:avLst/>
          </a:prstGeom>
          <a:noFill/>
        </p:spPr>
        <p:txBody>
          <a:bodyPr wrap="square" lIns="0" rIns="0" tIns="0" bIns="0" anchor="t">
            <a:spAutoFit/>
          </a:bodyPr>
          <a:lstStyle/>
          <a:p>
            <a:pPr algn="l">
              <a:lnSpc>
                <a:spcPct val="108000"/>
              </a:lnSpc>
            </a:pPr>
            <a:r>
              <a:rPr sz="1220" b="0" i="0">
                <a:solidFill>
                  <a:srgbClr val="1C2B26"/>
                </a:solidFill>
                <a:latin typeface="Arial"/>
              </a:rPr>
              <a:t>AI assistants (MCP): own permissions, confirm-before-change</a:t>
            </a:r>
          </a:p>
        </p:txBody>
      </p:sp>
      <p:sp>
        <p:nvSpPr>
          <p:cNvPr id="44" name="s19 Rounded Rectangle 43"/>
          <p:cNvSpPr/>
          <p:nvPr/>
        </p:nvSpPr>
        <p:spPr>
          <a:xfrm>
            <a:off x="548640" y="5806440"/>
            <a:ext cx="11094415" cy="438912"/>
          </a:xfrm>
          <a:prstGeom prst="roundRect">
            <a:avLst>
              <a:gd name="adj" fmla="val 50000"/>
            </a:avLst>
          </a:prstGeom>
          <a:solidFill>
            <a:srgbClr val="031B08"/>
          </a:solidFill>
          <a:ln>
            <a:noFill/>
          </a:ln>
          <a:effectLst/>
        </p:spPr>
        <p:txBody>
          <a:bodyPr rtlCol="0" anchor="ctr"/>
          <a:lstStyle/>
          <a:p/>
        </p:txBody>
      </p:sp>
      <p:sp>
        <p:nvSpPr>
          <p:cNvPr id="45" name="s19 TextBox 44"/>
          <p:cNvSpPr txBox="1"/>
          <p:nvPr/>
        </p:nvSpPr>
        <p:spPr>
          <a:xfrm>
            <a:off x="548640" y="5806440"/>
            <a:ext cx="11094415" cy="438912"/>
          </a:xfrm>
          <a:prstGeom prst="rect">
            <a:avLst/>
          </a:prstGeom>
          <a:noFill/>
        </p:spPr>
        <p:txBody>
          <a:bodyPr wrap="square" lIns="0" rIns="0" tIns="0" bIns="0" anchor="ctr">
            <a:spAutoFit/>
          </a:bodyPr>
          <a:lstStyle/>
          <a:p>
            <a:pPr algn="ctr">
              <a:lnSpc>
                <a:spcPct val="108000"/>
              </a:lnSpc>
            </a:pPr>
            <a:r>
              <a:rPr sz="1250" b="0" i="0">
                <a:solidFill>
                  <a:srgbClr val="FFFFFF"/>
                </a:solidFill>
                <a:latin typeface="Arial"/>
              </a:rPr>
              <a:t>Ready for Sri Lanka’s PDPA (in force 1 January 2027): data agreements before any cloud AI, hosting in Sri Lanka as an option</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0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0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0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Works offline, fails gracefully</a:t>
            </a:r>
          </a:p>
        </p:txBody>
      </p:sp>
      <p:sp>
        <p:nvSpPr>
          <p:cNvPr id="5" name="s20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Designed on Day 5 as our failure screen; built and working today</a:t>
            </a:r>
          </a:p>
        </p:txBody>
      </p:sp>
      <p:sp>
        <p:nvSpPr>
          <p:cNvPr id="6" name="s20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0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20</a:t>
            </a:r>
          </a:p>
        </p:txBody>
      </p:sp>
      <p:sp>
        <p:nvSpPr>
          <p:cNvPr id="8" name="s20 Rounded Rectangle 7"/>
          <p:cNvSpPr/>
          <p:nvPr/>
        </p:nvSpPr>
        <p:spPr>
          <a:xfrm>
            <a:off x="548640" y="1645920"/>
            <a:ext cx="2199942" cy="4572000"/>
          </a:xfrm>
          <a:prstGeom prst="roundRect">
            <a:avLst>
              <a:gd name="adj" fmla="val 18975"/>
            </a:avLst>
          </a:prstGeom>
          <a:solidFill>
            <a:srgbClr val="0B1210"/>
          </a:solidFill>
          <a:ln>
            <a:noFill/>
          </a:ln>
          <a:effectLst>
            <a:outerShdw blurRad="330200" dist="101600" dir="5400000" algn="t" rotWithShape="0">
              <a:srgbClr val="0B2A20">
                <a:alpha val="22000"/>
              </a:srgbClr>
            </a:outerShdw>
          </a:effectLst>
        </p:spPr>
        <p:txBody>
          <a:bodyPr rtlCol="0" anchor="ctr"/>
          <a:lstStyle/>
          <a:p/>
        </p:txBody>
      </p:sp>
      <p:pic>
        <p:nvPicPr>
          <p:cNvPr id="9" name="s20 Live screen: drv_sync">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633122" y="1730402"/>
            <a:ext cx="2030977" cy="4403034"/>
          </a:xfrm>
          <a:prstGeom prst="roundRect">
            <a:avLst>
              <a:gd name="adj" fmla="val 16638"/>
            </a:avLst>
          </a:prstGeom>
        </p:spPr>
      </p:pic>
      <p:sp>
        <p:nvSpPr>
          <p:cNvPr id="10" name="s20 Oval 9"/>
          <p:cNvSpPr/>
          <p:nvPr/>
        </p:nvSpPr>
        <p:spPr>
          <a:xfrm>
            <a:off x="3063240" y="1865376"/>
            <a:ext cx="100584" cy="100584"/>
          </a:xfrm>
          <a:prstGeom prst="ellipse">
            <a:avLst/>
          </a:prstGeom>
          <a:solidFill>
            <a:srgbClr val="0A6B63"/>
          </a:solidFill>
          <a:ln>
            <a:noFill/>
          </a:ln>
          <a:effectLst/>
        </p:spPr>
        <p:txBody>
          <a:bodyPr rtlCol="0" anchor="ctr"/>
          <a:lstStyle/>
          <a:p>
            <a:pPr algn="ctr"/>
          </a:p>
        </p:txBody>
      </p:sp>
      <p:sp>
        <p:nvSpPr>
          <p:cNvPr id="11" name="s20 TextBox 10"/>
          <p:cNvSpPr txBox="1"/>
          <p:nvPr/>
        </p:nvSpPr>
        <p:spPr>
          <a:xfrm>
            <a:off x="3291840" y="1783080"/>
            <a:ext cx="3886200" cy="731520"/>
          </a:xfrm>
          <a:prstGeom prst="rect">
            <a:avLst/>
          </a:prstGeom>
          <a:noFill/>
        </p:spPr>
        <p:txBody>
          <a:bodyPr wrap="square" lIns="0" rIns="0" tIns="0" bIns="0" anchor="t">
            <a:spAutoFit/>
          </a:bodyPr>
          <a:lstStyle/>
          <a:p>
            <a:pPr algn="l">
              <a:lnSpc>
                <a:spcPct val="108000"/>
              </a:lnSpc>
            </a:pPr>
            <a:r>
              <a:rPr sz="1350" b="0" i="0">
                <a:solidFill>
                  <a:srgbClr val="1C2B26"/>
                </a:solidFill>
                <a:latin typeface="Arial"/>
              </a:rPr>
              <a:t>Driver, loader and store keep working with no signal</a:t>
            </a:r>
          </a:p>
        </p:txBody>
      </p:sp>
      <p:sp>
        <p:nvSpPr>
          <p:cNvPr id="12" name="s20 Oval 11"/>
          <p:cNvSpPr/>
          <p:nvPr/>
        </p:nvSpPr>
        <p:spPr>
          <a:xfrm>
            <a:off x="3063240" y="2596896"/>
            <a:ext cx="100584" cy="100584"/>
          </a:xfrm>
          <a:prstGeom prst="ellipse">
            <a:avLst/>
          </a:prstGeom>
          <a:solidFill>
            <a:srgbClr val="0A6B63"/>
          </a:solidFill>
          <a:ln>
            <a:noFill/>
          </a:ln>
          <a:effectLst/>
        </p:spPr>
        <p:txBody>
          <a:bodyPr rtlCol="0" anchor="ctr"/>
          <a:lstStyle/>
          <a:p>
            <a:pPr algn="ctr"/>
          </a:p>
        </p:txBody>
      </p:sp>
      <p:sp>
        <p:nvSpPr>
          <p:cNvPr id="13" name="s20 TextBox 12"/>
          <p:cNvSpPr txBox="1"/>
          <p:nvPr/>
        </p:nvSpPr>
        <p:spPr>
          <a:xfrm>
            <a:off x="3291840" y="2514600"/>
            <a:ext cx="3886200" cy="731520"/>
          </a:xfrm>
          <a:prstGeom prst="rect">
            <a:avLst/>
          </a:prstGeom>
          <a:noFill/>
        </p:spPr>
        <p:txBody>
          <a:bodyPr wrap="square" lIns="0" rIns="0" tIns="0" bIns="0" anchor="t">
            <a:spAutoFit/>
          </a:bodyPr>
          <a:lstStyle/>
          <a:p>
            <a:pPr algn="l">
              <a:lnSpc>
                <a:spcPct val="108000"/>
              </a:lnSpc>
            </a:pPr>
            <a:r>
              <a:rPr sz="1350" b="0" i="0">
                <a:solidFill>
                  <a:srgbClr val="1C2B26"/>
                </a:solidFill>
                <a:latin typeface="Arial"/>
              </a:rPr>
              <a:t>Saved on the phone with a command ID; sent exactly once</a:t>
            </a:r>
          </a:p>
        </p:txBody>
      </p:sp>
      <p:sp>
        <p:nvSpPr>
          <p:cNvPr id="14" name="s20 Oval 13"/>
          <p:cNvSpPr/>
          <p:nvPr/>
        </p:nvSpPr>
        <p:spPr>
          <a:xfrm>
            <a:off x="3063240" y="3328415"/>
            <a:ext cx="100584" cy="100584"/>
          </a:xfrm>
          <a:prstGeom prst="ellipse">
            <a:avLst/>
          </a:prstGeom>
          <a:solidFill>
            <a:srgbClr val="0A6B63"/>
          </a:solidFill>
          <a:ln>
            <a:noFill/>
          </a:ln>
          <a:effectLst/>
        </p:spPr>
        <p:txBody>
          <a:bodyPr rtlCol="0" anchor="ctr"/>
          <a:lstStyle/>
          <a:p>
            <a:pPr algn="ctr"/>
          </a:p>
        </p:txBody>
      </p:sp>
      <p:sp>
        <p:nvSpPr>
          <p:cNvPr id="15" name="s20 TextBox 14"/>
          <p:cNvSpPr txBox="1"/>
          <p:nvPr/>
        </p:nvSpPr>
        <p:spPr>
          <a:xfrm>
            <a:off x="3291840" y="3246120"/>
            <a:ext cx="3886200" cy="731520"/>
          </a:xfrm>
          <a:prstGeom prst="rect">
            <a:avLst/>
          </a:prstGeom>
          <a:noFill/>
        </p:spPr>
        <p:txBody>
          <a:bodyPr wrap="square" lIns="0" rIns="0" tIns="0" bIns="0" anchor="t">
            <a:spAutoFit/>
          </a:bodyPr>
          <a:lstStyle/>
          <a:p>
            <a:pPr algn="l">
              <a:lnSpc>
                <a:spcPct val="108000"/>
              </a:lnSpc>
            </a:pPr>
            <a:r>
              <a:rPr sz="1350" b="0" i="0">
                <a:solidFill>
                  <a:srgbClr val="1C2B26"/>
                </a:solidFill>
                <a:latin typeface="Arial"/>
              </a:rPr>
              <a:t>Survives a reload or an expired session</a:t>
            </a:r>
          </a:p>
        </p:txBody>
      </p:sp>
      <p:sp>
        <p:nvSpPr>
          <p:cNvPr id="16" name="s20 Oval 15"/>
          <p:cNvSpPr/>
          <p:nvPr/>
        </p:nvSpPr>
        <p:spPr>
          <a:xfrm>
            <a:off x="3063240" y="4059936"/>
            <a:ext cx="100584" cy="100584"/>
          </a:xfrm>
          <a:prstGeom prst="ellipse">
            <a:avLst/>
          </a:prstGeom>
          <a:solidFill>
            <a:srgbClr val="0A6B63"/>
          </a:solidFill>
          <a:ln>
            <a:noFill/>
          </a:ln>
          <a:effectLst/>
        </p:spPr>
        <p:txBody>
          <a:bodyPr rtlCol="0" anchor="ctr"/>
          <a:lstStyle/>
          <a:p>
            <a:pPr algn="ctr"/>
          </a:p>
        </p:txBody>
      </p:sp>
      <p:sp>
        <p:nvSpPr>
          <p:cNvPr id="17" name="s20 TextBox 16"/>
          <p:cNvSpPr txBox="1"/>
          <p:nvPr/>
        </p:nvSpPr>
        <p:spPr>
          <a:xfrm>
            <a:off x="3291840" y="3977640"/>
            <a:ext cx="3886200" cy="731520"/>
          </a:xfrm>
          <a:prstGeom prst="rect">
            <a:avLst/>
          </a:prstGeom>
          <a:noFill/>
        </p:spPr>
        <p:txBody>
          <a:bodyPr wrap="square" lIns="0" rIns="0" tIns="0" bIns="0" anchor="t">
            <a:spAutoFit/>
          </a:bodyPr>
          <a:lstStyle/>
          <a:p>
            <a:pPr algn="l">
              <a:lnSpc>
                <a:spcPct val="108000"/>
              </a:lnSpc>
            </a:pPr>
            <a:r>
              <a:rPr sz="1350" b="0" i="0">
                <a:solidFill>
                  <a:srgbClr val="1C2B26"/>
                </a:solidFill>
                <a:latin typeface="Arial"/>
              </a:rPr>
              <a:t>‘Saved on this device’ is shown apart from ‘confirmed’</a:t>
            </a:r>
          </a:p>
        </p:txBody>
      </p:sp>
      <p:sp>
        <p:nvSpPr>
          <p:cNvPr id="18" name="s20 Oval 17"/>
          <p:cNvSpPr/>
          <p:nvPr/>
        </p:nvSpPr>
        <p:spPr>
          <a:xfrm>
            <a:off x="3063240" y="4791456"/>
            <a:ext cx="100584" cy="100584"/>
          </a:xfrm>
          <a:prstGeom prst="ellipse">
            <a:avLst/>
          </a:prstGeom>
          <a:solidFill>
            <a:srgbClr val="0A6B63"/>
          </a:solidFill>
          <a:ln>
            <a:noFill/>
          </a:ln>
          <a:effectLst/>
        </p:spPr>
        <p:txBody>
          <a:bodyPr rtlCol="0" anchor="ctr"/>
          <a:lstStyle/>
          <a:p>
            <a:pPr algn="ctr"/>
          </a:p>
        </p:txBody>
      </p:sp>
      <p:sp>
        <p:nvSpPr>
          <p:cNvPr id="19" name="s20 TextBox 18"/>
          <p:cNvSpPr txBox="1"/>
          <p:nvPr/>
        </p:nvSpPr>
        <p:spPr>
          <a:xfrm>
            <a:off x="3291840" y="4709160"/>
            <a:ext cx="3886200" cy="731520"/>
          </a:xfrm>
          <a:prstGeom prst="rect">
            <a:avLst/>
          </a:prstGeom>
          <a:noFill/>
        </p:spPr>
        <p:txBody>
          <a:bodyPr wrap="square" lIns="0" rIns="0" tIns="0" bIns="0" anchor="t">
            <a:spAutoFit/>
          </a:bodyPr>
          <a:lstStyle/>
          <a:p>
            <a:pPr algn="l">
              <a:lnSpc>
                <a:spcPct val="108000"/>
              </a:lnSpc>
            </a:pPr>
            <a:r>
              <a:rPr sz="1350" b="0" i="0">
                <a:solidFill>
                  <a:srgbClr val="1C2B26"/>
                </a:solidFill>
                <a:latin typeface="Arial"/>
              </a:rPr>
              <a:t>Conflicts are flagged for review, never overwritten</a:t>
            </a:r>
          </a:p>
        </p:txBody>
      </p:sp>
      <p:graphicFrame>
        <p:nvGraphicFramePr>
          <p:cNvPr id="20" name="s20 Table 19"/>
          <p:cNvGraphicFramePr>
            <a:graphicFrameLocks noGrp="1"/>
          </p:cNvGraphicFramePr>
          <p:nvPr/>
        </p:nvGraphicFramePr>
        <p:xfrm>
          <a:off x="7498079" y="1783080"/>
          <a:ext cx="4142232" cy="3200400"/>
        </p:xfrm>
        <a:graphic>
          <a:graphicData uri="http://schemas.openxmlformats.org/drawingml/2006/table">
            <a:tbl>
              <a:tblPr firstRow="0" bandRow="0">
                <a:tableStyleId>{5C22544A-7EE6-4342-B048-85BDC9FD1C3A}</a:tableStyleId>
              </a:tblPr>
              <a:tblGrid>
                <a:gridCol w="1737360"/>
                <a:gridCol w="2404872"/>
              </a:tblGrid>
              <a:tr h="457200">
                <a:tc>
                  <a:txBody>
                    <a:bodyPr wrap="square"/>
                    <a:lstStyle/>
                    <a:p>
                      <a:r>
                        <a:rPr sz="1200" b="1">
                          <a:solidFill>
                            <a:srgbClr val="FFFFFF"/>
                          </a:solidFill>
                          <a:latin typeface="Arial"/>
                        </a:rPr>
                        <a:t>If this fails…</a:t>
                      </a:r>
                    </a:p>
                  </a:txBody>
                  <a:tcPr marL="73152" marR="73152" marT="27432" marB="27432" anchor="ctr">
                    <a:solidFill>
                      <a:srgbClr val="031B08"/>
                    </a:solidFill>
                  </a:tcPr>
                </a:tc>
                <a:tc>
                  <a:txBody>
                    <a:bodyPr wrap="square"/>
                    <a:lstStyle/>
                    <a:p>
                      <a:r>
                        <a:rPr sz="1200" b="1">
                          <a:solidFill>
                            <a:srgbClr val="FFFFFF"/>
                          </a:solidFill>
                          <a:latin typeface="Arial"/>
                        </a:rPr>
                        <a:t>GO keeps going</a:t>
                      </a:r>
                    </a:p>
                  </a:txBody>
                  <a:tcPr marL="73152" marR="73152" marT="27432" marB="27432" anchor="ctr">
                    <a:solidFill>
                      <a:srgbClr val="031B08"/>
                    </a:solidFill>
                  </a:tcPr>
                </a:tc>
              </a:tr>
              <a:tr h="457200">
                <a:tc>
                  <a:txBody>
                    <a:bodyPr wrap="square"/>
                    <a:lstStyle/>
                    <a:p>
                      <a:r>
                        <a:rPr sz="1200" b="1">
                          <a:solidFill>
                            <a:srgbClr val="031B08"/>
                          </a:solidFill>
                          <a:latin typeface="Arial"/>
                        </a:rPr>
                        <a:t>Mobile signal</a:t>
                      </a:r>
                    </a:p>
                  </a:txBody>
                  <a:tcPr marL="73152" marR="73152" marT="27432" marB="27432" anchor="ctr">
                    <a:solidFill>
                      <a:srgbClr val="FFFFFF"/>
                    </a:solidFill>
                  </a:tcPr>
                </a:tc>
                <a:tc>
                  <a:txBody>
                    <a:bodyPr wrap="square"/>
                    <a:lstStyle/>
                    <a:p>
                      <a:r>
                        <a:rPr sz="1200" b="0">
                          <a:solidFill>
                            <a:srgbClr val="1C2B26"/>
                          </a:solidFill>
                          <a:latin typeface="Arial"/>
                        </a:rPr>
                        <a:t>Queue on the phone, sync later</a:t>
                      </a:r>
                    </a:p>
                  </a:txBody>
                  <a:tcPr marL="73152" marR="73152" marT="27432" marB="27432" anchor="ctr">
                    <a:solidFill>
                      <a:srgbClr val="FFFFFF"/>
                    </a:solidFill>
                  </a:tcPr>
                </a:tc>
              </a:tr>
              <a:tr h="457200">
                <a:tc>
                  <a:txBody>
                    <a:bodyPr wrap="square"/>
                    <a:lstStyle/>
                    <a:p>
                      <a:r>
                        <a:rPr sz="1200" b="1">
                          <a:solidFill>
                            <a:srgbClr val="031B08"/>
                          </a:solidFill>
                          <a:latin typeface="Arial"/>
                        </a:rPr>
                        <a:t>Warehouse API</a:t>
                      </a:r>
                    </a:p>
                  </a:txBody>
                  <a:tcPr marL="73152" marR="73152" marT="27432" marB="27432" anchor="ctr">
                    <a:solidFill>
                      <a:srgbClr val="F1F6F5"/>
                    </a:solidFill>
                  </a:tcPr>
                </a:tc>
                <a:tc>
                  <a:txBody>
                    <a:bodyPr wrap="square"/>
                    <a:lstStyle/>
                    <a:p>
                      <a:r>
                        <a:rPr sz="1200" b="0">
                          <a:solidFill>
                            <a:srgbClr val="1C2B26"/>
                          </a:solidFill>
                          <a:latin typeface="Arial"/>
                        </a:rPr>
                        <a:t>Orders kept as ‘stock not checked’</a:t>
                      </a:r>
                    </a:p>
                  </a:txBody>
                  <a:tcPr marL="73152" marR="73152" marT="27432" marB="27432" anchor="ctr">
                    <a:solidFill>
                      <a:srgbClr val="F1F6F5"/>
                    </a:solidFill>
                  </a:tcPr>
                </a:tc>
              </a:tr>
              <a:tr h="457200">
                <a:tc>
                  <a:txBody>
                    <a:bodyPr wrap="square"/>
                    <a:lstStyle/>
                    <a:p>
                      <a:r>
                        <a:rPr sz="1200" b="1">
                          <a:solidFill>
                            <a:srgbClr val="031B08"/>
                          </a:solidFill>
                          <a:latin typeface="Arial"/>
                        </a:rPr>
                        <a:t>Model service</a:t>
                      </a:r>
                    </a:p>
                  </a:txBody>
                  <a:tcPr marL="73152" marR="73152" marT="27432" marB="27432" anchor="ctr">
                    <a:solidFill>
                      <a:srgbClr val="FFFFFF"/>
                    </a:solidFill>
                  </a:tcPr>
                </a:tc>
                <a:tc>
                  <a:txBody>
                    <a:bodyPr wrap="square"/>
                    <a:lstStyle/>
                    <a:p>
                      <a:r>
                        <a:rPr sz="1200" b="0">
                          <a:solidFill>
                            <a:srgbClr val="1C2B26"/>
                          </a:solidFill>
                          <a:latin typeface="Arial"/>
                        </a:rPr>
                        <a:t>Built-in estimate, labelled</a:t>
                      </a:r>
                    </a:p>
                  </a:txBody>
                  <a:tcPr marL="73152" marR="73152" marT="27432" marB="27432" anchor="ctr">
                    <a:solidFill>
                      <a:srgbClr val="FFFFFF"/>
                    </a:solidFill>
                  </a:tcPr>
                </a:tc>
              </a:tr>
              <a:tr h="457200">
                <a:tc>
                  <a:txBody>
                    <a:bodyPr wrap="square"/>
                    <a:lstStyle/>
                    <a:p>
                      <a:r>
                        <a:rPr sz="1200" b="1">
                          <a:solidFill>
                            <a:srgbClr val="031B08"/>
                          </a:solidFill>
                          <a:latin typeface="Arial"/>
                        </a:rPr>
                        <a:t>Language AI</a:t>
                      </a:r>
                    </a:p>
                  </a:txBody>
                  <a:tcPr marL="73152" marR="73152" marT="27432" marB="27432" anchor="ctr">
                    <a:solidFill>
                      <a:srgbClr val="F1F6F5"/>
                    </a:solidFill>
                  </a:tcPr>
                </a:tc>
                <a:tc>
                  <a:txBody>
                    <a:bodyPr wrap="square"/>
                    <a:lstStyle/>
                    <a:p>
                      <a:r>
                        <a:rPr sz="1200" b="0">
                          <a:solidFill>
                            <a:srgbClr val="1C2B26"/>
                          </a:solidFill>
                          <a:latin typeface="Arial"/>
                        </a:rPr>
                        <a:t>‘Suggestions: rules only’</a:t>
                      </a:r>
                    </a:p>
                  </a:txBody>
                  <a:tcPr marL="73152" marR="73152" marT="27432" marB="27432" anchor="ctr">
                    <a:solidFill>
                      <a:srgbClr val="F1F6F5"/>
                    </a:solidFill>
                  </a:tcPr>
                </a:tc>
              </a:tr>
              <a:tr h="457200">
                <a:tc>
                  <a:txBody>
                    <a:bodyPr wrap="square"/>
                    <a:lstStyle/>
                    <a:p>
                      <a:r>
                        <a:rPr sz="1200" b="1">
                          <a:solidFill>
                            <a:srgbClr val="031B08"/>
                          </a:solidFill>
                          <a:latin typeface="Arial"/>
                        </a:rPr>
                        <a:t>Push service</a:t>
                      </a:r>
                    </a:p>
                  </a:txBody>
                  <a:tcPr marL="73152" marR="73152" marT="27432" marB="27432" anchor="ctr">
                    <a:solidFill>
                      <a:srgbClr val="FFFFFF"/>
                    </a:solidFill>
                  </a:tcPr>
                </a:tc>
                <a:tc>
                  <a:txBody>
                    <a:bodyPr wrap="square"/>
                    <a:lstStyle/>
                    <a:p>
                      <a:r>
                        <a:rPr sz="1200" b="0">
                          <a:solidFill>
                            <a:srgbClr val="1C2B26"/>
                          </a:solidFill>
                          <a:latin typeface="Arial"/>
                        </a:rPr>
                        <a:t>In-app notifications</a:t>
                      </a:r>
                    </a:p>
                  </a:txBody>
                  <a:tcPr marL="73152" marR="73152" marT="27432" marB="27432" anchor="ctr">
                    <a:solidFill>
                      <a:srgbClr val="FFFFFF"/>
                    </a:solidFill>
                  </a:tcPr>
                </a:tc>
              </a:tr>
              <a:tr h="457200">
                <a:tc>
                  <a:txBody>
                    <a:bodyPr wrap="square"/>
                    <a:lstStyle/>
                    <a:p>
                      <a:r>
                        <a:rPr sz="1200" b="1">
                          <a:solidFill>
                            <a:srgbClr val="031B08"/>
                          </a:solidFill>
                          <a:latin typeface="Arial"/>
                        </a:rPr>
                        <a:t>Vehicle breakdown</a:t>
                      </a:r>
                    </a:p>
                  </a:txBody>
                  <a:tcPr marL="73152" marR="73152" marT="27432" marB="27432" anchor="ctr">
                    <a:solidFill>
                      <a:srgbClr val="F1F6F5"/>
                    </a:solidFill>
                  </a:tcPr>
                </a:tc>
                <a:tc>
                  <a:txBody>
                    <a:bodyPr wrap="square"/>
                    <a:lstStyle/>
                    <a:p>
                      <a:r>
                        <a:rPr sz="1200" b="0">
                          <a:solidFill>
                            <a:srgbClr val="1C2B26"/>
                          </a:solidFill>
                          <a:latin typeface="Arial"/>
                        </a:rPr>
                        <a:t>Driver reports it; plan revised</a:t>
                      </a:r>
                    </a:p>
                  </a:txBody>
                  <a:tcPr marL="73152" marR="73152" marT="27432" marB="27432" anchor="ctr">
                    <a:solidFill>
                      <a:srgbClr val="F1F6F5"/>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300"/>
                                  </p:stCondLst>
                                  <p:childTnLst>
                                    <p:cmd type="call" cmd="playFrom(0.0)">
                                      <p:cBhvr>
                                        <p:cTn id="6" dur="9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9"/>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1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1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1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Business case</a:t>
            </a:r>
          </a:p>
        </p:txBody>
      </p:sp>
      <p:sp>
        <p:nvSpPr>
          <p:cNvPr id="5" name="s21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Team estimate from public data, 5 Oct 2026; rows are rounded</a:t>
            </a:r>
          </a:p>
        </p:txBody>
      </p:sp>
      <p:sp>
        <p:nvSpPr>
          <p:cNvPr id="6" name="s21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1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21</a:t>
            </a:r>
          </a:p>
        </p:txBody>
      </p:sp>
      <p:graphicFrame>
        <p:nvGraphicFramePr>
          <p:cNvPr id="8" name="s21 Table 7"/>
          <p:cNvGraphicFramePr>
            <a:graphicFrameLocks noGrp="1"/>
          </p:cNvGraphicFramePr>
          <p:nvPr/>
        </p:nvGraphicFramePr>
        <p:xfrm>
          <a:off x="548640" y="1691640"/>
          <a:ext cx="5897880" cy="3456432"/>
        </p:xfrm>
        <a:graphic>
          <a:graphicData uri="http://schemas.openxmlformats.org/drawingml/2006/table">
            <a:tbl>
              <a:tblPr firstRow="0" bandRow="0">
                <a:tableStyleId>{5C22544A-7EE6-4342-B048-85BDC9FD1C3A}</a:tableStyleId>
              </a:tblPr>
              <a:tblGrid>
                <a:gridCol w="2880360"/>
                <a:gridCol w="1005840"/>
                <a:gridCol w="1005840"/>
                <a:gridCol w="1005840"/>
              </a:tblGrid>
              <a:tr h="384048">
                <a:tc>
                  <a:txBody>
                    <a:bodyPr wrap="square"/>
                    <a:lstStyle/>
                    <a:p>
                      <a:r>
                        <a:rPr sz="1200" b="1">
                          <a:solidFill>
                            <a:srgbClr val="FFFFFF"/>
                          </a:solidFill>
                          <a:latin typeface="Arial"/>
                        </a:rPr>
                        <a:t>LKR million a year</a:t>
                      </a:r>
                    </a:p>
                  </a:txBody>
                  <a:tcPr marL="73152" marR="73152" marT="27432" marB="27432" anchor="ctr">
                    <a:solidFill>
                      <a:srgbClr val="031B08"/>
                    </a:solidFill>
                  </a:tcPr>
                </a:tc>
                <a:tc>
                  <a:txBody>
                    <a:bodyPr wrap="square"/>
                    <a:lstStyle/>
                    <a:p>
                      <a:r>
                        <a:rPr sz="1200" b="1">
                          <a:solidFill>
                            <a:srgbClr val="FFFFFF"/>
                          </a:solidFill>
                          <a:latin typeface="Arial"/>
                        </a:rPr>
                        <a:t>Low</a:t>
                      </a:r>
                    </a:p>
                  </a:txBody>
                  <a:tcPr marL="73152" marR="73152" marT="27432" marB="27432" anchor="ctr">
                    <a:solidFill>
                      <a:srgbClr val="031B08"/>
                    </a:solidFill>
                  </a:tcPr>
                </a:tc>
                <a:tc>
                  <a:txBody>
                    <a:bodyPr wrap="square"/>
                    <a:lstStyle/>
                    <a:p>
                      <a:r>
                        <a:rPr sz="1200" b="1">
                          <a:solidFill>
                            <a:srgbClr val="FFFFFF"/>
                          </a:solidFill>
                          <a:latin typeface="Arial"/>
                        </a:rPr>
                        <a:t>Expected</a:t>
                      </a:r>
                    </a:p>
                  </a:txBody>
                  <a:tcPr marL="73152" marR="73152" marT="27432" marB="27432" anchor="ctr">
                    <a:solidFill>
                      <a:srgbClr val="031B08"/>
                    </a:solidFill>
                  </a:tcPr>
                </a:tc>
                <a:tc>
                  <a:txBody>
                    <a:bodyPr wrap="square"/>
                    <a:lstStyle/>
                    <a:p>
                      <a:r>
                        <a:rPr sz="1200" b="1">
                          <a:solidFill>
                            <a:srgbClr val="FFFFFF"/>
                          </a:solidFill>
                          <a:latin typeface="Arial"/>
                        </a:rPr>
                        <a:t>High</a:t>
                      </a:r>
                    </a:p>
                  </a:txBody>
                  <a:tcPr marL="73152" marR="73152" marT="27432" marB="27432" anchor="ctr">
                    <a:solidFill>
                      <a:srgbClr val="031B08"/>
                    </a:solidFill>
                  </a:tcPr>
                </a:tc>
              </a:tr>
              <a:tr h="384048">
                <a:tc>
                  <a:txBody>
                    <a:bodyPr wrap="square"/>
                    <a:lstStyle/>
                    <a:p>
                      <a:r>
                        <a:rPr sz="1200" b="1">
                          <a:solidFill>
                            <a:srgbClr val="031B08"/>
                          </a:solidFill>
                          <a:latin typeface="Arial"/>
                        </a:rPr>
                        <a:t>Fuel, better loads</a:t>
                      </a:r>
                    </a:p>
                  </a:txBody>
                  <a:tcPr marL="73152" marR="73152" marT="27432" marB="27432" anchor="ctr">
                    <a:solidFill>
                      <a:srgbClr val="FFFFFF"/>
                    </a:solidFill>
                  </a:tcPr>
                </a:tc>
                <a:tc>
                  <a:txBody>
                    <a:bodyPr wrap="square"/>
                    <a:lstStyle/>
                    <a:p>
                      <a:r>
                        <a:rPr sz="1200" b="0">
                          <a:solidFill>
                            <a:srgbClr val="1C2B26"/>
                          </a:solidFill>
                          <a:latin typeface="Arial"/>
                        </a:rPr>
                        <a:t>4.5</a:t>
                      </a:r>
                    </a:p>
                  </a:txBody>
                  <a:tcPr marL="73152" marR="73152" marT="27432" marB="27432" anchor="ctr">
                    <a:solidFill>
                      <a:srgbClr val="FFFFFF"/>
                    </a:solidFill>
                  </a:tcPr>
                </a:tc>
                <a:tc>
                  <a:txBody>
                    <a:bodyPr wrap="square"/>
                    <a:lstStyle/>
                    <a:p>
                      <a:r>
                        <a:rPr sz="1200" b="0">
                          <a:solidFill>
                            <a:srgbClr val="1C2B26"/>
                          </a:solidFill>
                          <a:latin typeface="Arial"/>
                        </a:rPr>
                        <a:t>11.0</a:t>
                      </a:r>
                    </a:p>
                  </a:txBody>
                  <a:tcPr marL="73152" marR="73152" marT="27432" marB="27432" anchor="ctr">
                    <a:solidFill>
                      <a:srgbClr val="FFFFFF"/>
                    </a:solidFill>
                  </a:tcPr>
                </a:tc>
                <a:tc>
                  <a:txBody>
                    <a:bodyPr wrap="square"/>
                    <a:lstStyle/>
                    <a:p>
                      <a:r>
                        <a:rPr sz="1200" b="0">
                          <a:solidFill>
                            <a:srgbClr val="1C2B26"/>
                          </a:solidFill>
                          <a:latin typeface="Arial"/>
                        </a:rPr>
                        <a:t>20.0</a:t>
                      </a:r>
                    </a:p>
                  </a:txBody>
                  <a:tcPr marL="73152" marR="73152" marT="27432" marB="27432" anchor="ctr">
                    <a:solidFill>
                      <a:srgbClr val="FFFFFF"/>
                    </a:solidFill>
                  </a:tcPr>
                </a:tc>
              </a:tr>
              <a:tr h="384048">
                <a:tc>
                  <a:txBody>
                    <a:bodyPr wrap="square"/>
                    <a:lstStyle/>
                    <a:p>
                      <a:r>
                        <a:rPr sz="1200" b="1">
                          <a:solidFill>
                            <a:srgbClr val="031B08"/>
                          </a:solidFill>
                          <a:latin typeface="Arial"/>
                        </a:rPr>
                        <a:t>Fresh before 8 AM</a:t>
                      </a:r>
                    </a:p>
                  </a:txBody>
                  <a:tcPr marL="73152" marR="73152" marT="27432" marB="27432" anchor="ctr">
                    <a:solidFill>
                      <a:srgbClr val="F1F6F5"/>
                    </a:solidFill>
                  </a:tcPr>
                </a:tc>
                <a:tc>
                  <a:txBody>
                    <a:bodyPr wrap="square"/>
                    <a:lstStyle/>
                    <a:p>
                      <a:r>
                        <a:rPr sz="1200" b="0">
                          <a:solidFill>
                            <a:srgbClr val="1C2B26"/>
                          </a:solidFill>
                          <a:latin typeface="Arial"/>
                        </a:rPr>
                        <a:t>2.2</a:t>
                      </a:r>
                    </a:p>
                  </a:txBody>
                  <a:tcPr marL="73152" marR="73152" marT="27432" marB="27432" anchor="ctr">
                    <a:solidFill>
                      <a:srgbClr val="F1F6F5"/>
                    </a:solidFill>
                  </a:tcPr>
                </a:tc>
                <a:tc>
                  <a:txBody>
                    <a:bodyPr wrap="square"/>
                    <a:lstStyle/>
                    <a:p>
                      <a:r>
                        <a:rPr sz="1200" b="0">
                          <a:solidFill>
                            <a:srgbClr val="1C2B26"/>
                          </a:solidFill>
                          <a:latin typeface="Arial"/>
                        </a:rPr>
                        <a:t>6.0</a:t>
                      </a:r>
                    </a:p>
                  </a:txBody>
                  <a:tcPr marL="73152" marR="73152" marT="27432" marB="27432" anchor="ctr">
                    <a:solidFill>
                      <a:srgbClr val="F1F6F5"/>
                    </a:solidFill>
                  </a:tcPr>
                </a:tc>
                <a:tc>
                  <a:txBody>
                    <a:bodyPr wrap="square"/>
                    <a:lstStyle/>
                    <a:p>
                      <a:r>
                        <a:rPr sz="1200" b="0">
                          <a:solidFill>
                            <a:srgbClr val="1C2B26"/>
                          </a:solidFill>
                          <a:latin typeface="Arial"/>
                        </a:rPr>
                        <a:t>13.9</a:t>
                      </a:r>
                    </a:p>
                  </a:txBody>
                  <a:tcPr marL="73152" marR="73152" marT="27432" marB="27432" anchor="ctr">
                    <a:solidFill>
                      <a:srgbClr val="F1F6F5"/>
                    </a:solidFill>
                  </a:tcPr>
                </a:tc>
              </a:tr>
              <a:tr h="384048">
                <a:tc>
                  <a:txBody>
                    <a:bodyPr wrap="square"/>
                    <a:lstStyle/>
                    <a:p>
                      <a:r>
                        <a:rPr sz="1200" b="1">
                          <a:solidFill>
                            <a:srgbClr val="031B08"/>
                          </a:solidFill>
                          <a:latin typeface="Arial"/>
                        </a:rPr>
                        <a:t>Fewer vehicle-days</a:t>
                      </a:r>
                    </a:p>
                  </a:txBody>
                  <a:tcPr marL="73152" marR="73152" marT="27432" marB="27432" anchor="ctr">
                    <a:solidFill>
                      <a:srgbClr val="FFFFFF"/>
                    </a:solidFill>
                  </a:tcPr>
                </a:tc>
                <a:tc>
                  <a:txBody>
                    <a:bodyPr wrap="square"/>
                    <a:lstStyle/>
                    <a:p>
                      <a:r>
                        <a:rPr sz="1200" b="0">
                          <a:solidFill>
                            <a:srgbClr val="1C2B26"/>
                          </a:solidFill>
                          <a:latin typeface="Arial"/>
                        </a:rPr>
                        <a:t>1.4</a:t>
                      </a:r>
                    </a:p>
                  </a:txBody>
                  <a:tcPr marL="73152" marR="73152" marT="27432" marB="27432" anchor="ctr">
                    <a:solidFill>
                      <a:srgbClr val="FFFFFF"/>
                    </a:solidFill>
                  </a:tcPr>
                </a:tc>
                <a:tc>
                  <a:txBody>
                    <a:bodyPr wrap="square"/>
                    <a:lstStyle/>
                    <a:p>
                      <a:r>
                        <a:rPr sz="1200" b="0">
                          <a:solidFill>
                            <a:srgbClr val="1C2B26"/>
                          </a:solidFill>
                          <a:latin typeface="Arial"/>
                        </a:rPr>
                        <a:t>2.7</a:t>
                      </a:r>
                    </a:p>
                  </a:txBody>
                  <a:tcPr marL="73152" marR="73152" marT="27432" marB="27432" anchor="ctr">
                    <a:solidFill>
                      <a:srgbClr val="FFFFFF"/>
                    </a:solidFill>
                  </a:tcPr>
                </a:tc>
                <a:tc>
                  <a:txBody>
                    <a:bodyPr wrap="square"/>
                    <a:lstStyle/>
                    <a:p>
                      <a:r>
                        <a:rPr sz="1200" b="0">
                          <a:solidFill>
                            <a:srgbClr val="1C2B26"/>
                          </a:solidFill>
                          <a:latin typeface="Arial"/>
                        </a:rPr>
                        <a:t>5.4</a:t>
                      </a:r>
                    </a:p>
                  </a:txBody>
                  <a:tcPr marL="73152" marR="73152" marT="27432" marB="27432" anchor="ctr">
                    <a:solidFill>
                      <a:srgbClr val="FFFFFF"/>
                    </a:solidFill>
                  </a:tcPr>
                </a:tc>
              </a:tr>
              <a:tr h="384048">
                <a:tc>
                  <a:txBody>
                    <a:bodyPr wrap="square"/>
                    <a:lstStyle/>
                    <a:p>
                      <a:r>
                        <a:rPr sz="1200" b="1">
                          <a:solidFill>
                            <a:srgbClr val="031B08"/>
                          </a:solidFill>
                          <a:latin typeface="Arial"/>
                        </a:rPr>
                        <a:t>Damaged-goods write-offs</a:t>
                      </a:r>
                    </a:p>
                  </a:txBody>
                  <a:tcPr marL="73152" marR="73152" marT="27432" marB="27432" anchor="ctr">
                    <a:solidFill>
                      <a:srgbClr val="F1F6F5"/>
                    </a:solidFill>
                  </a:tcPr>
                </a:tc>
                <a:tc>
                  <a:txBody>
                    <a:bodyPr wrap="square"/>
                    <a:lstStyle/>
                    <a:p>
                      <a:r>
                        <a:rPr sz="1200" b="0">
                          <a:solidFill>
                            <a:srgbClr val="1C2B26"/>
                          </a:solidFill>
                          <a:latin typeface="Arial"/>
                        </a:rPr>
                        <a:t>1.2</a:t>
                      </a:r>
                    </a:p>
                  </a:txBody>
                  <a:tcPr marL="73152" marR="73152" marT="27432" marB="27432" anchor="ctr">
                    <a:solidFill>
                      <a:srgbClr val="F1F6F5"/>
                    </a:solidFill>
                  </a:tcPr>
                </a:tc>
                <a:tc>
                  <a:txBody>
                    <a:bodyPr wrap="square"/>
                    <a:lstStyle/>
                    <a:p>
                      <a:r>
                        <a:rPr sz="1200" b="0">
                          <a:solidFill>
                            <a:srgbClr val="1C2B26"/>
                          </a:solidFill>
                          <a:latin typeface="Arial"/>
                        </a:rPr>
                        <a:t>2.4</a:t>
                      </a:r>
                    </a:p>
                  </a:txBody>
                  <a:tcPr marL="73152" marR="73152" marT="27432" marB="27432" anchor="ctr">
                    <a:solidFill>
                      <a:srgbClr val="F1F6F5"/>
                    </a:solidFill>
                  </a:tcPr>
                </a:tc>
                <a:tc>
                  <a:txBody>
                    <a:bodyPr wrap="square"/>
                    <a:lstStyle/>
                    <a:p>
                      <a:r>
                        <a:rPr sz="1200" b="0">
                          <a:solidFill>
                            <a:srgbClr val="1C2B26"/>
                          </a:solidFill>
                          <a:latin typeface="Arial"/>
                        </a:rPr>
                        <a:t>3.6</a:t>
                      </a:r>
                    </a:p>
                  </a:txBody>
                  <a:tcPr marL="73152" marR="73152" marT="27432" marB="27432" anchor="ctr">
                    <a:solidFill>
                      <a:srgbClr val="F1F6F5"/>
                    </a:solidFill>
                  </a:tcPr>
                </a:tc>
              </a:tr>
              <a:tr h="384048">
                <a:tc>
                  <a:txBody>
                    <a:bodyPr wrap="square"/>
                    <a:lstStyle/>
                    <a:p>
                      <a:r>
                        <a:rPr sz="1200" b="1">
                          <a:solidFill>
                            <a:srgbClr val="031B08"/>
                          </a:solidFill>
                          <a:latin typeface="Arial"/>
                        </a:rPr>
                        <a:t>Festival hires avoided</a:t>
                      </a:r>
                    </a:p>
                  </a:txBody>
                  <a:tcPr marL="73152" marR="73152" marT="27432" marB="27432" anchor="ctr">
                    <a:solidFill>
                      <a:srgbClr val="FFFFFF"/>
                    </a:solidFill>
                  </a:tcPr>
                </a:tc>
                <a:tc>
                  <a:txBody>
                    <a:bodyPr wrap="square"/>
                    <a:lstStyle/>
                    <a:p>
                      <a:r>
                        <a:rPr sz="1200" b="0">
                          <a:solidFill>
                            <a:srgbClr val="1C2B26"/>
                          </a:solidFill>
                          <a:latin typeface="Arial"/>
                        </a:rPr>
                        <a:t>0.5</a:t>
                      </a:r>
                    </a:p>
                  </a:txBody>
                  <a:tcPr marL="73152" marR="73152" marT="27432" marB="27432" anchor="ctr">
                    <a:solidFill>
                      <a:srgbClr val="FFFFFF"/>
                    </a:solidFill>
                  </a:tcPr>
                </a:tc>
                <a:tc>
                  <a:txBody>
                    <a:bodyPr wrap="square"/>
                    <a:lstStyle/>
                    <a:p>
                      <a:r>
                        <a:rPr sz="1200" b="0">
                          <a:solidFill>
                            <a:srgbClr val="1C2B26"/>
                          </a:solidFill>
                          <a:latin typeface="Arial"/>
                        </a:rPr>
                        <a:t>1.1</a:t>
                      </a:r>
                    </a:p>
                  </a:txBody>
                  <a:tcPr marL="73152" marR="73152" marT="27432" marB="27432" anchor="ctr">
                    <a:solidFill>
                      <a:srgbClr val="FFFFFF"/>
                    </a:solidFill>
                  </a:tcPr>
                </a:tc>
                <a:tc>
                  <a:txBody>
                    <a:bodyPr wrap="square"/>
                    <a:lstStyle/>
                    <a:p>
                      <a:r>
                        <a:rPr sz="1200" b="0">
                          <a:solidFill>
                            <a:srgbClr val="1C2B26"/>
                          </a:solidFill>
                          <a:latin typeface="Arial"/>
                        </a:rPr>
                        <a:t>1.8</a:t>
                      </a:r>
                    </a:p>
                  </a:txBody>
                  <a:tcPr marL="73152" marR="73152" marT="27432" marB="27432" anchor="ctr">
                    <a:solidFill>
                      <a:srgbClr val="FFFFFF"/>
                    </a:solidFill>
                  </a:tcPr>
                </a:tc>
              </a:tr>
              <a:tr h="384048">
                <a:tc>
                  <a:txBody>
                    <a:bodyPr wrap="square"/>
                    <a:lstStyle/>
                    <a:p>
                      <a:r>
                        <a:rPr sz="1200" b="1">
                          <a:solidFill>
                            <a:srgbClr val="031B08"/>
                          </a:solidFill>
                          <a:latin typeface="Arial"/>
                        </a:rPr>
                        <a:t>Fuel-log reconciliation</a:t>
                      </a:r>
                    </a:p>
                  </a:txBody>
                  <a:tcPr marL="73152" marR="73152" marT="27432" marB="27432" anchor="ctr">
                    <a:solidFill>
                      <a:srgbClr val="F1F6F5"/>
                    </a:solidFill>
                  </a:tcPr>
                </a:tc>
                <a:tc>
                  <a:txBody>
                    <a:bodyPr wrap="square"/>
                    <a:lstStyle/>
                    <a:p>
                      <a:r>
                        <a:rPr sz="1200" b="0">
                          <a:solidFill>
                            <a:srgbClr val="1C2B26"/>
                          </a:solidFill>
                          <a:latin typeface="Arial"/>
                        </a:rPr>
                        <a:t>0.5</a:t>
                      </a:r>
                    </a:p>
                  </a:txBody>
                  <a:tcPr marL="73152" marR="73152" marT="27432" marB="27432" anchor="ctr">
                    <a:solidFill>
                      <a:srgbClr val="F1F6F5"/>
                    </a:solidFill>
                  </a:tcPr>
                </a:tc>
                <a:tc>
                  <a:txBody>
                    <a:bodyPr wrap="square"/>
                    <a:lstStyle/>
                    <a:p>
                      <a:r>
                        <a:rPr sz="1200" b="0">
                          <a:solidFill>
                            <a:srgbClr val="1C2B26"/>
                          </a:solidFill>
                          <a:latin typeface="Arial"/>
                        </a:rPr>
                        <a:t>1.1</a:t>
                      </a:r>
                    </a:p>
                  </a:txBody>
                  <a:tcPr marL="73152" marR="73152" marT="27432" marB="27432" anchor="ctr">
                    <a:solidFill>
                      <a:srgbClr val="F1F6F5"/>
                    </a:solidFill>
                  </a:tcPr>
                </a:tc>
                <a:tc>
                  <a:txBody>
                    <a:bodyPr wrap="square"/>
                    <a:lstStyle/>
                    <a:p>
                      <a:r>
                        <a:rPr sz="1200" b="0">
                          <a:solidFill>
                            <a:srgbClr val="1C2B26"/>
                          </a:solidFill>
                          <a:latin typeface="Arial"/>
                        </a:rPr>
                        <a:t>2.7</a:t>
                      </a:r>
                    </a:p>
                  </a:txBody>
                  <a:tcPr marL="73152" marR="73152" marT="27432" marB="27432" anchor="ctr">
                    <a:solidFill>
                      <a:srgbClr val="F1F6F5"/>
                    </a:solidFill>
                  </a:tcPr>
                </a:tc>
              </a:tr>
              <a:tr h="384048">
                <a:tc>
                  <a:txBody>
                    <a:bodyPr wrap="square"/>
                    <a:lstStyle/>
                    <a:p>
                      <a:r>
                        <a:rPr sz="1200" b="1">
                          <a:solidFill>
                            <a:srgbClr val="031B08"/>
                          </a:solidFill>
                          <a:latin typeface="Arial"/>
                        </a:rPr>
                        <a:t>Planning, calls, paperwork, disputes</a:t>
                      </a:r>
                    </a:p>
                  </a:txBody>
                  <a:tcPr marL="73152" marR="73152" marT="27432" marB="27432" anchor="ctr">
                    <a:solidFill>
                      <a:srgbClr val="FFFFFF"/>
                    </a:solidFill>
                  </a:tcPr>
                </a:tc>
                <a:tc>
                  <a:txBody>
                    <a:bodyPr wrap="square"/>
                    <a:lstStyle/>
                    <a:p>
                      <a:r>
                        <a:rPr sz="1200" b="0">
                          <a:solidFill>
                            <a:srgbClr val="1C2B26"/>
                          </a:solidFill>
                          <a:latin typeface="Arial"/>
                        </a:rPr>
                        <a:t>1.2</a:t>
                      </a:r>
                    </a:p>
                  </a:txBody>
                  <a:tcPr marL="73152" marR="73152" marT="27432" marB="27432" anchor="ctr">
                    <a:solidFill>
                      <a:srgbClr val="FFFFFF"/>
                    </a:solidFill>
                  </a:tcPr>
                </a:tc>
                <a:tc>
                  <a:txBody>
                    <a:bodyPr wrap="square"/>
                    <a:lstStyle/>
                    <a:p>
                      <a:r>
                        <a:rPr sz="1200" b="0">
                          <a:solidFill>
                            <a:srgbClr val="1C2B26"/>
                          </a:solidFill>
                          <a:latin typeface="Arial"/>
                        </a:rPr>
                        <a:t>2.3</a:t>
                      </a:r>
                    </a:p>
                  </a:txBody>
                  <a:tcPr marL="73152" marR="73152" marT="27432" marB="27432" anchor="ctr">
                    <a:solidFill>
                      <a:srgbClr val="FFFFFF"/>
                    </a:solidFill>
                  </a:tcPr>
                </a:tc>
                <a:tc>
                  <a:txBody>
                    <a:bodyPr wrap="square"/>
                    <a:lstStyle/>
                    <a:p>
                      <a:r>
                        <a:rPr sz="1200" b="0">
                          <a:solidFill>
                            <a:srgbClr val="1C2B26"/>
                          </a:solidFill>
                          <a:latin typeface="Arial"/>
                        </a:rPr>
                        <a:t>3.5</a:t>
                      </a:r>
                    </a:p>
                  </a:txBody>
                  <a:tcPr marL="73152" marR="73152" marT="27432" marB="27432" anchor="ctr">
                    <a:solidFill>
                      <a:srgbClr val="FFFFFF"/>
                    </a:solidFill>
                  </a:tcPr>
                </a:tc>
              </a:tr>
              <a:tr h="384048">
                <a:tc>
                  <a:txBody>
                    <a:bodyPr wrap="square"/>
                    <a:lstStyle/>
                    <a:p>
                      <a:r>
                        <a:rPr sz="1200" b="1">
                          <a:solidFill>
                            <a:srgbClr val="031B08"/>
                          </a:solidFill>
                          <a:latin typeface="Arial"/>
                        </a:rPr>
                        <a:t>Total</a:t>
                      </a:r>
                    </a:p>
                  </a:txBody>
                  <a:tcPr marL="73152" marR="73152" marT="27432" marB="27432" anchor="ctr">
                    <a:solidFill>
                      <a:srgbClr val="DDEFEC"/>
                    </a:solidFill>
                  </a:tcPr>
                </a:tc>
                <a:tc>
                  <a:txBody>
                    <a:bodyPr wrap="square"/>
                    <a:lstStyle/>
                    <a:p>
                      <a:r>
                        <a:rPr sz="1200" b="0">
                          <a:solidFill>
                            <a:srgbClr val="1C2B26"/>
                          </a:solidFill>
                          <a:latin typeface="Arial"/>
                        </a:rPr>
                        <a:t>11.5</a:t>
                      </a:r>
                    </a:p>
                  </a:txBody>
                  <a:tcPr marL="73152" marR="73152" marT="27432" marB="27432" anchor="ctr">
                    <a:solidFill>
                      <a:srgbClr val="DDEFEC"/>
                    </a:solidFill>
                  </a:tcPr>
                </a:tc>
                <a:tc>
                  <a:txBody>
                    <a:bodyPr wrap="square"/>
                    <a:lstStyle/>
                    <a:p>
                      <a:r>
                        <a:rPr sz="1200" b="0">
                          <a:solidFill>
                            <a:srgbClr val="1C2B26"/>
                          </a:solidFill>
                          <a:latin typeface="Arial"/>
                        </a:rPr>
                        <a:t>26.5</a:t>
                      </a:r>
                    </a:p>
                  </a:txBody>
                  <a:tcPr marL="73152" marR="73152" marT="27432" marB="27432" anchor="ctr">
                    <a:solidFill>
                      <a:srgbClr val="DDEFEC"/>
                    </a:solidFill>
                  </a:tcPr>
                </a:tc>
                <a:tc>
                  <a:txBody>
                    <a:bodyPr wrap="square"/>
                    <a:lstStyle/>
                    <a:p>
                      <a:r>
                        <a:rPr sz="1200" b="0">
                          <a:solidFill>
                            <a:srgbClr val="1C2B26"/>
                          </a:solidFill>
                          <a:latin typeface="Arial"/>
                        </a:rPr>
                        <a:t>50.8</a:t>
                      </a:r>
                    </a:p>
                  </a:txBody>
                  <a:tcPr marL="73152" marR="73152" marT="27432" marB="27432" anchor="ctr">
                    <a:solidFill>
                      <a:srgbClr val="DDEFEC"/>
                    </a:solidFill>
                  </a:tcPr>
                </a:tc>
              </a:tr>
            </a:tbl>
          </a:graphicData>
        </a:graphic>
      </p:graphicFrame>
      <p:graphicFrame>
        <p:nvGraphicFramePr>
          <p:cNvPr id="9" name="s21 Table 8"/>
          <p:cNvGraphicFramePr>
            <a:graphicFrameLocks noGrp="1"/>
          </p:cNvGraphicFramePr>
          <p:nvPr/>
        </p:nvGraphicFramePr>
        <p:xfrm>
          <a:off x="6720840" y="1691640"/>
          <a:ext cx="4919472" cy="2304288"/>
        </p:xfrm>
        <a:graphic>
          <a:graphicData uri="http://schemas.openxmlformats.org/drawingml/2006/table">
            <a:tbl>
              <a:tblPr firstRow="0" bandRow="0">
                <a:tableStyleId>{5C22544A-7EE6-4342-B048-85BDC9FD1C3A}</a:tableStyleId>
              </a:tblPr>
              <a:tblGrid>
                <a:gridCol w="2377440"/>
                <a:gridCol w="2542032"/>
              </a:tblGrid>
              <a:tr h="384048">
                <a:tc>
                  <a:txBody>
                    <a:bodyPr wrap="square"/>
                    <a:lstStyle/>
                    <a:p>
                      <a:r>
                        <a:rPr sz="1200" b="1">
                          <a:solidFill>
                            <a:srgbClr val="FFFFFF"/>
                          </a:solidFill>
                          <a:latin typeface="Arial"/>
                        </a:rPr>
                        <a:t>Option, 3 years</a:t>
                      </a:r>
                    </a:p>
                  </a:txBody>
                  <a:tcPr marL="73152" marR="73152" marT="27432" marB="27432" anchor="ctr">
                    <a:solidFill>
                      <a:srgbClr val="031B08"/>
                    </a:solidFill>
                  </a:tcPr>
                </a:tc>
                <a:tc>
                  <a:txBody>
                    <a:bodyPr wrap="square"/>
                    <a:lstStyle/>
                    <a:p>
                      <a:r>
                        <a:rPr sz="1200" b="1">
                          <a:solidFill>
                            <a:srgbClr val="FFFFFF"/>
                          </a:solidFill>
                          <a:latin typeface="Arial"/>
                        </a:rPr>
                        <a:t>Cost and gap</a:t>
                      </a:r>
                    </a:p>
                  </a:txBody>
                  <a:tcPr marL="73152" marR="73152" marT="27432" marB="27432" anchor="ctr">
                    <a:solidFill>
                      <a:srgbClr val="031B08"/>
                    </a:solidFill>
                  </a:tcPr>
                </a:tc>
              </a:tr>
              <a:tr h="384048">
                <a:tc>
                  <a:txBody>
                    <a:bodyPr wrap="square"/>
                    <a:lstStyle/>
                    <a:p>
                      <a:r>
                        <a:rPr sz="1200" b="1">
                          <a:solidFill>
                            <a:srgbClr val="031B08"/>
                          </a:solidFill>
                          <a:latin typeface="Arial"/>
                        </a:rPr>
                        <a:t>Waypoint GO</a:t>
                      </a:r>
                    </a:p>
                  </a:txBody>
                  <a:tcPr marL="73152" marR="73152" marT="27432" marB="27432" anchor="ctr">
                    <a:solidFill>
                      <a:srgbClr val="DDEFEC"/>
                    </a:solidFill>
                  </a:tcPr>
                </a:tc>
                <a:tc>
                  <a:txBody>
                    <a:bodyPr wrap="square"/>
                    <a:lstStyle/>
                    <a:p>
                      <a:r>
                        <a:rPr sz="1200" b="0">
                          <a:solidFill>
                            <a:srgbClr val="1C2B26"/>
                          </a:solidFill>
                          <a:latin typeface="Arial"/>
                        </a:rPr>
                        <a:t>≈ LKR 20.3m all-in; full scope</a:t>
                      </a:r>
                    </a:p>
                  </a:txBody>
                  <a:tcPr marL="73152" marR="73152" marT="27432" marB="27432" anchor="ctr">
                    <a:solidFill>
                      <a:srgbClr val="DDEFEC"/>
                    </a:solidFill>
                  </a:tcPr>
                </a:tc>
              </a:tr>
              <a:tr h="384048">
                <a:tc>
                  <a:txBody>
                    <a:bodyPr wrap="square"/>
                    <a:lstStyle/>
                    <a:p>
                      <a:r>
                        <a:rPr sz="1200" b="1">
                          <a:solidFill>
                            <a:srgbClr val="031B08"/>
                          </a:solidFill>
                          <a:latin typeface="Arial"/>
                        </a:rPr>
                        <a:t>Routific</a:t>
                      </a:r>
                    </a:p>
                  </a:txBody>
                  <a:tcPr marL="73152" marR="73152" marT="27432" marB="27432" anchor="ctr">
                    <a:solidFill>
                      <a:srgbClr val="F1F6F5"/>
                    </a:solidFill>
                  </a:tcPr>
                </a:tc>
                <a:tc>
                  <a:txBody>
                    <a:bodyPr wrap="square"/>
                    <a:lstStyle/>
                    <a:p>
                      <a:r>
                        <a:rPr sz="1200" b="0">
                          <a:solidFill>
                            <a:srgbClr val="1C2B26"/>
                          </a:solidFill>
                          <a:latin typeface="Arial"/>
                        </a:rPr>
                        <a:t>LKR 6.6–8.5m; route planning only</a:t>
                      </a:r>
                    </a:p>
                  </a:txBody>
                  <a:tcPr marL="73152" marR="73152" marT="27432" marB="27432" anchor="ctr">
                    <a:solidFill>
                      <a:srgbClr val="F1F6F5"/>
                    </a:solidFill>
                  </a:tcPr>
                </a:tc>
              </a:tr>
              <a:tr h="384048">
                <a:tc>
                  <a:txBody>
                    <a:bodyPr wrap="square"/>
                    <a:lstStyle/>
                    <a:p>
                      <a:r>
                        <a:rPr sz="1200" b="1">
                          <a:solidFill>
                            <a:srgbClr val="031B08"/>
                          </a:solidFill>
                          <a:latin typeface="Arial"/>
                        </a:rPr>
                        <a:t>Shipday</a:t>
                      </a:r>
                    </a:p>
                  </a:txBody>
                  <a:tcPr marL="73152" marR="73152" marT="27432" marB="27432" anchor="ctr">
                    <a:solidFill>
                      <a:srgbClr val="FFFFFF"/>
                    </a:solidFill>
                  </a:tcPr>
                </a:tc>
                <a:tc>
                  <a:txBody>
                    <a:bodyPr wrap="square"/>
                    <a:lstStyle/>
                    <a:p>
                      <a:r>
                        <a:rPr sz="1200" b="0">
                          <a:solidFill>
                            <a:srgbClr val="1C2B26"/>
                          </a:solidFill>
                          <a:latin typeface="Arial"/>
                        </a:rPr>
                        <a:t>≈ LKR 19.4m; gaps below</a:t>
                      </a:r>
                    </a:p>
                  </a:txBody>
                  <a:tcPr marL="73152" marR="73152" marT="27432" marB="27432" anchor="ctr">
                    <a:solidFill>
                      <a:srgbClr val="FFFFFF"/>
                    </a:solidFill>
                  </a:tcPr>
                </a:tc>
              </a:tr>
              <a:tr h="384048">
                <a:tc>
                  <a:txBody>
                    <a:bodyPr wrap="square"/>
                    <a:lstStyle/>
                    <a:p>
                      <a:r>
                        <a:rPr sz="1200" b="1">
                          <a:solidFill>
                            <a:srgbClr val="031B08"/>
                          </a:solidFill>
                          <a:latin typeface="Arial"/>
                        </a:rPr>
                        <a:t>Onfleet Enterprise</a:t>
                      </a:r>
                    </a:p>
                  </a:txBody>
                  <a:tcPr marL="73152" marR="73152" marT="27432" marB="27432" anchor="ctr">
                    <a:solidFill>
                      <a:srgbClr val="F1F6F5"/>
                    </a:solidFill>
                  </a:tcPr>
                </a:tc>
                <a:tc>
                  <a:txBody>
                    <a:bodyPr wrap="square"/>
                    <a:lstStyle/>
                    <a:p>
                      <a:r>
                        <a:rPr sz="1200" b="0">
                          <a:solidFill>
                            <a:srgbClr val="1C2B26"/>
                          </a:solidFill>
                          <a:latin typeface="Arial"/>
                        </a:rPr>
                        <a:t>LKR 36.7m+; gaps below</a:t>
                      </a:r>
                    </a:p>
                  </a:txBody>
                  <a:tcPr marL="73152" marR="73152" marT="27432" marB="27432" anchor="ctr">
                    <a:solidFill>
                      <a:srgbClr val="F1F6F5"/>
                    </a:solidFill>
                  </a:tcPr>
                </a:tc>
              </a:tr>
              <a:tr h="384048">
                <a:tc>
                  <a:txBody>
                    <a:bodyPr wrap="square"/>
                    <a:lstStyle/>
                    <a:p>
                      <a:r>
                        <a:rPr sz="1200" b="1">
                          <a:solidFill>
                            <a:srgbClr val="031B08"/>
                          </a:solidFill>
                          <a:latin typeface="Arial"/>
                        </a:rPr>
                        <a:t>Track-POD</a:t>
                      </a:r>
                    </a:p>
                  </a:txBody>
                  <a:tcPr marL="73152" marR="73152" marT="27432" marB="27432" anchor="ctr">
                    <a:solidFill>
                      <a:srgbClr val="FFFFFF"/>
                    </a:solidFill>
                  </a:tcPr>
                </a:tc>
                <a:tc>
                  <a:txBody>
                    <a:bodyPr wrap="square"/>
                    <a:lstStyle/>
                    <a:p>
                      <a:r>
                        <a:rPr sz="1200" b="0">
                          <a:solidFill>
                            <a:srgbClr val="1C2B26"/>
                          </a:solidFill>
                          <a:latin typeface="Arial"/>
                        </a:rPr>
                        <a:t>LKR 34.8–63.0m; gaps below</a:t>
                      </a:r>
                    </a:p>
                  </a:txBody>
                  <a:tcPr marL="73152" marR="73152" marT="27432" marB="27432" anchor="ctr">
                    <a:solidFill>
                      <a:srgbClr val="FFFFFF"/>
                    </a:solidFill>
                  </a:tcPr>
                </a:tc>
              </a:tr>
            </a:tbl>
          </a:graphicData>
        </a:graphic>
      </p:graphicFrame>
      <p:sp>
        <p:nvSpPr>
          <p:cNvPr id="10" name="s21 TextBox 9"/>
          <p:cNvSpPr txBox="1"/>
          <p:nvPr/>
        </p:nvSpPr>
        <p:spPr>
          <a:xfrm>
            <a:off x="6720840" y="4114800"/>
            <a:ext cx="4919472" cy="1097280"/>
          </a:xfrm>
          <a:prstGeom prst="rect">
            <a:avLst/>
          </a:prstGeom>
          <a:noFill/>
        </p:spPr>
        <p:txBody>
          <a:bodyPr wrap="square" lIns="0" rIns="0" tIns="0" bIns="0" anchor="t">
            <a:spAutoFit/>
          </a:bodyPr>
          <a:lstStyle/>
          <a:p>
            <a:pPr algn="l">
              <a:lnSpc>
                <a:spcPct val="110000"/>
              </a:lnSpc>
            </a:pPr>
            <a:r>
              <a:rPr sz="1150" b="0" i="0">
                <a:solidFill>
                  <a:srgbClr val="4C5851"/>
                </a:solidFill>
                <a:latin typeface="Arial"/>
              </a:rPr>
              <a:t>Every bought option also needs ≈ LKR 6.2m of integration, and none covers multi-brand allocation with explained deferrals, reefer/van/mall rules, offline Sinhala and Tamil, store receipt and disputes, the Fuel Pass quota, or data kept in Sri Lanka.</a:t>
            </a:r>
          </a:p>
        </p:txBody>
      </p:sp>
      <p:sp>
        <p:nvSpPr>
          <p:cNvPr id="11" name="s21 Rounded Rectangle 10"/>
          <p:cNvSpPr/>
          <p:nvPr/>
        </p:nvSpPr>
        <p:spPr>
          <a:xfrm>
            <a:off x="548640" y="5349240"/>
            <a:ext cx="11094415" cy="868680"/>
          </a:xfrm>
          <a:prstGeom prst="roundRect">
            <a:avLst>
              <a:gd name="adj" fmla="val 16842"/>
            </a:avLst>
          </a:prstGeom>
          <a:solidFill>
            <a:srgbClr val="DDEFEC"/>
          </a:solidFill>
          <a:ln>
            <a:noFill/>
          </a:ln>
          <a:effectLst/>
        </p:spPr>
        <p:txBody>
          <a:bodyPr rtlCol="0" anchor="ctr"/>
          <a:lstStyle/>
          <a:p/>
        </p:txBody>
      </p:sp>
      <p:sp>
        <p:nvSpPr>
          <p:cNvPr id="12" name="s21 TextBox 11"/>
          <p:cNvSpPr txBox="1"/>
          <p:nvPr/>
        </p:nvSpPr>
        <p:spPr>
          <a:xfrm>
            <a:off x="822959" y="5349240"/>
            <a:ext cx="10545775" cy="868680"/>
          </a:xfrm>
          <a:prstGeom prst="rect">
            <a:avLst/>
          </a:prstGeom>
          <a:noFill/>
        </p:spPr>
        <p:txBody>
          <a:bodyPr wrap="square" lIns="0" rIns="0" tIns="0" bIns="0" anchor="ctr">
            <a:spAutoFit/>
          </a:bodyPr>
          <a:lstStyle/>
          <a:p>
            <a:pPr algn="l">
              <a:lnSpc>
                <a:spcPct val="110000"/>
              </a:lnSpc>
            </a:pPr>
            <a:r>
              <a:rPr sz="1250" b="1" i="0">
                <a:solidFill>
                  <a:srgbClr val="031B08"/>
                </a:solidFill>
                <a:latin typeface="Arial"/>
              </a:rPr>
              <a:t>Costs: </a:t>
            </a:r>
            <a:r>
              <a:rPr sz="1250" b="0" i="0">
                <a:solidFill>
                  <a:srgbClr val="1C2B26"/>
                </a:solidFill>
                <a:latin typeface="Arial"/>
              </a:rPr>
              <a:t>build LKR 8.2–11.8m · run ≈ LKR 19,000 a month · maintain ≈ LKR 3.3m a year · 3-year total ≈ LKR 20.3m · payback 11 / 5 / 3 months (low / expected / high) · 3-year value ≈ 3.9× cost; expected net gain ≈ LKR 59m</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2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2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2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Rollout plan and risks</a:t>
            </a:r>
          </a:p>
        </p:txBody>
      </p:sp>
      <p:sp>
        <p:nvSpPr>
          <p:cNvPr id="5" name="s22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22 weeks with 4 engineers; the critical path is collecting real outcomes, not code</a:t>
            </a:r>
          </a:p>
        </p:txBody>
      </p:sp>
      <p:sp>
        <p:nvSpPr>
          <p:cNvPr id="6" name="s22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2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22</a:t>
            </a:r>
          </a:p>
        </p:txBody>
      </p:sp>
      <p:graphicFrame>
        <p:nvGraphicFramePr>
          <p:cNvPr id="8" name="s22 Table 7"/>
          <p:cNvGraphicFramePr>
            <a:graphicFrameLocks noGrp="1"/>
          </p:cNvGraphicFramePr>
          <p:nvPr/>
        </p:nvGraphicFramePr>
        <p:xfrm>
          <a:off x="548640" y="1691640"/>
          <a:ext cx="5760720" cy="3291840"/>
        </p:xfrm>
        <a:graphic>
          <a:graphicData uri="http://schemas.openxmlformats.org/drawingml/2006/table">
            <a:tbl>
              <a:tblPr firstRow="0" bandRow="0">
                <a:tableStyleId>{5C22544A-7EE6-4342-B048-85BDC9FD1C3A}</a:tableStyleId>
              </a:tblPr>
              <a:tblGrid>
                <a:gridCol w="1371600"/>
                <a:gridCol w="4389120"/>
              </a:tblGrid>
              <a:tr h="365760">
                <a:tc>
                  <a:txBody>
                    <a:bodyPr wrap="square"/>
                    <a:lstStyle/>
                    <a:p>
                      <a:r>
                        <a:rPr sz="1150" b="1">
                          <a:solidFill>
                            <a:srgbClr val="FFFFFF"/>
                          </a:solidFill>
                          <a:latin typeface="Arial"/>
                        </a:rPr>
                        <a:t>Weeks</a:t>
                      </a:r>
                    </a:p>
                  </a:txBody>
                  <a:tcPr marL="73152" marR="73152" marT="27432" marB="27432" anchor="ctr">
                    <a:solidFill>
                      <a:srgbClr val="031B08"/>
                    </a:solidFill>
                  </a:tcPr>
                </a:tc>
                <a:tc>
                  <a:txBody>
                    <a:bodyPr wrap="square"/>
                    <a:lstStyle/>
                    <a:p>
                      <a:r>
                        <a:rPr sz="1150" b="1">
                          <a:solidFill>
                            <a:srgbClr val="FFFFFF"/>
                          </a:solidFill>
                          <a:latin typeface="Arial"/>
                        </a:rPr>
                        <a:t>Work</a:t>
                      </a:r>
                    </a:p>
                  </a:txBody>
                  <a:tcPr marL="73152" marR="73152" marT="27432" marB="27432" anchor="ctr">
                    <a:solidFill>
                      <a:srgbClr val="031B08"/>
                    </a:solidFill>
                  </a:tcPr>
                </a:tc>
              </a:tr>
              <a:tr h="365760">
                <a:tc>
                  <a:txBody>
                    <a:bodyPr wrap="square"/>
                    <a:lstStyle/>
                    <a:p>
                      <a:r>
                        <a:rPr sz="1150" b="1">
                          <a:solidFill>
                            <a:srgbClr val="031B08"/>
                          </a:solidFill>
                          <a:latin typeface="Arial"/>
                        </a:rPr>
                        <a:t>1</a:t>
                      </a:r>
                    </a:p>
                  </a:txBody>
                  <a:tcPr marL="73152" marR="73152" marT="27432" marB="27432" anchor="ctr">
                    <a:solidFill>
                      <a:srgbClr val="FFFFFF"/>
                    </a:solidFill>
                  </a:tcPr>
                </a:tc>
                <a:tc>
                  <a:txBody>
                    <a:bodyPr wrap="square"/>
                    <a:lstStyle/>
                    <a:p>
                      <a:r>
                        <a:rPr sz="1150" b="0">
                          <a:solidFill>
                            <a:srgbClr val="1C2B26"/>
                          </a:solidFill>
                          <a:latin typeface="Arial"/>
                        </a:rPr>
                        <a:t>Hygiene and safety: secrets, backups, restore drill</a:t>
                      </a:r>
                    </a:p>
                  </a:txBody>
                  <a:tcPr marL="73152" marR="73152" marT="27432" marB="27432" anchor="ctr">
                    <a:solidFill>
                      <a:srgbClr val="FFFFFF"/>
                    </a:solidFill>
                  </a:tcPr>
                </a:tc>
              </a:tr>
              <a:tr h="365760">
                <a:tc>
                  <a:txBody>
                    <a:bodyPr wrap="square"/>
                    <a:lstStyle/>
                    <a:p>
                      <a:r>
                        <a:rPr sz="1150" b="1">
                          <a:solidFill>
                            <a:srgbClr val="031B08"/>
                          </a:solidFill>
                          <a:latin typeface="Arial"/>
                        </a:rPr>
                        <a:t>2–3</a:t>
                      </a:r>
                    </a:p>
                  </a:txBody>
                  <a:tcPr marL="73152" marR="73152" marT="27432" marB="27432" anchor="ctr">
                    <a:solidFill>
                      <a:srgbClr val="F1F6F5"/>
                    </a:solidFill>
                  </a:tcPr>
                </a:tc>
                <a:tc>
                  <a:txBody>
                    <a:bodyPr wrap="square"/>
                    <a:lstStyle/>
                    <a:p>
                      <a:r>
                        <a:rPr sz="1150" b="0">
                          <a:solidFill>
                            <a:srgbClr val="1C2B26"/>
                          </a:solidFill>
                          <a:latin typeface="Arial"/>
                        </a:rPr>
                        <a:t>Baseline: today’s KPIs measured</a:t>
                      </a:r>
                    </a:p>
                  </a:txBody>
                  <a:tcPr marL="73152" marR="73152" marT="27432" marB="27432" anchor="ctr">
                    <a:solidFill>
                      <a:srgbClr val="F1F6F5"/>
                    </a:solidFill>
                  </a:tcPr>
                </a:tc>
              </a:tr>
              <a:tr h="365760">
                <a:tc>
                  <a:txBody>
                    <a:bodyPr wrap="square"/>
                    <a:lstStyle/>
                    <a:p>
                      <a:r>
                        <a:rPr sz="1150" b="1">
                          <a:solidFill>
                            <a:srgbClr val="031B08"/>
                          </a:solidFill>
                          <a:latin typeface="Arial"/>
                        </a:rPr>
                        <a:t>3–5</a:t>
                      </a:r>
                    </a:p>
                  </a:txBody>
                  <a:tcPr marL="73152" marR="73152" marT="27432" marB="27432" anchor="ctr">
                    <a:solidFill>
                      <a:srgbClr val="FFFFFF"/>
                    </a:solidFill>
                  </a:tcPr>
                </a:tc>
                <a:tc>
                  <a:txBody>
                    <a:bodyPr wrap="square"/>
                    <a:lstStyle/>
                    <a:p>
                      <a:r>
                        <a:rPr sz="1150" b="0">
                          <a:solidFill>
                            <a:srgbClr val="1C2B26"/>
                          </a:solidFill>
                          <a:latin typeface="Arial"/>
                        </a:rPr>
                        <a:t>Quick wins: early capacity plan</a:t>
                      </a:r>
                    </a:p>
                  </a:txBody>
                  <a:tcPr marL="73152" marR="73152" marT="27432" marB="27432" anchor="ctr">
                    <a:solidFill>
                      <a:srgbClr val="FFFFFF"/>
                    </a:solidFill>
                  </a:tcPr>
                </a:tc>
              </a:tr>
              <a:tr h="365760">
                <a:tc>
                  <a:txBody>
                    <a:bodyPr wrap="square"/>
                    <a:lstStyle/>
                    <a:p>
                      <a:r>
                        <a:rPr sz="1150" b="1">
                          <a:solidFill>
                            <a:srgbClr val="031B08"/>
                          </a:solidFill>
                          <a:latin typeface="Arial"/>
                        </a:rPr>
                        <a:t>5–9</a:t>
                      </a:r>
                    </a:p>
                  </a:txBody>
                  <a:tcPr marL="73152" marR="73152" marT="27432" marB="27432" anchor="ctr">
                    <a:solidFill>
                      <a:srgbClr val="F1F6F5"/>
                    </a:solidFill>
                  </a:tcPr>
                </a:tc>
                <a:tc>
                  <a:txBody>
                    <a:bodyPr wrap="square"/>
                    <a:lstStyle/>
                    <a:p>
                      <a:r>
                        <a:rPr sz="1150" b="0">
                          <a:solidFill>
                            <a:srgbClr val="1C2B26"/>
                          </a:solidFill>
                          <a:latin typeface="Arial"/>
                        </a:rPr>
                        <a:t>Foundation fixes</a:t>
                      </a:r>
                    </a:p>
                  </a:txBody>
                  <a:tcPr marL="73152" marR="73152" marT="27432" marB="27432" anchor="ctr">
                    <a:solidFill>
                      <a:srgbClr val="F1F6F5"/>
                    </a:solidFill>
                  </a:tcPr>
                </a:tc>
              </a:tr>
              <a:tr h="365760">
                <a:tc>
                  <a:txBody>
                    <a:bodyPr wrap="square"/>
                    <a:lstStyle/>
                    <a:p>
                      <a:r>
                        <a:rPr sz="1150" b="1">
                          <a:solidFill>
                            <a:srgbClr val="031B08"/>
                          </a:solidFill>
                          <a:latin typeface="Arial"/>
                        </a:rPr>
                        <a:t>6–13</a:t>
                      </a:r>
                    </a:p>
                  </a:txBody>
                  <a:tcPr marL="73152" marR="73152" marT="27432" marB="27432" anchor="ctr">
                    <a:solidFill>
                      <a:srgbClr val="DDEFEC"/>
                    </a:solidFill>
                  </a:tcPr>
                </a:tc>
                <a:tc>
                  <a:txBody>
                    <a:bodyPr wrap="square"/>
                    <a:lstStyle/>
                    <a:p>
                      <a:r>
                        <a:rPr sz="1150" b="0">
                          <a:solidFill>
                            <a:srgbClr val="1C2B26"/>
                          </a:solidFill>
                          <a:latin typeface="Arial"/>
                        </a:rPr>
                        <a:t>Kandy pilot: 4 weeks shadow, 4 weeks live</a:t>
                      </a:r>
                    </a:p>
                  </a:txBody>
                  <a:tcPr marL="73152" marR="73152" marT="27432" marB="27432" anchor="ctr">
                    <a:solidFill>
                      <a:srgbClr val="DDEFEC"/>
                    </a:solidFill>
                  </a:tcPr>
                </a:tc>
              </a:tr>
              <a:tr h="365760">
                <a:tc>
                  <a:txBody>
                    <a:bodyPr wrap="square"/>
                    <a:lstStyle/>
                    <a:p>
                      <a:r>
                        <a:rPr sz="1150" b="1">
                          <a:solidFill>
                            <a:srgbClr val="031B08"/>
                          </a:solidFill>
                          <a:latin typeface="Arial"/>
                        </a:rPr>
                        <a:t>10–17</a:t>
                      </a:r>
                    </a:p>
                  </a:txBody>
                  <a:tcPr marL="73152" marR="73152" marT="27432" marB="27432" anchor="ctr">
                    <a:solidFill>
                      <a:srgbClr val="F1F6F5"/>
                    </a:solidFill>
                  </a:tcPr>
                </a:tc>
                <a:tc>
                  <a:txBody>
                    <a:bodyPr wrap="square"/>
                    <a:lstStyle/>
                    <a:p>
                      <a:r>
                        <a:rPr sz="1150" b="0">
                          <a:solidFill>
                            <a:srgbClr val="1C2B26"/>
                          </a:solidFill>
                          <a:latin typeface="Arial"/>
                        </a:rPr>
                        <a:t>Field features</a:t>
                      </a:r>
                    </a:p>
                  </a:txBody>
                  <a:tcPr marL="73152" marR="73152" marT="27432" marB="27432" anchor="ctr">
                    <a:solidFill>
                      <a:srgbClr val="F1F6F5"/>
                    </a:solidFill>
                  </a:tcPr>
                </a:tc>
              </a:tr>
              <a:tr h="365760">
                <a:tc>
                  <a:txBody>
                    <a:bodyPr wrap="square"/>
                    <a:lstStyle/>
                    <a:p>
                      <a:r>
                        <a:rPr sz="1150" b="1">
                          <a:solidFill>
                            <a:srgbClr val="031B08"/>
                          </a:solidFill>
                          <a:latin typeface="Arial"/>
                        </a:rPr>
                        <a:t>≈ 19</a:t>
                      </a:r>
                    </a:p>
                  </a:txBody>
                  <a:tcPr marL="73152" marR="73152" marT="27432" marB="27432" anchor="ctr">
                    <a:solidFill>
                      <a:srgbClr val="FFFFFF"/>
                    </a:solidFill>
                  </a:tcPr>
                </a:tc>
                <a:tc>
                  <a:txBody>
                    <a:bodyPr wrap="square"/>
                    <a:lstStyle/>
                    <a:p>
                      <a:r>
                        <a:rPr sz="1150" b="0">
                          <a:solidFill>
                            <a:srgbClr val="1C2B26"/>
                          </a:solidFill>
                          <a:latin typeface="Arial"/>
                        </a:rPr>
                        <a:t>Model trust gates on real deliveries</a:t>
                      </a:r>
                    </a:p>
                  </a:txBody>
                  <a:tcPr marL="73152" marR="73152" marT="27432" marB="27432" anchor="ctr">
                    <a:solidFill>
                      <a:srgbClr val="FFFFFF"/>
                    </a:solidFill>
                  </a:tcPr>
                </a:tc>
              </a:tr>
              <a:tr h="365760">
                <a:tc>
                  <a:txBody>
                    <a:bodyPr wrap="square"/>
                    <a:lstStyle/>
                    <a:p>
                      <a:r>
                        <a:rPr sz="1150" b="1">
                          <a:solidFill>
                            <a:srgbClr val="031B08"/>
                          </a:solidFill>
                          <a:latin typeface="Arial"/>
                        </a:rPr>
                        <a:t>17–22</a:t>
                      </a:r>
                    </a:p>
                  </a:txBody>
                  <a:tcPr marL="73152" marR="73152" marT="27432" marB="27432" anchor="ctr">
                    <a:solidFill>
                      <a:srgbClr val="F1F6F5"/>
                    </a:solidFill>
                  </a:tcPr>
                </a:tc>
                <a:tc>
                  <a:txBody>
                    <a:bodyPr wrap="square"/>
                    <a:lstStyle/>
                    <a:p>
                      <a:r>
                        <a:rPr sz="1150" b="0">
                          <a:solidFill>
                            <a:srgbClr val="1C2B26"/>
                          </a:solidFill>
                          <a:latin typeface="Arial"/>
                        </a:rPr>
                        <a:t>AI features, after go/no-go and data agreements</a:t>
                      </a:r>
                    </a:p>
                  </a:txBody>
                  <a:tcPr marL="73152" marR="73152" marT="27432" marB="27432" anchor="ctr">
                    <a:solidFill>
                      <a:srgbClr val="F1F6F5"/>
                    </a:solidFill>
                  </a:tcPr>
                </a:tc>
              </a:tr>
            </a:tbl>
          </a:graphicData>
        </a:graphic>
      </p:graphicFrame>
      <p:graphicFrame>
        <p:nvGraphicFramePr>
          <p:cNvPr id="9" name="s22 Table 8"/>
          <p:cNvGraphicFramePr>
            <a:graphicFrameLocks noGrp="1"/>
          </p:cNvGraphicFramePr>
          <p:nvPr/>
        </p:nvGraphicFramePr>
        <p:xfrm>
          <a:off x="6583680" y="1691640"/>
          <a:ext cx="5056632" cy="2852928"/>
        </p:xfrm>
        <a:graphic>
          <a:graphicData uri="http://schemas.openxmlformats.org/drawingml/2006/table">
            <a:tbl>
              <a:tblPr firstRow="0" bandRow="0">
                <a:tableStyleId>{5C22544A-7EE6-4342-B048-85BDC9FD1C3A}</a:tableStyleId>
              </a:tblPr>
              <a:tblGrid>
                <a:gridCol w="1783080"/>
                <a:gridCol w="3273552"/>
              </a:tblGrid>
              <a:tr h="475488">
                <a:tc>
                  <a:txBody>
                    <a:bodyPr wrap="square"/>
                    <a:lstStyle/>
                    <a:p>
                      <a:r>
                        <a:rPr sz="1150" b="1">
                          <a:solidFill>
                            <a:srgbClr val="FFFFFF"/>
                          </a:solidFill>
                          <a:latin typeface="Arial"/>
                        </a:rPr>
                        <a:t>Risk</a:t>
                      </a:r>
                    </a:p>
                  </a:txBody>
                  <a:tcPr marL="73152" marR="73152" marT="27432" marB="27432" anchor="ctr">
                    <a:solidFill>
                      <a:srgbClr val="031B08"/>
                    </a:solidFill>
                  </a:tcPr>
                </a:tc>
                <a:tc>
                  <a:txBody>
                    <a:bodyPr wrap="square"/>
                    <a:lstStyle/>
                    <a:p>
                      <a:r>
                        <a:rPr sz="1150" b="1">
                          <a:solidFill>
                            <a:srgbClr val="FFFFFF"/>
                          </a:solidFill>
                          <a:latin typeface="Arial"/>
                        </a:rPr>
                        <a:t>Answer</a:t>
                      </a:r>
                    </a:p>
                  </a:txBody>
                  <a:tcPr marL="73152" marR="73152" marT="27432" marB="27432" anchor="ctr">
                    <a:solidFill>
                      <a:srgbClr val="031B08"/>
                    </a:solidFill>
                  </a:tcPr>
                </a:tc>
              </a:tr>
              <a:tr h="475488">
                <a:tc>
                  <a:txBody>
                    <a:bodyPr wrap="square"/>
                    <a:lstStyle/>
                    <a:p>
                      <a:r>
                        <a:rPr sz="1150" b="1">
                          <a:solidFill>
                            <a:srgbClr val="031B08"/>
                          </a:solidFill>
                          <a:latin typeface="Arial"/>
                        </a:rPr>
                        <a:t>Drivers don’t adopt</a:t>
                      </a:r>
                    </a:p>
                  </a:txBody>
                  <a:tcPr marL="73152" marR="73152" marT="27432" marB="27432" anchor="ctr">
                    <a:solidFill>
                      <a:srgbClr val="FFFFFF"/>
                    </a:solidFill>
                  </a:tcPr>
                </a:tc>
                <a:tc>
                  <a:txBody>
                    <a:bodyPr wrap="square"/>
                    <a:lstStyle/>
                    <a:p>
                      <a:r>
                        <a:rPr sz="1150" b="0">
                          <a:solidFill>
                            <a:srgbClr val="1C2B26"/>
                          </a:solidFill>
                          <a:latin typeface="Arial"/>
                        </a:rPr>
                        <a:t>Depot champion, induction card, paper fallback</a:t>
                      </a:r>
                    </a:p>
                  </a:txBody>
                  <a:tcPr marL="73152" marR="73152" marT="27432" marB="27432" anchor="ctr">
                    <a:solidFill>
                      <a:srgbClr val="FFFFFF"/>
                    </a:solidFill>
                  </a:tcPr>
                </a:tc>
              </a:tr>
              <a:tr h="475488">
                <a:tc>
                  <a:txBody>
                    <a:bodyPr wrap="square"/>
                    <a:lstStyle/>
                    <a:p>
                      <a:r>
                        <a:rPr sz="1150" b="1">
                          <a:solidFill>
                            <a:srgbClr val="031B08"/>
                          </a:solidFill>
                          <a:latin typeface="Arial"/>
                        </a:rPr>
                        <a:t>Models not trusted</a:t>
                      </a:r>
                    </a:p>
                  </a:txBody>
                  <a:tcPr marL="73152" marR="73152" marT="27432" marB="27432" anchor="ctr">
                    <a:solidFill>
                      <a:srgbClr val="F1F6F5"/>
                    </a:solidFill>
                  </a:tcPr>
                </a:tc>
                <a:tc>
                  <a:txBody>
                    <a:bodyPr wrap="square"/>
                    <a:lstStyle/>
                    <a:p>
                      <a:r>
                        <a:rPr sz="1150" b="0">
                          <a:solidFill>
                            <a:srgbClr val="1C2B26"/>
                          </a:solidFill>
                          <a:latin typeface="Arial"/>
                        </a:rPr>
                        <a:t>Shadow first, trust gates, reasons on every flag</a:t>
                      </a:r>
                    </a:p>
                  </a:txBody>
                  <a:tcPr marL="73152" marR="73152" marT="27432" marB="27432" anchor="ctr">
                    <a:solidFill>
                      <a:srgbClr val="F1F6F5"/>
                    </a:solidFill>
                  </a:tcPr>
                </a:tc>
              </a:tr>
              <a:tr h="475488">
                <a:tc>
                  <a:txBody>
                    <a:bodyPr wrap="square"/>
                    <a:lstStyle/>
                    <a:p>
                      <a:r>
                        <a:rPr sz="1150" b="1">
                          <a:solidFill>
                            <a:srgbClr val="031B08"/>
                          </a:solidFill>
                          <a:latin typeface="Arial"/>
                        </a:rPr>
                        <a:t>Data protection (PDPA)</a:t>
                      </a:r>
                    </a:p>
                  </a:txBody>
                  <a:tcPr marL="73152" marR="73152" marT="27432" marB="27432" anchor="ctr">
                    <a:solidFill>
                      <a:srgbClr val="FFFFFF"/>
                    </a:solidFill>
                  </a:tcPr>
                </a:tc>
                <a:tc>
                  <a:txBody>
                    <a:bodyPr wrap="square"/>
                    <a:lstStyle/>
                    <a:p>
                      <a:r>
                        <a:rPr sz="1150" b="0">
                          <a:solidFill>
                            <a:srgbClr val="1C2B26"/>
                          </a:solidFill>
                          <a:latin typeface="Arial"/>
                        </a:rPr>
                        <a:t>Agreements and masking before any cloud AI</a:t>
                      </a:r>
                    </a:p>
                  </a:txBody>
                  <a:tcPr marL="73152" marR="73152" marT="27432" marB="27432" anchor="ctr">
                    <a:solidFill>
                      <a:srgbClr val="FFFFFF"/>
                    </a:solidFill>
                  </a:tcPr>
                </a:tc>
              </a:tr>
              <a:tr h="475488">
                <a:tc>
                  <a:txBody>
                    <a:bodyPr wrap="square"/>
                    <a:lstStyle/>
                    <a:p>
                      <a:r>
                        <a:rPr sz="1150" b="1">
                          <a:solidFill>
                            <a:srgbClr val="031B08"/>
                          </a:solidFill>
                          <a:latin typeface="Arial"/>
                        </a:rPr>
                        <a:t>New AI vendor</a:t>
                      </a:r>
                    </a:p>
                  </a:txBody>
                  <a:tcPr marL="73152" marR="73152" marT="27432" marB="27432" anchor="ctr">
                    <a:solidFill>
                      <a:srgbClr val="F1F6F5"/>
                    </a:solidFill>
                  </a:tcPr>
                </a:tc>
                <a:tc>
                  <a:txBody>
                    <a:bodyPr wrap="square"/>
                    <a:lstStyle/>
                    <a:p>
                      <a:r>
                        <a:rPr sz="1150" b="0">
                          <a:solidFill>
                            <a:srgbClr val="1C2B26"/>
                          </a:solidFill>
                          <a:latin typeface="Arial"/>
                        </a:rPr>
                        <a:t>Behind our own interface, pinned version, rules fallback</a:t>
                      </a:r>
                    </a:p>
                  </a:txBody>
                  <a:tcPr marL="73152" marR="73152" marT="27432" marB="27432" anchor="ctr">
                    <a:solidFill>
                      <a:srgbClr val="F1F6F5"/>
                    </a:solidFill>
                  </a:tcPr>
                </a:tc>
              </a:tr>
              <a:tr h="475488">
                <a:tc>
                  <a:txBody>
                    <a:bodyPr wrap="square"/>
                    <a:lstStyle/>
                    <a:p>
                      <a:r>
                        <a:rPr sz="1150" b="1">
                          <a:solidFill>
                            <a:srgbClr val="031B08"/>
                          </a:solidFill>
                          <a:latin typeface="Arial"/>
                        </a:rPr>
                        <a:t>Exchange rate on cloud costs</a:t>
                      </a:r>
                    </a:p>
                  </a:txBody>
                  <a:tcPr marL="73152" marR="73152" marT="27432" marB="27432" anchor="ctr">
                    <a:solidFill>
                      <a:srgbClr val="FFFFFF"/>
                    </a:solidFill>
                  </a:tcPr>
                </a:tc>
                <a:tc>
                  <a:txBody>
                    <a:bodyPr wrap="square"/>
                    <a:lstStyle/>
                    <a:p>
                      <a:r>
                        <a:rPr sz="1150" b="0">
                          <a:solidFill>
                            <a:srgbClr val="1C2B26"/>
                          </a:solidFill>
                          <a:latin typeface="Arial"/>
                        </a:rPr>
                        <a:t>Invoice in LKR with yearly indexation</a:t>
                      </a:r>
                    </a:p>
                  </a:txBody>
                  <a:tcPr marL="73152" marR="73152" marT="27432" marB="27432" anchor="ctr">
                    <a:solidFill>
                      <a:srgbClr val="FFFFFF"/>
                    </a:solidFill>
                  </a:tcPr>
                </a:tc>
              </a:tr>
            </a:tbl>
          </a:graphicData>
        </a:graphic>
      </p:graphicFrame>
      <p:sp>
        <p:nvSpPr>
          <p:cNvPr id="10" name="s22 TextBox 9"/>
          <p:cNvSpPr txBox="1"/>
          <p:nvPr/>
        </p:nvSpPr>
        <p:spPr>
          <a:xfrm>
            <a:off x="6583680" y="4709160"/>
            <a:ext cx="5056632" cy="1280160"/>
          </a:xfrm>
          <a:prstGeom prst="rect">
            <a:avLst/>
          </a:prstGeom>
          <a:noFill/>
        </p:spPr>
        <p:txBody>
          <a:bodyPr wrap="square" lIns="0" rIns="0" tIns="0" bIns="0" anchor="t">
            <a:spAutoFit/>
          </a:bodyPr>
          <a:lstStyle/>
          <a:p>
            <a:pPr algn="l">
              <a:lnSpc>
                <a:spcPct val="115000"/>
              </a:lnSpc>
            </a:pPr>
            <a:r>
              <a:rPr sz="1250" b="1" i="0">
                <a:solidFill>
                  <a:srgbClr val="031B08"/>
                </a:solidFill>
                <a:latin typeface="Arial"/>
              </a:rPr>
              <a:t>Pilot success: </a:t>
            </a:r>
            <a:r>
              <a:rPr sz="1250" b="0" i="0">
                <a:solidFill>
                  <a:srgbClr val="1C2B26"/>
                </a:solidFill>
                <a:latin typeface="Arial"/>
              </a:rPr>
              <a:t>Fresh before 8 AM +5 points · calls −30%</a:t>
            </a:r>
          </a:p>
          <a:p>
            <a:pPr algn="l">
              <a:lnSpc>
                <a:spcPct val="115000"/>
              </a:lnSpc>
            </a:pPr>
            <a:r>
              <a:rPr sz="1250" b="0" i="0">
                <a:solidFill>
                  <a:srgbClr val="1C2B26"/>
                </a:solidFill>
                <a:latin typeface="Arial"/>
              </a:rPr>
              <a:t>write-offs −20% · 90%+ of stops in the app</a:t>
            </a:r>
          </a:p>
          <a:p>
            <a:pPr algn="l">
              <a:lnSpc>
                <a:spcPct val="115000"/>
              </a:lnSpc>
            </a:pPr>
            <a:r>
              <a:rPr sz="1250" b="0" i="0">
                <a:solidFill>
                  <a:srgbClr val="1C2B26"/>
                </a:solidFill>
                <a:latin typeface="Arial"/>
              </a:rPr>
              <a:t>zero cross-store data leaks · zero lost delivery records</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3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3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3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Beyond Waypoint: market and revenue</a:t>
            </a:r>
          </a:p>
        </p:txBody>
      </p:sp>
      <p:sp>
        <p:nvSpPr>
          <p:cNvPr id="5" name="s23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Waypoint is the reference customer; the same platform fits other fleets</a:t>
            </a:r>
          </a:p>
        </p:txBody>
      </p:sp>
      <p:sp>
        <p:nvSpPr>
          <p:cNvPr id="6" name="s23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3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23</a:t>
            </a:r>
          </a:p>
        </p:txBody>
      </p:sp>
      <p:graphicFrame>
        <p:nvGraphicFramePr>
          <p:cNvPr id="8" name="s23 Table 7"/>
          <p:cNvGraphicFramePr>
            <a:graphicFrameLocks noGrp="1"/>
          </p:cNvGraphicFramePr>
          <p:nvPr/>
        </p:nvGraphicFramePr>
        <p:xfrm>
          <a:off x="548640" y="1691640"/>
          <a:ext cx="6400799" cy="2048256"/>
        </p:xfrm>
        <a:graphic>
          <a:graphicData uri="http://schemas.openxmlformats.org/drawingml/2006/table">
            <a:tbl>
              <a:tblPr firstRow="0" bandRow="0">
                <a:tableStyleId>{5C22544A-7EE6-4342-B048-85BDC9FD1C3A}</a:tableStyleId>
              </a:tblPr>
              <a:tblGrid>
                <a:gridCol w="1371600"/>
                <a:gridCol w="1280160"/>
                <a:gridCol w="3749039"/>
              </a:tblGrid>
              <a:tr h="512064">
                <a:tc>
                  <a:txBody>
                    <a:bodyPr wrap="square"/>
                    <a:lstStyle/>
                    <a:p>
                      <a:r>
                        <a:rPr sz="1150" b="1">
                          <a:solidFill>
                            <a:srgbClr val="FFFFFF"/>
                          </a:solidFill>
                          <a:latin typeface="Arial"/>
                        </a:rPr>
                        <a:t>Tier</a:t>
                      </a:r>
                    </a:p>
                  </a:txBody>
                  <a:tcPr marL="73152" marR="73152" marT="27432" marB="27432" anchor="ctr">
                    <a:solidFill>
                      <a:srgbClr val="031B08"/>
                    </a:solidFill>
                  </a:tcPr>
                </a:tc>
                <a:tc>
                  <a:txBody>
                    <a:bodyPr wrap="square"/>
                    <a:lstStyle/>
                    <a:p>
                      <a:r>
                        <a:rPr sz="1150" b="1">
                          <a:solidFill>
                            <a:srgbClr val="FFFFFF"/>
                          </a:solidFill>
                          <a:latin typeface="Arial"/>
                        </a:rPr>
                        <a:t>Per vehicle a month</a:t>
                      </a:r>
                    </a:p>
                  </a:txBody>
                  <a:tcPr marL="73152" marR="73152" marT="27432" marB="27432" anchor="ctr">
                    <a:solidFill>
                      <a:srgbClr val="031B08"/>
                    </a:solidFill>
                  </a:tcPr>
                </a:tc>
                <a:tc>
                  <a:txBody>
                    <a:bodyPr wrap="square"/>
                    <a:lstStyle/>
                    <a:p>
                      <a:r>
                        <a:rPr sz="1150" b="1">
                          <a:solidFill>
                            <a:srgbClr val="FFFFFF"/>
                          </a:solidFill>
                          <a:latin typeface="Arial"/>
                        </a:rPr>
                        <a:t>Includes</a:t>
                      </a:r>
                    </a:p>
                  </a:txBody>
                  <a:tcPr marL="73152" marR="73152" marT="27432" marB="27432" anchor="ctr">
                    <a:solidFill>
                      <a:srgbClr val="031B08"/>
                    </a:solidFill>
                  </a:tcPr>
                </a:tc>
              </a:tr>
              <a:tr h="512064">
                <a:tc>
                  <a:txBody>
                    <a:bodyPr wrap="square"/>
                    <a:lstStyle/>
                    <a:p>
                      <a:r>
                        <a:rPr sz="1150" b="1">
                          <a:solidFill>
                            <a:srgbClr val="031B08"/>
                          </a:solidFill>
                          <a:latin typeface="Arial"/>
                        </a:rPr>
                        <a:t>Core</a:t>
                      </a:r>
                    </a:p>
                  </a:txBody>
                  <a:tcPr marL="73152" marR="73152" marT="27432" marB="27432" anchor="ctr">
                    <a:solidFill>
                      <a:srgbClr val="FFFFFF"/>
                    </a:solidFill>
                  </a:tcPr>
                </a:tc>
                <a:tc>
                  <a:txBody>
                    <a:bodyPr wrap="square"/>
                    <a:lstStyle/>
                    <a:p>
                      <a:r>
                        <a:rPr sz="1150" b="0">
                          <a:solidFill>
                            <a:srgbClr val="1C2B26"/>
                          </a:solidFill>
                          <a:latin typeface="Arial"/>
                        </a:rPr>
                        <a:t>LKR 4,900</a:t>
                      </a:r>
                    </a:p>
                  </a:txBody>
                  <a:tcPr marL="73152" marR="73152" marT="27432" marB="27432" anchor="ctr">
                    <a:solidFill>
                      <a:srgbClr val="FFFFFF"/>
                    </a:solidFill>
                  </a:tcPr>
                </a:tc>
                <a:tc>
                  <a:txBody>
                    <a:bodyPr wrap="square"/>
                    <a:lstStyle/>
                    <a:p>
                      <a:r>
                        <a:rPr sz="1150" b="0">
                          <a:solidFill>
                            <a:srgbClr val="1C2B26"/>
                          </a:solidFill>
                          <a:latin typeface="Arial"/>
                        </a:rPr>
                        <a:t>Dispatch, offline driver app, proof of delivery, store receipt, Sinhala and Tamil</a:t>
                      </a:r>
                    </a:p>
                  </a:txBody>
                  <a:tcPr marL="73152" marR="73152" marT="27432" marB="27432" anchor="ctr">
                    <a:solidFill>
                      <a:srgbClr val="FFFFFF"/>
                    </a:solidFill>
                  </a:tcPr>
                </a:tc>
              </a:tr>
              <a:tr h="512064">
                <a:tc>
                  <a:txBody>
                    <a:bodyPr wrap="square"/>
                    <a:lstStyle/>
                    <a:p>
                      <a:r>
                        <a:rPr sz="1150" b="1">
                          <a:solidFill>
                            <a:srgbClr val="031B08"/>
                          </a:solidFill>
                          <a:latin typeface="Arial"/>
                        </a:rPr>
                        <a:t>Pro</a:t>
                      </a:r>
                    </a:p>
                  </a:txBody>
                  <a:tcPr marL="73152" marR="73152" marT="27432" marB="27432" anchor="ctr">
                    <a:solidFill>
                      <a:srgbClr val="F1F6F5"/>
                    </a:solidFill>
                  </a:tcPr>
                </a:tc>
                <a:tc>
                  <a:txBody>
                    <a:bodyPr wrap="square"/>
                    <a:lstStyle/>
                    <a:p>
                      <a:r>
                        <a:rPr sz="1150" b="0">
                          <a:solidFill>
                            <a:srgbClr val="1C2B26"/>
                          </a:solidFill>
                          <a:latin typeface="Arial"/>
                        </a:rPr>
                        <a:t>LKR 8,200</a:t>
                      </a:r>
                    </a:p>
                  </a:txBody>
                  <a:tcPr marL="73152" marR="73152" marT="27432" marB="27432" anchor="ctr">
                    <a:solidFill>
                      <a:srgbClr val="F1F6F5"/>
                    </a:solidFill>
                  </a:tcPr>
                </a:tc>
                <a:tc>
                  <a:txBody>
                    <a:bodyPr wrap="square"/>
                    <a:lstStyle/>
                    <a:p>
                      <a:r>
                        <a:rPr sz="1150" b="0">
                          <a:solidFill>
                            <a:srgbClr val="1C2B26"/>
                          </a:solidFill>
                          <a:latin typeface="Arial"/>
                        </a:rPr>
                        <a:t>Core + constrained allocation with explained deferrals, reefer windows, fuel quota, issues</a:t>
                      </a:r>
                    </a:p>
                  </a:txBody>
                  <a:tcPr marL="73152" marR="73152" marT="27432" marB="27432" anchor="ctr">
                    <a:solidFill>
                      <a:srgbClr val="F1F6F5"/>
                    </a:solidFill>
                  </a:tcPr>
                </a:tc>
              </a:tr>
              <a:tr h="512064">
                <a:tc>
                  <a:txBody>
                    <a:bodyPr wrap="square"/>
                    <a:lstStyle/>
                    <a:p>
                      <a:r>
                        <a:rPr sz="1150" b="1">
                          <a:solidFill>
                            <a:srgbClr val="031B08"/>
                          </a:solidFill>
                          <a:latin typeface="Arial"/>
                        </a:rPr>
                        <a:t>Enterprise</a:t>
                      </a:r>
                    </a:p>
                  </a:txBody>
                  <a:tcPr marL="73152" marR="73152" marT="27432" marB="27432" anchor="ctr">
                    <a:solidFill>
                      <a:srgbClr val="FFFFFF"/>
                    </a:solidFill>
                  </a:tcPr>
                </a:tc>
                <a:tc>
                  <a:txBody>
                    <a:bodyPr wrap="square"/>
                    <a:lstStyle/>
                    <a:p>
                      <a:r>
                        <a:rPr sz="1150" b="0">
                          <a:solidFill>
                            <a:srgbClr val="1C2B26"/>
                          </a:solidFill>
                          <a:latin typeface="Arial"/>
                        </a:rPr>
                        <a:t>LKR 13,100</a:t>
                      </a:r>
                    </a:p>
                  </a:txBody>
                  <a:tcPr marL="73152" marR="73152" marT="27432" marB="27432" anchor="ctr">
                    <a:solidFill>
                      <a:srgbClr val="FFFFFF"/>
                    </a:solidFill>
                  </a:tcPr>
                </a:tc>
                <a:tc>
                  <a:txBody>
                    <a:bodyPr wrap="square"/>
                    <a:lstStyle/>
                    <a:p>
                      <a:r>
                        <a:rPr sz="1150" b="0">
                          <a:solidFill>
                            <a:srgbClr val="1C2B26"/>
                          </a:solidFill>
                          <a:latin typeface="Arial"/>
                        </a:rPr>
                        <a:t>Pro + arrival times, late risk and forecast, capped AI, single sign-on, hosting in Sri Lanka</a:t>
                      </a:r>
                    </a:p>
                  </a:txBody>
                  <a:tcPr marL="73152" marR="73152" marT="27432" marB="27432" anchor="ctr">
                    <a:solidFill>
                      <a:srgbClr val="FFFFFF"/>
                    </a:solidFill>
                  </a:tcPr>
                </a:tc>
              </a:tr>
            </a:tbl>
          </a:graphicData>
        </a:graphic>
      </p:graphicFrame>
      <p:graphicFrame>
        <p:nvGraphicFramePr>
          <p:cNvPr id="9" name="s23 Table 8"/>
          <p:cNvGraphicFramePr>
            <a:graphicFrameLocks noGrp="1"/>
          </p:cNvGraphicFramePr>
          <p:nvPr/>
        </p:nvGraphicFramePr>
        <p:xfrm>
          <a:off x="7269480" y="1691640"/>
          <a:ext cx="4370832" cy="2048256"/>
        </p:xfrm>
        <a:graphic>
          <a:graphicData uri="http://schemas.openxmlformats.org/drawingml/2006/table">
            <a:tbl>
              <a:tblPr firstRow="0" bandRow="0">
                <a:tableStyleId>{5C22544A-7EE6-4342-B048-85BDC9FD1C3A}</a:tableStyleId>
              </a:tblPr>
              <a:tblGrid>
                <a:gridCol w="914400"/>
                <a:gridCol w="1143000"/>
                <a:gridCol w="1097280"/>
                <a:gridCol w="1216152"/>
              </a:tblGrid>
              <a:tr h="512064">
                <a:tc>
                  <a:txBody>
                    <a:bodyPr wrap="square"/>
                    <a:lstStyle/>
                    <a:p>
                      <a:r>
                        <a:rPr sz="1200" b="1">
                          <a:solidFill>
                            <a:srgbClr val="FFFFFF"/>
                          </a:solidFill>
                          <a:latin typeface="Arial"/>
                        </a:rPr>
                        <a:t>Year</a:t>
                      </a:r>
                    </a:p>
                  </a:txBody>
                  <a:tcPr marL="73152" marR="73152" marT="27432" marB="27432" anchor="ctr">
                    <a:solidFill>
                      <a:srgbClr val="031B08"/>
                    </a:solidFill>
                  </a:tcPr>
                </a:tc>
                <a:tc>
                  <a:txBody>
                    <a:bodyPr wrap="square"/>
                    <a:lstStyle/>
                    <a:p>
                      <a:r>
                        <a:rPr sz="1200" b="1">
                          <a:solidFill>
                            <a:srgbClr val="FFFFFF"/>
                          </a:solidFill>
                          <a:latin typeface="Arial"/>
                        </a:rPr>
                        <a:t>Customers</a:t>
                      </a:r>
                    </a:p>
                  </a:txBody>
                  <a:tcPr marL="73152" marR="73152" marT="27432" marB="27432" anchor="ctr">
                    <a:solidFill>
                      <a:srgbClr val="031B08"/>
                    </a:solidFill>
                  </a:tcPr>
                </a:tc>
                <a:tc>
                  <a:txBody>
                    <a:bodyPr wrap="square"/>
                    <a:lstStyle/>
                    <a:p>
                      <a:r>
                        <a:rPr sz="1200" b="1">
                          <a:solidFill>
                            <a:srgbClr val="FFFFFF"/>
                          </a:solidFill>
                          <a:latin typeface="Arial"/>
                        </a:rPr>
                        <a:t>Vehicles</a:t>
                      </a:r>
                    </a:p>
                  </a:txBody>
                  <a:tcPr marL="73152" marR="73152" marT="27432" marB="27432" anchor="ctr">
                    <a:solidFill>
                      <a:srgbClr val="031B08"/>
                    </a:solidFill>
                  </a:tcPr>
                </a:tc>
                <a:tc>
                  <a:txBody>
                    <a:bodyPr wrap="square"/>
                    <a:lstStyle/>
                    <a:p>
                      <a:r>
                        <a:rPr sz="1200" b="1">
                          <a:solidFill>
                            <a:srgbClr val="FFFFFF"/>
                          </a:solidFill>
                          <a:latin typeface="Arial"/>
                        </a:rPr>
                        <a:t>Revenue</a:t>
                      </a:r>
                    </a:p>
                  </a:txBody>
                  <a:tcPr marL="73152" marR="73152" marT="27432" marB="27432" anchor="ctr">
                    <a:solidFill>
                      <a:srgbClr val="031B08"/>
                    </a:solidFill>
                  </a:tcPr>
                </a:tc>
              </a:tr>
              <a:tr h="512064">
                <a:tc>
                  <a:txBody>
                    <a:bodyPr wrap="square"/>
                    <a:lstStyle/>
                    <a:p>
                      <a:r>
                        <a:rPr sz="1200" b="0">
                          <a:solidFill>
                            <a:srgbClr val="1C2B26"/>
                          </a:solidFill>
                          <a:latin typeface="Arial"/>
                        </a:rPr>
                        <a:t>1</a:t>
                      </a:r>
                    </a:p>
                  </a:txBody>
                  <a:tcPr marL="73152" marR="73152" marT="27432" marB="27432" anchor="ctr">
                    <a:solidFill>
                      <a:srgbClr val="FFFFFF"/>
                    </a:solidFill>
                  </a:tcPr>
                </a:tc>
                <a:tc>
                  <a:txBody>
                    <a:bodyPr wrap="square"/>
                    <a:lstStyle/>
                    <a:p>
                      <a:r>
                        <a:rPr sz="1200" b="0">
                          <a:solidFill>
                            <a:srgbClr val="1C2B26"/>
                          </a:solidFill>
                          <a:latin typeface="Arial"/>
                        </a:rPr>
                        <a:t>5</a:t>
                      </a:r>
                    </a:p>
                  </a:txBody>
                  <a:tcPr marL="73152" marR="73152" marT="27432" marB="27432" anchor="ctr">
                    <a:solidFill>
                      <a:srgbClr val="FFFFFF"/>
                    </a:solidFill>
                  </a:tcPr>
                </a:tc>
                <a:tc>
                  <a:txBody>
                    <a:bodyPr wrap="square"/>
                    <a:lstStyle/>
                    <a:p>
                      <a:r>
                        <a:rPr sz="1200" b="0">
                          <a:solidFill>
                            <a:srgbClr val="1C2B26"/>
                          </a:solidFill>
                          <a:latin typeface="Arial"/>
                        </a:rPr>
                        <a:t>125</a:t>
                      </a:r>
                    </a:p>
                  </a:txBody>
                  <a:tcPr marL="73152" marR="73152" marT="27432" marB="27432" anchor="ctr">
                    <a:solidFill>
                      <a:srgbClr val="FFFFFF"/>
                    </a:solidFill>
                  </a:tcPr>
                </a:tc>
                <a:tc>
                  <a:txBody>
                    <a:bodyPr wrap="square"/>
                    <a:lstStyle/>
                    <a:p>
                      <a:r>
                        <a:rPr sz="1200" b="0">
                          <a:solidFill>
                            <a:srgbClr val="1C2B26"/>
                          </a:solidFill>
                          <a:latin typeface="Arial"/>
                        </a:rPr>
                        <a:t>LKR 14.4m</a:t>
                      </a:r>
                    </a:p>
                  </a:txBody>
                  <a:tcPr marL="73152" marR="73152" marT="27432" marB="27432" anchor="ctr">
                    <a:solidFill>
                      <a:srgbClr val="FFFFFF"/>
                    </a:solidFill>
                  </a:tcPr>
                </a:tc>
              </a:tr>
              <a:tr h="512064">
                <a:tc>
                  <a:txBody>
                    <a:bodyPr wrap="square"/>
                    <a:lstStyle/>
                    <a:p>
                      <a:r>
                        <a:rPr sz="1200" b="0">
                          <a:solidFill>
                            <a:srgbClr val="1C2B26"/>
                          </a:solidFill>
                          <a:latin typeface="Arial"/>
                        </a:rPr>
                        <a:t>2</a:t>
                      </a:r>
                    </a:p>
                  </a:txBody>
                  <a:tcPr marL="73152" marR="73152" marT="27432" marB="27432" anchor="ctr">
                    <a:solidFill>
                      <a:srgbClr val="F1F6F5"/>
                    </a:solidFill>
                  </a:tcPr>
                </a:tc>
                <a:tc>
                  <a:txBody>
                    <a:bodyPr wrap="square"/>
                    <a:lstStyle/>
                    <a:p>
                      <a:r>
                        <a:rPr sz="1200" b="0">
                          <a:solidFill>
                            <a:srgbClr val="1C2B26"/>
                          </a:solidFill>
                          <a:latin typeface="Arial"/>
                        </a:rPr>
                        <a:t>14</a:t>
                      </a:r>
                    </a:p>
                  </a:txBody>
                  <a:tcPr marL="73152" marR="73152" marT="27432" marB="27432" anchor="ctr">
                    <a:solidFill>
                      <a:srgbClr val="F1F6F5"/>
                    </a:solidFill>
                  </a:tcPr>
                </a:tc>
                <a:tc>
                  <a:txBody>
                    <a:bodyPr wrap="square"/>
                    <a:lstStyle/>
                    <a:p>
                      <a:r>
                        <a:rPr sz="1200" b="0">
                          <a:solidFill>
                            <a:srgbClr val="1C2B26"/>
                          </a:solidFill>
                          <a:latin typeface="Arial"/>
                        </a:rPr>
                        <a:t>420</a:t>
                      </a:r>
                    </a:p>
                  </a:txBody>
                  <a:tcPr marL="73152" marR="73152" marT="27432" marB="27432" anchor="ctr">
                    <a:solidFill>
                      <a:srgbClr val="F1F6F5"/>
                    </a:solidFill>
                  </a:tcPr>
                </a:tc>
                <a:tc>
                  <a:txBody>
                    <a:bodyPr wrap="square"/>
                    <a:lstStyle/>
                    <a:p>
                      <a:r>
                        <a:rPr sz="1200" b="0">
                          <a:solidFill>
                            <a:srgbClr val="1C2B26"/>
                          </a:solidFill>
                          <a:latin typeface="Arial"/>
                        </a:rPr>
                        <a:t>LKR 42.0m</a:t>
                      </a:r>
                    </a:p>
                  </a:txBody>
                  <a:tcPr marL="73152" marR="73152" marT="27432" marB="27432" anchor="ctr">
                    <a:solidFill>
                      <a:srgbClr val="F1F6F5"/>
                    </a:solidFill>
                  </a:tcPr>
                </a:tc>
              </a:tr>
              <a:tr h="512064">
                <a:tc>
                  <a:txBody>
                    <a:bodyPr wrap="square"/>
                    <a:lstStyle/>
                    <a:p>
                      <a:r>
                        <a:rPr sz="1200" b="0">
                          <a:solidFill>
                            <a:srgbClr val="1C2B26"/>
                          </a:solidFill>
                          <a:latin typeface="Arial"/>
                        </a:rPr>
                        <a:t>3</a:t>
                      </a:r>
                    </a:p>
                  </a:txBody>
                  <a:tcPr marL="73152" marR="73152" marT="27432" marB="27432" anchor="ctr">
                    <a:solidFill>
                      <a:srgbClr val="FFFFFF"/>
                    </a:solidFill>
                  </a:tcPr>
                </a:tc>
                <a:tc>
                  <a:txBody>
                    <a:bodyPr wrap="square"/>
                    <a:lstStyle/>
                    <a:p>
                      <a:r>
                        <a:rPr sz="1200" b="0">
                          <a:solidFill>
                            <a:srgbClr val="1C2B26"/>
                          </a:solidFill>
                          <a:latin typeface="Arial"/>
                        </a:rPr>
                        <a:t>28</a:t>
                      </a:r>
                    </a:p>
                  </a:txBody>
                  <a:tcPr marL="73152" marR="73152" marT="27432" marB="27432" anchor="ctr">
                    <a:solidFill>
                      <a:srgbClr val="FFFFFF"/>
                    </a:solidFill>
                  </a:tcPr>
                </a:tc>
                <a:tc>
                  <a:txBody>
                    <a:bodyPr wrap="square"/>
                    <a:lstStyle/>
                    <a:p>
                      <a:r>
                        <a:rPr sz="1200" b="0">
                          <a:solidFill>
                            <a:srgbClr val="1C2B26"/>
                          </a:solidFill>
                          <a:latin typeface="Arial"/>
                        </a:rPr>
                        <a:t>980</a:t>
                      </a:r>
                    </a:p>
                  </a:txBody>
                  <a:tcPr marL="73152" marR="73152" marT="27432" marB="27432" anchor="ctr">
                    <a:solidFill>
                      <a:srgbClr val="FFFFFF"/>
                    </a:solidFill>
                  </a:tcPr>
                </a:tc>
                <a:tc>
                  <a:txBody>
                    <a:bodyPr wrap="square"/>
                    <a:lstStyle/>
                    <a:p>
                      <a:r>
                        <a:rPr sz="1200" b="0">
                          <a:solidFill>
                            <a:srgbClr val="1C2B26"/>
                          </a:solidFill>
                          <a:latin typeface="Arial"/>
                        </a:rPr>
                        <a:t>LKR 90.9m</a:t>
                      </a:r>
                    </a:p>
                  </a:txBody>
                  <a:tcPr marL="73152" marR="73152" marT="27432" marB="27432" anchor="ctr">
                    <a:solidFill>
                      <a:srgbClr val="FFFFFF"/>
                    </a:solidFill>
                  </a:tcPr>
                </a:tc>
              </a:tr>
            </a:tbl>
          </a:graphicData>
        </a:graphic>
      </p:graphicFrame>
      <p:sp>
        <p:nvSpPr>
          <p:cNvPr id="10" name="s23 Oval 9"/>
          <p:cNvSpPr/>
          <p:nvPr/>
        </p:nvSpPr>
        <p:spPr>
          <a:xfrm>
            <a:off x="548640" y="4425696"/>
            <a:ext cx="100584" cy="100584"/>
          </a:xfrm>
          <a:prstGeom prst="ellipse">
            <a:avLst/>
          </a:prstGeom>
          <a:solidFill>
            <a:srgbClr val="0A6B63"/>
          </a:solidFill>
          <a:ln>
            <a:noFill/>
          </a:ln>
          <a:effectLst/>
        </p:spPr>
        <p:txBody>
          <a:bodyPr rtlCol="0" anchor="ctr"/>
          <a:lstStyle/>
          <a:p>
            <a:pPr algn="ctr"/>
          </a:p>
        </p:txBody>
      </p:sp>
      <p:sp>
        <p:nvSpPr>
          <p:cNvPr id="11" name="s23 TextBox 10"/>
          <p:cNvSpPr txBox="1"/>
          <p:nvPr/>
        </p:nvSpPr>
        <p:spPr>
          <a:xfrm>
            <a:off x="777240" y="4343400"/>
            <a:ext cx="10744200" cy="530352"/>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 300 Sri Lankan chains, manufacturers and distributors run 10+ vehicles: ≈ 6,000 vehicles, ≈ LKR 525m a year within reach</a:t>
            </a:r>
          </a:p>
        </p:txBody>
      </p:sp>
      <p:sp>
        <p:nvSpPr>
          <p:cNvPr id="12" name="s23 Oval 11"/>
          <p:cNvSpPr/>
          <p:nvPr/>
        </p:nvSpPr>
        <p:spPr>
          <a:xfrm>
            <a:off x="548640" y="4956048"/>
            <a:ext cx="100584" cy="100584"/>
          </a:xfrm>
          <a:prstGeom prst="ellipse">
            <a:avLst/>
          </a:prstGeom>
          <a:solidFill>
            <a:srgbClr val="0A6B63"/>
          </a:solidFill>
          <a:ln>
            <a:noFill/>
          </a:ln>
          <a:effectLst/>
        </p:spPr>
        <p:txBody>
          <a:bodyPr rtlCol="0" anchor="ctr"/>
          <a:lstStyle/>
          <a:p>
            <a:pPr algn="ctr"/>
          </a:p>
        </p:txBody>
      </p:sp>
      <p:sp>
        <p:nvSpPr>
          <p:cNvPr id="13" name="s23 TextBox 12"/>
          <p:cNvSpPr txBox="1"/>
          <p:nvPr/>
        </p:nvSpPr>
        <p:spPr>
          <a:xfrm>
            <a:off x="777240" y="4873752"/>
            <a:ext cx="10744200" cy="530352"/>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Gross margin ≈ 95% on subscription (≈ LKR 330 running cost per vehicle a month); minimum 10 vehicles; implementation LKR 1.0–4.9m</a:t>
            </a:r>
          </a:p>
        </p:txBody>
      </p:sp>
      <p:sp>
        <p:nvSpPr>
          <p:cNvPr id="14" name="s23 Oval 13"/>
          <p:cNvSpPr/>
          <p:nvPr/>
        </p:nvSpPr>
        <p:spPr>
          <a:xfrm>
            <a:off x="548640" y="5486400"/>
            <a:ext cx="100584" cy="100584"/>
          </a:xfrm>
          <a:prstGeom prst="ellipse">
            <a:avLst/>
          </a:prstGeom>
          <a:solidFill>
            <a:srgbClr val="0A6B63"/>
          </a:solidFill>
          <a:ln>
            <a:noFill/>
          </a:ln>
          <a:effectLst/>
        </p:spPr>
        <p:txBody>
          <a:bodyPr rtlCol="0" anchor="ctr"/>
          <a:lstStyle/>
          <a:p>
            <a:pPr algn="ctr"/>
          </a:p>
        </p:txBody>
      </p:sp>
      <p:sp>
        <p:nvSpPr>
          <p:cNvPr id="15" name="s23 TextBox 14"/>
          <p:cNvSpPr txBox="1"/>
          <p:nvPr/>
        </p:nvSpPr>
        <p:spPr>
          <a:xfrm>
            <a:off x="777240" y="5404104"/>
            <a:ext cx="10744200" cy="530352"/>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Prerequisite: multi-tenancy, decided after the pilot proves the value</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4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4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4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From design to product, and our honest limits</a:t>
            </a:r>
          </a:p>
        </p:txBody>
      </p:sp>
      <p:sp>
        <p:nvSpPr>
          <p:cNvPr id="5" name="s24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The Figma file is the specification; every departure is documented</a:t>
            </a:r>
          </a:p>
        </p:txBody>
      </p:sp>
      <p:sp>
        <p:nvSpPr>
          <p:cNvPr id="6" name="s24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4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24</a:t>
            </a:r>
          </a:p>
        </p:txBody>
      </p:sp>
      <p:sp>
        <p:nvSpPr>
          <p:cNvPr id="8" name="s24 Rounded Rectangle 7"/>
          <p:cNvSpPr/>
          <p:nvPr/>
        </p:nvSpPr>
        <p:spPr>
          <a:xfrm>
            <a:off x="548640" y="1691640"/>
            <a:ext cx="5486400" cy="4526280"/>
          </a:xfrm>
          <a:prstGeom prst="roundRect">
            <a:avLst>
              <a:gd name="adj" fmla="val 3232"/>
            </a:avLst>
          </a:prstGeom>
          <a:solidFill>
            <a:srgbClr val="FFFFFF"/>
          </a:solidFill>
          <a:ln w="12700">
            <a:solidFill>
              <a:srgbClr val="D9E3DE"/>
            </a:solidFill>
          </a:ln>
          <a:effectLst/>
        </p:spPr>
        <p:txBody>
          <a:bodyPr rtlCol="0" anchor="ctr"/>
          <a:lstStyle/>
          <a:p/>
        </p:txBody>
      </p:sp>
      <p:sp>
        <p:nvSpPr>
          <p:cNvPr id="9" name="s24 TextBox 8"/>
          <p:cNvSpPr txBox="1"/>
          <p:nvPr/>
        </p:nvSpPr>
        <p:spPr>
          <a:xfrm>
            <a:off x="777240" y="1810512"/>
            <a:ext cx="5029200" cy="365760"/>
          </a:xfrm>
          <a:prstGeom prst="rect">
            <a:avLst/>
          </a:prstGeom>
          <a:noFill/>
        </p:spPr>
        <p:txBody>
          <a:bodyPr wrap="square" lIns="0" rIns="0" tIns="0" bIns="0" anchor="t">
            <a:spAutoFit/>
          </a:bodyPr>
          <a:lstStyle/>
          <a:p>
            <a:pPr algn="l">
              <a:lnSpc>
                <a:spcPct val="108000"/>
              </a:lnSpc>
            </a:pPr>
            <a:r>
              <a:rPr sz="1600" b="1" i="0">
                <a:solidFill>
                  <a:srgbClr val="084F4A"/>
                </a:solidFill>
                <a:latin typeface="Arial"/>
              </a:rPr>
              <a:t>Design → product</a:t>
            </a:r>
          </a:p>
        </p:txBody>
      </p:sp>
      <p:sp>
        <p:nvSpPr>
          <p:cNvPr id="10" name="s24 Oval 9"/>
          <p:cNvSpPr/>
          <p:nvPr/>
        </p:nvSpPr>
        <p:spPr>
          <a:xfrm>
            <a:off x="777240" y="2368296"/>
            <a:ext cx="100584" cy="100584"/>
          </a:xfrm>
          <a:prstGeom prst="ellipse">
            <a:avLst/>
          </a:prstGeom>
          <a:solidFill>
            <a:srgbClr val="0A6B63"/>
          </a:solidFill>
          <a:ln>
            <a:noFill/>
          </a:ln>
          <a:effectLst/>
        </p:spPr>
        <p:txBody>
          <a:bodyPr rtlCol="0" anchor="ctr"/>
          <a:lstStyle/>
          <a:p>
            <a:pPr algn="ctr"/>
          </a:p>
        </p:txBody>
      </p:sp>
      <p:sp>
        <p:nvSpPr>
          <p:cNvPr id="11" name="s24 TextBox 10"/>
          <p:cNvSpPr txBox="1"/>
          <p:nvPr/>
        </p:nvSpPr>
        <p:spPr>
          <a:xfrm>
            <a:off x="1005840" y="2286000"/>
            <a:ext cx="480060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Day 5 failure screen (‘proof saved with no signal’) is built and works</a:t>
            </a:r>
          </a:p>
        </p:txBody>
      </p:sp>
      <p:sp>
        <p:nvSpPr>
          <p:cNvPr id="12" name="s24 Oval 11"/>
          <p:cNvSpPr/>
          <p:nvPr/>
        </p:nvSpPr>
        <p:spPr>
          <a:xfrm>
            <a:off x="777240" y="3099815"/>
            <a:ext cx="100584" cy="100584"/>
          </a:xfrm>
          <a:prstGeom prst="ellipse">
            <a:avLst/>
          </a:prstGeom>
          <a:solidFill>
            <a:srgbClr val="0A6B63"/>
          </a:solidFill>
          <a:ln>
            <a:noFill/>
          </a:ln>
          <a:effectLst/>
        </p:spPr>
        <p:txBody>
          <a:bodyPr rtlCol="0" anchor="ctr"/>
          <a:lstStyle/>
          <a:p>
            <a:pPr algn="ctr"/>
          </a:p>
        </p:txBody>
      </p:sp>
      <p:sp>
        <p:nvSpPr>
          <p:cNvPr id="13" name="s24 TextBox 12"/>
          <p:cNvSpPr txBox="1"/>
          <p:nvPr/>
        </p:nvSpPr>
        <p:spPr>
          <a:xfrm>
            <a:off x="1005840" y="3017520"/>
            <a:ext cx="480060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All four roles, end to end, on phone, tablet and desktop</a:t>
            </a:r>
          </a:p>
        </p:txBody>
      </p:sp>
      <p:sp>
        <p:nvSpPr>
          <p:cNvPr id="14" name="s24 Oval 13"/>
          <p:cNvSpPr/>
          <p:nvPr/>
        </p:nvSpPr>
        <p:spPr>
          <a:xfrm>
            <a:off x="777240" y="3831335"/>
            <a:ext cx="100584" cy="100584"/>
          </a:xfrm>
          <a:prstGeom prst="ellipse">
            <a:avLst/>
          </a:prstGeom>
          <a:solidFill>
            <a:srgbClr val="0A6B63"/>
          </a:solidFill>
          <a:ln>
            <a:noFill/>
          </a:ln>
          <a:effectLst/>
        </p:spPr>
        <p:txBody>
          <a:bodyPr rtlCol="0" anchor="ctr"/>
          <a:lstStyle/>
          <a:p>
            <a:pPr algn="ctr"/>
          </a:p>
        </p:txBody>
      </p:sp>
      <p:sp>
        <p:nvSpPr>
          <p:cNvPr id="15" name="s24 TextBox 14"/>
          <p:cNvSpPr txBox="1"/>
          <p:nvPr/>
        </p:nvSpPr>
        <p:spPr>
          <a:xfrm>
            <a:off x="1005840" y="3749039"/>
            <a:ext cx="480060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Departures from the design listed in the README with reasons</a:t>
            </a:r>
          </a:p>
        </p:txBody>
      </p:sp>
      <p:sp>
        <p:nvSpPr>
          <p:cNvPr id="16" name="s24 Oval 15"/>
          <p:cNvSpPr/>
          <p:nvPr/>
        </p:nvSpPr>
        <p:spPr>
          <a:xfrm>
            <a:off x="777240" y="4562856"/>
            <a:ext cx="100584" cy="100584"/>
          </a:xfrm>
          <a:prstGeom prst="ellipse">
            <a:avLst/>
          </a:prstGeom>
          <a:solidFill>
            <a:srgbClr val="0A6B63"/>
          </a:solidFill>
          <a:ln>
            <a:noFill/>
          </a:ln>
          <a:effectLst/>
        </p:spPr>
        <p:txBody>
          <a:bodyPr rtlCol="0" anchor="ctr"/>
          <a:lstStyle/>
          <a:p>
            <a:pPr algn="ctr"/>
          </a:p>
        </p:txBody>
      </p:sp>
      <p:sp>
        <p:nvSpPr>
          <p:cNvPr id="17" name="s24 TextBox 16"/>
          <p:cNvSpPr txBox="1"/>
          <p:nvPr/>
        </p:nvSpPr>
        <p:spPr>
          <a:xfrm>
            <a:off x="1005840" y="4480560"/>
            <a:ext cx="480060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Sinhala and Tamil reviewed by a native speaker</a:t>
            </a:r>
          </a:p>
        </p:txBody>
      </p:sp>
      <p:sp>
        <p:nvSpPr>
          <p:cNvPr id="18" name="s24 Oval 17"/>
          <p:cNvSpPr/>
          <p:nvPr/>
        </p:nvSpPr>
        <p:spPr>
          <a:xfrm>
            <a:off x="777240" y="5294376"/>
            <a:ext cx="100584" cy="100584"/>
          </a:xfrm>
          <a:prstGeom prst="ellipse">
            <a:avLst/>
          </a:prstGeom>
          <a:solidFill>
            <a:srgbClr val="0A6B63"/>
          </a:solidFill>
          <a:ln>
            <a:noFill/>
          </a:ln>
          <a:effectLst/>
        </p:spPr>
        <p:txBody>
          <a:bodyPr rtlCol="0" anchor="ctr"/>
          <a:lstStyle/>
          <a:p>
            <a:pPr algn="ctr"/>
          </a:p>
        </p:txBody>
      </p:sp>
      <p:sp>
        <p:nvSpPr>
          <p:cNvPr id="19" name="s24 TextBox 18"/>
          <p:cNvSpPr txBox="1"/>
          <p:nvPr/>
        </p:nvSpPr>
        <p:spPr>
          <a:xfrm>
            <a:off x="1005840" y="5212080"/>
            <a:ext cx="480060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Explanations, what-if and suggestions added after the Datathon</a:t>
            </a:r>
          </a:p>
        </p:txBody>
      </p:sp>
      <p:sp>
        <p:nvSpPr>
          <p:cNvPr id="20" name="s24 Rounded Rectangle 19"/>
          <p:cNvSpPr/>
          <p:nvPr/>
        </p:nvSpPr>
        <p:spPr>
          <a:xfrm>
            <a:off x="6263640" y="1691640"/>
            <a:ext cx="5379415" cy="4526280"/>
          </a:xfrm>
          <a:prstGeom prst="roundRect">
            <a:avLst>
              <a:gd name="adj" fmla="val 3232"/>
            </a:avLst>
          </a:prstGeom>
          <a:solidFill>
            <a:srgbClr val="FFFFFF"/>
          </a:solidFill>
          <a:ln w="12700">
            <a:solidFill>
              <a:srgbClr val="D9E3DE"/>
            </a:solidFill>
          </a:ln>
          <a:effectLst/>
        </p:spPr>
        <p:txBody>
          <a:bodyPr rtlCol="0" anchor="ctr"/>
          <a:lstStyle/>
          <a:p/>
        </p:txBody>
      </p:sp>
      <p:sp>
        <p:nvSpPr>
          <p:cNvPr id="21" name="s24 TextBox 20"/>
          <p:cNvSpPr txBox="1"/>
          <p:nvPr/>
        </p:nvSpPr>
        <p:spPr>
          <a:xfrm>
            <a:off x="6492240" y="1810512"/>
            <a:ext cx="4846320" cy="365760"/>
          </a:xfrm>
          <a:prstGeom prst="rect">
            <a:avLst/>
          </a:prstGeom>
          <a:noFill/>
        </p:spPr>
        <p:txBody>
          <a:bodyPr wrap="square" lIns="0" rIns="0" tIns="0" bIns="0" anchor="t">
            <a:spAutoFit/>
          </a:bodyPr>
          <a:lstStyle/>
          <a:p>
            <a:pPr algn="l">
              <a:lnSpc>
                <a:spcPct val="108000"/>
              </a:lnSpc>
            </a:pPr>
            <a:r>
              <a:rPr sz="1600" b="1" i="0">
                <a:solidFill>
                  <a:srgbClr val="031B08"/>
                </a:solidFill>
                <a:latin typeface="Arial"/>
              </a:rPr>
              <a:t>What we state openly</a:t>
            </a:r>
          </a:p>
        </p:txBody>
      </p:sp>
      <p:sp>
        <p:nvSpPr>
          <p:cNvPr id="22" name="s24 Oval 21"/>
          <p:cNvSpPr/>
          <p:nvPr/>
        </p:nvSpPr>
        <p:spPr>
          <a:xfrm>
            <a:off x="6492240" y="2368296"/>
            <a:ext cx="100584" cy="100584"/>
          </a:xfrm>
          <a:prstGeom prst="ellipse">
            <a:avLst/>
          </a:prstGeom>
          <a:solidFill>
            <a:srgbClr val="C08A3E"/>
          </a:solidFill>
          <a:ln>
            <a:noFill/>
          </a:ln>
          <a:effectLst/>
        </p:spPr>
        <p:txBody>
          <a:bodyPr rtlCol="0" anchor="ctr"/>
          <a:lstStyle/>
          <a:p>
            <a:pPr algn="ctr"/>
          </a:p>
        </p:txBody>
      </p:sp>
      <p:sp>
        <p:nvSpPr>
          <p:cNvPr id="23" name="s24 TextBox 22"/>
          <p:cNvSpPr txBox="1"/>
          <p:nvPr/>
        </p:nvSpPr>
        <p:spPr>
          <a:xfrm>
            <a:off x="6720840" y="2286000"/>
            <a:ext cx="461772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Models were trained on synthetic competition data; production retrains on Waypoint’s own deliveries first</a:t>
            </a:r>
          </a:p>
        </p:txBody>
      </p:sp>
      <p:sp>
        <p:nvSpPr>
          <p:cNvPr id="24" name="s24 Oval 23"/>
          <p:cNvSpPr/>
          <p:nvPr/>
        </p:nvSpPr>
        <p:spPr>
          <a:xfrm>
            <a:off x="6492240" y="3099815"/>
            <a:ext cx="100584" cy="100584"/>
          </a:xfrm>
          <a:prstGeom prst="ellipse">
            <a:avLst/>
          </a:prstGeom>
          <a:solidFill>
            <a:srgbClr val="C08A3E"/>
          </a:solidFill>
          <a:ln>
            <a:noFill/>
          </a:ln>
          <a:effectLst/>
        </p:spPr>
        <p:txBody>
          <a:bodyPr rtlCol="0" anchor="ctr"/>
          <a:lstStyle/>
          <a:p>
            <a:pPr algn="ctr"/>
          </a:p>
        </p:txBody>
      </p:sp>
      <p:sp>
        <p:nvSpPr>
          <p:cNvPr id="25" name="s24 TextBox 24"/>
          <p:cNvSpPr txBox="1"/>
          <p:nvPr/>
        </p:nvSpPr>
        <p:spPr>
          <a:xfrm>
            <a:off x="6720840" y="3017520"/>
            <a:ext cx="461772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Tech forecast error is ≈ 30% (only 3% of volume)</a:t>
            </a:r>
          </a:p>
        </p:txBody>
      </p:sp>
      <p:sp>
        <p:nvSpPr>
          <p:cNvPr id="26" name="s24 Oval 25"/>
          <p:cNvSpPr/>
          <p:nvPr/>
        </p:nvSpPr>
        <p:spPr>
          <a:xfrm>
            <a:off x="6492240" y="3831335"/>
            <a:ext cx="100584" cy="100584"/>
          </a:xfrm>
          <a:prstGeom prst="ellipse">
            <a:avLst/>
          </a:prstGeom>
          <a:solidFill>
            <a:srgbClr val="C08A3E"/>
          </a:solidFill>
          <a:ln>
            <a:noFill/>
          </a:ln>
          <a:effectLst/>
        </p:spPr>
        <p:txBody>
          <a:bodyPr rtlCol="0" anchor="ctr"/>
          <a:lstStyle/>
          <a:p>
            <a:pPr algn="ctr"/>
          </a:p>
        </p:txBody>
      </p:sp>
      <p:sp>
        <p:nvSpPr>
          <p:cNvPr id="27" name="s24 TextBox 26"/>
          <p:cNvSpPr txBox="1"/>
          <p:nvPr/>
        </p:nvSpPr>
        <p:spPr>
          <a:xfrm>
            <a:off x="6720840" y="3749039"/>
            <a:ext cx="461772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Without live road data, late-risk AUC drops from 0.976 to 0.957</a:t>
            </a:r>
          </a:p>
        </p:txBody>
      </p:sp>
      <p:sp>
        <p:nvSpPr>
          <p:cNvPr id="28" name="s24 Oval 27"/>
          <p:cNvSpPr/>
          <p:nvPr/>
        </p:nvSpPr>
        <p:spPr>
          <a:xfrm>
            <a:off x="6492240" y="4562856"/>
            <a:ext cx="100584" cy="100584"/>
          </a:xfrm>
          <a:prstGeom prst="ellipse">
            <a:avLst/>
          </a:prstGeom>
          <a:solidFill>
            <a:srgbClr val="C08A3E"/>
          </a:solidFill>
          <a:ln>
            <a:noFill/>
          </a:ln>
          <a:effectLst/>
        </p:spPr>
        <p:txBody>
          <a:bodyPr rtlCol="0" anchor="ctr"/>
          <a:lstStyle/>
          <a:p>
            <a:pPr algn="ctr"/>
          </a:p>
        </p:txBody>
      </p:sp>
      <p:sp>
        <p:nvSpPr>
          <p:cNvPr id="29" name="s24 TextBox 28"/>
          <p:cNvSpPr txBox="1"/>
          <p:nvPr/>
        </p:nvSpPr>
        <p:spPr>
          <a:xfrm>
            <a:off x="6720840" y="4480560"/>
            <a:ext cx="461772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Value figures are estimates until the pilot measures them</a:t>
            </a:r>
          </a:p>
        </p:txBody>
      </p:sp>
      <p:sp>
        <p:nvSpPr>
          <p:cNvPr id="30" name="s24 Oval 29"/>
          <p:cNvSpPr/>
          <p:nvPr/>
        </p:nvSpPr>
        <p:spPr>
          <a:xfrm>
            <a:off x="6492240" y="5294376"/>
            <a:ext cx="100584" cy="100584"/>
          </a:xfrm>
          <a:prstGeom prst="ellipse">
            <a:avLst/>
          </a:prstGeom>
          <a:solidFill>
            <a:srgbClr val="C08A3E"/>
          </a:solidFill>
          <a:ln>
            <a:noFill/>
          </a:ln>
          <a:effectLst/>
        </p:spPr>
        <p:txBody>
          <a:bodyPr rtlCol="0" anchor="ctr"/>
          <a:lstStyle/>
          <a:p>
            <a:pPr algn="ctr"/>
          </a:p>
        </p:txBody>
      </p:sp>
      <p:sp>
        <p:nvSpPr>
          <p:cNvPr id="31" name="s24 TextBox 30"/>
          <p:cNvSpPr txBox="1"/>
          <p:nvPr/>
        </p:nvSpPr>
        <p:spPr>
          <a:xfrm>
            <a:off x="6720840" y="5212080"/>
            <a:ext cx="4617720" cy="731520"/>
          </a:xfrm>
          <a:prstGeom prst="rect">
            <a:avLst/>
          </a:prstGeom>
          <a:noFill/>
        </p:spPr>
        <p:txBody>
          <a:bodyPr wrap="square" lIns="0" rIns="0" tIns="0" bIns="0" anchor="t">
            <a:spAutoFit/>
          </a:bodyPr>
          <a:lstStyle/>
          <a:p>
            <a:pPr algn="l">
              <a:lnSpc>
                <a:spcPct val="108000"/>
              </a:lnSpc>
            </a:pPr>
            <a:r>
              <a:rPr sz="1250" b="0" i="0">
                <a:solidFill>
                  <a:srgbClr val="1C2B26"/>
                </a:solidFill>
                <a:latin typeface="Arial"/>
              </a:rPr>
              <a:t>Language AI and the report-sorting AI (Jev) are off or in shadow until agreed; multi-tenancy not built</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5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5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5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Engineering quality</a:t>
            </a:r>
          </a:p>
        </p:txBody>
      </p:sp>
      <p:sp>
        <p:nvSpPr>
          <p:cNvPr id="5" name="s25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Built to be run, not just demonstrated</a:t>
            </a:r>
          </a:p>
        </p:txBody>
      </p:sp>
      <p:sp>
        <p:nvSpPr>
          <p:cNvPr id="6" name="s25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5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25</a:t>
            </a:r>
          </a:p>
        </p:txBody>
      </p:sp>
      <p:grpSp>
        <p:nvGrpSpPr>
          <p:cNvPr id="11" name="s25 Group 10"/>
          <p:cNvGrpSpPr/>
          <p:nvPr/>
        </p:nvGrpSpPr>
        <p:grpSpPr>
          <a:xfrm>
            <a:off x="548640" y="1691640"/>
            <a:ext cx="3576218" cy="1225296"/>
            <a:chOff x="548640" y="1691640"/>
            <a:chExt cx="3576218" cy="1225296"/>
          </a:xfrm>
        </p:grpSpPr>
        <p:sp>
          <p:nvSpPr>
            <p:cNvPr id="8" name="s25 Rounded Rectangle 7"/>
            <p:cNvSpPr/>
            <p:nvPr/>
          </p:nvSpPr>
          <p:spPr>
            <a:xfrm>
              <a:off x="548640" y="1691640"/>
              <a:ext cx="3576218" cy="1188720"/>
            </a:xfrm>
            <a:prstGeom prst="roundRect">
              <a:avLst>
                <a:gd name="adj" fmla="val 12307"/>
              </a:avLst>
            </a:prstGeom>
            <a:solidFill>
              <a:srgbClr val="FFFFFF"/>
            </a:solidFill>
            <a:ln w="12700">
              <a:solidFill>
                <a:srgbClr val="D9E3DE"/>
              </a:solidFill>
            </a:ln>
            <a:effectLst/>
          </p:spPr>
          <p:txBody>
            <a:bodyPr rtlCol="0" anchor="ctr"/>
            <a:lstStyle/>
            <a:p/>
          </p:txBody>
        </p:sp>
        <p:sp>
          <p:nvSpPr>
            <p:cNvPr id="9" name="s25 TextBox 8"/>
            <p:cNvSpPr txBox="1"/>
            <p:nvPr/>
          </p:nvSpPr>
          <p:spPr>
            <a:xfrm>
              <a:off x="731520" y="1801368"/>
              <a:ext cx="3210458" cy="566928"/>
            </a:xfrm>
            <a:prstGeom prst="rect">
              <a:avLst/>
            </a:prstGeom>
            <a:noFill/>
          </p:spPr>
          <p:txBody>
            <a:bodyPr wrap="none" lIns="0" rIns="0" tIns="0" bIns="0" anchor="t">
              <a:spAutoFit/>
            </a:bodyPr>
            <a:lstStyle/>
            <a:p>
              <a:pPr algn="l">
                <a:lnSpc>
                  <a:spcPct val="108000"/>
                </a:lnSpc>
              </a:pPr>
              <a:r>
                <a:rPr sz="3000" b="1" i="0" spc="-50">
                  <a:solidFill>
                    <a:srgbClr val="0A6B63"/>
                  </a:solidFill>
                  <a:latin typeface="Arial"/>
                </a:rPr>
                <a:t>217</a:t>
              </a:r>
            </a:p>
          </p:txBody>
        </p:sp>
        <p:sp>
          <p:nvSpPr>
            <p:cNvPr id="10" name="s25 TextBox 9"/>
            <p:cNvSpPr txBox="1"/>
            <p:nvPr/>
          </p:nvSpPr>
          <p:spPr>
            <a:xfrm>
              <a:off x="731520" y="2276856"/>
              <a:ext cx="3210458" cy="640080"/>
            </a:xfrm>
            <a:prstGeom prst="rect">
              <a:avLst/>
            </a:prstGeom>
            <a:noFill/>
          </p:spPr>
          <p:txBody>
            <a:bodyPr wrap="square" lIns="0" rIns="0" tIns="0" bIns="0" anchor="t">
              <a:spAutoFit/>
            </a:bodyPr>
            <a:lstStyle/>
            <a:p>
              <a:pPr algn="l">
                <a:lnSpc>
                  <a:spcPct val="105000"/>
                </a:lnSpc>
              </a:pPr>
              <a:r>
                <a:rPr sz="1250" b="0" i="0">
                  <a:solidFill>
                    <a:srgbClr val="4C5851"/>
                  </a:solidFill>
                  <a:latin typeface="Arial"/>
                </a:rPr>
                <a:t>backend test files: unit, architecture, integration</a:t>
              </a:r>
            </a:p>
          </p:txBody>
        </p:sp>
      </p:grpSp>
      <p:grpSp>
        <p:nvGrpSpPr>
          <p:cNvPr id="15" name="s25 Group 14"/>
          <p:cNvGrpSpPr/>
          <p:nvPr/>
        </p:nvGrpSpPr>
        <p:grpSpPr>
          <a:xfrm>
            <a:off x="4307738" y="1691640"/>
            <a:ext cx="3576218" cy="1225296"/>
            <a:chOff x="4307738" y="1691640"/>
            <a:chExt cx="3576218" cy="1225296"/>
          </a:xfrm>
        </p:grpSpPr>
        <p:sp>
          <p:nvSpPr>
            <p:cNvPr id="12" name="s25 Rounded Rectangle 11"/>
            <p:cNvSpPr/>
            <p:nvPr/>
          </p:nvSpPr>
          <p:spPr>
            <a:xfrm>
              <a:off x="4307738" y="1691640"/>
              <a:ext cx="3576218" cy="1188720"/>
            </a:xfrm>
            <a:prstGeom prst="roundRect">
              <a:avLst>
                <a:gd name="adj" fmla="val 12307"/>
              </a:avLst>
            </a:prstGeom>
            <a:solidFill>
              <a:srgbClr val="FFFFFF"/>
            </a:solidFill>
            <a:ln w="12700">
              <a:solidFill>
                <a:srgbClr val="D9E3DE"/>
              </a:solidFill>
            </a:ln>
            <a:effectLst/>
          </p:spPr>
          <p:txBody>
            <a:bodyPr rtlCol="0" anchor="ctr"/>
            <a:lstStyle/>
            <a:p/>
          </p:txBody>
        </p:sp>
        <p:sp>
          <p:nvSpPr>
            <p:cNvPr id="13" name="s25 TextBox 12"/>
            <p:cNvSpPr txBox="1"/>
            <p:nvPr/>
          </p:nvSpPr>
          <p:spPr>
            <a:xfrm>
              <a:off x="4490618" y="1801368"/>
              <a:ext cx="3210458" cy="566928"/>
            </a:xfrm>
            <a:prstGeom prst="rect">
              <a:avLst/>
            </a:prstGeom>
            <a:noFill/>
          </p:spPr>
          <p:txBody>
            <a:bodyPr wrap="none" lIns="0" rIns="0" tIns="0" bIns="0" anchor="t">
              <a:spAutoFit/>
            </a:bodyPr>
            <a:lstStyle/>
            <a:p>
              <a:pPr algn="l">
                <a:lnSpc>
                  <a:spcPct val="108000"/>
                </a:lnSpc>
              </a:pPr>
              <a:r>
                <a:rPr sz="3000" b="1" i="0" spc="-50">
                  <a:solidFill>
                    <a:srgbClr val="0A6B63"/>
                  </a:solidFill>
                  <a:latin typeface="Arial"/>
                </a:rPr>
                <a:t>93</a:t>
              </a:r>
            </a:p>
          </p:txBody>
        </p:sp>
        <p:sp>
          <p:nvSpPr>
            <p:cNvPr id="14" name="s25 TextBox 13"/>
            <p:cNvSpPr txBox="1"/>
            <p:nvPr/>
          </p:nvSpPr>
          <p:spPr>
            <a:xfrm>
              <a:off x="4490618" y="2276856"/>
              <a:ext cx="3210458" cy="640080"/>
            </a:xfrm>
            <a:prstGeom prst="rect">
              <a:avLst/>
            </a:prstGeom>
            <a:noFill/>
          </p:spPr>
          <p:txBody>
            <a:bodyPr wrap="square" lIns="0" rIns="0" tIns="0" bIns="0" anchor="t">
              <a:spAutoFit/>
            </a:bodyPr>
            <a:lstStyle/>
            <a:p>
              <a:pPr algn="l">
                <a:lnSpc>
                  <a:spcPct val="105000"/>
                </a:lnSpc>
              </a:pPr>
              <a:r>
                <a:rPr sz="1250" b="0" i="0">
                  <a:solidFill>
                    <a:srgbClr val="4C5851"/>
                  </a:solidFill>
                  <a:latin typeface="Arial"/>
                </a:rPr>
                <a:t>frontend unit tests</a:t>
              </a:r>
            </a:p>
          </p:txBody>
        </p:sp>
      </p:grpSp>
      <p:grpSp>
        <p:nvGrpSpPr>
          <p:cNvPr id="19" name="s25 Group 18"/>
          <p:cNvGrpSpPr/>
          <p:nvPr/>
        </p:nvGrpSpPr>
        <p:grpSpPr>
          <a:xfrm>
            <a:off x="8066836" y="1691640"/>
            <a:ext cx="3576218" cy="1225296"/>
            <a:chOff x="8066836" y="1691640"/>
            <a:chExt cx="3576218" cy="1225296"/>
          </a:xfrm>
        </p:grpSpPr>
        <p:sp>
          <p:nvSpPr>
            <p:cNvPr id="16" name="s25 Rounded Rectangle 15"/>
            <p:cNvSpPr/>
            <p:nvPr/>
          </p:nvSpPr>
          <p:spPr>
            <a:xfrm>
              <a:off x="8066836" y="1691640"/>
              <a:ext cx="3576218" cy="1188720"/>
            </a:xfrm>
            <a:prstGeom prst="roundRect">
              <a:avLst>
                <a:gd name="adj" fmla="val 12307"/>
              </a:avLst>
            </a:prstGeom>
            <a:solidFill>
              <a:srgbClr val="FFFFFF"/>
            </a:solidFill>
            <a:ln w="12700">
              <a:solidFill>
                <a:srgbClr val="D9E3DE"/>
              </a:solidFill>
            </a:ln>
            <a:effectLst/>
          </p:spPr>
          <p:txBody>
            <a:bodyPr rtlCol="0" anchor="ctr"/>
            <a:lstStyle/>
            <a:p/>
          </p:txBody>
        </p:sp>
        <p:sp>
          <p:nvSpPr>
            <p:cNvPr id="17" name="s25 TextBox 16"/>
            <p:cNvSpPr txBox="1"/>
            <p:nvPr/>
          </p:nvSpPr>
          <p:spPr>
            <a:xfrm>
              <a:off x="8249716" y="1801368"/>
              <a:ext cx="3210458" cy="566928"/>
            </a:xfrm>
            <a:prstGeom prst="rect">
              <a:avLst/>
            </a:prstGeom>
            <a:noFill/>
          </p:spPr>
          <p:txBody>
            <a:bodyPr wrap="none" lIns="0" rIns="0" tIns="0" bIns="0" anchor="t">
              <a:spAutoFit/>
            </a:bodyPr>
            <a:lstStyle/>
            <a:p>
              <a:pPr algn="l">
                <a:lnSpc>
                  <a:spcPct val="108000"/>
                </a:lnSpc>
              </a:pPr>
              <a:r>
                <a:rPr sz="3000" b="1" i="0" spc="-50">
                  <a:solidFill>
                    <a:srgbClr val="0A6B63"/>
                  </a:solidFill>
                  <a:latin typeface="Arial"/>
                </a:rPr>
                <a:t>98</a:t>
              </a:r>
            </a:p>
          </p:txBody>
        </p:sp>
        <p:sp>
          <p:nvSpPr>
            <p:cNvPr id="18" name="s25 TextBox 17"/>
            <p:cNvSpPr txBox="1"/>
            <p:nvPr/>
          </p:nvSpPr>
          <p:spPr>
            <a:xfrm>
              <a:off x="8249716" y="2276856"/>
              <a:ext cx="3210458" cy="640080"/>
            </a:xfrm>
            <a:prstGeom prst="rect">
              <a:avLst/>
            </a:prstGeom>
            <a:noFill/>
          </p:spPr>
          <p:txBody>
            <a:bodyPr wrap="square" lIns="0" rIns="0" tIns="0" bIns="0" anchor="t">
              <a:spAutoFit/>
            </a:bodyPr>
            <a:lstStyle/>
            <a:p>
              <a:pPr algn="l">
                <a:lnSpc>
                  <a:spcPct val="105000"/>
                </a:lnSpc>
              </a:pPr>
              <a:r>
                <a:rPr sz="1250" b="0" i="0">
                  <a:solidFill>
                    <a:srgbClr val="4C5851"/>
                  </a:solidFill>
                  <a:latin typeface="Arial"/>
                </a:rPr>
                <a:t>browser test specs across every role</a:t>
              </a:r>
            </a:p>
          </p:txBody>
        </p:sp>
      </p:grpSp>
      <p:grpSp>
        <p:nvGrpSpPr>
          <p:cNvPr id="23" name="s25 Group 22"/>
          <p:cNvGrpSpPr/>
          <p:nvPr/>
        </p:nvGrpSpPr>
        <p:grpSpPr>
          <a:xfrm>
            <a:off x="548640" y="3017520"/>
            <a:ext cx="3576218" cy="1225296"/>
            <a:chOff x="548640" y="3017520"/>
            <a:chExt cx="3576218" cy="1225296"/>
          </a:xfrm>
        </p:grpSpPr>
        <p:sp>
          <p:nvSpPr>
            <p:cNvPr id="20" name="s25 Rounded Rectangle 19"/>
            <p:cNvSpPr/>
            <p:nvPr/>
          </p:nvSpPr>
          <p:spPr>
            <a:xfrm>
              <a:off x="548640" y="3017520"/>
              <a:ext cx="3576218" cy="1188720"/>
            </a:xfrm>
            <a:prstGeom prst="roundRect">
              <a:avLst>
                <a:gd name="adj" fmla="val 12307"/>
              </a:avLst>
            </a:prstGeom>
            <a:solidFill>
              <a:srgbClr val="FFFFFF"/>
            </a:solidFill>
            <a:ln w="12700">
              <a:solidFill>
                <a:srgbClr val="D9E3DE"/>
              </a:solidFill>
            </a:ln>
            <a:effectLst/>
          </p:spPr>
          <p:txBody>
            <a:bodyPr rtlCol="0" anchor="ctr"/>
            <a:lstStyle/>
            <a:p/>
          </p:txBody>
        </p:sp>
        <p:sp>
          <p:nvSpPr>
            <p:cNvPr id="21" name="s25 TextBox 20"/>
            <p:cNvSpPr txBox="1"/>
            <p:nvPr/>
          </p:nvSpPr>
          <p:spPr>
            <a:xfrm>
              <a:off x="731520" y="3127248"/>
              <a:ext cx="3210458" cy="566928"/>
            </a:xfrm>
            <a:prstGeom prst="rect">
              <a:avLst/>
            </a:prstGeom>
            <a:noFill/>
          </p:spPr>
          <p:txBody>
            <a:bodyPr wrap="none" lIns="0" rIns="0" tIns="0" bIns="0" anchor="t">
              <a:spAutoFit/>
            </a:bodyPr>
            <a:lstStyle/>
            <a:p>
              <a:pPr algn="l">
                <a:lnSpc>
                  <a:spcPct val="108000"/>
                </a:lnSpc>
              </a:pPr>
              <a:r>
                <a:rPr sz="3000" b="1" i="0" spc="-50">
                  <a:solidFill>
                    <a:srgbClr val="0A6B63"/>
                  </a:solidFill>
                  <a:latin typeface="Arial"/>
                </a:rPr>
                <a:t>12</a:t>
              </a:r>
            </a:p>
          </p:txBody>
        </p:sp>
        <p:sp>
          <p:nvSpPr>
            <p:cNvPr id="22" name="s25 TextBox 21"/>
            <p:cNvSpPr txBox="1"/>
            <p:nvPr/>
          </p:nvSpPr>
          <p:spPr>
            <a:xfrm>
              <a:off x="731520" y="3602736"/>
              <a:ext cx="3210458" cy="640080"/>
            </a:xfrm>
            <a:prstGeom prst="rect">
              <a:avLst/>
            </a:prstGeom>
            <a:noFill/>
          </p:spPr>
          <p:txBody>
            <a:bodyPr wrap="square" lIns="0" rIns="0" tIns="0" bIns="0" anchor="t">
              <a:spAutoFit/>
            </a:bodyPr>
            <a:lstStyle/>
            <a:p>
              <a:pPr algn="l">
                <a:lnSpc>
                  <a:spcPct val="105000"/>
                </a:lnSpc>
              </a:pPr>
              <a:r>
                <a:rPr sz="1250" b="0" i="0">
                  <a:solidFill>
                    <a:srgbClr val="4C5851"/>
                  </a:solidFill>
                  <a:latin typeface="Arial"/>
                </a:rPr>
                <a:t>model-service tests, incl. exact reproduction</a:t>
              </a:r>
            </a:p>
          </p:txBody>
        </p:sp>
      </p:grpSp>
      <p:grpSp>
        <p:nvGrpSpPr>
          <p:cNvPr id="27" name="s25 Group 26"/>
          <p:cNvGrpSpPr/>
          <p:nvPr/>
        </p:nvGrpSpPr>
        <p:grpSpPr>
          <a:xfrm>
            <a:off x="4307738" y="3017520"/>
            <a:ext cx="3576218" cy="1225296"/>
            <a:chOff x="4307738" y="3017520"/>
            <a:chExt cx="3576218" cy="1225296"/>
          </a:xfrm>
        </p:grpSpPr>
        <p:sp>
          <p:nvSpPr>
            <p:cNvPr id="24" name="s25 Rounded Rectangle 23"/>
            <p:cNvSpPr/>
            <p:nvPr/>
          </p:nvSpPr>
          <p:spPr>
            <a:xfrm>
              <a:off x="4307738" y="3017520"/>
              <a:ext cx="3576218" cy="1188720"/>
            </a:xfrm>
            <a:prstGeom prst="roundRect">
              <a:avLst>
                <a:gd name="adj" fmla="val 12307"/>
              </a:avLst>
            </a:prstGeom>
            <a:solidFill>
              <a:srgbClr val="FFFFFF"/>
            </a:solidFill>
            <a:ln w="12700">
              <a:solidFill>
                <a:srgbClr val="D9E3DE"/>
              </a:solidFill>
            </a:ln>
            <a:effectLst/>
          </p:spPr>
          <p:txBody>
            <a:bodyPr rtlCol="0" anchor="ctr"/>
            <a:lstStyle/>
            <a:p/>
          </p:txBody>
        </p:sp>
        <p:sp>
          <p:nvSpPr>
            <p:cNvPr id="25" name="s25 TextBox 24"/>
            <p:cNvSpPr txBox="1"/>
            <p:nvPr/>
          </p:nvSpPr>
          <p:spPr>
            <a:xfrm>
              <a:off x="4490618" y="3127248"/>
              <a:ext cx="3210458" cy="566928"/>
            </a:xfrm>
            <a:prstGeom prst="rect">
              <a:avLst/>
            </a:prstGeom>
            <a:noFill/>
          </p:spPr>
          <p:txBody>
            <a:bodyPr wrap="none" lIns="0" rIns="0" tIns="0" bIns="0" anchor="t">
              <a:spAutoFit/>
            </a:bodyPr>
            <a:lstStyle/>
            <a:p>
              <a:pPr algn="l">
                <a:lnSpc>
                  <a:spcPct val="108000"/>
                </a:lnSpc>
              </a:pPr>
              <a:r>
                <a:rPr sz="3000" b="1" i="0" spc="-50">
                  <a:solidFill>
                    <a:srgbClr val="0A6B63"/>
                  </a:solidFill>
                  <a:latin typeface="Arial"/>
                </a:rPr>
                <a:t>188</a:t>
              </a:r>
            </a:p>
          </p:txBody>
        </p:sp>
        <p:sp>
          <p:nvSpPr>
            <p:cNvPr id="26" name="s25 TextBox 25"/>
            <p:cNvSpPr txBox="1"/>
            <p:nvPr/>
          </p:nvSpPr>
          <p:spPr>
            <a:xfrm>
              <a:off x="4490618" y="3602736"/>
              <a:ext cx="3210458" cy="640080"/>
            </a:xfrm>
            <a:prstGeom prst="rect">
              <a:avLst/>
            </a:prstGeom>
            <a:noFill/>
          </p:spPr>
          <p:txBody>
            <a:bodyPr wrap="square" lIns="0" rIns="0" tIns="0" bIns="0" anchor="t">
              <a:spAutoFit/>
            </a:bodyPr>
            <a:lstStyle/>
            <a:p>
              <a:pPr algn="l">
                <a:lnSpc>
                  <a:spcPct val="105000"/>
                </a:lnSpc>
              </a:pPr>
              <a:r>
                <a:rPr sz="1250" b="0" i="0">
                  <a:solidFill>
                    <a:srgbClr val="4C5851"/>
                  </a:solidFill>
                  <a:latin typeface="Arial"/>
                </a:rPr>
                <a:t>versioned database migrations</a:t>
              </a:r>
            </a:p>
          </p:txBody>
        </p:sp>
      </p:grpSp>
      <p:grpSp>
        <p:nvGrpSpPr>
          <p:cNvPr id="31" name="s25 Group 30"/>
          <p:cNvGrpSpPr/>
          <p:nvPr/>
        </p:nvGrpSpPr>
        <p:grpSpPr>
          <a:xfrm>
            <a:off x="8066836" y="3017520"/>
            <a:ext cx="3576218" cy="1225296"/>
            <a:chOff x="8066836" y="3017520"/>
            <a:chExt cx="3576218" cy="1225296"/>
          </a:xfrm>
        </p:grpSpPr>
        <p:sp>
          <p:nvSpPr>
            <p:cNvPr id="28" name="s25 Rounded Rectangle 27"/>
            <p:cNvSpPr/>
            <p:nvPr/>
          </p:nvSpPr>
          <p:spPr>
            <a:xfrm>
              <a:off x="8066836" y="3017520"/>
              <a:ext cx="3576218" cy="1188720"/>
            </a:xfrm>
            <a:prstGeom prst="roundRect">
              <a:avLst>
                <a:gd name="adj" fmla="val 12307"/>
              </a:avLst>
            </a:prstGeom>
            <a:solidFill>
              <a:srgbClr val="FFFFFF"/>
            </a:solidFill>
            <a:ln w="12700">
              <a:solidFill>
                <a:srgbClr val="D9E3DE"/>
              </a:solidFill>
            </a:ln>
            <a:effectLst/>
          </p:spPr>
          <p:txBody>
            <a:bodyPr rtlCol="0" anchor="ctr"/>
            <a:lstStyle/>
            <a:p/>
          </p:txBody>
        </p:sp>
        <p:sp>
          <p:nvSpPr>
            <p:cNvPr id="29" name="s25 TextBox 28"/>
            <p:cNvSpPr txBox="1"/>
            <p:nvPr/>
          </p:nvSpPr>
          <p:spPr>
            <a:xfrm>
              <a:off x="8249716" y="3127248"/>
              <a:ext cx="3210458" cy="566928"/>
            </a:xfrm>
            <a:prstGeom prst="rect">
              <a:avLst/>
            </a:prstGeom>
            <a:noFill/>
          </p:spPr>
          <p:txBody>
            <a:bodyPr wrap="none" lIns="0" rIns="0" tIns="0" bIns="0" anchor="t">
              <a:spAutoFit/>
            </a:bodyPr>
            <a:lstStyle/>
            <a:p>
              <a:pPr algn="l">
                <a:lnSpc>
                  <a:spcPct val="108000"/>
                </a:lnSpc>
              </a:pPr>
              <a:r>
                <a:rPr sz="3000" b="1" i="0" spc="-50">
                  <a:solidFill>
                    <a:srgbClr val="0A6B63"/>
                  </a:solidFill>
                  <a:latin typeface="Arial"/>
                </a:rPr>
                <a:t>41</a:t>
              </a:r>
            </a:p>
          </p:txBody>
        </p:sp>
        <p:sp>
          <p:nvSpPr>
            <p:cNvPr id="30" name="s25 TextBox 29"/>
            <p:cNvSpPr txBox="1"/>
            <p:nvPr/>
          </p:nvSpPr>
          <p:spPr>
            <a:xfrm>
              <a:off x="8249716" y="3602736"/>
              <a:ext cx="3210458" cy="640080"/>
            </a:xfrm>
            <a:prstGeom prst="rect">
              <a:avLst/>
            </a:prstGeom>
            <a:noFill/>
          </p:spPr>
          <p:txBody>
            <a:bodyPr wrap="square" lIns="0" rIns="0" tIns="0" bIns="0" anchor="t">
              <a:spAutoFit/>
            </a:bodyPr>
            <a:lstStyle/>
            <a:p>
              <a:pPr algn="l">
                <a:lnSpc>
                  <a:spcPct val="105000"/>
                </a:lnSpc>
              </a:pPr>
              <a:r>
                <a:rPr sz="1250" b="0" i="0">
                  <a:solidFill>
                    <a:srgbClr val="4C5851"/>
                  </a:solidFill>
                  <a:latin typeface="Arial"/>
                </a:rPr>
                <a:t>feature plans written before the code</a:t>
              </a:r>
            </a:p>
          </p:txBody>
        </p:sp>
      </p:grpSp>
      <p:sp>
        <p:nvSpPr>
          <p:cNvPr id="32" name="s25 Oval 31"/>
          <p:cNvSpPr/>
          <p:nvPr/>
        </p:nvSpPr>
        <p:spPr>
          <a:xfrm>
            <a:off x="548640" y="4608576"/>
            <a:ext cx="100584" cy="100584"/>
          </a:xfrm>
          <a:prstGeom prst="ellipse">
            <a:avLst/>
          </a:prstGeom>
          <a:solidFill>
            <a:srgbClr val="0A6B63"/>
          </a:solidFill>
          <a:ln>
            <a:noFill/>
          </a:ln>
          <a:effectLst/>
        </p:spPr>
        <p:txBody>
          <a:bodyPr rtlCol="0" anchor="ctr"/>
          <a:lstStyle/>
          <a:p>
            <a:pPr algn="ctr"/>
          </a:p>
        </p:txBody>
      </p:sp>
      <p:sp>
        <p:nvSpPr>
          <p:cNvPr id="33" name="s25 TextBox 32"/>
          <p:cNvSpPr txBox="1"/>
          <p:nvPr/>
        </p:nvSpPr>
        <p:spPr>
          <a:xfrm>
            <a:off x="777240" y="4526280"/>
            <a:ext cx="10744200" cy="512064"/>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One command (docker compose up) starts the whole stack: database, backend, model service, frontend and seed data</a:t>
            </a:r>
          </a:p>
        </p:txBody>
      </p:sp>
      <p:sp>
        <p:nvSpPr>
          <p:cNvPr id="34" name="s25 Oval 33"/>
          <p:cNvSpPr/>
          <p:nvPr/>
        </p:nvSpPr>
        <p:spPr>
          <a:xfrm>
            <a:off x="548640" y="5120640"/>
            <a:ext cx="100584" cy="100584"/>
          </a:xfrm>
          <a:prstGeom prst="ellipse">
            <a:avLst/>
          </a:prstGeom>
          <a:solidFill>
            <a:srgbClr val="0A6B63"/>
          </a:solidFill>
          <a:ln>
            <a:noFill/>
          </a:ln>
          <a:effectLst/>
        </p:spPr>
        <p:txBody>
          <a:bodyPr rtlCol="0" anchor="ctr"/>
          <a:lstStyle/>
          <a:p>
            <a:pPr algn="ctr"/>
          </a:p>
        </p:txBody>
      </p:sp>
      <p:sp>
        <p:nvSpPr>
          <p:cNvPr id="35" name="s25 TextBox 34"/>
          <p:cNvSpPr txBox="1"/>
          <p:nvPr/>
        </p:nvSpPr>
        <p:spPr>
          <a:xfrm>
            <a:off x="777240" y="5038344"/>
            <a:ext cx="10744200" cy="512064"/>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Every pull request: backend tests, type check, unit tests, build and browser suites per role; secret scanning; model-file scanning</a:t>
            </a:r>
          </a:p>
        </p:txBody>
      </p:sp>
      <p:sp>
        <p:nvSpPr>
          <p:cNvPr id="36" name="s25 Oval 35"/>
          <p:cNvSpPr/>
          <p:nvPr/>
        </p:nvSpPr>
        <p:spPr>
          <a:xfrm>
            <a:off x="548640" y="5632704"/>
            <a:ext cx="100584" cy="100584"/>
          </a:xfrm>
          <a:prstGeom prst="ellipse">
            <a:avLst/>
          </a:prstGeom>
          <a:solidFill>
            <a:srgbClr val="0A6B63"/>
          </a:solidFill>
          <a:ln>
            <a:noFill/>
          </a:ln>
          <a:effectLst/>
        </p:spPr>
        <p:txBody>
          <a:bodyPr rtlCol="0" anchor="ctr"/>
          <a:lstStyle/>
          <a:p>
            <a:pPr algn="ctr"/>
          </a:p>
        </p:txBody>
      </p:sp>
      <p:sp>
        <p:nvSpPr>
          <p:cNvPr id="37" name="s25 TextBox 36"/>
          <p:cNvSpPr txBox="1"/>
          <p:nvPr/>
        </p:nvSpPr>
        <p:spPr>
          <a:xfrm>
            <a:off x="777240" y="5550408"/>
            <a:ext cx="10744200" cy="512064"/>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Prometheus, Grafana, Loki and Alertmanager, with alerts on model drift and refused AI-assistant calls</a:t>
            </a:r>
          </a:p>
        </p:txBody>
      </p:sp>
      <p:sp>
        <p:nvSpPr>
          <p:cNvPr id="38" name="s25 Oval 37"/>
          <p:cNvSpPr/>
          <p:nvPr/>
        </p:nvSpPr>
        <p:spPr>
          <a:xfrm>
            <a:off x="548640" y="6144768"/>
            <a:ext cx="100584" cy="100584"/>
          </a:xfrm>
          <a:prstGeom prst="ellipse">
            <a:avLst/>
          </a:prstGeom>
          <a:solidFill>
            <a:srgbClr val="0A6B63"/>
          </a:solidFill>
          <a:ln>
            <a:noFill/>
          </a:ln>
          <a:effectLst/>
        </p:spPr>
        <p:txBody>
          <a:bodyPr rtlCol="0" anchor="ctr"/>
          <a:lstStyle/>
          <a:p>
            <a:pPr algn="ctr"/>
          </a:p>
        </p:txBody>
      </p:sp>
      <p:sp>
        <p:nvSpPr>
          <p:cNvPr id="39" name="s25 TextBox 38"/>
          <p:cNvSpPr txBox="1"/>
          <p:nvPr/>
        </p:nvSpPr>
        <p:spPr>
          <a:xfrm>
            <a:off x="777240" y="6062472"/>
            <a:ext cx="10744200" cy="512064"/>
          </a:xfrm>
          <a:prstGeom prst="rect">
            <a:avLst/>
          </a:prstGeom>
          <a:noFill/>
        </p:spPr>
        <p:txBody>
          <a:bodyPr wrap="square" lIns="0" rIns="0" tIns="0" bIns="0" anchor="t">
            <a:spAutoFit/>
          </a:bodyPr>
          <a:lstStyle/>
          <a:p>
            <a:pPr algn="l">
              <a:lnSpc>
                <a:spcPct val="108000"/>
              </a:lnSpc>
            </a:pPr>
            <a:r>
              <a:rPr sz="1300" b="0" i="0">
                <a:solidFill>
                  <a:srgbClr val="1C2B26"/>
                </a:solidFill>
                <a:latin typeface="Arial"/>
              </a:rPr>
              <a:t>AI coding tools were used and are disclosed in the repository (docs/ai-disclosure.md)</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2"/>
        </a:solidFill>
        <a:effectLst/>
      </p:bgPr>
    </p:bg>
    <p:spTree>
      <p:nvGrpSpPr>
        <p:cNvPr id="1" name=""/>
        <p:cNvGrpSpPr/>
        <p:nvPr/>
      </p:nvGrpSpPr>
      <p:grpSpPr/>
      <p:sp>
        <p:nvSpPr>
          <p:cNvPr id="2" name="s26 Rounded Rectangle 1"/>
          <p:cNvSpPr/>
          <p:nvPr/>
        </p:nvSpPr>
        <p:spPr>
          <a:xfrm>
            <a:off x="548640" y="384048"/>
            <a:ext cx="833839" cy="274320"/>
          </a:xfrm>
          <a:prstGeom prst="roundRect">
            <a:avLst>
              <a:gd name="adj" fmla="val 50000"/>
            </a:avLst>
          </a:prstGeom>
          <a:solidFill>
            <a:srgbClr val="B7F2ED"/>
          </a:solidFill>
          <a:ln>
            <a:noFill/>
          </a:ln>
          <a:effectLst/>
        </p:spPr>
        <p:txBody>
          <a:bodyPr rtlCol="0" anchor="ctr" lIns="0" rIns="0" tIns="0" bIns="0" wrap="none"/>
          <a:lstStyle/>
          <a:p>
            <a:pPr algn="ctr"/>
            <a:r>
              <a:rPr sz="1100" b="1" i="0">
                <a:solidFill>
                  <a:srgbClr val="031B08"/>
                </a:solidFill>
                <a:latin typeface="Arial"/>
              </a:rPr>
              <a:t>Backup</a:t>
            </a:r>
          </a:p>
        </p:txBody>
      </p:sp>
      <p:sp>
        <p:nvSpPr>
          <p:cNvPr id="3" name="s26 Rounded Rectangle 2">
            <a:hlinkClick action="ppaction://hlinksldjump" r:id="rId3"/>
          </p:cNvPr>
          <p:cNvSpPr/>
          <p:nvPr/>
        </p:nvSpPr>
        <p:spPr>
          <a:xfrm>
            <a:off x="10948986" y="384048"/>
            <a:ext cx="694068" cy="274320"/>
          </a:xfrm>
          <a:prstGeom prst="roundRect">
            <a:avLst>
              <a:gd name="adj" fmla="val 50000"/>
            </a:avLst>
          </a:prstGeom>
          <a:solidFill>
            <a:srgbClr val="E2EDEC"/>
          </a:solidFill>
          <a:ln>
            <a:noFill/>
          </a:ln>
          <a:effectLst/>
        </p:spPr>
        <p:txBody>
          <a:bodyPr rtlCol="0" anchor="ctr" lIns="0" rIns="0" tIns="0" bIns="0" wrap="none"/>
          <a:lstStyle/>
          <a:p>
            <a:pPr algn="ctr"/>
            <a:r>
              <a:rPr sz="1100" b="1" i="0">
                <a:solidFill>
                  <a:srgbClr val="4C5851"/>
                </a:solidFill>
                <a:latin typeface="Arial"/>
              </a:rPr>
              <a:t>Index</a:t>
            </a:r>
          </a:p>
        </p:txBody>
      </p:sp>
      <p:sp>
        <p:nvSpPr>
          <p:cNvPr id="4" name="s26 TextBox 3"/>
          <p:cNvSpPr txBox="1"/>
          <p:nvPr/>
        </p:nvSpPr>
        <p:spPr>
          <a:xfrm>
            <a:off x="548640" y="749808"/>
            <a:ext cx="11094415" cy="548640"/>
          </a:xfrm>
          <a:prstGeom prst="rect">
            <a:avLst/>
          </a:prstGeom>
          <a:noFill/>
        </p:spPr>
        <p:txBody>
          <a:bodyPr wrap="square" lIns="0" rIns="0" tIns="0" bIns="0" anchor="t">
            <a:spAutoFit/>
          </a:bodyPr>
          <a:lstStyle/>
          <a:p>
            <a:pPr algn="l">
              <a:lnSpc>
                <a:spcPct val="108000"/>
              </a:lnSpc>
            </a:pPr>
            <a:r>
              <a:rPr sz="2800" b="1" i="0" spc="-60">
                <a:solidFill>
                  <a:srgbClr val="031B08"/>
                </a:solidFill>
                <a:latin typeface="Arial"/>
              </a:rPr>
              <a:t>Numbers at a glance</a:t>
            </a:r>
          </a:p>
        </p:txBody>
      </p:sp>
      <p:sp>
        <p:nvSpPr>
          <p:cNvPr id="5" name="s26 TextBox 4"/>
          <p:cNvSpPr txBox="1"/>
          <p:nvPr/>
        </p:nvSpPr>
        <p:spPr>
          <a:xfrm>
            <a:off x="548640" y="1261872"/>
            <a:ext cx="10180015" cy="365760"/>
          </a:xfrm>
          <a:prstGeom prst="rect">
            <a:avLst/>
          </a:prstGeom>
          <a:noFill/>
        </p:spPr>
        <p:txBody>
          <a:bodyPr wrap="square" lIns="0" rIns="0" tIns="0" bIns="0" anchor="t">
            <a:spAutoFit/>
          </a:bodyPr>
          <a:lstStyle/>
          <a:p>
            <a:pPr algn="l">
              <a:lnSpc>
                <a:spcPct val="108000"/>
              </a:lnSpc>
            </a:pPr>
            <a:r>
              <a:rPr sz="1400" b="0" i="0">
                <a:solidFill>
                  <a:srgbClr val="4C5851"/>
                </a:solidFill>
                <a:latin typeface="Arial"/>
              </a:rPr>
              <a:t>Every rounded number, with its exact figure and source</a:t>
            </a:r>
          </a:p>
        </p:txBody>
      </p:sp>
      <p:sp>
        <p:nvSpPr>
          <p:cNvPr id="6" name="s26 TextBox 5"/>
          <p:cNvSpPr txBox="1"/>
          <p:nvPr/>
        </p:nvSpPr>
        <p:spPr>
          <a:xfrm>
            <a:off x="548640" y="6528816"/>
            <a:ext cx="6858000" cy="201168"/>
          </a:xfrm>
          <a:prstGeom prst="rect">
            <a:avLst/>
          </a:prstGeom>
          <a:noFill/>
        </p:spPr>
        <p:txBody>
          <a:bodyPr wrap="square" lIns="0" rIns="0" tIns="0" bIns="0" anchor="t">
            <a:spAutoFit/>
          </a:bodyPr>
          <a:lstStyle/>
          <a:p>
            <a:pPr algn="l">
              <a:lnSpc>
                <a:spcPct val="108000"/>
              </a:lnSpc>
            </a:pPr>
            <a:r>
              <a:rPr sz="900" b="0" i="0">
                <a:solidFill>
                  <a:srgbClr val="66736B"/>
                </a:solidFill>
                <a:latin typeface="Arial"/>
              </a:rPr>
              <a:t>Waypoint GO · Team Xception</a:t>
            </a:r>
          </a:p>
        </p:txBody>
      </p:sp>
      <p:sp>
        <p:nvSpPr>
          <p:cNvPr id="7" name="s26 TextBox 6"/>
          <p:cNvSpPr txBox="1"/>
          <p:nvPr/>
        </p:nvSpPr>
        <p:spPr>
          <a:xfrm>
            <a:off x="11094415" y="6528816"/>
            <a:ext cx="548640" cy="201168"/>
          </a:xfrm>
          <a:prstGeom prst="rect">
            <a:avLst/>
          </a:prstGeom>
          <a:noFill/>
        </p:spPr>
        <p:txBody>
          <a:bodyPr wrap="square" lIns="0" rIns="0" tIns="0" bIns="0" anchor="t">
            <a:spAutoFit/>
          </a:bodyPr>
          <a:lstStyle/>
          <a:p>
            <a:pPr algn="r">
              <a:lnSpc>
                <a:spcPct val="108000"/>
              </a:lnSpc>
            </a:pPr>
            <a:r>
              <a:rPr sz="900" b="0" i="0">
                <a:solidFill>
                  <a:srgbClr val="66736B"/>
                </a:solidFill>
                <a:latin typeface="Arial"/>
              </a:rPr>
              <a:t>26</a:t>
            </a:r>
          </a:p>
        </p:txBody>
      </p:sp>
      <p:graphicFrame>
        <p:nvGraphicFramePr>
          <p:cNvPr id="8" name="s26 Table 7"/>
          <p:cNvGraphicFramePr>
            <a:graphicFrameLocks noGrp="1"/>
          </p:cNvGraphicFramePr>
          <p:nvPr/>
        </p:nvGraphicFramePr>
        <p:xfrm>
          <a:off x="548640" y="1645920"/>
          <a:ext cx="11091672" cy="4224528"/>
        </p:xfrm>
        <a:graphic>
          <a:graphicData uri="http://schemas.openxmlformats.org/drawingml/2006/table">
            <a:tbl>
              <a:tblPr firstRow="0" bandRow="0">
                <a:tableStyleId>{5C22544A-7EE6-4342-B048-85BDC9FD1C3A}</a:tableStyleId>
              </a:tblPr>
              <a:tblGrid>
                <a:gridCol w="2743200"/>
                <a:gridCol w="2788920"/>
                <a:gridCol w="5559552"/>
              </a:tblGrid>
              <a:tr h="384048">
                <a:tc>
                  <a:txBody>
                    <a:bodyPr wrap="square"/>
                    <a:lstStyle/>
                    <a:p>
                      <a:r>
                        <a:rPr sz="1150" b="1">
                          <a:solidFill>
                            <a:srgbClr val="FFFFFF"/>
                          </a:solidFill>
                          <a:latin typeface="Arial"/>
                        </a:rPr>
                        <a:t>Topic</a:t>
                      </a:r>
                    </a:p>
                  </a:txBody>
                  <a:tcPr marL="73152" marR="73152" marT="27432" marB="27432" anchor="ctr">
                    <a:solidFill>
                      <a:srgbClr val="031B08"/>
                    </a:solidFill>
                  </a:tcPr>
                </a:tc>
                <a:tc>
                  <a:txBody>
                    <a:bodyPr wrap="square"/>
                    <a:lstStyle/>
                    <a:p>
                      <a:r>
                        <a:rPr sz="1150" b="1">
                          <a:solidFill>
                            <a:srgbClr val="FFFFFF"/>
                          </a:solidFill>
                          <a:latin typeface="Arial"/>
                        </a:rPr>
                        <a:t>Say</a:t>
                      </a:r>
                    </a:p>
                  </a:txBody>
                  <a:tcPr marL="73152" marR="73152" marT="27432" marB="27432" anchor="ctr">
                    <a:solidFill>
                      <a:srgbClr val="031B08"/>
                    </a:solidFill>
                  </a:tcPr>
                </a:tc>
                <a:tc>
                  <a:txBody>
                    <a:bodyPr wrap="square"/>
                    <a:lstStyle/>
                    <a:p>
                      <a:r>
                        <a:rPr sz="1150" b="1">
                          <a:solidFill>
                            <a:srgbClr val="FFFFFF"/>
                          </a:solidFill>
                          <a:latin typeface="Arial"/>
                        </a:rPr>
                        <a:t>Exact figure and source</a:t>
                      </a:r>
                    </a:p>
                  </a:txBody>
                  <a:tcPr marL="73152" marR="73152" marT="27432" marB="27432" anchor="ctr">
                    <a:solidFill>
                      <a:srgbClr val="031B08"/>
                    </a:solidFill>
                  </a:tcPr>
                </a:tc>
              </a:tr>
              <a:tr h="384048">
                <a:tc>
                  <a:txBody>
                    <a:bodyPr wrap="square"/>
                    <a:lstStyle/>
                    <a:p>
                      <a:r>
                        <a:rPr sz="1150" b="1">
                          <a:solidFill>
                            <a:srgbClr val="031B08"/>
                          </a:solidFill>
                          <a:latin typeface="Arial"/>
                        </a:rPr>
                        <a:t>Late deliveries flagged</a:t>
                      </a:r>
                    </a:p>
                  </a:txBody>
                  <a:tcPr marL="73152" marR="73152" marT="27432" marB="27432" anchor="ctr">
                    <a:solidFill>
                      <a:srgbClr val="FFFFFF"/>
                    </a:solidFill>
                  </a:tcPr>
                </a:tc>
                <a:tc>
                  <a:txBody>
                    <a:bodyPr wrap="square"/>
                    <a:lstStyle/>
                    <a:p>
                      <a:r>
                        <a:rPr sz="1150" b="0">
                          <a:solidFill>
                            <a:srgbClr val="1C2B26"/>
                          </a:solidFill>
                          <a:latin typeface="Arial"/>
                        </a:rPr>
                        <a:t>7 in 10</a:t>
                      </a:r>
                    </a:p>
                  </a:txBody>
                  <a:tcPr marL="73152" marR="73152" marT="27432" marB="27432" anchor="ctr">
                    <a:solidFill>
                      <a:srgbClr val="FFFFFF"/>
                    </a:solidFill>
                  </a:tcPr>
                </a:tc>
                <a:tc>
                  <a:txBody>
                    <a:bodyPr wrap="square"/>
                    <a:lstStyle/>
                    <a:p>
                      <a:r>
                        <a:rPr sz="1150" b="0">
                          <a:solidFill>
                            <a:srgbClr val="1C2B26"/>
                          </a:solidFill>
                          <a:latin typeface="Arial"/>
                        </a:rPr>
                        <a:t>488 of 678 late deliveries, 6 unseen weeks (3 Jan–14 Feb 2026)</a:t>
                      </a:r>
                    </a:p>
                  </a:txBody>
                  <a:tcPr marL="73152" marR="73152" marT="27432" marB="27432" anchor="ctr">
                    <a:solidFill>
                      <a:srgbClr val="FFFFFF"/>
                    </a:solidFill>
                  </a:tcPr>
                </a:tc>
              </a:tr>
              <a:tr h="384048">
                <a:tc>
                  <a:txBody>
                    <a:bodyPr wrap="square"/>
                    <a:lstStyle/>
                    <a:p>
                      <a:r>
                        <a:rPr sz="1150" b="1">
                          <a:solidFill>
                            <a:srgbClr val="031B08"/>
                          </a:solidFill>
                          <a:latin typeface="Arial"/>
                        </a:rPr>
                        <a:t>Warnings that were right</a:t>
                      </a:r>
                    </a:p>
                  </a:txBody>
                  <a:tcPr marL="73152" marR="73152" marT="27432" marB="27432" anchor="ctr">
                    <a:solidFill>
                      <a:srgbClr val="F1F6F5"/>
                    </a:solidFill>
                  </a:tcPr>
                </a:tc>
                <a:tc>
                  <a:txBody>
                    <a:bodyPr wrap="square"/>
                    <a:lstStyle/>
                    <a:p>
                      <a:r>
                        <a:rPr sz="1150" b="0">
                          <a:solidFill>
                            <a:srgbClr val="1C2B26"/>
                          </a:solidFill>
                          <a:latin typeface="Arial"/>
                        </a:rPr>
                        <a:t>8 in 10</a:t>
                      </a:r>
                    </a:p>
                  </a:txBody>
                  <a:tcPr marL="73152" marR="73152" marT="27432" marB="27432" anchor="ctr">
                    <a:solidFill>
                      <a:srgbClr val="F1F6F5"/>
                    </a:solidFill>
                  </a:tcPr>
                </a:tc>
                <a:tc>
                  <a:txBody>
                    <a:bodyPr wrap="square"/>
                    <a:lstStyle/>
                    <a:p>
                      <a:r>
                        <a:rPr sz="1150" b="0">
                          <a:solidFill>
                            <a:srgbClr val="1C2B26"/>
                          </a:solidFill>
                          <a:latin typeface="Arial"/>
                        </a:rPr>
                        <a:t>488 of 583 flags (95 false alarms)</a:t>
                      </a:r>
                    </a:p>
                  </a:txBody>
                  <a:tcPr marL="73152" marR="73152" marT="27432" marB="27432" anchor="ctr">
                    <a:solidFill>
                      <a:srgbClr val="F1F6F5"/>
                    </a:solidFill>
                  </a:tcPr>
                </a:tc>
              </a:tr>
              <a:tr h="384048">
                <a:tc>
                  <a:txBody>
                    <a:bodyPr wrap="square"/>
                    <a:lstStyle/>
                    <a:p>
                      <a:r>
                        <a:rPr sz="1150" b="1">
                          <a:solidFill>
                            <a:srgbClr val="031B08"/>
                          </a:solidFill>
                          <a:latin typeface="Arial"/>
                        </a:rPr>
                        <a:t>False alarms</a:t>
                      </a:r>
                    </a:p>
                  </a:txBody>
                  <a:tcPr marL="73152" marR="73152" marT="27432" marB="27432" anchor="ctr">
                    <a:solidFill>
                      <a:srgbClr val="FFFFFF"/>
                    </a:solidFill>
                  </a:tcPr>
                </a:tc>
                <a:tc>
                  <a:txBody>
                    <a:bodyPr wrap="square"/>
                    <a:lstStyle/>
                    <a:p>
                      <a:r>
                        <a:rPr sz="1150" b="0">
                          <a:solidFill>
                            <a:srgbClr val="1C2B26"/>
                          </a:solidFill>
                          <a:latin typeface="Arial"/>
                        </a:rPr>
                        <a:t>74% fewer</a:t>
                      </a:r>
                    </a:p>
                  </a:txBody>
                  <a:tcPr marL="73152" marR="73152" marT="27432" marB="27432" anchor="ctr">
                    <a:solidFill>
                      <a:srgbClr val="FFFFFF"/>
                    </a:solidFill>
                  </a:tcPr>
                </a:tc>
                <a:tc>
                  <a:txBody>
                    <a:bodyPr wrap="square"/>
                    <a:lstStyle/>
                    <a:p>
                      <a:r>
                        <a:rPr sz="1150" b="0">
                          <a:solidFill>
                            <a:srgbClr val="1C2B26"/>
                          </a:solidFill>
                          <a:latin typeface="Arial"/>
                        </a:rPr>
                        <a:t>95 vs 368 for the statistical baseline</a:t>
                      </a:r>
                    </a:p>
                  </a:txBody>
                  <a:tcPr marL="73152" marR="73152" marT="27432" marB="27432" anchor="ctr">
                    <a:solidFill>
                      <a:srgbClr val="FFFFFF"/>
                    </a:solidFill>
                  </a:tcPr>
                </a:tc>
              </a:tr>
              <a:tr h="384048">
                <a:tc>
                  <a:txBody>
                    <a:bodyPr wrap="square"/>
                    <a:lstStyle/>
                    <a:p>
                      <a:r>
                        <a:rPr sz="1150" b="1">
                          <a:solidFill>
                            <a:srgbClr val="031B08"/>
                          </a:solidFill>
                          <a:latin typeface="Arial"/>
                        </a:rPr>
                        <a:t>Unloading-time error</a:t>
                      </a:r>
                    </a:p>
                  </a:txBody>
                  <a:tcPr marL="73152" marR="73152" marT="27432" marB="27432" anchor="ctr">
                    <a:solidFill>
                      <a:srgbClr val="F1F6F5"/>
                    </a:solidFill>
                  </a:tcPr>
                </a:tc>
                <a:tc>
                  <a:txBody>
                    <a:bodyPr wrap="square"/>
                    <a:lstStyle/>
                    <a:p>
                      <a:r>
                        <a:rPr sz="1150" b="0">
                          <a:solidFill>
                            <a:srgbClr val="1C2B26"/>
                          </a:solidFill>
                          <a:latin typeface="Arial"/>
                        </a:rPr>
                        <a:t>under 4 minutes</a:t>
                      </a:r>
                    </a:p>
                  </a:txBody>
                  <a:tcPr marL="73152" marR="73152" marT="27432" marB="27432" anchor="ctr">
                    <a:solidFill>
                      <a:srgbClr val="F1F6F5"/>
                    </a:solidFill>
                  </a:tcPr>
                </a:tc>
                <a:tc>
                  <a:txBody>
                    <a:bodyPr wrap="square"/>
                    <a:lstStyle/>
                    <a:p>
                      <a:r>
                        <a:rPr sz="1150" b="0">
                          <a:solidFill>
                            <a:srgbClr val="1C2B26"/>
                          </a:solidFill>
                          <a:latin typeface="Arial"/>
                        </a:rPr>
                        <a:t>3.72 min mean absolute error</a:t>
                      </a:r>
                    </a:p>
                  </a:txBody>
                  <a:tcPr marL="73152" marR="73152" marT="27432" marB="27432" anchor="ctr">
                    <a:solidFill>
                      <a:srgbClr val="F1F6F5"/>
                    </a:solidFill>
                  </a:tcPr>
                </a:tc>
              </a:tr>
              <a:tr h="384048">
                <a:tc>
                  <a:txBody>
                    <a:bodyPr wrap="square"/>
                    <a:lstStyle/>
                    <a:p>
                      <a:r>
                        <a:rPr sz="1150" b="1">
                          <a:solidFill>
                            <a:srgbClr val="031B08"/>
                          </a:solidFill>
                          <a:latin typeface="Arial"/>
                        </a:rPr>
                        <a:t>Demand forecast error</a:t>
                      </a:r>
                    </a:p>
                  </a:txBody>
                  <a:tcPr marL="73152" marR="73152" marT="27432" marB="27432" anchor="ctr">
                    <a:solidFill>
                      <a:srgbClr val="FFFFFF"/>
                    </a:solidFill>
                  </a:tcPr>
                </a:tc>
                <a:tc>
                  <a:txBody>
                    <a:bodyPr wrap="square"/>
                    <a:lstStyle/>
                    <a:p>
                      <a:r>
                        <a:rPr sz="1150" b="0">
                          <a:solidFill>
                            <a:srgbClr val="1C2B26"/>
                          </a:solidFill>
                          <a:latin typeface="Arial"/>
                        </a:rPr>
                        <a:t>about 3%</a:t>
                      </a:r>
                    </a:p>
                  </a:txBody>
                  <a:tcPr marL="73152" marR="73152" marT="27432" marB="27432" anchor="ctr">
                    <a:solidFill>
                      <a:srgbClr val="FFFFFF"/>
                    </a:solidFill>
                  </a:tcPr>
                </a:tc>
                <a:tc>
                  <a:txBody>
                    <a:bodyPr wrap="square"/>
                    <a:lstStyle/>
                    <a:p>
                      <a:r>
                        <a:rPr sz="1150" b="0">
                          <a:solidFill>
                            <a:srgbClr val="1C2B26"/>
                          </a:solidFill>
                          <a:latin typeface="Arial"/>
                        </a:rPr>
                        <a:t>3.03% / 3.18% / 2.99% WAPE; chilled 2.07% / 1.97% / 2.65%</a:t>
                      </a:r>
                    </a:p>
                  </a:txBody>
                  <a:tcPr marL="73152" marR="73152" marT="27432" marB="27432" anchor="ctr">
                    <a:solidFill>
                      <a:srgbClr val="FFFFFF"/>
                    </a:solidFill>
                  </a:tcPr>
                </a:tc>
              </a:tr>
              <a:tr h="384048">
                <a:tc>
                  <a:txBody>
                    <a:bodyPr wrap="square"/>
                    <a:lstStyle/>
                    <a:p>
                      <a:r>
                        <a:rPr sz="1150" b="1">
                          <a:solidFill>
                            <a:srgbClr val="031B08"/>
                          </a:solidFill>
                          <a:latin typeface="Arial"/>
                        </a:rPr>
                        <a:t>Same week last year</a:t>
                      </a:r>
                    </a:p>
                  </a:txBody>
                  <a:tcPr marL="73152" marR="73152" marT="27432" marB="27432" anchor="ctr">
                    <a:solidFill>
                      <a:srgbClr val="F1F6F5"/>
                    </a:solidFill>
                  </a:tcPr>
                </a:tc>
                <a:tc>
                  <a:txBody>
                    <a:bodyPr wrap="square"/>
                    <a:lstStyle/>
                    <a:p>
                      <a:r>
                        <a:rPr sz="1150" b="0">
                          <a:solidFill>
                            <a:srgbClr val="1C2B26"/>
                          </a:solidFill>
                          <a:latin typeface="Arial"/>
                        </a:rPr>
                        <a:t>8%</a:t>
                      </a:r>
                    </a:p>
                  </a:txBody>
                  <a:tcPr marL="73152" marR="73152" marT="27432" marB="27432" anchor="ctr">
                    <a:solidFill>
                      <a:srgbClr val="F1F6F5"/>
                    </a:solidFill>
                  </a:tcPr>
                </a:tc>
                <a:tc>
                  <a:txBody>
                    <a:bodyPr wrap="square"/>
                    <a:lstStyle/>
                    <a:p>
                      <a:r>
                        <a:rPr sz="1150" b="0">
                          <a:solidFill>
                            <a:srgbClr val="1C2B26"/>
                          </a:solidFill>
                          <a:latin typeface="Arial"/>
                        </a:rPr>
                        <a:t>8.26% WAPE on the same selection forecasts</a:t>
                      </a:r>
                    </a:p>
                  </a:txBody>
                  <a:tcPr marL="73152" marR="73152" marT="27432" marB="27432" anchor="ctr">
                    <a:solidFill>
                      <a:srgbClr val="F1F6F5"/>
                    </a:solidFill>
                  </a:tcPr>
                </a:tc>
              </a:tr>
              <a:tr h="384048">
                <a:tc>
                  <a:txBody>
                    <a:bodyPr wrap="square"/>
                    <a:lstStyle/>
                    <a:p>
                      <a:r>
                        <a:rPr sz="1150" b="1">
                          <a:solidFill>
                            <a:srgbClr val="031B08"/>
                          </a:solidFill>
                          <a:latin typeface="Arial"/>
                        </a:rPr>
                        <a:t>Peak day</a:t>
                      </a:r>
                    </a:p>
                  </a:txBody>
                  <a:tcPr marL="73152" marR="73152" marT="27432" marB="27432" anchor="ctr">
                    <a:solidFill>
                      <a:srgbClr val="FFFFFF"/>
                    </a:solidFill>
                  </a:tcPr>
                </a:tc>
                <a:tc>
                  <a:txBody>
                    <a:bodyPr wrap="square"/>
                    <a:lstStyle/>
                    <a:p>
                      <a:r>
                        <a:rPr sz="1150" b="0">
                          <a:solidFill>
                            <a:srgbClr val="1C2B26"/>
                          </a:solidFill>
                          <a:latin typeface="Arial"/>
                        </a:rPr>
                        <a:t>77 of 85, 79 max</a:t>
                      </a:r>
                    </a:p>
                  </a:txBody>
                  <a:tcPr marL="73152" marR="73152" marT="27432" marB="27432" anchor="ctr">
                    <a:solidFill>
                      <a:srgbClr val="FFFFFF"/>
                    </a:solidFill>
                  </a:tcPr>
                </a:tc>
                <a:tc>
                  <a:txBody>
                    <a:bodyPr wrap="square"/>
                    <a:lstStyle/>
                    <a:p>
                      <a:r>
                        <a:rPr sz="1150" b="0">
                          <a:solidFill>
                            <a:srgbClr val="1C2B26"/>
                          </a:solidFill>
                          <a:latin typeface="Arial"/>
                        </a:rPr>
                        <a:t>27 trips, 17 vehicles; 8 deferred (6 unavoidable, 2 by choice)</a:t>
                      </a:r>
                    </a:p>
                  </a:txBody>
                  <a:tcPr marL="73152" marR="73152" marT="27432" marB="27432" anchor="ctr">
                    <a:solidFill>
                      <a:srgbClr val="FFFFFF"/>
                    </a:solidFill>
                  </a:tcPr>
                </a:tc>
              </a:tr>
              <a:tr h="384048">
                <a:tc>
                  <a:txBody>
                    <a:bodyPr wrap="square"/>
                    <a:lstStyle/>
                    <a:p>
                      <a:r>
                        <a:rPr sz="1150" b="1">
                          <a:solidFill>
                            <a:srgbClr val="031B08"/>
                          </a:solidFill>
                          <a:latin typeface="Arial"/>
                        </a:rPr>
                        <a:t>One reefer back (app)</a:t>
                      </a:r>
                    </a:p>
                  </a:txBody>
                  <a:tcPr marL="73152" marR="73152" marT="27432" marB="27432" anchor="ctr">
                    <a:solidFill>
                      <a:srgbClr val="F1F6F5"/>
                    </a:solidFill>
                  </a:tcPr>
                </a:tc>
                <a:tc>
                  <a:txBody>
                    <a:bodyPr wrap="square"/>
                    <a:lstStyle/>
                    <a:p>
                      <a:r>
                        <a:rPr sz="1150" b="0">
                          <a:solidFill>
                            <a:srgbClr val="1C2B26"/>
                          </a:solidFill>
                          <a:latin typeface="Arial"/>
                        </a:rPr>
                        <a:t>+9 orders, +48% chilled</a:t>
                      </a:r>
                    </a:p>
                  </a:txBody>
                  <a:tcPr marL="73152" marR="73152" marT="27432" marB="27432" anchor="ctr">
                    <a:solidFill>
                      <a:srgbClr val="F1F6F5"/>
                    </a:solidFill>
                  </a:tcPr>
                </a:tc>
                <a:tc>
                  <a:txBody>
                    <a:bodyPr wrap="square"/>
                    <a:lstStyle/>
                    <a:p>
                      <a:r>
                        <a:rPr sz="1150" b="0">
                          <a:solidFill>
                            <a:srgbClr val="1C2B26"/>
                          </a:solidFill>
                          <a:latin typeface="Arial"/>
                        </a:rPr>
                        <a:t>81 vs 72 orders; 161.0 vs 108.9 m³ (what-if, VEH004)</a:t>
                      </a:r>
                    </a:p>
                  </a:txBody>
                  <a:tcPr marL="73152" marR="73152" marT="27432" marB="27432" anchor="ctr">
                    <a:solidFill>
                      <a:srgbClr val="F1F6F5"/>
                    </a:solidFill>
                  </a:tcPr>
                </a:tc>
              </a:tr>
              <a:tr h="384048">
                <a:tc>
                  <a:txBody>
                    <a:bodyPr wrap="square"/>
                    <a:lstStyle/>
                    <a:p>
                      <a:r>
                        <a:rPr sz="1150" b="1">
                          <a:solidFill>
                            <a:srgbClr val="031B08"/>
                          </a:solidFill>
                          <a:latin typeface="Arial"/>
                        </a:rPr>
                        <a:t>Delayed orders</a:t>
                      </a:r>
                    </a:p>
                  </a:txBody>
                  <a:tcPr marL="73152" marR="73152" marT="27432" marB="27432" anchor="ctr">
                    <a:solidFill>
                      <a:srgbClr val="FFFFFF"/>
                    </a:solidFill>
                  </a:tcPr>
                </a:tc>
                <a:tc>
                  <a:txBody>
                    <a:bodyPr wrap="square"/>
                    <a:lstStyle/>
                    <a:p>
                      <a:r>
                        <a:rPr sz="1150" b="0">
                          <a:solidFill>
                            <a:srgbClr val="1C2B26"/>
                          </a:solidFill>
                          <a:latin typeface="Arial"/>
                        </a:rPr>
                        <a:t>nearly all chilled</a:t>
                      </a:r>
                    </a:p>
                  </a:txBody>
                  <a:tcPr marL="73152" marR="73152" marT="27432" marB="27432" anchor="ctr">
                    <a:solidFill>
                      <a:srgbClr val="FFFFFF"/>
                    </a:solidFill>
                  </a:tcPr>
                </a:tc>
                <a:tc>
                  <a:txBody>
                    <a:bodyPr wrap="square"/>
                    <a:lstStyle/>
                    <a:p>
                      <a:r>
                        <a:rPr sz="1150" b="0">
                          <a:solidFill>
                            <a:srgbClr val="1C2B26"/>
                          </a:solidFill>
                          <a:latin typeface="Arial"/>
                        </a:rPr>
                        <a:t>1,911 of 1,956 not dispatched on order day were Peliyagoda chilled</a:t>
                      </a:r>
                    </a:p>
                  </a:txBody>
                  <a:tcPr marL="73152" marR="73152" marT="27432" marB="27432" anchor="ctr">
                    <a:solidFill>
                      <a:srgbClr val="FFFFFF"/>
                    </a:solidFill>
                  </a:tcPr>
                </a:tc>
              </a:tr>
              <a:tr h="384048">
                <a:tc>
                  <a:txBody>
                    <a:bodyPr wrap="square"/>
                    <a:lstStyle/>
                    <a:p>
                      <a:r>
                        <a:rPr sz="1150" b="1">
                          <a:solidFill>
                            <a:srgbClr val="031B08"/>
                          </a:solidFill>
                          <a:latin typeface="Arial"/>
                        </a:rPr>
                        <a:t>Value and cost</a:t>
                      </a:r>
                    </a:p>
                  </a:txBody>
                  <a:tcPr marL="73152" marR="73152" marT="27432" marB="27432" anchor="ctr">
                    <a:solidFill>
                      <a:srgbClr val="F1F6F5"/>
                    </a:solidFill>
                  </a:tcPr>
                </a:tc>
                <a:tc>
                  <a:txBody>
                    <a:bodyPr wrap="square"/>
                    <a:lstStyle/>
                    <a:p>
                      <a:r>
                        <a:rPr sz="1150" b="0">
                          <a:solidFill>
                            <a:srgbClr val="1C2B26"/>
                          </a:solidFill>
                          <a:latin typeface="Arial"/>
                        </a:rPr>
                        <a:t>LKR 26.5m · LKR 19,000 a month</a:t>
                      </a:r>
                    </a:p>
                  </a:txBody>
                  <a:tcPr marL="73152" marR="73152" marT="27432" marB="27432" anchor="ctr">
                    <a:solidFill>
                      <a:srgbClr val="F1F6F5"/>
                    </a:solidFill>
                  </a:tcPr>
                </a:tc>
                <a:tc>
                  <a:txBody>
                    <a:bodyPr wrap="square"/>
                    <a:lstStyle/>
                    <a:p>
                      <a:r>
                        <a:rPr sz="1150" b="0">
                          <a:solidFill>
                            <a:srgbClr val="1C2B26"/>
                          </a:solidFill>
                          <a:latin typeface="Arial"/>
                        </a:rPr>
                        <a:t>expected value a year; running cost; payback ≈ 5 months</a:t>
                      </a:r>
                    </a:p>
                  </a:txBody>
                  <a:tcPr marL="73152" marR="73152" marT="27432" marB="27432" anchor="ctr">
                    <a:solidFill>
                      <a:srgbClr val="F1F6F5"/>
                    </a:solidFill>
                  </a:tcPr>
                </a:tc>
              </a:tr>
            </a:tbl>
          </a:graphicData>
        </a:graphic>
      </p:graphicFrame>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