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99" r:id="rId2"/>
    <p:sldId id="312" r:id="rId3"/>
    <p:sldId id="310" r:id="rId4"/>
    <p:sldId id="313" r:id="rId5"/>
    <p:sldId id="314" r:id="rId6"/>
    <p:sldId id="275" r:id="rId7"/>
    <p:sldId id="270" r:id="rId8"/>
    <p:sldId id="271" r:id="rId9"/>
    <p:sldId id="272" r:id="rId10"/>
    <p:sldId id="316" r:id="rId11"/>
    <p:sldId id="323" r:id="rId12"/>
    <p:sldId id="324" r:id="rId13"/>
    <p:sldId id="325" r:id="rId14"/>
    <p:sldId id="332" r:id="rId15"/>
    <p:sldId id="326" r:id="rId16"/>
    <p:sldId id="330" r:id="rId17"/>
    <p:sldId id="331" r:id="rId18"/>
    <p:sldId id="327" r:id="rId19"/>
    <p:sldId id="334" r:id="rId20"/>
    <p:sldId id="328" r:id="rId21"/>
    <p:sldId id="335" r:id="rId22"/>
    <p:sldId id="431" r:id="rId23"/>
    <p:sldId id="300" r:id="rId24"/>
    <p:sldId id="319" r:id="rId25"/>
    <p:sldId id="341" r:id="rId26"/>
    <p:sldId id="276" r:id="rId27"/>
    <p:sldId id="436" r:id="rId28"/>
    <p:sldId id="294" r:id="rId29"/>
    <p:sldId id="433" r:id="rId30"/>
    <p:sldId id="437" r:id="rId31"/>
    <p:sldId id="278" r:id="rId32"/>
    <p:sldId id="428" r:id="rId33"/>
    <p:sldId id="429" r:id="rId34"/>
    <p:sldId id="430" r:id="rId35"/>
    <p:sldId id="382" r:id="rId36"/>
    <p:sldId id="441" r:id="rId37"/>
    <p:sldId id="440" r:id="rId38"/>
    <p:sldId id="435" r:id="rId39"/>
    <p:sldId id="434" r:id="rId40"/>
    <p:sldId id="280" r:id="rId41"/>
    <p:sldId id="281" r:id="rId42"/>
    <p:sldId id="282" r:id="rId43"/>
    <p:sldId id="283" r:id="rId44"/>
    <p:sldId id="284" r:id="rId45"/>
    <p:sldId id="438" r:id="rId46"/>
    <p:sldId id="285" r:id="rId47"/>
    <p:sldId id="286" r:id="rId48"/>
    <p:sldId id="287" r:id="rId49"/>
    <p:sldId id="288" r:id="rId50"/>
    <p:sldId id="289" r:id="rId51"/>
    <p:sldId id="290" r:id="rId52"/>
    <p:sldId id="291" r:id="rId53"/>
    <p:sldId id="292" r:id="rId54"/>
    <p:sldId id="293"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F3F2"/>
    <a:srgbClr val="006A62"/>
    <a:srgbClr val="C9D1CC"/>
    <a:srgbClr val="00DE72"/>
    <a:srgbClr val="EEF0EF"/>
    <a:srgbClr val="001B09"/>
    <a:srgbClr val="00B050"/>
    <a:srgbClr val="FF7979"/>
    <a:srgbClr val="DDDDDD"/>
    <a:srgbClr val="2182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19" autoAdjust="0"/>
    <p:restoredTop sz="94660"/>
  </p:normalViewPr>
  <p:slideViewPr>
    <p:cSldViewPr snapToGrid="0">
      <p:cViewPr>
        <p:scale>
          <a:sx n="50" d="100"/>
          <a:sy n="50" d="100"/>
        </p:scale>
        <p:origin x="1632" y="12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7299AF-9171-4A3E-BE55-19D5A6A6CEE6}" type="datetimeFigureOut">
              <a:rPr lang="en-US" smtClean="0"/>
              <a:t>10/29/2026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550394-1498-43C8-BB16-E1812EFAD08A}" type="slidenum">
              <a:rPr lang="en-US" smtClean="0"/>
              <a:t>‹#›</a:t>
            </a:fld>
            <a:endParaRPr lang="en-US"/>
          </a:p>
        </p:txBody>
      </p:sp>
    </p:spTree>
    <p:extLst>
      <p:ext uri="{BB962C8B-B14F-4D97-AF65-F5344CB8AC3E}">
        <p14:creationId xmlns:p14="http://schemas.microsoft.com/office/powerpoint/2010/main" val="4166614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Waypoint every morning. A hundred and twenty stores, sixty vehicles,</a:t>
            </a:r>
          </a:p>
        </p:txBody>
      </p:sp>
      <p:sp>
        <p:nvSpPr>
          <p:cNvPr id="4" name="Slide Number Placeholder 3"/>
          <p:cNvSpPr>
            <a:spLocks noGrp="1"/>
          </p:cNvSpPr>
          <p:nvPr>
            <p:ph type="sldNum" sz="quarter" idx="5"/>
          </p:nvPr>
        </p:nvSpPr>
        <p:spPr/>
        <p:txBody>
          <a:bodyPr/>
          <a:lstStyle/>
          <a:p>
            <a:fld id="{67550394-1498-43C8-BB16-E1812EFAD08A}" type="slidenum">
              <a:rPr lang="en-US" smtClean="0"/>
              <a:t>1</a:t>
            </a:fld>
            <a:endParaRPr lang="en-US"/>
          </a:p>
        </p:txBody>
      </p:sp>
    </p:spTree>
    <p:extLst>
      <p:ext uri="{BB962C8B-B14F-4D97-AF65-F5344CB8AC3E}">
        <p14:creationId xmlns:p14="http://schemas.microsoft.com/office/powerpoint/2010/main" val="846693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90556-B302-6A08-2678-263EBC0F5C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3A08B-BC3C-748B-9494-5D12224384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EF17D-BC42-579E-A45B-8B801FE5A1C6}"/>
              </a:ext>
            </a:extLst>
          </p:cNvPr>
          <p:cNvSpPr>
            <a:spLocks noGrp="1"/>
          </p:cNvSpPr>
          <p:nvPr>
            <p:ph type="body" idx="1"/>
          </p:nvPr>
        </p:nvSpPr>
        <p:spPr/>
        <p:txBody>
          <a:bodyPr/>
          <a:lstStyle/>
          <a:p>
            <a:r>
              <a:t>and one dispatcher with a spreadsheet and a phone. It works today, because people work very hard.</a:t>
            </a:r>
          </a:p>
        </p:txBody>
      </p:sp>
      <p:sp>
        <p:nvSpPr>
          <p:cNvPr id="4" name="Slide Number Placeholder 3">
            <a:extLst>
              <a:ext uri="{FF2B5EF4-FFF2-40B4-BE49-F238E27FC236}">
                <a16:creationId xmlns:a16="http://schemas.microsoft.com/office/drawing/2014/main" id="{A004E6D2-76EF-B004-B3A9-24BACC3BE534}"/>
              </a:ext>
            </a:extLst>
          </p:cNvPr>
          <p:cNvSpPr>
            <a:spLocks noGrp="1"/>
          </p:cNvSpPr>
          <p:nvPr>
            <p:ph type="sldNum" sz="quarter" idx="5"/>
          </p:nvPr>
        </p:nvSpPr>
        <p:spPr/>
        <p:txBody>
          <a:bodyPr/>
          <a:lstStyle/>
          <a:p>
            <a:fld id="{67550394-1498-43C8-BB16-E1812EFAD08A}" type="slidenum">
              <a:rPr lang="en-US" smtClean="0"/>
              <a:t>2</a:t>
            </a:fld>
            <a:endParaRPr lang="en-US"/>
          </a:p>
        </p:txBody>
      </p:sp>
    </p:spTree>
    <p:extLst>
      <p:ext uri="{BB962C8B-B14F-4D97-AF65-F5344CB8AC3E}">
        <p14:creationId xmlns:p14="http://schemas.microsoft.com/office/powerpoint/2010/main" val="276617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found three problems that matter most. On peak days, there are more orders than vehicles, so someone must decide which stores wait.</a:t>
            </a:r>
          </a:p>
          <a:p>
            <a:r>
              <a:t>One dispatcher handles up to a hundred and twenty trips a day: planning, comparing, deferring, watching, alone.</a:t>
            </a:r>
          </a:p>
          <a:p>
            <a:r>
              <a:t>And when one van is late, the phone calls start, one store after another, while every delivery window keeps closing.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we built Waypoint GO. Ground Operations.</a:t>
            </a:r>
          </a:p>
        </p:txBody>
      </p:sp>
      <p:sp>
        <p:nvSpPr>
          <p:cNvPr id="4" name="Slide Number Placeholder 3"/>
          <p:cNvSpPr>
            <a:spLocks noGrp="1"/>
          </p:cNvSpPr>
          <p:nvPr>
            <p:ph type="sldNum" sz="quarter" idx="5"/>
          </p:nvPr>
        </p:nvSpPr>
        <p:spPr/>
        <p:txBody>
          <a:bodyPr/>
          <a:lstStyle/>
          <a:p>
            <a:fld id="{67550394-1498-43C8-BB16-E1812EFAD08A}" type="slidenum">
              <a:rPr lang="en-US" smtClean="0"/>
              <a:t>5</a:t>
            </a:fld>
            <a:endParaRPr lang="en-US"/>
          </a:p>
        </p:txBody>
      </p:sp>
    </p:spTree>
    <p:extLst>
      <p:ext uri="{BB962C8B-B14F-4D97-AF65-F5344CB8AC3E}">
        <p14:creationId xmlns:p14="http://schemas.microsoft.com/office/powerpoint/2010/main" val="3864533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90556-B302-6A08-2678-263EBC0F5C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3A08B-BC3C-748B-9494-5D122243844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73EF17D-BC42-579E-A45B-8B801FE5A1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04E6D2-76EF-B004-B3A9-24BACC3BE534}"/>
              </a:ext>
            </a:extLst>
          </p:cNvPr>
          <p:cNvSpPr>
            <a:spLocks noGrp="1"/>
          </p:cNvSpPr>
          <p:nvPr>
            <p:ph type="sldNum" sz="quarter" idx="5"/>
          </p:nvPr>
        </p:nvSpPr>
        <p:spPr/>
        <p:txBody>
          <a:bodyPr/>
          <a:lstStyle/>
          <a:p>
            <a:fld id="{67550394-1498-43C8-BB16-E1812EFAD08A}" type="slidenum">
              <a:rPr lang="en-US" smtClean="0"/>
              <a:t>6</a:t>
            </a:fld>
            <a:endParaRPr lang="en-US"/>
          </a:p>
        </p:txBody>
      </p:sp>
    </p:spTree>
    <p:extLst>
      <p:ext uri="{BB962C8B-B14F-4D97-AF65-F5344CB8AC3E}">
        <p14:creationId xmlns:p14="http://schemas.microsoft.com/office/powerpoint/2010/main" val="27661773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550394-1498-43C8-BB16-E1812EFAD08A}" type="slidenum">
              <a:rPr lang="en-US" smtClean="0"/>
              <a:t>8</a:t>
            </a:fld>
            <a:endParaRPr lang="en-US"/>
          </a:p>
        </p:txBody>
      </p:sp>
    </p:spTree>
    <p:extLst>
      <p:ext uri="{BB962C8B-B14F-4D97-AF65-F5344CB8AC3E}">
        <p14:creationId xmlns:p14="http://schemas.microsoft.com/office/powerpoint/2010/main" val="3317907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the forecast shows ten weeks ahead when vehicles will run short, so the admin can hire them in time and add them to the fleet.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16224-A3E9-5C4F-FBD0-BF4876430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F913F3-565C-5CA8-F693-7FE606067D3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B4D3F23-0D11-30F3-E1C8-619FA3A99205}"/>
              </a:ext>
            </a:extLst>
          </p:cNvPr>
          <p:cNvSpPr>
            <a:spLocks noGrp="1"/>
          </p:cNvSpPr>
          <p:nvPr>
            <p:ph type="body" sz="quarter" idx="3"/>
          </p:nvPr>
        </p:nvSpPr>
        <p:spPr/>
        <p:txBody>
          <a:bodyPr/>
          <a:lstStyle/>
          <a:p>
            <a:r>
              <a:t>And the forecast shows ten weeks ahead when vehicles will run short, so the admin can hire them in time and add them to the fleet.</a:t>
            </a:r>
          </a:p>
        </p:txBody>
      </p:sp>
      <p:sp>
        <p:nvSpPr>
          <p:cNvPr id="4" name="Slide Number Placeholder 3">
            <a:extLst>
              <a:ext uri="{FF2B5EF4-FFF2-40B4-BE49-F238E27FC236}">
                <a16:creationId xmlns:a16="http://schemas.microsoft.com/office/drawing/2014/main" id="{4BD6ACB4-1B41-1D3E-E3AA-0D0591DFDFA8}"/>
              </a:ext>
            </a:extLst>
          </p:cNvPr>
          <p:cNvSpPr>
            <a:spLocks noGrp="1"/>
          </p:cNvSpPr>
          <p:nvPr>
            <p:ph type="sldNum" sz="quarter" idx="5"/>
          </p:nvPr>
        </p:nvSpPr>
        <p:spPr/>
      </p:sp>
    </p:spTree>
    <p:extLst>
      <p:ext uri="{BB962C8B-B14F-4D97-AF65-F5344CB8AC3E}">
        <p14:creationId xmlns:p14="http://schemas.microsoft.com/office/powerpoint/2010/main" val="1451542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5FC6A-9F65-C0B3-ABF5-B5E56B2420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5BFF83-8B03-1847-72EA-E2231E2BEA2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EA252C8-8F66-BDA8-316C-BDB27C14DDAC}"/>
              </a:ext>
            </a:extLst>
          </p:cNvPr>
          <p:cNvSpPr>
            <a:spLocks noGrp="1"/>
          </p:cNvSpPr>
          <p:nvPr>
            <p:ph type="body" sz="quarter" idx="3"/>
          </p:nvPr>
        </p:nvSpPr>
        <p:spPr/>
        <p:txBody>
          <a:bodyPr/>
          <a:lstStyle/>
          <a:p>
            <a:r>
              <a:t>And the forecast shows ten weeks ahead when vehicles will run short, so the admin can hire them in time and add them to the fleet.</a:t>
            </a:r>
          </a:p>
        </p:txBody>
      </p:sp>
      <p:sp>
        <p:nvSpPr>
          <p:cNvPr id="4" name="Slide Number Placeholder 3">
            <a:extLst>
              <a:ext uri="{FF2B5EF4-FFF2-40B4-BE49-F238E27FC236}">
                <a16:creationId xmlns:a16="http://schemas.microsoft.com/office/drawing/2014/main" id="{F91DCD6B-3431-7F55-0935-4E4E7286FC13}"/>
              </a:ext>
            </a:extLst>
          </p:cNvPr>
          <p:cNvSpPr>
            <a:spLocks noGrp="1"/>
          </p:cNvSpPr>
          <p:nvPr>
            <p:ph type="sldNum" sz="quarter" idx="5"/>
          </p:nvPr>
        </p:nvSpPr>
        <p:spPr/>
      </p:sp>
    </p:spTree>
    <p:extLst>
      <p:ext uri="{BB962C8B-B14F-4D97-AF65-F5344CB8AC3E}">
        <p14:creationId xmlns:p14="http://schemas.microsoft.com/office/powerpoint/2010/main" val="2016202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A1BFD-6D13-E793-4B34-E040FBF2C8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6F210-ACA2-9E2B-3208-EC3F92EFA58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F0014F2-7211-A89F-97D2-44D4DF407720}"/>
              </a:ext>
            </a:extLst>
          </p:cNvPr>
          <p:cNvSpPr>
            <a:spLocks noGrp="1"/>
          </p:cNvSpPr>
          <p:nvPr>
            <p:ph type="body" sz="quarter" idx="3"/>
          </p:nvPr>
        </p:nvSpPr>
        <p:spPr/>
        <p:txBody>
          <a:bodyPr/>
          <a:lstStyle/>
          <a:p>
            <a:r>
              <a:t>And the forecast shows ten weeks ahead when vehicles will run short, so the admin can hire them in time and add them to the fleet.</a:t>
            </a:r>
          </a:p>
        </p:txBody>
      </p:sp>
      <p:sp>
        <p:nvSpPr>
          <p:cNvPr id="4" name="Slide Number Placeholder 3">
            <a:extLst>
              <a:ext uri="{FF2B5EF4-FFF2-40B4-BE49-F238E27FC236}">
                <a16:creationId xmlns:a16="http://schemas.microsoft.com/office/drawing/2014/main" id="{2E331B95-12E1-4722-8959-A4D45A4AA659}"/>
              </a:ext>
            </a:extLst>
          </p:cNvPr>
          <p:cNvSpPr>
            <a:spLocks noGrp="1"/>
          </p:cNvSpPr>
          <p:nvPr>
            <p:ph type="sldNum" sz="quarter" idx="5"/>
          </p:nvPr>
        </p:nvSpPr>
        <p:spPr/>
      </p:sp>
    </p:spTree>
    <p:extLst>
      <p:ext uri="{BB962C8B-B14F-4D97-AF65-F5344CB8AC3E}">
        <p14:creationId xmlns:p14="http://schemas.microsoft.com/office/powerpoint/2010/main" val="21789344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F8DBF-E889-7D69-EA46-B89A4B624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B4E1A-30DE-D6A7-5AE9-80EEF96C702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A2F4B86-E5F2-D676-7DE6-C880C23C10F7}"/>
              </a:ext>
            </a:extLst>
          </p:cNvPr>
          <p:cNvSpPr>
            <a:spLocks noGrp="1"/>
          </p:cNvSpPr>
          <p:nvPr>
            <p:ph type="body" sz="quarter" idx="3"/>
          </p:nvPr>
        </p:nvSpPr>
        <p:spPr/>
        <p:txBody>
          <a:bodyPr/>
          <a:lstStyle/>
          <a:p>
            <a:r>
              <a:t>And the forecast shows ten weeks ahead when vehicles will run short, so the admin can hire them in time and add them to the fleet.</a:t>
            </a:r>
          </a:p>
        </p:txBody>
      </p:sp>
      <p:sp>
        <p:nvSpPr>
          <p:cNvPr id="4" name="Slide Number Placeholder 3">
            <a:extLst>
              <a:ext uri="{FF2B5EF4-FFF2-40B4-BE49-F238E27FC236}">
                <a16:creationId xmlns:a16="http://schemas.microsoft.com/office/drawing/2014/main" id="{FDB59A58-A9EF-9FB0-965F-622E7090BA87}"/>
              </a:ext>
            </a:extLst>
          </p:cNvPr>
          <p:cNvSpPr>
            <a:spLocks noGrp="1"/>
          </p:cNvSpPr>
          <p:nvPr>
            <p:ph type="sldNum" sz="quarter" idx="5"/>
          </p:nvPr>
        </p:nvSpPr>
        <p:spPr/>
      </p:sp>
    </p:spTree>
    <p:extLst>
      <p:ext uri="{BB962C8B-B14F-4D97-AF65-F5344CB8AC3E}">
        <p14:creationId xmlns:p14="http://schemas.microsoft.com/office/powerpoint/2010/main" val="3021677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B6CD9-DC13-ADCB-86E1-3373206B84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EA9BFB-8184-2DD6-F8C1-C3623AC1E8D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81FD349-E746-F702-DEF5-55FA818AE94D}"/>
              </a:ext>
            </a:extLst>
          </p:cNvPr>
          <p:cNvSpPr>
            <a:spLocks noGrp="1"/>
          </p:cNvSpPr>
          <p:nvPr>
            <p:ph type="body" sz="quarter" idx="3"/>
          </p:nvPr>
        </p:nvSpPr>
        <p:spPr/>
        <p:txBody>
          <a:bodyPr/>
          <a:lstStyle/>
          <a:p>
            <a:r>
              <a:t>And the forecast shows ten weeks ahead when vehicles will run short, so the admin can hire them in time and add them to the fleet.</a:t>
            </a:r>
          </a:p>
        </p:txBody>
      </p:sp>
      <p:sp>
        <p:nvSpPr>
          <p:cNvPr id="4" name="Slide Number Placeholder 3">
            <a:extLst>
              <a:ext uri="{FF2B5EF4-FFF2-40B4-BE49-F238E27FC236}">
                <a16:creationId xmlns:a16="http://schemas.microsoft.com/office/drawing/2014/main" id="{478B563B-55D6-D9D0-72A5-EFF336AE1CBD}"/>
              </a:ext>
            </a:extLst>
          </p:cNvPr>
          <p:cNvSpPr>
            <a:spLocks noGrp="1"/>
          </p:cNvSpPr>
          <p:nvPr>
            <p:ph type="sldNum" sz="quarter" idx="5"/>
          </p:nvPr>
        </p:nvSpPr>
        <p:spPr/>
      </p:sp>
    </p:spTree>
    <p:extLst>
      <p:ext uri="{BB962C8B-B14F-4D97-AF65-F5344CB8AC3E}">
        <p14:creationId xmlns:p14="http://schemas.microsoft.com/office/powerpoint/2010/main" val="2573395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that decision is made by phone. The dispatcher calls the driver, then store three, then store four, then the driver again. One call at a time. Nobody sees the whole picture, the window keeps closing, and by evening nothing is on record.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AI decide everything? When it leaves the same store waiting two days running, who answers for it? And it doesn't know which manager opens late, or which road floods. (click) Buy a routing or tracking tool? It can move the van, but it can't get store four to lend its dock. (click) Start a WhatsApp group? Fast, but nothing in it is structured, and nothing is on record. (pause) Each one fixes one thing and breaks another.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ED79C-812C-6CDA-235F-4E44DF3E6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662541-40CA-C6FC-654F-574AF6FA453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B497454-B734-DB5C-4C8F-535C4C2182D0}"/>
              </a:ext>
            </a:extLst>
          </p:cNvPr>
          <p:cNvSpPr>
            <a:spLocks noGrp="1"/>
          </p:cNvSpPr>
          <p:nvPr>
            <p:ph type="body" sz="quarter" idx="3"/>
          </p:nvPr>
        </p:nvSpPr>
        <p:spPr/>
        <p:txBody>
          <a:bodyPr/>
          <a:lstStyle/>
          <a:p>
            <a:r>
              <a:t>And the forecast shows ten weeks ahead when vehicles will run short, so the admin can hire them in time and add them to the fleet.</a:t>
            </a:r>
          </a:p>
        </p:txBody>
      </p:sp>
      <p:sp>
        <p:nvSpPr>
          <p:cNvPr id="4" name="Slide Number Placeholder 3">
            <a:extLst>
              <a:ext uri="{FF2B5EF4-FFF2-40B4-BE49-F238E27FC236}">
                <a16:creationId xmlns:a16="http://schemas.microsoft.com/office/drawing/2014/main" id="{F0DF11B9-3251-462E-F8F0-43C7255FB79A}"/>
              </a:ext>
            </a:extLst>
          </p:cNvPr>
          <p:cNvSpPr>
            <a:spLocks noGrp="1"/>
          </p:cNvSpPr>
          <p:nvPr>
            <p:ph type="sldNum" sz="quarter" idx="5"/>
          </p:nvPr>
        </p:nvSpPr>
        <p:spPr/>
      </p:sp>
    </p:spTree>
    <p:extLst>
      <p:ext uri="{BB962C8B-B14F-4D97-AF65-F5344CB8AC3E}">
        <p14:creationId xmlns:p14="http://schemas.microsoft.com/office/powerpoint/2010/main" val="21377514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286B7-7662-838C-7455-921C7F875A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FE834-5FB2-6704-AA22-6BF2204B69E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565BE03-FDF2-0881-A805-4C645097E35B}"/>
              </a:ext>
            </a:extLst>
          </p:cNvPr>
          <p:cNvSpPr>
            <a:spLocks noGrp="1"/>
          </p:cNvSpPr>
          <p:nvPr>
            <p:ph type="body" sz="quarter" idx="3"/>
          </p:nvPr>
        </p:nvSpPr>
        <p:spPr/>
        <p:txBody>
          <a:bodyPr/>
          <a:lstStyle/>
          <a:p>
            <a:r>
              <a:t>And the forecast shows ten weeks ahead when vehicles will run short, so the admin can hire them in time and add them to the fleet.</a:t>
            </a:r>
          </a:p>
        </p:txBody>
      </p:sp>
      <p:sp>
        <p:nvSpPr>
          <p:cNvPr id="4" name="Slide Number Placeholder 3">
            <a:extLst>
              <a:ext uri="{FF2B5EF4-FFF2-40B4-BE49-F238E27FC236}">
                <a16:creationId xmlns:a16="http://schemas.microsoft.com/office/drawing/2014/main" id="{6BCB214B-1BC5-6994-C621-B10E31BA5C23}"/>
              </a:ext>
            </a:extLst>
          </p:cNvPr>
          <p:cNvSpPr>
            <a:spLocks noGrp="1"/>
          </p:cNvSpPr>
          <p:nvPr>
            <p:ph type="sldNum" sz="quarter" idx="5"/>
          </p:nvPr>
        </p:nvSpPr>
        <p:spPr/>
      </p:sp>
    </p:spTree>
    <p:extLst>
      <p:ext uri="{BB962C8B-B14F-4D97-AF65-F5344CB8AC3E}">
        <p14:creationId xmlns:p14="http://schemas.microsoft.com/office/powerpoint/2010/main" val="2001316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EEC4C-D17E-563B-9F66-12E1968EAE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3607F5-F6B4-5201-7A3F-168BE9BCC49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EC640E4-0A39-9D41-AEA6-7A8A083743AF}"/>
              </a:ext>
            </a:extLst>
          </p:cNvPr>
          <p:cNvSpPr>
            <a:spLocks noGrp="1"/>
          </p:cNvSpPr>
          <p:nvPr>
            <p:ph type="body" sz="quarter" idx="3"/>
          </p:nvPr>
        </p:nvSpPr>
        <p:spPr/>
        <p:txBody>
          <a:bodyPr/>
          <a:lstStyle/>
          <a:p>
            <a:r>
              <a:t>And the forecast shows ten weeks ahead when vehicles will run short, so the admin can hire them in time and add them to the fleet.</a:t>
            </a:r>
          </a:p>
        </p:txBody>
      </p:sp>
      <p:sp>
        <p:nvSpPr>
          <p:cNvPr id="4" name="Slide Number Placeholder 3">
            <a:extLst>
              <a:ext uri="{FF2B5EF4-FFF2-40B4-BE49-F238E27FC236}">
                <a16:creationId xmlns:a16="http://schemas.microsoft.com/office/drawing/2014/main" id="{BEF10CA5-6AF0-B79F-7D85-71ED8B637DF0}"/>
              </a:ext>
            </a:extLst>
          </p:cNvPr>
          <p:cNvSpPr>
            <a:spLocks noGrp="1"/>
          </p:cNvSpPr>
          <p:nvPr>
            <p:ph type="sldNum" sz="quarter" idx="5"/>
          </p:nvPr>
        </p:nvSpPr>
        <p:spPr/>
      </p:sp>
    </p:spTree>
    <p:extLst>
      <p:ext uri="{BB962C8B-B14F-4D97-AF65-F5344CB8AC3E}">
        <p14:creationId xmlns:p14="http://schemas.microsoft.com/office/powerpoint/2010/main" val="34833622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every trip gets one room. The dispatcher, the driver and every store manager on that trip, in one conversation, live. GO takes part: it asks the stores and suggests the next step. But a person decides.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the driver, the first rule is that GO works with no signal. The day's trip is on the phone before the van leaves; deliveries, photos and signatures are sent when the signal returns. While the van moves, the screen goes dark: nothing to read, nothing to tap. The Fuel QR, the pass every vehicle needs at the pump, works even offline. When the van stops: the next stop, one action. And anyone can leave the driver a voice note, so the driver listens instead of reading.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more tools. First, the dispatcher can connect their own AI assistant to GO through MCP, and simply ask: which trips are at risk this morning? What happened at store forty-two yesterday? It reads the day within the same permissions the dispatcher already has, and it never acts alone: even raising an issue waits for their confirm.</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1A941-FF70-9F87-F8FA-AC1EE905F6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5DDAC-5C53-A439-B98F-B4EDD2B07D8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E6EDF2C-A737-44A3-FEDD-721812A7CE66}"/>
              </a:ext>
            </a:extLst>
          </p:cNvPr>
          <p:cNvSpPr>
            <a:spLocks noGrp="1"/>
          </p:cNvSpPr>
          <p:nvPr>
            <p:ph type="body" sz="quarter" idx="3"/>
          </p:nvPr>
        </p:nvSpPr>
        <p:spPr/>
        <p:txBody>
          <a:bodyPr/>
          <a:lstStyle/>
          <a:p>
            <a:r>
              <a:t>Two more tools. First, the dispatcher can connect their own AI assistant to GO through MCP, and simply ask: which trips are at risk this morning? What happened at store forty-two yesterday? It reads the day within the same permissions the dispatcher already has, and it never acts alone: even raising an issue waits for their confirm.</a:t>
            </a:r>
          </a:p>
        </p:txBody>
      </p:sp>
      <p:sp>
        <p:nvSpPr>
          <p:cNvPr id="4" name="Slide Number Placeholder 3">
            <a:extLst>
              <a:ext uri="{FF2B5EF4-FFF2-40B4-BE49-F238E27FC236}">
                <a16:creationId xmlns:a16="http://schemas.microsoft.com/office/drawing/2014/main" id="{EBB26D3B-6382-D737-7380-38D64F5AB833}"/>
              </a:ext>
            </a:extLst>
          </p:cNvPr>
          <p:cNvSpPr>
            <a:spLocks noGrp="1"/>
          </p:cNvSpPr>
          <p:nvPr>
            <p:ph type="sldNum" sz="quarter" idx="5"/>
          </p:nvPr>
        </p:nvSpPr>
        <p:spPr/>
      </p:sp>
    </p:spTree>
    <p:extLst>
      <p:ext uri="{BB962C8B-B14F-4D97-AF65-F5344CB8AC3E}">
        <p14:creationId xmlns:p14="http://schemas.microsoft.com/office/powerpoint/2010/main" val="33333576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AB295-6594-DC0A-5D25-1C09F644BB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B4C77-F18A-EE38-B845-0801F24CF4A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934EA8D-A74F-D5BA-6492-2209AF8011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8D8B4B-53AC-B27C-1433-BE5D0129B636}"/>
              </a:ext>
            </a:extLst>
          </p:cNvPr>
          <p:cNvSpPr>
            <a:spLocks noGrp="1"/>
          </p:cNvSpPr>
          <p:nvPr>
            <p:ph type="sldNum" sz="quarter" idx="5"/>
          </p:nvPr>
        </p:nvSpPr>
        <p:spPr/>
        <p:txBody>
          <a:bodyPr/>
          <a:lstStyle/>
          <a:p>
            <a:fld id="{67550394-1498-43C8-BB16-E1812EFAD08A}" type="slidenum">
              <a:rPr lang="en-US" smtClean="0"/>
              <a:t>27</a:t>
            </a:fld>
            <a:endParaRPr lang="en-US"/>
          </a:p>
        </p:txBody>
      </p:sp>
    </p:spTree>
    <p:extLst>
      <p:ext uri="{BB962C8B-B14F-4D97-AF65-F5344CB8AC3E}">
        <p14:creationId xmlns:p14="http://schemas.microsoft.com/office/powerpoint/2010/main" val="30360191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67006-3F0C-8813-0EE7-B7FD29FBA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B5EA73-5686-058D-67DA-E5B2B35E3E1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ADD69C-CDD6-D188-06FF-D98AA30282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5938CF-372E-83C6-DFB3-CFC1C28C888C}"/>
              </a:ext>
            </a:extLst>
          </p:cNvPr>
          <p:cNvSpPr>
            <a:spLocks noGrp="1"/>
          </p:cNvSpPr>
          <p:nvPr>
            <p:ph type="sldNum" sz="quarter" idx="5"/>
          </p:nvPr>
        </p:nvSpPr>
        <p:spPr/>
        <p:txBody>
          <a:bodyPr/>
          <a:lstStyle/>
          <a:p>
            <a:fld id="{67550394-1498-43C8-BB16-E1812EFAD08A}" type="slidenum">
              <a:rPr lang="en-US" smtClean="0"/>
              <a:t>30</a:t>
            </a:fld>
            <a:endParaRPr lang="en-US"/>
          </a:p>
        </p:txBody>
      </p:sp>
    </p:spTree>
    <p:extLst>
      <p:ext uri="{BB962C8B-B14F-4D97-AF65-F5344CB8AC3E}">
        <p14:creationId xmlns:p14="http://schemas.microsoft.com/office/powerpoint/2010/main" val="7049534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1C9C-ED3A-1989-70E6-BA829D3170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D1496-0C12-8B5B-837C-8A4C5ED987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3CFAD7D-5111-0EA3-2D05-CE256EF089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453545-B4AC-45C0-BFF6-4D2151F37FF1}"/>
              </a:ext>
            </a:extLst>
          </p:cNvPr>
          <p:cNvSpPr>
            <a:spLocks noGrp="1"/>
          </p:cNvSpPr>
          <p:nvPr>
            <p:ph type="sldNum" sz="quarter" idx="5"/>
          </p:nvPr>
        </p:nvSpPr>
        <p:spPr/>
        <p:txBody>
          <a:bodyPr/>
          <a:lstStyle/>
          <a:p>
            <a:fld id="{67550394-1498-43C8-BB16-E1812EFAD08A}" type="slidenum">
              <a:rPr lang="en-US" smtClean="0"/>
              <a:t>31</a:t>
            </a:fld>
            <a:endParaRPr lang="en-US"/>
          </a:p>
        </p:txBody>
      </p:sp>
    </p:spTree>
    <p:extLst>
      <p:ext uri="{BB962C8B-B14F-4D97-AF65-F5344CB8AC3E}">
        <p14:creationId xmlns:p14="http://schemas.microsoft.com/office/powerpoint/2010/main" val="17509359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PlaceHolder 1"/>
          <p:cNvSpPr>
            <a:spLocks noGrp="1" noRot="1" noChangeAspect="1"/>
          </p:cNvSpPr>
          <p:nvPr>
            <p:ph type="sldImg"/>
          </p:nvPr>
        </p:nvSpPr>
        <p:spPr>
          <a:xfrm>
            <a:off x="685800" y="1143000"/>
            <a:ext cx="5486400" cy="3086100"/>
          </a:xfrm>
          <a:prstGeom prst="rect">
            <a:avLst/>
          </a:prstGeom>
          <a:ln w="0">
            <a:noFill/>
          </a:ln>
        </p:spPr>
      </p:sp>
      <p:sp>
        <p:nvSpPr>
          <p:cNvPr id="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r>
              <a:rPr lang="en-US" sz="2000" b="0" u="none" strike="noStrike">
                <a:solidFill>
                  <a:srgbClr val="000000"/>
                </a:solidFill>
                <a:effectLst/>
                <a:uFillTx/>
                <a:latin typeface="Arial"/>
              </a:rPr>
              <a:t>The dispatcher can connect the AI assistant they already use, Claude or ChatGPT, to GO through MCP, and simply ask: which trips are at risk this morning? GO answers from the day's records.</a:t>
            </a: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key point: it is read-only. Your AI can look, but never change anything. It sees trips, plans, issues and the audit trail, and only what that person is already allowed to see. Names and notes are hidden unless an admin allows them, and every call is audited: who asked, what was read and when.</a:t>
            </a: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By default, every AI connection is read-only.</a:t>
            </a:r>
          </a:p>
        </p:txBody>
      </p:sp>
      <p:sp>
        <p:nvSpPr>
          <p:cNvPr id="33"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56AA0BA-0330-45EB-86E6-7E7EA2C7324E}"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9AAE6-12E3-09A9-8D3C-DCC5F7685E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040FA-6751-08E3-B4A8-CF9F19958A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E52063-2099-BD14-B6A4-C18EFB8C74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7E4F96-C548-3099-9895-368398D40DD7}"/>
              </a:ext>
            </a:extLst>
          </p:cNvPr>
          <p:cNvSpPr>
            <a:spLocks noGrp="1"/>
          </p:cNvSpPr>
          <p:nvPr>
            <p:ph type="sldNum" sz="quarter" idx="5"/>
          </p:nvPr>
        </p:nvSpPr>
        <p:spPr/>
        <p:txBody>
          <a:bodyPr/>
          <a:lstStyle/>
          <a:p>
            <a:fld id="{67550394-1498-43C8-BB16-E1812EFAD08A}" type="slidenum">
              <a:rPr lang="en-US" smtClean="0"/>
              <a:t>38</a:t>
            </a:fld>
            <a:endParaRPr lang="en-US"/>
          </a:p>
        </p:txBody>
      </p:sp>
    </p:spTree>
    <p:extLst>
      <p:ext uri="{BB962C8B-B14F-4D97-AF65-F5344CB8AC3E}">
        <p14:creationId xmlns:p14="http://schemas.microsoft.com/office/powerpoint/2010/main" val="19568995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E3B1-DDA0-31F4-0F06-D6F6BDD12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8C902-5440-49B7-149F-09225E40EE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47EB56-72D1-B186-8980-A5CF47483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677860-4AB5-EFA8-FDF5-F1690F886F9C}"/>
              </a:ext>
            </a:extLst>
          </p:cNvPr>
          <p:cNvSpPr>
            <a:spLocks noGrp="1"/>
          </p:cNvSpPr>
          <p:nvPr>
            <p:ph type="sldNum" sz="quarter" idx="5"/>
          </p:nvPr>
        </p:nvSpPr>
        <p:spPr/>
        <p:txBody>
          <a:bodyPr/>
          <a:lstStyle/>
          <a:p>
            <a:fld id="{67550394-1498-43C8-BB16-E1812EFAD08A}" type="slidenum">
              <a:rPr lang="en-US" smtClean="0"/>
              <a:t>39</a:t>
            </a:fld>
            <a:endParaRPr lang="en-US"/>
          </a:p>
        </p:txBody>
      </p:sp>
    </p:spTree>
    <p:extLst>
      <p:ext uri="{BB962C8B-B14F-4D97-AF65-F5344CB8AC3E}">
        <p14:creationId xmlns:p14="http://schemas.microsoft.com/office/powerpoint/2010/main" val="38056605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Backup index. Click a row, or type its number and press Enter, to jump to it. Each backup has an Index button to come back.</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Architecture. One responsive web app (PWA) for all roles; Spring Boot modular monolith; PostgreSQL with row-level security; FastAPI model service with checksums and a fallback; optional language-model gateway; MCP for AI assistants; one VPS, Docker Compose.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Why 72 in the app and 77 in the Datathon? The app also enforces each store’s delivery window and fuel quota; the Datathon plan used the booklet’s time budgets and let 3 stops arrive 16 to 87 minutes late. Both are correct for their rules.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Labels: service time = leave time minus the later of arrival and window open (waiting is not service). Late = arrival after the window closes. Holdout: last 6 weeks in date order. Without road conditions (as at planning time) AUC is 0.957: the honest production figure.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WAPE = total absolute error divided by total actual volume. 15 selection starts, 6 test starts, then the latest 6 weeks. Regression chosen: simplest of the statistically tied models (Diebold–Mariano with Holm). Tech is the weak spot (about 30%), but it is 3% of volume.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470DC-435D-1FE7-35F0-EDE722CC4A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CA84C-7D75-AF5E-AD48-859505F62375}"/>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F5E281F8-71B4-62CD-DDB6-988F8ED240B9}"/>
              </a:ext>
            </a:extLst>
          </p:cNvPr>
          <p:cNvSpPr>
            <a:spLocks noGrp="1"/>
          </p:cNvSpPr>
          <p:nvPr>
            <p:ph type="body" sz="quarter" idx="3"/>
          </p:nvPr>
        </p:nvSpPr>
        <p:spPr/>
        <p:txBody>
          <a:bodyPr/>
          <a:lstStyle/>
          <a:p>
            <a:r>
              <a:t>WAPE = total absolute error divided by total actual volume. 15 selection starts, 6 test starts, then the latest 6 weeks. Regression chosen: simplest of the statistically tied models (Diebold–Mariano with Holm). Tech is the weak spot (about 30%), but it is 3% of volume.</a:t>
            </a:r>
          </a:p>
        </p:txBody>
      </p:sp>
      <p:sp>
        <p:nvSpPr>
          <p:cNvPr id="4" name="Slide Number Placeholder 3">
            <a:extLst>
              <a:ext uri="{FF2B5EF4-FFF2-40B4-BE49-F238E27FC236}">
                <a16:creationId xmlns:a16="http://schemas.microsoft.com/office/drawing/2014/main" id="{82755749-E576-E414-3C98-5A939BC71E68}"/>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2677902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Six deferrals were unavoidable (one order bigger than any vehicle and five chilled orders with no reefer room or time). Two were a choice: serving yesterday’s deferred orders first cost 2 orders and 9.76 m³. Recommendation: release VEH004 and VEH005.</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Production keeps competition-trained models off (ML_ALLOW_DATATHON=false) until a model trained on Waypoint’s own deliveries passes the backtest. The language-model gateway is off by default and only rewords facts the system already holds.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Every action is saved on the device with a command ID and replayed exactly once. A reload or expired session keeps the queue. Conflicts show as Needs review; nothing is silently overwritten.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Fuel and Fresh on time are about 64% of the expected value, so the pilot measures those first. Labour savings are small because wages are low. Hosting and AI services are billed in US dollars; they are converted at LKR 328 per US dollar (5 Oct 2026).</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Owners: business owner funds each phase gate; Head of Distribution decides the pilot go/no-go; Finance owns write-off thresholds, fuel and the data licence; the engineering lead owns technical gates.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Before selling to anyone else, GO needs multi-tenancy (row-level security is per person today, not per customer company). That is a decision after the pilot.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Departures are listed in the README with reasons, for example: vehicle pick-up by QR not built (dispatch assigns the vehicle); fuel logging replaced by the Fuel Pass QR; explanations added as pop-ups.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Counts are from the repository’s dev branch. CI runs on every pull request to dev and main and before every deploy.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Use this table during Q&amp;A. Round in speech: ‘about three per cent’, ‘seven in ten’.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55313-D74F-6BC7-A19F-5792B48F9D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AB2428-6593-455F-9AB2-5E546AEAE9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0A6BAF-A7C9-9FA5-51B7-AF22697FB4D0}"/>
              </a:ext>
            </a:extLst>
          </p:cNvPr>
          <p:cNvSpPr>
            <a:spLocks noGrp="1"/>
          </p:cNvSpPr>
          <p:nvPr>
            <p:ph type="dt" sz="half" idx="10"/>
          </p:nvPr>
        </p:nvSpPr>
        <p:spPr/>
        <p:txBody>
          <a:bodyPr/>
          <a:lstStyle/>
          <a:p>
            <a:fld id="{DD410C29-27AD-4051-BBC6-16B305B635C7}" type="datetimeFigureOut">
              <a:rPr lang="en-US" smtClean="0"/>
              <a:t>10/29/2026</a:t>
            </a:fld>
            <a:endParaRPr lang="en-US"/>
          </a:p>
        </p:txBody>
      </p:sp>
      <p:sp>
        <p:nvSpPr>
          <p:cNvPr id="5" name="Footer Placeholder 4">
            <a:extLst>
              <a:ext uri="{FF2B5EF4-FFF2-40B4-BE49-F238E27FC236}">
                <a16:creationId xmlns:a16="http://schemas.microsoft.com/office/drawing/2014/main" id="{5453D2AA-CDBA-CA1D-C7B6-95014886B9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E61D0D-10E2-B694-BD3F-7BA8A1C2F5BA}"/>
              </a:ext>
            </a:extLst>
          </p:cNvPr>
          <p:cNvSpPr>
            <a:spLocks noGrp="1"/>
          </p:cNvSpPr>
          <p:nvPr>
            <p:ph type="sldNum" sz="quarter" idx="12"/>
          </p:nvPr>
        </p:nvSpPr>
        <p:spPr/>
        <p:txBody>
          <a:bodyPr/>
          <a:lstStyle/>
          <a:p>
            <a:fld id="{E5462156-7153-41F9-AFEE-0CD8D9CCAE7F}" type="slidenum">
              <a:rPr lang="en-US" smtClean="0"/>
              <a:t>‹#›</a:t>
            </a:fld>
            <a:endParaRPr lang="en-US"/>
          </a:p>
        </p:txBody>
      </p:sp>
    </p:spTree>
    <p:extLst>
      <p:ext uri="{BB962C8B-B14F-4D97-AF65-F5344CB8AC3E}">
        <p14:creationId xmlns:p14="http://schemas.microsoft.com/office/powerpoint/2010/main" val="4073426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21BDB-469A-A5D1-0519-E16CCBE933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03F3A3-2394-AD89-A807-E465AAAA09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973DF4-DCD8-0A99-F2FF-26116DE30199}"/>
              </a:ext>
            </a:extLst>
          </p:cNvPr>
          <p:cNvSpPr>
            <a:spLocks noGrp="1"/>
          </p:cNvSpPr>
          <p:nvPr>
            <p:ph type="dt" sz="half" idx="10"/>
          </p:nvPr>
        </p:nvSpPr>
        <p:spPr/>
        <p:txBody>
          <a:bodyPr/>
          <a:lstStyle/>
          <a:p>
            <a:fld id="{DD410C29-27AD-4051-BBC6-16B305B635C7}" type="datetimeFigureOut">
              <a:rPr lang="en-US" smtClean="0"/>
              <a:t>10/29/2026</a:t>
            </a:fld>
            <a:endParaRPr lang="en-US"/>
          </a:p>
        </p:txBody>
      </p:sp>
      <p:sp>
        <p:nvSpPr>
          <p:cNvPr id="5" name="Footer Placeholder 4">
            <a:extLst>
              <a:ext uri="{FF2B5EF4-FFF2-40B4-BE49-F238E27FC236}">
                <a16:creationId xmlns:a16="http://schemas.microsoft.com/office/drawing/2014/main" id="{7563F348-BC0E-54D4-09A7-A80A2F591A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5415E5-C90C-2FF4-2935-069583CAC216}"/>
              </a:ext>
            </a:extLst>
          </p:cNvPr>
          <p:cNvSpPr>
            <a:spLocks noGrp="1"/>
          </p:cNvSpPr>
          <p:nvPr>
            <p:ph type="sldNum" sz="quarter" idx="12"/>
          </p:nvPr>
        </p:nvSpPr>
        <p:spPr/>
        <p:txBody>
          <a:bodyPr/>
          <a:lstStyle/>
          <a:p>
            <a:fld id="{E5462156-7153-41F9-AFEE-0CD8D9CCAE7F}" type="slidenum">
              <a:rPr lang="en-US" smtClean="0"/>
              <a:t>‹#›</a:t>
            </a:fld>
            <a:endParaRPr lang="en-US"/>
          </a:p>
        </p:txBody>
      </p:sp>
    </p:spTree>
    <p:extLst>
      <p:ext uri="{BB962C8B-B14F-4D97-AF65-F5344CB8AC3E}">
        <p14:creationId xmlns:p14="http://schemas.microsoft.com/office/powerpoint/2010/main" val="303321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9B8BB-514F-3303-5536-F7BC679540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F9CD24-0C9C-E3FB-3D14-83097FA5AE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B34109-32D2-D68B-DAD0-6F53A45FF987}"/>
              </a:ext>
            </a:extLst>
          </p:cNvPr>
          <p:cNvSpPr>
            <a:spLocks noGrp="1"/>
          </p:cNvSpPr>
          <p:nvPr>
            <p:ph type="dt" sz="half" idx="10"/>
          </p:nvPr>
        </p:nvSpPr>
        <p:spPr/>
        <p:txBody>
          <a:bodyPr/>
          <a:lstStyle/>
          <a:p>
            <a:fld id="{DD410C29-27AD-4051-BBC6-16B305B635C7}" type="datetimeFigureOut">
              <a:rPr lang="en-US" smtClean="0"/>
              <a:t>10/29/2026</a:t>
            </a:fld>
            <a:endParaRPr lang="en-US"/>
          </a:p>
        </p:txBody>
      </p:sp>
      <p:sp>
        <p:nvSpPr>
          <p:cNvPr id="5" name="Footer Placeholder 4">
            <a:extLst>
              <a:ext uri="{FF2B5EF4-FFF2-40B4-BE49-F238E27FC236}">
                <a16:creationId xmlns:a16="http://schemas.microsoft.com/office/drawing/2014/main" id="{53E6B44B-D4EC-7181-DF15-1AF7E168FF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152D65-B3FD-0DD4-082E-31C03AA0E996}"/>
              </a:ext>
            </a:extLst>
          </p:cNvPr>
          <p:cNvSpPr>
            <a:spLocks noGrp="1"/>
          </p:cNvSpPr>
          <p:nvPr>
            <p:ph type="sldNum" sz="quarter" idx="12"/>
          </p:nvPr>
        </p:nvSpPr>
        <p:spPr/>
        <p:txBody>
          <a:bodyPr/>
          <a:lstStyle/>
          <a:p>
            <a:fld id="{E5462156-7153-41F9-AFEE-0CD8D9CCAE7F}" type="slidenum">
              <a:rPr lang="en-US" smtClean="0"/>
              <a:t>‹#›</a:t>
            </a:fld>
            <a:endParaRPr lang="en-US"/>
          </a:p>
        </p:txBody>
      </p:sp>
    </p:spTree>
    <p:extLst>
      <p:ext uri="{BB962C8B-B14F-4D97-AF65-F5344CB8AC3E}">
        <p14:creationId xmlns:p14="http://schemas.microsoft.com/office/powerpoint/2010/main" val="3160901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30CDD-C5BA-18D1-DF6E-26C950DD40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B06FFC-D734-0D95-17CE-A96BA34326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73E5AA-3188-8FF7-9C96-EF9D1572AC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A45435-802E-2881-9605-33978AD6B6B4}"/>
              </a:ext>
            </a:extLst>
          </p:cNvPr>
          <p:cNvSpPr>
            <a:spLocks noGrp="1"/>
          </p:cNvSpPr>
          <p:nvPr>
            <p:ph type="dt" sz="half" idx="10"/>
          </p:nvPr>
        </p:nvSpPr>
        <p:spPr/>
        <p:txBody>
          <a:bodyPr/>
          <a:lstStyle/>
          <a:p>
            <a:fld id="{DD410C29-27AD-4051-BBC6-16B305B635C7}" type="datetimeFigureOut">
              <a:rPr lang="en-US" smtClean="0"/>
              <a:t>10/29/2026</a:t>
            </a:fld>
            <a:endParaRPr lang="en-US"/>
          </a:p>
        </p:txBody>
      </p:sp>
      <p:sp>
        <p:nvSpPr>
          <p:cNvPr id="6" name="Footer Placeholder 5">
            <a:extLst>
              <a:ext uri="{FF2B5EF4-FFF2-40B4-BE49-F238E27FC236}">
                <a16:creationId xmlns:a16="http://schemas.microsoft.com/office/drawing/2014/main" id="{91B7CCB6-6E01-0D92-8428-629623FF5E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6CFA3C-8BA5-E38F-337F-FBE1F96FE00F}"/>
              </a:ext>
            </a:extLst>
          </p:cNvPr>
          <p:cNvSpPr>
            <a:spLocks noGrp="1"/>
          </p:cNvSpPr>
          <p:nvPr>
            <p:ph type="sldNum" sz="quarter" idx="12"/>
          </p:nvPr>
        </p:nvSpPr>
        <p:spPr/>
        <p:txBody>
          <a:bodyPr/>
          <a:lstStyle/>
          <a:p>
            <a:fld id="{E5462156-7153-41F9-AFEE-0CD8D9CCAE7F}" type="slidenum">
              <a:rPr lang="en-US" smtClean="0"/>
              <a:t>‹#›</a:t>
            </a:fld>
            <a:endParaRPr lang="en-US"/>
          </a:p>
        </p:txBody>
      </p:sp>
    </p:spTree>
    <p:extLst>
      <p:ext uri="{BB962C8B-B14F-4D97-AF65-F5344CB8AC3E}">
        <p14:creationId xmlns:p14="http://schemas.microsoft.com/office/powerpoint/2010/main" val="3128032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926BA-D903-7833-FAF1-BCC2E36033C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BA5FAB-00F8-E370-6576-4A5D692BBE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EF91DD-D672-41AA-F4D5-A501E2A446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5FF577-1DA2-DF06-ACF8-70B2893AB7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246069-16A7-9F8E-2AC6-A7A8E73B1B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9263E2-D5E6-F272-FE41-6C5E40AEB158}"/>
              </a:ext>
            </a:extLst>
          </p:cNvPr>
          <p:cNvSpPr>
            <a:spLocks noGrp="1"/>
          </p:cNvSpPr>
          <p:nvPr>
            <p:ph type="dt" sz="half" idx="10"/>
          </p:nvPr>
        </p:nvSpPr>
        <p:spPr/>
        <p:txBody>
          <a:bodyPr/>
          <a:lstStyle/>
          <a:p>
            <a:fld id="{DD410C29-27AD-4051-BBC6-16B305B635C7}" type="datetimeFigureOut">
              <a:rPr lang="en-US" smtClean="0"/>
              <a:t>10/29/2026</a:t>
            </a:fld>
            <a:endParaRPr lang="en-US"/>
          </a:p>
        </p:txBody>
      </p:sp>
      <p:sp>
        <p:nvSpPr>
          <p:cNvPr id="8" name="Footer Placeholder 7">
            <a:extLst>
              <a:ext uri="{FF2B5EF4-FFF2-40B4-BE49-F238E27FC236}">
                <a16:creationId xmlns:a16="http://schemas.microsoft.com/office/drawing/2014/main" id="{DC89DA11-CE6B-735A-464B-3E24A3E258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EBC133-06D2-BE95-340F-251E63A7B29C}"/>
              </a:ext>
            </a:extLst>
          </p:cNvPr>
          <p:cNvSpPr>
            <a:spLocks noGrp="1"/>
          </p:cNvSpPr>
          <p:nvPr>
            <p:ph type="sldNum" sz="quarter" idx="12"/>
          </p:nvPr>
        </p:nvSpPr>
        <p:spPr/>
        <p:txBody>
          <a:bodyPr/>
          <a:lstStyle/>
          <a:p>
            <a:fld id="{E5462156-7153-41F9-AFEE-0CD8D9CCAE7F}" type="slidenum">
              <a:rPr lang="en-US" smtClean="0"/>
              <a:t>‹#›</a:t>
            </a:fld>
            <a:endParaRPr lang="en-US"/>
          </a:p>
        </p:txBody>
      </p:sp>
    </p:spTree>
    <p:extLst>
      <p:ext uri="{BB962C8B-B14F-4D97-AF65-F5344CB8AC3E}">
        <p14:creationId xmlns:p14="http://schemas.microsoft.com/office/powerpoint/2010/main" val="1150365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33384-F7CF-E23C-0344-06D44B679F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EC63190-9EA0-1C22-3EE0-1BE4D336E539}"/>
              </a:ext>
            </a:extLst>
          </p:cNvPr>
          <p:cNvSpPr>
            <a:spLocks noGrp="1"/>
          </p:cNvSpPr>
          <p:nvPr>
            <p:ph type="dt" sz="half" idx="10"/>
          </p:nvPr>
        </p:nvSpPr>
        <p:spPr/>
        <p:txBody>
          <a:bodyPr/>
          <a:lstStyle/>
          <a:p>
            <a:fld id="{DD410C29-27AD-4051-BBC6-16B305B635C7}" type="datetimeFigureOut">
              <a:rPr lang="en-US" smtClean="0"/>
              <a:t>10/29/2026</a:t>
            </a:fld>
            <a:endParaRPr lang="en-US"/>
          </a:p>
        </p:txBody>
      </p:sp>
      <p:sp>
        <p:nvSpPr>
          <p:cNvPr id="4" name="Footer Placeholder 3">
            <a:extLst>
              <a:ext uri="{FF2B5EF4-FFF2-40B4-BE49-F238E27FC236}">
                <a16:creationId xmlns:a16="http://schemas.microsoft.com/office/drawing/2014/main" id="{4324E1C0-41A1-542E-7C6C-DA0EF65311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93D1A6-53F5-A255-5FD8-F9ED6FBDC48D}"/>
              </a:ext>
            </a:extLst>
          </p:cNvPr>
          <p:cNvSpPr>
            <a:spLocks noGrp="1"/>
          </p:cNvSpPr>
          <p:nvPr>
            <p:ph type="sldNum" sz="quarter" idx="12"/>
          </p:nvPr>
        </p:nvSpPr>
        <p:spPr/>
        <p:txBody>
          <a:bodyPr/>
          <a:lstStyle/>
          <a:p>
            <a:fld id="{E5462156-7153-41F9-AFEE-0CD8D9CCAE7F}" type="slidenum">
              <a:rPr lang="en-US" smtClean="0"/>
              <a:t>‹#›</a:t>
            </a:fld>
            <a:endParaRPr lang="en-US"/>
          </a:p>
        </p:txBody>
      </p:sp>
    </p:spTree>
    <p:extLst>
      <p:ext uri="{BB962C8B-B14F-4D97-AF65-F5344CB8AC3E}">
        <p14:creationId xmlns:p14="http://schemas.microsoft.com/office/powerpoint/2010/main" val="918757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677C9F-BE47-2588-FF90-9C35A811C849}"/>
              </a:ext>
            </a:extLst>
          </p:cNvPr>
          <p:cNvSpPr>
            <a:spLocks noGrp="1"/>
          </p:cNvSpPr>
          <p:nvPr>
            <p:ph type="dt" sz="half" idx="10"/>
          </p:nvPr>
        </p:nvSpPr>
        <p:spPr/>
        <p:txBody>
          <a:bodyPr/>
          <a:lstStyle/>
          <a:p>
            <a:fld id="{DD410C29-27AD-4051-BBC6-16B305B635C7}" type="datetimeFigureOut">
              <a:rPr lang="en-US" smtClean="0"/>
              <a:t>10/29/2026</a:t>
            </a:fld>
            <a:endParaRPr lang="en-US"/>
          </a:p>
        </p:txBody>
      </p:sp>
      <p:sp>
        <p:nvSpPr>
          <p:cNvPr id="3" name="Footer Placeholder 2">
            <a:extLst>
              <a:ext uri="{FF2B5EF4-FFF2-40B4-BE49-F238E27FC236}">
                <a16:creationId xmlns:a16="http://schemas.microsoft.com/office/drawing/2014/main" id="{F231FEEC-B357-61DD-911B-2DAB0BD255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59AAD1-C8AC-E9DF-7F58-7972D11229B5}"/>
              </a:ext>
            </a:extLst>
          </p:cNvPr>
          <p:cNvSpPr>
            <a:spLocks noGrp="1"/>
          </p:cNvSpPr>
          <p:nvPr>
            <p:ph type="sldNum" sz="quarter" idx="12"/>
          </p:nvPr>
        </p:nvSpPr>
        <p:spPr/>
        <p:txBody>
          <a:bodyPr/>
          <a:lstStyle/>
          <a:p>
            <a:fld id="{E5462156-7153-41F9-AFEE-0CD8D9CCAE7F}" type="slidenum">
              <a:rPr lang="en-US" smtClean="0"/>
              <a:t>‹#›</a:t>
            </a:fld>
            <a:endParaRPr lang="en-US"/>
          </a:p>
        </p:txBody>
      </p:sp>
    </p:spTree>
    <p:extLst>
      <p:ext uri="{BB962C8B-B14F-4D97-AF65-F5344CB8AC3E}">
        <p14:creationId xmlns:p14="http://schemas.microsoft.com/office/powerpoint/2010/main" val="2186607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D05AC-F3FE-880C-F536-680D608891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4A4A17-E234-79AD-456B-D09D9FBA43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A84A13-69C3-5FAF-A17A-664E6127C6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DED0D7-C417-797B-68A6-2A01A51A9F76}"/>
              </a:ext>
            </a:extLst>
          </p:cNvPr>
          <p:cNvSpPr>
            <a:spLocks noGrp="1"/>
          </p:cNvSpPr>
          <p:nvPr>
            <p:ph type="dt" sz="half" idx="10"/>
          </p:nvPr>
        </p:nvSpPr>
        <p:spPr/>
        <p:txBody>
          <a:bodyPr/>
          <a:lstStyle/>
          <a:p>
            <a:fld id="{DD410C29-27AD-4051-BBC6-16B305B635C7}" type="datetimeFigureOut">
              <a:rPr lang="en-US" smtClean="0"/>
              <a:t>10/29/2026</a:t>
            </a:fld>
            <a:endParaRPr lang="en-US"/>
          </a:p>
        </p:txBody>
      </p:sp>
      <p:sp>
        <p:nvSpPr>
          <p:cNvPr id="6" name="Footer Placeholder 5">
            <a:extLst>
              <a:ext uri="{FF2B5EF4-FFF2-40B4-BE49-F238E27FC236}">
                <a16:creationId xmlns:a16="http://schemas.microsoft.com/office/drawing/2014/main" id="{2900E43F-D16B-F653-E915-37D7902554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768D71-3653-8BEE-4185-1F22C2CB0CEC}"/>
              </a:ext>
            </a:extLst>
          </p:cNvPr>
          <p:cNvSpPr>
            <a:spLocks noGrp="1"/>
          </p:cNvSpPr>
          <p:nvPr>
            <p:ph type="sldNum" sz="quarter" idx="12"/>
          </p:nvPr>
        </p:nvSpPr>
        <p:spPr/>
        <p:txBody>
          <a:bodyPr/>
          <a:lstStyle/>
          <a:p>
            <a:fld id="{E5462156-7153-41F9-AFEE-0CD8D9CCAE7F}" type="slidenum">
              <a:rPr lang="en-US" smtClean="0"/>
              <a:t>‹#›</a:t>
            </a:fld>
            <a:endParaRPr lang="en-US"/>
          </a:p>
        </p:txBody>
      </p:sp>
    </p:spTree>
    <p:extLst>
      <p:ext uri="{BB962C8B-B14F-4D97-AF65-F5344CB8AC3E}">
        <p14:creationId xmlns:p14="http://schemas.microsoft.com/office/powerpoint/2010/main" val="1870167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609B7-E1EA-7453-3498-B2E3AF2628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A516DB-3414-C607-6FCE-D5AE6C4895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71221E-1F17-EB02-9572-9555D692C2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659E04-F1E2-CDE7-7B24-E4A7181CE28C}"/>
              </a:ext>
            </a:extLst>
          </p:cNvPr>
          <p:cNvSpPr>
            <a:spLocks noGrp="1"/>
          </p:cNvSpPr>
          <p:nvPr>
            <p:ph type="dt" sz="half" idx="10"/>
          </p:nvPr>
        </p:nvSpPr>
        <p:spPr/>
        <p:txBody>
          <a:bodyPr/>
          <a:lstStyle/>
          <a:p>
            <a:fld id="{DD410C29-27AD-4051-BBC6-16B305B635C7}" type="datetimeFigureOut">
              <a:rPr lang="en-US" smtClean="0"/>
              <a:t>10/29/2026</a:t>
            </a:fld>
            <a:endParaRPr lang="en-US"/>
          </a:p>
        </p:txBody>
      </p:sp>
      <p:sp>
        <p:nvSpPr>
          <p:cNvPr id="6" name="Footer Placeholder 5">
            <a:extLst>
              <a:ext uri="{FF2B5EF4-FFF2-40B4-BE49-F238E27FC236}">
                <a16:creationId xmlns:a16="http://schemas.microsoft.com/office/drawing/2014/main" id="{EC2A9AF1-26CD-EA9B-7021-283D264F53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89658C-F57C-81A6-DC25-18E772E8EB62}"/>
              </a:ext>
            </a:extLst>
          </p:cNvPr>
          <p:cNvSpPr>
            <a:spLocks noGrp="1"/>
          </p:cNvSpPr>
          <p:nvPr>
            <p:ph type="sldNum" sz="quarter" idx="12"/>
          </p:nvPr>
        </p:nvSpPr>
        <p:spPr/>
        <p:txBody>
          <a:bodyPr/>
          <a:lstStyle/>
          <a:p>
            <a:fld id="{E5462156-7153-41F9-AFEE-0CD8D9CCAE7F}" type="slidenum">
              <a:rPr lang="en-US" smtClean="0"/>
              <a:t>‹#›</a:t>
            </a:fld>
            <a:endParaRPr lang="en-US"/>
          </a:p>
        </p:txBody>
      </p:sp>
    </p:spTree>
    <p:extLst>
      <p:ext uri="{BB962C8B-B14F-4D97-AF65-F5344CB8AC3E}">
        <p14:creationId xmlns:p14="http://schemas.microsoft.com/office/powerpoint/2010/main" val="81879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9DB54-4A25-0CBA-6B61-3FE0163E5D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C3CC96-0DEB-2FA6-406B-0BCA0D7951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F28084-BB8D-D650-4530-05458EDE9A02}"/>
              </a:ext>
            </a:extLst>
          </p:cNvPr>
          <p:cNvSpPr>
            <a:spLocks noGrp="1"/>
          </p:cNvSpPr>
          <p:nvPr>
            <p:ph type="dt" sz="half" idx="10"/>
          </p:nvPr>
        </p:nvSpPr>
        <p:spPr/>
        <p:txBody>
          <a:bodyPr/>
          <a:lstStyle/>
          <a:p>
            <a:fld id="{DD410C29-27AD-4051-BBC6-16B305B635C7}" type="datetimeFigureOut">
              <a:rPr lang="en-US" smtClean="0"/>
              <a:t>10/29/2026</a:t>
            </a:fld>
            <a:endParaRPr lang="en-US"/>
          </a:p>
        </p:txBody>
      </p:sp>
      <p:sp>
        <p:nvSpPr>
          <p:cNvPr id="5" name="Footer Placeholder 4">
            <a:extLst>
              <a:ext uri="{FF2B5EF4-FFF2-40B4-BE49-F238E27FC236}">
                <a16:creationId xmlns:a16="http://schemas.microsoft.com/office/drawing/2014/main" id="{C5C6C227-C62B-291D-CD82-7B723C6A0E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09DCE9-85AD-13DD-AFDD-7E58BBB44EF3}"/>
              </a:ext>
            </a:extLst>
          </p:cNvPr>
          <p:cNvSpPr>
            <a:spLocks noGrp="1"/>
          </p:cNvSpPr>
          <p:nvPr>
            <p:ph type="sldNum" sz="quarter" idx="12"/>
          </p:nvPr>
        </p:nvSpPr>
        <p:spPr/>
        <p:txBody>
          <a:bodyPr/>
          <a:lstStyle/>
          <a:p>
            <a:fld id="{E5462156-7153-41F9-AFEE-0CD8D9CCAE7F}" type="slidenum">
              <a:rPr lang="en-US" smtClean="0"/>
              <a:t>‹#›</a:t>
            </a:fld>
            <a:endParaRPr lang="en-US"/>
          </a:p>
        </p:txBody>
      </p:sp>
    </p:spTree>
    <p:extLst>
      <p:ext uri="{BB962C8B-B14F-4D97-AF65-F5344CB8AC3E}">
        <p14:creationId xmlns:p14="http://schemas.microsoft.com/office/powerpoint/2010/main" val="3607229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BFECFD-5E73-5775-C987-DAD034F54C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5C5403-CA3C-6ABF-EBCD-0220ED0469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F8134D-48C7-6CBC-B06F-4C691C4B0C0B}"/>
              </a:ext>
            </a:extLst>
          </p:cNvPr>
          <p:cNvSpPr>
            <a:spLocks noGrp="1"/>
          </p:cNvSpPr>
          <p:nvPr>
            <p:ph type="dt" sz="half" idx="10"/>
          </p:nvPr>
        </p:nvSpPr>
        <p:spPr/>
        <p:txBody>
          <a:bodyPr/>
          <a:lstStyle/>
          <a:p>
            <a:fld id="{DD410C29-27AD-4051-BBC6-16B305B635C7}" type="datetimeFigureOut">
              <a:rPr lang="en-US" smtClean="0"/>
              <a:t>10/29/2026</a:t>
            </a:fld>
            <a:endParaRPr lang="en-US"/>
          </a:p>
        </p:txBody>
      </p:sp>
      <p:sp>
        <p:nvSpPr>
          <p:cNvPr id="5" name="Footer Placeholder 4">
            <a:extLst>
              <a:ext uri="{FF2B5EF4-FFF2-40B4-BE49-F238E27FC236}">
                <a16:creationId xmlns:a16="http://schemas.microsoft.com/office/drawing/2014/main" id="{3DAEB97C-8937-BFC3-58AE-423AC7DD95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E64DE2-EB5D-045A-B241-AA5EAB699AAC}"/>
              </a:ext>
            </a:extLst>
          </p:cNvPr>
          <p:cNvSpPr>
            <a:spLocks noGrp="1"/>
          </p:cNvSpPr>
          <p:nvPr>
            <p:ph type="sldNum" sz="quarter" idx="12"/>
          </p:nvPr>
        </p:nvSpPr>
        <p:spPr/>
        <p:txBody>
          <a:bodyPr/>
          <a:lstStyle/>
          <a:p>
            <a:fld id="{E5462156-7153-41F9-AFEE-0CD8D9CCAE7F}" type="slidenum">
              <a:rPr lang="en-US" smtClean="0"/>
              <a:t>‹#›</a:t>
            </a:fld>
            <a:endParaRPr lang="en-US"/>
          </a:p>
        </p:txBody>
      </p:sp>
    </p:spTree>
    <p:extLst>
      <p:ext uri="{BB962C8B-B14F-4D97-AF65-F5344CB8AC3E}">
        <p14:creationId xmlns:p14="http://schemas.microsoft.com/office/powerpoint/2010/main" val="3405581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FB1A4F-D2D1-CEE2-B045-E067D09B7A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183D8D3-8D4F-77EE-BF19-A792F8C6BE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13B8EB-3830-8896-81DB-EC23CD95B1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410C29-27AD-4051-BBC6-16B305B635C7}" type="datetimeFigureOut">
              <a:rPr lang="en-US" smtClean="0"/>
              <a:t>10/29/2026</a:t>
            </a:fld>
            <a:endParaRPr lang="en-US"/>
          </a:p>
        </p:txBody>
      </p:sp>
      <p:sp>
        <p:nvSpPr>
          <p:cNvPr id="5" name="Footer Placeholder 4">
            <a:extLst>
              <a:ext uri="{FF2B5EF4-FFF2-40B4-BE49-F238E27FC236}">
                <a16:creationId xmlns:a16="http://schemas.microsoft.com/office/drawing/2014/main" id="{4F1AF159-8EB5-7E80-5D15-4DC772EA48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7F7A0FC-7039-2B2C-8C2F-F9A114FD48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462156-7153-41F9-AFEE-0CD8D9CCAE7F}" type="slidenum">
              <a:rPr lang="en-US" smtClean="0"/>
              <a:t>‹#›</a:t>
            </a:fld>
            <a:endParaRPr lang="en-US"/>
          </a:p>
        </p:txBody>
      </p:sp>
    </p:spTree>
    <p:extLst>
      <p:ext uri="{BB962C8B-B14F-4D97-AF65-F5344CB8AC3E}">
        <p14:creationId xmlns:p14="http://schemas.microsoft.com/office/powerpoint/2010/main" val="15622963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3.jp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slideLayout" Target="../slideLayouts/slideLayout1.xml"/><Relationship Id="rId7" Type="http://schemas.openxmlformats.org/officeDocument/2006/relationships/image" Target="../media/image16.jpe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notesSlide" Target="../notesSlides/notesSlide4.xml"/><Relationship Id="rId9" Type="http://schemas.openxmlformats.org/officeDocument/2006/relationships/image" Target="../media/image18.jp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1.png"/><Relationship Id="rId7" Type="http://schemas.openxmlformats.org/officeDocument/2006/relationships/image" Target="../media/image18.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jpg"/><Relationship Id="rId5" Type="http://schemas.openxmlformats.org/officeDocument/2006/relationships/image" Target="../media/image16.jpeg"/><Relationship Id="rId4" Type="http://schemas.openxmlformats.org/officeDocument/2006/relationships/image" Target="../media/image20.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1.png"/><Relationship Id="rId7" Type="http://schemas.openxmlformats.org/officeDocument/2006/relationships/image" Target="../media/image16.jpe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image" Target="../media/image21.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jpg"/><Relationship Id="rId5" Type="http://schemas.openxmlformats.org/officeDocument/2006/relationships/image" Target="../media/image16.jpeg"/><Relationship Id="rId4" Type="http://schemas.openxmlformats.org/officeDocument/2006/relationships/image" Target="../media/image22.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7.jpg"/><Relationship Id="rId7"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18.jpg"/><Relationship Id="rId11" Type="http://schemas.openxmlformats.org/officeDocument/2006/relationships/image" Target="../media/image27.png"/><Relationship Id="rId5" Type="http://schemas.openxmlformats.org/officeDocument/2006/relationships/image" Target="../media/image19.png"/><Relationship Id="rId10" Type="http://schemas.openxmlformats.org/officeDocument/2006/relationships/image" Target="../media/image26.png"/><Relationship Id="rId4" Type="http://schemas.openxmlformats.org/officeDocument/2006/relationships/image" Target="../media/image16.jpe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16.jpeg"/><Relationship Id="rId13"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17.jpg"/><Relationship Id="rId12"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23.png"/><Relationship Id="rId5" Type="http://schemas.openxmlformats.org/officeDocument/2006/relationships/image" Target="../media/image26.png"/><Relationship Id="rId10" Type="http://schemas.openxmlformats.org/officeDocument/2006/relationships/image" Target="../media/image18.jpg"/><Relationship Id="rId4" Type="http://schemas.openxmlformats.org/officeDocument/2006/relationships/image" Target="../media/image25.pn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slideLayout" Target="../slideLayouts/slideLayout1.xml"/><Relationship Id="rId7" Type="http://schemas.openxmlformats.org/officeDocument/2006/relationships/image" Target="../media/image24.png"/><Relationship Id="rId12" Type="http://schemas.openxmlformats.org/officeDocument/2006/relationships/image" Target="../media/image31.png"/><Relationship Id="rId2" Type="http://schemas.microsoft.com/office/2007/relationships/media" Target="../media/media3.mp4"/><Relationship Id="rId1" Type="http://schemas.openxmlformats.org/officeDocument/2006/relationships/video" Target="NULL" TargetMode="External"/><Relationship Id="rId6" Type="http://schemas.openxmlformats.org/officeDocument/2006/relationships/image" Target="../media/image29.png"/><Relationship Id="rId11" Type="http://schemas.openxmlformats.org/officeDocument/2006/relationships/image" Target="../media/image30.png"/><Relationship Id="rId5" Type="http://schemas.openxmlformats.org/officeDocument/2006/relationships/image" Target="../media/image28.png"/><Relationship Id="rId10" Type="http://schemas.openxmlformats.org/officeDocument/2006/relationships/image" Target="../media/image27.png"/><Relationship Id="rId4" Type="http://schemas.openxmlformats.org/officeDocument/2006/relationships/notesSlide" Target="../notesSlides/notesSlide8.xml"/><Relationship Id="rId9" Type="http://schemas.openxmlformats.org/officeDocument/2006/relationships/image" Target="../media/image26.png"/></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slideLayout" Target="../slideLayouts/slideLayout1.xml"/><Relationship Id="rId7" Type="http://schemas.openxmlformats.org/officeDocument/2006/relationships/image" Target="../media/image27.png"/><Relationship Id="rId2" Type="http://schemas.microsoft.com/office/2007/relationships/media" Target="../media/media3.mp4"/><Relationship Id="rId1" Type="http://schemas.openxmlformats.org/officeDocument/2006/relationships/video" Target="NULL" TargetMode="Externa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9.xml"/><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3.png"/><Relationship Id="rId2" Type="http://schemas.microsoft.com/office/2007/relationships/media" Target="../media/media4.mp4"/><Relationship Id="rId1" Type="http://schemas.openxmlformats.org/officeDocument/2006/relationships/video" Target="NULL" TargetMode="External"/><Relationship Id="rId6" Type="http://schemas.openxmlformats.org/officeDocument/2006/relationships/image" Target="../media/image27.png"/><Relationship Id="rId5" Type="http://schemas.openxmlformats.org/officeDocument/2006/relationships/image" Target="../media/image32.png"/><Relationship Id="rId4"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slideLayout" Target="../slideLayouts/slideLayout1.xml"/><Relationship Id="rId7" Type="http://schemas.openxmlformats.org/officeDocument/2006/relationships/image" Target="../media/image35.png"/><Relationship Id="rId2" Type="http://schemas.microsoft.com/office/2007/relationships/media" Target="../media/media4.mp4"/><Relationship Id="rId1" Type="http://schemas.openxmlformats.org/officeDocument/2006/relationships/video" Target="NULL" TargetMode="Externa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27.png"/><Relationship Id="rId4" Type="http://schemas.openxmlformats.org/officeDocument/2006/relationships/notesSlide" Target="../notesSlides/notesSlide11.xml"/><Relationship Id="rId9"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image" Target="../media/image33.png"/><Relationship Id="rId7" Type="http://schemas.openxmlformats.org/officeDocument/2006/relationships/image" Target="../media/image17.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37.png"/><Relationship Id="rId4" Type="http://schemas.openxmlformats.org/officeDocument/2006/relationships/image" Target="../media/image34.png"/><Relationship Id="rId9"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19.png"/><Relationship Id="rId4" Type="http://schemas.openxmlformats.org/officeDocument/2006/relationships/image" Target="../media/image18.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29.png"/><Relationship Id="rId3" Type="http://schemas.microsoft.com/office/2007/relationships/media" Target="../media/media6.mp4"/><Relationship Id="rId7" Type="http://schemas.openxmlformats.org/officeDocument/2006/relationships/image" Target="../media/image38.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notesSlide" Target="../notesSlides/notesSlide15.xml"/><Relationship Id="rId5" Type="http://schemas.openxmlformats.org/officeDocument/2006/relationships/slideLayout" Target="../slideLayouts/slideLayout1.xml"/><Relationship Id="rId10" Type="http://schemas.openxmlformats.org/officeDocument/2006/relationships/image" Target="../media/image40.png"/><Relationship Id="rId4" Type="http://schemas.openxmlformats.org/officeDocument/2006/relationships/video" Target="../media/media6.mp4"/><Relationship Id="rId9" Type="http://schemas.openxmlformats.org/officeDocument/2006/relationships/image" Target="../media/image39.png"/></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3" Type="http://schemas.microsoft.com/office/2007/relationships/media" Target="../media/media6.mp4"/><Relationship Id="rId7" Type="http://schemas.openxmlformats.org/officeDocument/2006/relationships/image" Target="../media/image38.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notesSlide" Target="../notesSlides/notesSlide16.xml"/><Relationship Id="rId5" Type="http://schemas.openxmlformats.org/officeDocument/2006/relationships/slideLayout" Target="../slideLayouts/slideLayout1.xml"/><Relationship Id="rId10" Type="http://schemas.openxmlformats.org/officeDocument/2006/relationships/image" Target="../media/image40.png"/><Relationship Id="rId4" Type="http://schemas.openxmlformats.org/officeDocument/2006/relationships/video" Target="../media/media6.mp4"/><Relationship Id="rId9"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46.png"/><Relationship Id="rId4"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7.mp4"/><Relationship Id="rId1" Type="http://schemas.microsoft.com/office/2007/relationships/media" Target="../media/media7.mp4"/><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8" Type="http://schemas.openxmlformats.org/officeDocument/2006/relationships/image" Target="../media/image47.png"/><Relationship Id="rId3" Type="http://schemas.microsoft.com/office/2007/relationships/media" Target="../media/media9.mp4"/><Relationship Id="rId7" Type="http://schemas.openxmlformats.org/officeDocument/2006/relationships/notesSlide" Target="../notesSlides/notesSlide19.xml"/><Relationship Id="rId12" Type="http://schemas.openxmlformats.org/officeDocument/2006/relationships/image" Target="../media/image51.png"/><Relationship Id="rId2" Type="http://schemas.microsoft.com/office/2007/relationships/media" Target="../media/media8.mp4"/><Relationship Id="rId1" Type="http://schemas.openxmlformats.org/officeDocument/2006/relationships/video" Target="NULL" TargetMode="External"/><Relationship Id="rId6" Type="http://schemas.openxmlformats.org/officeDocument/2006/relationships/slideLayout" Target="../slideLayouts/slideLayout1.xml"/><Relationship Id="rId11" Type="http://schemas.openxmlformats.org/officeDocument/2006/relationships/image" Target="../media/image50.png"/><Relationship Id="rId5" Type="http://schemas.microsoft.com/office/2007/relationships/media" Target="../media/media11.mp4"/><Relationship Id="rId10" Type="http://schemas.openxmlformats.org/officeDocument/2006/relationships/image" Target="../media/image49.png"/><Relationship Id="rId4" Type="http://schemas.microsoft.com/office/2007/relationships/media" Target="../media/media10.mp4"/><Relationship Id="rId9"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slide" Target="slide47.xml"/><Relationship Id="rId13" Type="http://schemas.openxmlformats.org/officeDocument/2006/relationships/slide" Target="slide52.xml"/><Relationship Id="rId3" Type="http://schemas.openxmlformats.org/officeDocument/2006/relationships/slide" Target="slide41.xml"/><Relationship Id="rId7" Type="http://schemas.openxmlformats.org/officeDocument/2006/relationships/slide" Target="slide46.xml"/><Relationship Id="rId12" Type="http://schemas.openxmlformats.org/officeDocument/2006/relationships/slide" Target="slide51.xml"/><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slide" Target="slide44.xml"/><Relationship Id="rId11" Type="http://schemas.openxmlformats.org/officeDocument/2006/relationships/slide" Target="slide50.xml"/><Relationship Id="rId5" Type="http://schemas.openxmlformats.org/officeDocument/2006/relationships/slide" Target="slide43.xml"/><Relationship Id="rId15" Type="http://schemas.openxmlformats.org/officeDocument/2006/relationships/slide" Target="slide54.xml"/><Relationship Id="rId10" Type="http://schemas.openxmlformats.org/officeDocument/2006/relationships/slide" Target="slide49.xml"/><Relationship Id="rId4" Type="http://schemas.openxmlformats.org/officeDocument/2006/relationships/slide" Target="slide42.xml"/><Relationship Id="rId9" Type="http://schemas.openxmlformats.org/officeDocument/2006/relationships/slide" Target="slide48.xml"/><Relationship Id="rId14" Type="http://schemas.openxmlformats.org/officeDocument/2006/relationships/slide" Target="slide53.xml"/></Relationships>
</file>

<file path=ppt/slides/_rels/slide41.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45.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66.png"/></Relationships>
</file>

<file path=ppt/slides/_rels/slide46.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47.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AEA2030-01EB-035C-D5CD-2C47EDC76054}"/>
              </a:ext>
            </a:extLst>
          </p:cNvPr>
          <p:cNvSpPr txBox="1">
            <a:spLocks/>
          </p:cNvSpPr>
          <p:nvPr/>
        </p:nvSpPr>
        <p:spPr>
          <a:xfrm>
            <a:off x="10940069" y="6341157"/>
            <a:ext cx="654604" cy="38662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GB" sz="1400" dirty="0">
                <a:latin typeface="Google Sans Flex" panose="020B0503030502040204" pitchFamily="34" charset="0"/>
                <a:ea typeface="Google Sans Flex" panose="020B0503030502040204" pitchFamily="34" charset="0"/>
                <a:cs typeface="Google Sans Flex" panose="020B0503030502040204" pitchFamily="34" charset="0"/>
              </a:rPr>
              <a:t>01</a:t>
            </a:r>
            <a:endParaRPr lang="en-US" sz="1400" dirty="0">
              <a:latin typeface="Google Sans Flex" panose="020B0503030502040204" pitchFamily="34" charset="0"/>
              <a:ea typeface="Google Sans Flex" panose="020B0503030502040204" pitchFamily="34" charset="0"/>
              <a:cs typeface="Google Sans Flex" panose="020B0503030502040204" pitchFamily="34" charset="0"/>
            </a:endParaRPr>
          </a:p>
        </p:txBody>
      </p:sp>
      <p:sp>
        <p:nvSpPr>
          <p:cNvPr id="3" name="Title 1">
            <a:extLst>
              <a:ext uri="{FF2B5EF4-FFF2-40B4-BE49-F238E27FC236}">
                <a16:creationId xmlns:a16="http://schemas.microsoft.com/office/drawing/2014/main" id="{9F168AEA-A906-E79E-734D-C7F38A64CA9A}"/>
              </a:ext>
            </a:extLst>
          </p:cNvPr>
          <p:cNvSpPr txBox="1">
            <a:spLocks/>
          </p:cNvSpPr>
          <p:nvPr/>
        </p:nvSpPr>
        <p:spPr>
          <a:xfrm>
            <a:off x="1385905" y="1801280"/>
            <a:ext cx="9420191" cy="162772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54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Every Morning, </a:t>
            </a:r>
            <a:r>
              <a:rPr lang="en-GB" sz="5400" dirty="0">
                <a:latin typeface="Google Sans Flex Light" panose="020B0503030502040204" pitchFamily="34" charset="0"/>
                <a:ea typeface="Google Sans Flex Light" panose="020B0503030502040204" pitchFamily="34" charset="0"/>
                <a:cs typeface="Google Sans Flex Light" panose="020B0503030502040204" pitchFamily="34" charset="0"/>
              </a:rPr>
              <a:t>120 stores wait on one spreadsheet</a:t>
            </a:r>
            <a:endParaRPr lang="en-US" sz="54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18" name="Rectangle: Rounded Corners 17">
            <a:extLst>
              <a:ext uri="{FF2B5EF4-FFF2-40B4-BE49-F238E27FC236}">
                <a16:creationId xmlns:a16="http://schemas.microsoft.com/office/drawing/2014/main" id="{C0C802FA-CA70-4CA1-7CC5-C078397EDF7F}"/>
              </a:ext>
            </a:extLst>
          </p:cNvPr>
          <p:cNvSpPr/>
          <p:nvPr/>
        </p:nvSpPr>
        <p:spPr>
          <a:xfrm>
            <a:off x="1516006" y="3705855"/>
            <a:ext cx="1520406" cy="353560"/>
          </a:xfrm>
          <a:prstGeom prst="roundRect">
            <a:avLst>
              <a:gd name="adj"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
            <a:extLst>
              <a:ext uri="{FF2B5EF4-FFF2-40B4-BE49-F238E27FC236}">
                <a16:creationId xmlns:a16="http://schemas.microsoft.com/office/drawing/2014/main" id="{BFDED0D7-BAB1-D977-45D3-F7D5E095A1F3}"/>
              </a:ext>
            </a:extLst>
          </p:cNvPr>
          <p:cNvSpPr txBox="1">
            <a:spLocks/>
          </p:cNvSpPr>
          <p:nvPr/>
        </p:nvSpPr>
        <p:spPr>
          <a:xfrm>
            <a:off x="1567797" y="3721295"/>
            <a:ext cx="1419045" cy="34264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Fresh · 80</a:t>
            </a:r>
            <a:endParaRPr lang="en-US"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19" name="Rectangle: Rounded Corners 18">
            <a:extLst>
              <a:ext uri="{FF2B5EF4-FFF2-40B4-BE49-F238E27FC236}">
                <a16:creationId xmlns:a16="http://schemas.microsoft.com/office/drawing/2014/main" id="{35EEC5BC-467C-F27C-92A3-C37A515CAE82}"/>
              </a:ext>
            </a:extLst>
          </p:cNvPr>
          <p:cNvSpPr/>
          <p:nvPr/>
        </p:nvSpPr>
        <p:spPr>
          <a:xfrm>
            <a:off x="3473857" y="3705855"/>
            <a:ext cx="1398401" cy="353560"/>
          </a:xfrm>
          <a:prstGeom prst="roundRect">
            <a:avLst>
              <a:gd name="adj"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
            <a:extLst>
              <a:ext uri="{FF2B5EF4-FFF2-40B4-BE49-F238E27FC236}">
                <a16:creationId xmlns:a16="http://schemas.microsoft.com/office/drawing/2014/main" id="{25DBC892-9BAC-CF4D-7C24-03EA3BCAF287}"/>
              </a:ext>
            </a:extLst>
          </p:cNvPr>
          <p:cNvSpPr txBox="1">
            <a:spLocks/>
          </p:cNvSpPr>
          <p:nvPr/>
        </p:nvSpPr>
        <p:spPr>
          <a:xfrm>
            <a:off x="3457876" y="3721295"/>
            <a:ext cx="1419045" cy="34264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Style · 25</a:t>
            </a:r>
            <a:endParaRPr lang="en-US"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21" name="Rectangle: Rounded Corners 20">
            <a:extLst>
              <a:ext uri="{FF2B5EF4-FFF2-40B4-BE49-F238E27FC236}">
                <a16:creationId xmlns:a16="http://schemas.microsoft.com/office/drawing/2014/main" id="{458D8495-4930-83ED-7709-29BF44FFD3A6}"/>
              </a:ext>
            </a:extLst>
          </p:cNvPr>
          <p:cNvSpPr/>
          <p:nvPr/>
        </p:nvSpPr>
        <p:spPr>
          <a:xfrm>
            <a:off x="5304864" y="3705855"/>
            <a:ext cx="1387930" cy="353560"/>
          </a:xfrm>
          <a:prstGeom prst="roundRect">
            <a:avLst>
              <a:gd name="adj"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1">
            <a:extLst>
              <a:ext uri="{FF2B5EF4-FFF2-40B4-BE49-F238E27FC236}">
                <a16:creationId xmlns:a16="http://schemas.microsoft.com/office/drawing/2014/main" id="{E351499F-C484-908C-6ABE-053C760C4BDE}"/>
              </a:ext>
            </a:extLst>
          </p:cNvPr>
          <p:cNvSpPr txBox="1">
            <a:spLocks/>
          </p:cNvSpPr>
          <p:nvPr/>
        </p:nvSpPr>
        <p:spPr>
          <a:xfrm>
            <a:off x="5280778" y="3721295"/>
            <a:ext cx="1419045" cy="34264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Tech · 15</a:t>
            </a:r>
            <a:endParaRPr lang="en-US"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23" name="Title 1">
            <a:extLst>
              <a:ext uri="{FF2B5EF4-FFF2-40B4-BE49-F238E27FC236}">
                <a16:creationId xmlns:a16="http://schemas.microsoft.com/office/drawing/2014/main" id="{C8A7E61C-61C4-522C-5DDE-0D4C6222878D}"/>
              </a:ext>
            </a:extLst>
          </p:cNvPr>
          <p:cNvSpPr txBox="1">
            <a:spLocks/>
          </p:cNvSpPr>
          <p:nvPr/>
        </p:nvSpPr>
        <p:spPr>
          <a:xfrm>
            <a:off x="1487654" y="4561733"/>
            <a:ext cx="7210672" cy="338120"/>
          </a:xfrm>
          <a:prstGeom prst="rect">
            <a:avLst/>
          </a:prstGeom>
        </p:spPr>
        <p:txBody>
          <a:bodyPr vert="horz" lIns="91440" tIns="45720" rIns="91440" bIns="45720" rtlCol="0" anchor="ctr">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000" dirty="0">
                <a:latin typeface="Google Sans Flex Light" panose="020B0503030502040204" pitchFamily="34" charset="0"/>
                <a:ea typeface="Google Sans Flex Light" panose="020B0503030502040204" pitchFamily="34" charset="0"/>
                <a:cs typeface="Google Sans Flex Light" panose="020B0503030502040204" pitchFamily="34" charset="0"/>
              </a:rPr>
              <a:t>2 Depots · 60 vehicles, Only 16 can carry chilled</a:t>
            </a:r>
            <a:endParaRPr lang="en-US" sz="20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grpSp>
        <p:nvGrpSpPr>
          <p:cNvPr id="70" name="Group 69">
            <a:extLst>
              <a:ext uri="{FF2B5EF4-FFF2-40B4-BE49-F238E27FC236}">
                <a16:creationId xmlns:a16="http://schemas.microsoft.com/office/drawing/2014/main" id="{53636402-95C5-9F9C-1415-2AEA068B28AF}"/>
              </a:ext>
            </a:extLst>
          </p:cNvPr>
          <p:cNvGrpSpPr/>
          <p:nvPr/>
        </p:nvGrpSpPr>
        <p:grpSpPr>
          <a:xfrm>
            <a:off x="754077" y="7115529"/>
            <a:ext cx="4324864" cy="1369047"/>
            <a:chOff x="734154" y="3734648"/>
            <a:chExt cx="4324864" cy="1369047"/>
          </a:xfrm>
        </p:grpSpPr>
        <p:sp>
          <p:nvSpPr>
            <p:cNvPr id="71" name="Rectangle: Rounded Corners 70">
              <a:extLst>
                <a:ext uri="{FF2B5EF4-FFF2-40B4-BE49-F238E27FC236}">
                  <a16:creationId xmlns:a16="http://schemas.microsoft.com/office/drawing/2014/main" id="{111375BA-B259-E70F-A1AD-AB3091C3FD44}"/>
                </a:ext>
              </a:extLst>
            </p:cNvPr>
            <p:cNvSpPr/>
            <p:nvPr/>
          </p:nvSpPr>
          <p:spPr>
            <a:xfrm>
              <a:off x="734154" y="3734648"/>
              <a:ext cx="4324864" cy="1369047"/>
            </a:xfrm>
            <a:prstGeom prst="roundRect">
              <a:avLst>
                <a:gd name="adj" fmla="val 18827"/>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2" name="Picture 71" descr="File:IMessage logo.svg - Wikimedia Commons">
              <a:extLst>
                <a:ext uri="{FF2B5EF4-FFF2-40B4-BE49-F238E27FC236}">
                  <a16:creationId xmlns:a16="http://schemas.microsoft.com/office/drawing/2014/main" id="{8239450E-B16C-A18A-88CF-1546188F6D28}"/>
                </a:ext>
              </a:extLst>
            </p:cNvPr>
            <p:cNvPicPr>
              <a:picLocks noChangeAspect="1"/>
            </p:cNvPicPr>
            <p:nvPr/>
          </p:nvPicPr>
          <p:blipFill>
            <a:blip r:embed="rId3"/>
            <a:stretch>
              <a:fillRect/>
            </a:stretch>
          </p:blipFill>
          <p:spPr>
            <a:xfrm>
              <a:off x="929173" y="3913686"/>
              <a:ext cx="338120" cy="338120"/>
            </a:xfrm>
            <a:prstGeom prst="rect">
              <a:avLst/>
            </a:prstGeom>
          </p:spPr>
        </p:pic>
        <p:sp>
          <p:nvSpPr>
            <p:cNvPr id="73" name="Title 1">
              <a:extLst>
                <a:ext uri="{FF2B5EF4-FFF2-40B4-BE49-F238E27FC236}">
                  <a16:creationId xmlns:a16="http://schemas.microsoft.com/office/drawing/2014/main" id="{4EB1FE8B-BEAC-2462-86F7-79BD3B6A5FD7}"/>
                </a:ext>
              </a:extLst>
            </p:cNvPr>
            <p:cNvSpPr txBox="1">
              <a:spLocks/>
            </p:cNvSpPr>
            <p:nvPr/>
          </p:nvSpPr>
          <p:spPr>
            <a:xfrm>
              <a:off x="1279757" y="3905269"/>
              <a:ext cx="2062295" cy="35221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400" dirty="0">
                  <a:latin typeface="Google Sans Flex Light" panose="020B0503030502040204" pitchFamily="34" charset="0"/>
                  <a:ea typeface="Google Sans Flex Light" panose="020B0503030502040204" pitchFamily="34" charset="0"/>
                  <a:cs typeface="Google Sans Flex Light" panose="020B0503030502040204" pitchFamily="34" charset="0"/>
                </a:rPr>
                <a:t>Messages</a:t>
              </a:r>
              <a:endParaRPr lang="en-US" sz="14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74" name="Title 1">
              <a:extLst>
                <a:ext uri="{FF2B5EF4-FFF2-40B4-BE49-F238E27FC236}">
                  <a16:creationId xmlns:a16="http://schemas.microsoft.com/office/drawing/2014/main" id="{771DA527-833F-CA06-6CB2-4BF151551C2C}"/>
                </a:ext>
              </a:extLst>
            </p:cNvPr>
            <p:cNvSpPr txBox="1">
              <a:spLocks/>
            </p:cNvSpPr>
            <p:nvPr/>
          </p:nvSpPr>
          <p:spPr>
            <a:xfrm>
              <a:off x="2745982" y="3905269"/>
              <a:ext cx="2062295" cy="35221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GB" sz="1400" dirty="0">
                  <a:latin typeface="Google Sans Flex Light" panose="020B0503030502040204" pitchFamily="34" charset="0"/>
                  <a:ea typeface="Google Sans Flex Light" panose="020B0503030502040204" pitchFamily="34" charset="0"/>
                  <a:cs typeface="Google Sans Flex Light" panose="020B0503030502040204" pitchFamily="34" charset="0"/>
                </a:rPr>
                <a:t>now</a:t>
              </a:r>
              <a:endParaRPr lang="en-US" sz="14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75" name="Title 1">
              <a:extLst>
                <a:ext uri="{FF2B5EF4-FFF2-40B4-BE49-F238E27FC236}">
                  <a16:creationId xmlns:a16="http://schemas.microsoft.com/office/drawing/2014/main" id="{F0FDBFCE-B4DF-6A24-85B7-5777B4CDE1B7}"/>
                </a:ext>
              </a:extLst>
            </p:cNvPr>
            <p:cNvSpPr txBox="1">
              <a:spLocks/>
            </p:cNvSpPr>
            <p:nvPr/>
          </p:nvSpPr>
          <p:spPr>
            <a:xfrm>
              <a:off x="918647" y="4517768"/>
              <a:ext cx="2727066" cy="41939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Fresh misses 8 AM</a:t>
              </a:r>
              <a:endParaRPr lang="en-US"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cxnSp>
          <p:nvCxnSpPr>
            <p:cNvPr id="76" name="Straight Connector 75">
              <a:extLst>
                <a:ext uri="{FF2B5EF4-FFF2-40B4-BE49-F238E27FC236}">
                  <a16:creationId xmlns:a16="http://schemas.microsoft.com/office/drawing/2014/main" id="{4DBBBF45-E821-C7A4-3876-E77919DB9E34}"/>
                </a:ext>
              </a:extLst>
            </p:cNvPr>
            <p:cNvCxnSpPr/>
            <p:nvPr/>
          </p:nvCxnSpPr>
          <p:spPr>
            <a:xfrm>
              <a:off x="929173" y="4365063"/>
              <a:ext cx="3879104"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44602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9D00C-D1F2-F42F-35A8-5C1BD9E52F4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DF0822D-DCC9-A1E8-5C80-9E89F1125250}"/>
              </a:ext>
            </a:extLst>
          </p:cNvPr>
          <p:cNvSpPr/>
          <p:nvPr/>
        </p:nvSpPr>
        <p:spPr>
          <a:xfrm>
            <a:off x="7350919" y="552322"/>
            <a:ext cx="4243755" cy="5619878"/>
          </a:xfrm>
          <a:prstGeom prst="roundRect">
            <a:avLst>
              <a:gd name="adj" fmla="val 689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B882B24-8E2A-C357-AE9B-34FD564D129D}"/>
              </a:ext>
            </a:extLst>
          </p:cNvPr>
          <p:cNvSpPr txBox="1">
            <a:spLocks/>
          </p:cNvSpPr>
          <p:nvPr/>
        </p:nvSpPr>
        <p:spPr>
          <a:xfrm>
            <a:off x="10940069" y="6341157"/>
            <a:ext cx="654604" cy="38662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GB" sz="1400" dirty="0">
                <a:latin typeface="Google Sans Flex" panose="020B0503030502040204" pitchFamily="34" charset="0"/>
                <a:ea typeface="Google Sans Flex" panose="020B0503030502040204" pitchFamily="34" charset="0"/>
                <a:cs typeface="Google Sans Flex" panose="020B0503030502040204" pitchFamily="34" charset="0"/>
              </a:rPr>
              <a:t>01</a:t>
            </a:r>
            <a:endParaRPr lang="en-US" sz="1400" dirty="0">
              <a:latin typeface="Google Sans Flex" panose="020B0503030502040204" pitchFamily="34" charset="0"/>
              <a:ea typeface="Google Sans Flex" panose="020B0503030502040204" pitchFamily="34" charset="0"/>
              <a:cs typeface="Google Sans Flex" panose="020B0503030502040204" pitchFamily="34" charset="0"/>
            </a:endParaRPr>
          </a:p>
        </p:txBody>
      </p:sp>
      <p:sp>
        <p:nvSpPr>
          <p:cNvPr id="3" name="Title 1">
            <a:extLst>
              <a:ext uri="{FF2B5EF4-FFF2-40B4-BE49-F238E27FC236}">
                <a16:creationId xmlns:a16="http://schemas.microsoft.com/office/drawing/2014/main" id="{98A7EDB5-18BB-2143-A19F-0A3A69E6F668}"/>
              </a:ext>
            </a:extLst>
          </p:cNvPr>
          <p:cNvSpPr txBox="1">
            <a:spLocks/>
          </p:cNvSpPr>
          <p:nvPr/>
        </p:nvSpPr>
        <p:spPr>
          <a:xfrm>
            <a:off x="691997" y="616018"/>
            <a:ext cx="6337403" cy="14217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Every Morning, </a:t>
            </a:r>
            <a:r>
              <a:rPr lang="en-GB" sz="3600" dirty="0">
                <a:latin typeface="Google Sans Flex Light" panose="020B0503030502040204" pitchFamily="34" charset="0"/>
                <a:ea typeface="Google Sans Flex Light" panose="020B0503030502040204" pitchFamily="34" charset="0"/>
                <a:cs typeface="Google Sans Flex Light" panose="020B0503030502040204" pitchFamily="34" charset="0"/>
              </a:rPr>
              <a:t>120 stores wait on one spreadsheet</a:t>
            </a:r>
            <a:endParaRPr lang="en-US" sz="36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7" name="Title 1">
            <a:extLst>
              <a:ext uri="{FF2B5EF4-FFF2-40B4-BE49-F238E27FC236}">
                <a16:creationId xmlns:a16="http://schemas.microsoft.com/office/drawing/2014/main" id="{FBE2D34E-C85F-0ED8-B152-4D1F7224CCA3}"/>
              </a:ext>
            </a:extLst>
          </p:cNvPr>
          <p:cNvSpPr txBox="1">
            <a:spLocks/>
          </p:cNvSpPr>
          <p:nvPr/>
        </p:nvSpPr>
        <p:spPr>
          <a:xfrm>
            <a:off x="7684005" y="782074"/>
            <a:ext cx="3256064" cy="1089589"/>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How a delivery runs today</a:t>
            </a:r>
            <a:endParaRPr lang="en-US" sz="2800" dirty="0">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9" name="Title 1">
            <a:extLst>
              <a:ext uri="{FF2B5EF4-FFF2-40B4-BE49-F238E27FC236}">
                <a16:creationId xmlns:a16="http://schemas.microsoft.com/office/drawing/2014/main" id="{F6FE8020-ED9D-541E-C60C-10B7DEE70854}"/>
              </a:ext>
            </a:extLst>
          </p:cNvPr>
          <p:cNvSpPr txBox="1">
            <a:spLocks/>
          </p:cNvSpPr>
          <p:nvPr/>
        </p:nvSpPr>
        <p:spPr>
          <a:xfrm>
            <a:off x="8502338" y="1999218"/>
            <a:ext cx="2114550" cy="60007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0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Store Manager</a:t>
            </a:r>
            <a:endParaRPr lang="en-US" sz="2000" dirty="0">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18" name="Rectangle: Rounded Corners 17">
            <a:extLst>
              <a:ext uri="{FF2B5EF4-FFF2-40B4-BE49-F238E27FC236}">
                <a16:creationId xmlns:a16="http://schemas.microsoft.com/office/drawing/2014/main" id="{B5B2745F-3CA6-E86A-AEE8-F275BC0D0E18}"/>
              </a:ext>
            </a:extLst>
          </p:cNvPr>
          <p:cNvSpPr/>
          <p:nvPr/>
        </p:nvSpPr>
        <p:spPr>
          <a:xfrm>
            <a:off x="732235" y="2201428"/>
            <a:ext cx="1176883" cy="348892"/>
          </a:xfrm>
          <a:prstGeom prst="roundRect">
            <a:avLst>
              <a:gd name="adj"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Title 1">
            <a:extLst>
              <a:ext uri="{FF2B5EF4-FFF2-40B4-BE49-F238E27FC236}">
                <a16:creationId xmlns:a16="http://schemas.microsoft.com/office/drawing/2014/main" id="{39543CBF-49F8-5DBB-479C-8C162788ABCB}"/>
              </a:ext>
            </a:extLst>
          </p:cNvPr>
          <p:cNvSpPr txBox="1">
            <a:spLocks/>
          </p:cNvSpPr>
          <p:nvPr/>
        </p:nvSpPr>
        <p:spPr>
          <a:xfrm>
            <a:off x="784027" y="2216868"/>
            <a:ext cx="1098424" cy="33812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4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Fresh · 80</a:t>
            </a:r>
            <a:endParaRPr lang="en-US" sz="1400" dirty="0">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19" name="Rectangle: Rounded Corners 18">
            <a:extLst>
              <a:ext uri="{FF2B5EF4-FFF2-40B4-BE49-F238E27FC236}">
                <a16:creationId xmlns:a16="http://schemas.microsoft.com/office/drawing/2014/main" id="{70AC2AA4-07CE-E50D-8D49-498D89658507}"/>
              </a:ext>
            </a:extLst>
          </p:cNvPr>
          <p:cNvSpPr/>
          <p:nvPr/>
        </p:nvSpPr>
        <p:spPr>
          <a:xfrm>
            <a:off x="2060031" y="2201428"/>
            <a:ext cx="1082444" cy="348892"/>
          </a:xfrm>
          <a:prstGeom prst="roundRect">
            <a:avLst>
              <a:gd name="adj"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0" name="Title 1">
            <a:extLst>
              <a:ext uri="{FF2B5EF4-FFF2-40B4-BE49-F238E27FC236}">
                <a16:creationId xmlns:a16="http://schemas.microsoft.com/office/drawing/2014/main" id="{E00F83C7-8892-F7BF-E83E-1AF11C90E890}"/>
              </a:ext>
            </a:extLst>
          </p:cNvPr>
          <p:cNvSpPr txBox="1">
            <a:spLocks/>
          </p:cNvSpPr>
          <p:nvPr/>
        </p:nvSpPr>
        <p:spPr>
          <a:xfrm>
            <a:off x="2044050" y="2216868"/>
            <a:ext cx="1098424" cy="33812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4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Style · 25</a:t>
            </a:r>
            <a:endParaRPr lang="en-US" sz="1400" dirty="0">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21" name="Rectangle: Rounded Corners 20">
            <a:extLst>
              <a:ext uri="{FF2B5EF4-FFF2-40B4-BE49-F238E27FC236}">
                <a16:creationId xmlns:a16="http://schemas.microsoft.com/office/drawing/2014/main" id="{79DE4B1C-00C5-545D-D45C-FAC9746DB5D0}"/>
              </a:ext>
            </a:extLst>
          </p:cNvPr>
          <p:cNvSpPr/>
          <p:nvPr/>
        </p:nvSpPr>
        <p:spPr>
          <a:xfrm>
            <a:off x="3299331" y="2201428"/>
            <a:ext cx="1074339" cy="348892"/>
          </a:xfrm>
          <a:prstGeom prst="roundRect">
            <a:avLst>
              <a:gd name="adj"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 name="Title 1">
            <a:extLst>
              <a:ext uri="{FF2B5EF4-FFF2-40B4-BE49-F238E27FC236}">
                <a16:creationId xmlns:a16="http://schemas.microsoft.com/office/drawing/2014/main" id="{27B41126-C3E6-CAF4-8B87-C82F13D325B1}"/>
              </a:ext>
            </a:extLst>
          </p:cNvPr>
          <p:cNvSpPr txBox="1">
            <a:spLocks/>
          </p:cNvSpPr>
          <p:nvPr/>
        </p:nvSpPr>
        <p:spPr>
          <a:xfrm>
            <a:off x="3275246" y="2216868"/>
            <a:ext cx="1098424" cy="33812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4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Tech · 15</a:t>
            </a:r>
            <a:endParaRPr lang="en-US" sz="1400" dirty="0">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23" name="Title 1">
            <a:extLst>
              <a:ext uri="{FF2B5EF4-FFF2-40B4-BE49-F238E27FC236}">
                <a16:creationId xmlns:a16="http://schemas.microsoft.com/office/drawing/2014/main" id="{0969E537-F6C1-7BF7-383B-3772B6D18FB6}"/>
              </a:ext>
            </a:extLst>
          </p:cNvPr>
          <p:cNvSpPr txBox="1">
            <a:spLocks/>
          </p:cNvSpPr>
          <p:nvPr/>
        </p:nvSpPr>
        <p:spPr>
          <a:xfrm>
            <a:off x="703883" y="3057306"/>
            <a:ext cx="4137199" cy="33812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400" dirty="0">
                <a:latin typeface="Google Sans Flex Light" panose="020B0503030502040204" pitchFamily="34" charset="0"/>
                <a:ea typeface="Google Sans Flex Light" panose="020B0503030502040204" pitchFamily="34" charset="0"/>
                <a:cs typeface="Google Sans Flex Light" panose="020B0503030502040204" pitchFamily="34" charset="0"/>
              </a:rPr>
              <a:t>2 Depots · 60 vehicles, Only 16 can carry chilled</a:t>
            </a:r>
            <a:endParaRPr lang="en-US" sz="14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24" name="Title 1">
            <a:extLst>
              <a:ext uri="{FF2B5EF4-FFF2-40B4-BE49-F238E27FC236}">
                <a16:creationId xmlns:a16="http://schemas.microsoft.com/office/drawing/2014/main" id="{14A58C46-5399-E013-C8B6-B55FFC1D1701}"/>
              </a:ext>
            </a:extLst>
          </p:cNvPr>
          <p:cNvSpPr txBox="1">
            <a:spLocks/>
          </p:cNvSpPr>
          <p:nvPr/>
        </p:nvSpPr>
        <p:spPr>
          <a:xfrm>
            <a:off x="8497665" y="2430131"/>
            <a:ext cx="2854481" cy="338120"/>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400" dirty="0">
                <a:latin typeface="Google Sans Flex Light" panose="020B0503030502040204" pitchFamily="34" charset="0"/>
                <a:ea typeface="Google Sans Flex Light" panose="020B0503030502040204" pitchFamily="34" charset="0"/>
                <a:cs typeface="Google Sans Flex Light" panose="020B0503030502040204" pitchFamily="34" charset="0"/>
              </a:rPr>
              <a:t>Phones the order in</a:t>
            </a:r>
            <a:endParaRPr lang="en-US" sz="14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26" name="Title 1">
            <a:extLst>
              <a:ext uri="{FF2B5EF4-FFF2-40B4-BE49-F238E27FC236}">
                <a16:creationId xmlns:a16="http://schemas.microsoft.com/office/drawing/2014/main" id="{60EAF82E-F28D-F53B-DDF9-18654A891750}"/>
              </a:ext>
            </a:extLst>
          </p:cNvPr>
          <p:cNvSpPr txBox="1">
            <a:spLocks/>
          </p:cNvSpPr>
          <p:nvPr/>
        </p:nvSpPr>
        <p:spPr>
          <a:xfrm>
            <a:off x="8502338" y="2965615"/>
            <a:ext cx="2114550" cy="60007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0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Dispatcher</a:t>
            </a:r>
            <a:endParaRPr lang="en-US" sz="2000" dirty="0">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27" name="Title 1">
            <a:extLst>
              <a:ext uri="{FF2B5EF4-FFF2-40B4-BE49-F238E27FC236}">
                <a16:creationId xmlns:a16="http://schemas.microsoft.com/office/drawing/2014/main" id="{1AD53A78-955F-9013-EF51-45CC041D9188}"/>
              </a:ext>
            </a:extLst>
          </p:cNvPr>
          <p:cNvSpPr txBox="1">
            <a:spLocks/>
          </p:cNvSpPr>
          <p:nvPr/>
        </p:nvSpPr>
        <p:spPr>
          <a:xfrm>
            <a:off x="8497665" y="3396528"/>
            <a:ext cx="2854481" cy="338120"/>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400" dirty="0">
                <a:latin typeface="Google Sans Flex Light" panose="020B0503030502040204" pitchFamily="34" charset="0"/>
                <a:ea typeface="Google Sans Flex Light" panose="020B0503030502040204" pitchFamily="34" charset="0"/>
                <a:cs typeface="Google Sans Flex Light" panose="020B0503030502040204" pitchFamily="34" charset="0"/>
              </a:rPr>
              <a:t>Types it into a spreadsheet</a:t>
            </a:r>
            <a:endParaRPr lang="en-US" sz="14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29" name="Title 1">
            <a:extLst>
              <a:ext uri="{FF2B5EF4-FFF2-40B4-BE49-F238E27FC236}">
                <a16:creationId xmlns:a16="http://schemas.microsoft.com/office/drawing/2014/main" id="{18E6DC02-6EF3-0848-AED7-777B81A89831}"/>
              </a:ext>
            </a:extLst>
          </p:cNvPr>
          <p:cNvSpPr txBox="1">
            <a:spLocks/>
          </p:cNvSpPr>
          <p:nvPr/>
        </p:nvSpPr>
        <p:spPr>
          <a:xfrm>
            <a:off x="8502338" y="3917726"/>
            <a:ext cx="2114550" cy="60007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0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Loader</a:t>
            </a:r>
            <a:endParaRPr lang="en-US" sz="2000" dirty="0">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30" name="Title 1">
            <a:extLst>
              <a:ext uri="{FF2B5EF4-FFF2-40B4-BE49-F238E27FC236}">
                <a16:creationId xmlns:a16="http://schemas.microsoft.com/office/drawing/2014/main" id="{7690C269-F98C-1E86-7230-0A9B237F4177}"/>
              </a:ext>
            </a:extLst>
          </p:cNvPr>
          <p:cNvSpPr txBox="1">
            <a:spLocks/>
          </p:cNvSpPr>
          <p:nvPr/>
        </p:nvSpPr>
        <p:spPr>
          <a:xfrm>
            <a:off x="8497665" y="4348639"/>
            <a:ext cx="2854481" cy="338120"/>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400" dirty="0">
                <a:latin typeface="Google Sans Flex Light" panose="020B0503030502040204" pitchFamily="34" charset="0"/>
                <a:ea typeface="Google Sans Flex Light" panose="020B0503030502040204" pitchFamily="34" charset="0"/>
                <a:cs typeface="Google Sans Flex Light" panose="020B0503030502040204" pitchFamily="34" charset="0"/>
              </a:rPr>
              <a:t>Works from a printed list</a:t>
            </a:r>
            <a:endParaRPr lang="en-US" sz="14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32" name="Title 1">
            <a:extLst>
              <a:ext uri="{FF2B5EF4-FFF2-40B4-BE49-F238E27FC236}">
                <a16:creationId xmlns:a16="http://schemas.microsoft.com/office/drawing/2014/main" id="{A201CB73-37C7-330D-B7B8-7166532968E3}"/>
              </a:ext>
            </a:extLst>
          </p:cNvPr>
          <p:cNvSpPr txBox="1">
            <a:spLocks/>
          </p:cNvSpPr>
          <p:nvPr/>
        </p:nvSpPr>
        <p:spPr>
          <a:xfrm>
            <a:off x="8502338" y="4852700"/>
            <a:ext cx="2114550" cy="60007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0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Driver</a:t>
            </a:r>
            <a:endParaRPr lang="en-US" sz="2000" dirty="0">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cxnSp>
        <p:nvCxnSpPr>
          <p:cNvPr id="120" name="Straight Connector 119">
            <a:extLst>
              <a:ext uri="{FF2B5EF4-FFF2-40B4-BE49-F238E27FC236}">
                <a16:creationId xmlns:a16="http://schemas.microsoft.com/office/drawing/2014/main" id="{4FDF909C-C5C8-1BBF-B551-A931C419D875}"/>
              </a:ext>
            </a:extLst>
          </p:cNvPr>
          <p:cNvCxnSpPr>
            <a:cxnSpLocks/>
            <a:stCxn id="8" idx="0"/>
            <a:endCxn id="31" idx="0"/>
          </p:cNvCxnSpPr>
          <p:nvPr/>
        </p:nvCxnSpPr>
        <p:spPr>
          <a:xfrm>
            <a:off x="8052413" y="2130093"/>
            <a:ext cx="0" cy="28534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itle 1">
            <a:extLst>
              <a:ext uri="{FF2B5EF4-FFF2-40B4-BE49-F238E27FC236}">
                <a16:creationId xmlns:a16="http://schemas.microsoft.com/office/drawing/2014/main" id="{36C9CFEA-49B7-B0B1-F42C-179F0213A90A}"/>
              </a:ext>
            </a:extLst>
          </p:cNvPr>
          <p:cNvSpPr txBox="1">
            <a:spLocks/>
          </p:cNvSpPr>
          <p:nvPr/>
        </p:nvSpPr>
        <p:spPr>
          <a:xfrm>
            <a:off x="8497665" y="5283612"/>
            <a:ext cx="2854481" cy="628625"/>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400" dirty="0">
                <a:latin typeface="Google Sans Flex Light" panose="020B0503030502040204" pitchFamily="34" charset="0"/>
                <a:ea typeface="Google Sans Flex Light" panose="020B0503030502040204" pitchFamily="34" charset="0"/>
                <a:cs typeface="Google Sans Flex Light" panose="020B0503030502040204" pitchFamily="34" charset="0"/>
              </a:rPr>
              <a:t>Paper sheet · Invisible once on the road</a:t>
            </a:r>
            <a:endParaRPr lang="en-US" sz="14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grpSp>
        <p:nvGrpSpPr>
          <p:cNvPr id="115" name="Group 114">
            <a:extLst>
              <a:ext uri="{FF2B5EF4-FFF2-40B4-BE49-F238E27FC236}">
                <a16:creationId xmlns:a16="http://schemas.microsoft.com/office/drawing/2014/main" id="{3FB94B07-33EF-6026-264D-E81217F125A5}"/>
              </a:ext>
            </a:extLst>
          </p:cNvPr>
          <p:cNvGrpSpPr/>
          <p:nvPr/>
        </p:nvGrpSpPr>
        <p:grpSpPr>
          <a:xfrm>
            <a:off x="7752375" y="2130093"/>
            <a:ext cx="600075" cy="600075"/>
            <a:chOff x="7752375" y="2130093"/>
            <a:chExt cx="600075" cy="600075"/>
          </a:xfrm>
        </p:grpSpPr>
        <p:sp>
          <p:nvSpPr>
            <p:cNvPr id="8" name="Oval 7">
              <a:extLst>
                <a:ext uri="{FF2B5EF4-FFF2-40B4-BE49-F238E27FC236}">
                  <a16:creationId xmlns:a16="http://schemas.microsoft.com/office/drawing/2014/main" id="{221E6789-D9ED-E6A8-13DF-4FCAAF8E10BE}"/>
                </a:ext>
              </a:extLst>
            </p:cNvPr>
            <p:cNvSpPr/>
            <p:nvPr/>
          </p:nvSpPr>
          <p:spPr>
            <a:xfrm>
              <a:off x="7752375" y="2130093"/>
              <a:ext cx="600075" cy="60007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51">
              <a:extLst>
                <a:ext uri="{FF2B5EF4-FFF2-40B4-BE49-F238E27FC236}">
                  <a16:creationId xmlns:a16="http://schemas.microsoft.com/office/drawing/2014/main" id="{3F875824-B9B5-84E3-66EF-15E9CD058DD4}"/>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806666" y="2246505"/>
              <a:ext cx="469587" cy="372640"/>
            </a:xfrm>
            <a:prstGeom prst="rect">
              <a:avLst/>
            </a:prstGeom>
          </p:spPr>
        </p:pic>
      </p:grpSp>
      <p:grpSp>
        <p:nvGrpSpPr>
          <p:cNvPr id="116" name="Group 115">
            <a:extLst>
              <a:ext uri="{FF2B5EF4-FFF2-40B4-BE49-F238E27FC236}">
                <a16:creationId xmlns:a16="http://schemas.microsoft.com/office/drawing/2014/main" id="{84919517-7DD2-55E7-7252-395EA145E00C}"/>
              </a:ext>
            </a:extLst>
          </p:cNvPr>
          <p:cNvGrpSpPr/>
          <p:nvPr/>
        </p:nvGrpSpPr>
        <p:grpSpPr>
          <a:xfrm>
            <a:off x="7752375" y="3096490"/>
            <a:ext cx="600075" cy="600075"/>
            <a:chOff x="7752375" y="3096490"/>
            <a:chExt cx="600075" cy="600075"/>
          </a:xfrm>
        </p:grpSpPr>
        <p:sp>
          <p:nvSpPr>
            <p:cNvPr id="25" name="Oval 24">
              <a:extLst>
                <a:ext uri="{FF2B5EF4-FFF2-40B4-BE49-F238E27FC236}">
                  <a16:creationId xmlns:a16="http://schemas.microsoft.com/office/drawing/2014/main" id="{55B7D0CE-EB8D-1B23-5160-4191C9E5F87C}"/>
                </a:ext>
              </a:extLst>
            </p:cNvPr>
            <p:cNvSpPr/>
            <p:nvPr/>
          </p:nvSpPr>
          <p:spPr>
            <a:xfrm>
              <a:off x="7752375" y="3096490"/>
              <a:ext cx="600075" cy="60007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Picture 53">
              <a:extLst>
                <a:ext uri="{FF2B5EF4-FFF2-40B4-BE49-F238E27FC236}">
                  <a16:creationId xmlns:a16="http://schemas.microsoft.com/office/drawing/2014/main" id="{5EDB06FB-C2FF-F3B2-9F86-93F0938E708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839854" y="3226366"/>
              <a:ext cx="428731" cy="342689"/>
            </a:xfrm>
            <a:prstGeom prst="rect">
              <a:avLst/>
            </a:prstGeom>
          </p:spPr>
        </p:pic>
      </p:grpSp>
      <p:grpSp>
        <p:nvGrpSpPr>
          <p:cNvPr id="118" name="Group 117">
            <a:extLst>
              <a:ext uri="{FF2B5EF4-FFF2-40B4-BE49-F238E27FC236}">
                <a16:creationId xmlns:a16="http://schemas.microsoft.com/office/drawing/2014/main" id="{89804D36-7606-BDDB-884D-EFA758BA7F6C}"/>
              </a:ext>
            </a:extLst>
          </p:cNvPr>
          <p:cNvGrpSpPr/>
          <p:nvPr/>
        </p:nvGrpSpPr>
        <p:grpSpPr>
          <a:xfrm>
            <a:off x="7752375" y="4048601"/>
            <a:ext cx="620247" cy="600075"/>
            <a:chOff x="7752375" y="4048601"/>
            <a:chExt cx="620247" cy="600075"/>
          </a:xfrm>
        </p:grpSpPr>
        <p:sp>
          <p:nvSpPr>
            <p:cNvPr id="28" name="Oval 27">
              <a:extLst>
                <a:ext uri="{FF2B5EF4-FFF2-40B4-BE49-F238E27FC236}">
                  <a16:creationId xmlns:a16="http://schemas.microsoft.com/office/drawing/2014/main" id="{EAF139B6-B4ED-5690-9395-6D566AB660FD}"/>
                </a:ext>
              </a:extLst>
            </p:cNvPr>
            <p:cNvSpPr/>
            <p:nvPr/>
          </p:nvSpPr>
          <p:spPr>
            <a:xfrm>
              <a:off x="7752375" y="4048601"/>
              <a:ext cx="600075" cy="60007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Picture 55">
              <a:extLst>
                <a:ext uri="{FF2B5EF4-FFF2-40B4-BE49-F238E27FC236}">
                  <a16:creationId xmlns:a16="http://schemas.microsoft.com/office/drawing/2014/main" id="{3452F7DA-2A63-C378-F43A-7A7F034FAB32}"/>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7772639" y="4127833"/>
              <a:ext cx="599983" cy="464049"/>
            </a:xfrm>
            <a:prstGeom prst="rect">
              <a:avLst/>
            </a:prstGeom>
          </p:spPr>
        </p:pic>
      </p:grpSp>
      <p:grpSp>
        <p:nvGrpSpPr>
          <p:cNvPr id="117" name="Group 116">
            <a:extLst>
              <a:ext uri="{FF2B5EF4-FFF2-40B4-BE49-F238E27FC236}">
                <a16:creationId xmlns:a16="http://schemas.microsoft.com/office/drawing/2014/main" id="{755EE9B5-90AE-1777-3ECA-2A10B47723D3}"/>
              </a:ext>
            </a:extLst>
          </p:cNvPr>
          <p:cNvGrpSpPr/>
          <p:nvPr/>
        </p:nvGrpSpPr>
        <p:grpSpPr>
          <a:xfrm>
            <a:off x="7752375" y="4983575"/>
            <a:ext cx="600075" cy="600075"/>
            <a:chOff x="7752375" y="4983575"/>
            <a:chExt cx="600075" cy="600075"/>
          </a:xfrm>
        </p:grpSpPr>
        <p:sp>
          <p:nvSpPr>
            <p:cNvPr id="31" name="Oval 30">
              <a:extLst>
                <a:ext uri="{FF2B5EF4-FFF2-40B4-BE49-F238E27FC236}">
                  <a16:creationId xmlns:a16="http://schemas.microsoft.com/office/drawing/2014/main" id="{7C592690-F6E7-3817-8A00-EBCF6F1B915C}"/>
                </a:ext>
              </a:extLst>
            </p:cNvPr>
            <p:cNvSpPr/>
            <p:nvPr/>
          </p:nvSpPr>
          <p:spPr>
            <a:xfrm>
              <a:off x="7752375" y="4983575"/>
              <a:ext cx="600075" cy="60007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Picture 57">
              <a:extLst>
                <a:ext uri="{FF2B5EF4-FFF2-40B4-BE49-F238E27FC236}">
                  <a16:creationId xmlns:a16="http://schemas.microsoft.com/office/drawing/2014/main" id="{5456EA68-C62D-A4CA-475D-00FCE4FFD530}"/>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7863896" y="5103695"/>
              <a:ext cx="418137" cy="348689"/>
            </a:xfrm>
            <a:prstGeom prst="rect">
              <a:avLst/>
            </a:prstGeom>
          </p:spPr>
        </p:pic>
      </p:grpSp>
      <p:grpSp>
        <p:nvGrpSpPr>
          <p:cNvPr id="70" name="Group 69">
            <a:extLst>
              <a:ext uri="{FF2B5EF4-FFF2-40B4-BE49-F238E27FC236}">
                <a16:creationId xmlns:a16="http://schemas.microsoft.com/office/drawing/2014/main" id="{CD686008-5CC4-57BC-F243-A753C98D8C35}"/>
              </a:ext>
            </a:extLst>
          </p:cNvPr>
          <p:cNvGrpSpPr/>
          <p:nvPr/>
        </p:nvGrpSpPr>
        <p:grpSpPr>
          <a:xfrm>
            <a:off x="754077" y="3788343"/>
            <a:ext cx="4324864" cy="1369047"/>
            <a:chOff x="734154" y="3734648"/>
            <a:chExt cx="4324864" cy="1369047"/>
          </a:xfrm>
        </p:grpSpPr>
        <p:sp>
          <p:nvSpPr>
            <p:cNvPr id="71" name="Rectangle: Rounded Corners 70">
              <a:extLst>
                <a:ext uri="{FF2B5EF4-FFF2-40B4-BE49-F238E27FC236}">
                  <a16:creationId xmlns:a16="http://schemas.microsoft.com/office/drawing/2014/main" id="{CF0BAEA3-5007-1CCF-56C1-1FD396F1847B}"/>
                </a:ext>
              </a:extLst>
            </p:cNvPr>
            <p:cNvSpPr/>
            <p:nvPr/>
          </p:nvSpPr>
          <p:spPr>
            <a:xfrm>
              <a:off x="734154" y="3734648"/>
              <a:ext cx="4324864" cy="1369047"/>
            </a:xfrm>
            <a:prstGeom prst="roundRect">
              <a:avLst>
                <a:gd name="adj" fmla="val 18827"/>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2" name="Picture 71" descr="File:IMessage logo.svg - Wikimedia Commons">
              <a:extLst>
                <a:ext uri="{FF2B5EF4-FFF2-40B4-BE49-F238E27FC236}">
                  <a16:creationId xmlns:a16="http://schemas.microsoft.com/office/drawing/2014/main" id="{86174896-59F3-11C0-AD14-E1E241CCFFFF}"/>
                </a:ext>
              </a:extLst>
            </p:cNvPr>
            <p:cNvPicPr>
              <a:picLocks noChangeAspect="1"/>
            </p:cNvPicPr>
            <p:nvPr/>
          </p:nvPicPr>
          <p:blipFill>
            <a:blip r:embed="rId7"/>
            <a:stretch>
              <a:fillRect/>
            </a:stretch>
          </p:blipFill>
          <p:spPr>
            <a:xfrm>
              <a:off x="929173" y="3913686"/>
              <a:ext cx="338120" cy="338120"/>
            </a:xfrm>
            <a:prstGeom prst="rect">
              <a:avLst/>
            </a:prstGeom>
          </p:spPr>
        </p:pic>
        <p:sp>
          <p:nvSpPr>
            <p:cNvPr id="73" name="Title 1">
              <a:extLst>
                <a:ext uri="{FF2B5EF4-FFF2-40B4-BE49-F238E27FC236}">
                  <a16:creationId xmlns:a16="http://schemas.microsoft.com/office/drawing/2014/main" id="{C182678D-D45C-66AD-9898-C24E06F123BC}"/>
                </a:ext>
              </a:extLst>
            </p:cNvPr>
            <p:cNvSpPr txBox="1">
              <a:spLocks/>
            </p:cNvSpPr>
            <p:nvPr/>
          </p:nvSpPr>
          <p:spPr>
            <a:xfrm>
              <a:off x="1279757" y="3905269"/>
              <a:ext cx="2062295" cy="35221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400" dirty="0">
                  <a:latin typeface="Google Sans Flex Light" panose="020B0503030502040204" pitchFamily="34" charset="0"/>
                  <a:ea typeface="Google Sans Flex Light" panose="020B0503030502040204" pitchFamily="34" charset="0"/>
                  <a:cs typeface="Google Sans Flex Light" panose="020B0503030502040204" pitchFamily="34" charset="0"/>
                </a:rPr>
                <a:t>Messages</a:t>
              </a:r>
              <a:endParaRPr lang="en-US" sz="14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74" name="Title 1">
              <a:extLst>
                <a:ext uri="{FF2B5EF4-FFF2-40B4-BE49-F238E27FC236}">
                  <a16:creationId xmlns:a16="http://schemas.microsoft.com/office/drawing/2014/main" id="{61068E18-AAF8-07C2-9F61-99138F75E38A}"/>
                </a:ext>
              </a:extLst>
            </p:cNvPr>
            <p:cNvSpPr txBox="1">
              <a:spLocks/>
            </p:cNvSpPr>
            <p:nvPr/>
          </p:nvSpPr>
          <p:spPr>
            <a:xfrm>
              <a:off x="2745982" y="3905269"/>
              <a:ext cx="2062295" cy="35221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GB" sz="1400" dirty="0">
                  <a:latin typeface="Google Sans Flex Light" panose="020B0503030502040204" pitchFamily="34" charset="0"/>
                  <a:ea typeface="Google Sans Flex Light" panose="020B0503030502040204" pitchFamily="34" charset="0"/>
                  <a:cs typeface="Google Sans Flex Light" panose="020B0503030502040204" pitchFamily="34" charset="0"/>
                </a:rPr>
                <a:t>now</a:t>
              </a:r>
              <a:endParaRPr lang="en-US" sz="14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75" name="Title 1">
              <a:extLst>
                <a:ext uri="{FF2B5EF4-FFF2-40B4-BE49-F238E27FC236}">
                  <a16:creationId xmlns:a16="http://schemas.microsoft.com/office/drawing/2014/main" id="{CC3D0F60-842D-949B-57ED-0CCA1C84B5A8}"/>
                </a:ext>
              </a:extLst>
            </p:cNvPr>
            <p:cNvSpPr txBox="1">
              <a:spLocks/>
            </p:cNvSpPr>
            <p:nvPr/>
          </p:nvSpPr>
          <p:spPr>
            <a:xfrm>
              <a:off x="918647" y="4517768"/>
              <a:ext cx="2727066" cy="41939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Fresh misses 8 AM</a:t>
              </a:r>
              <a:endParaRPr lang="en-US"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cxnSp>
          <p:nvCxnSpPr>
            <p:cNvPr id="76" name="Straight Connector 75">
              <a:extLst>
                <a:ext uri="{FF2B5EF4-FFF2-40B4-BE49-F238E27FC236}">
                  <a16:creationId xmlns:a16="http://schemas.microsoft.com/office/drawing/2014/main" id="{630A4B0F-76BD-E50D-C406-14A1677A4E2F}"/>
                </a:ext>
              </a:extLst>
            </p:cNvPr>
            <p:cNvCxnSpPr/>
            <p:nvPr/>
          </p:nvCxnSpPr>
          <p:spPr>
            <a:xfrm>
              <a:off x="929173" y="4365063"/>
              <a:ext cx="3879104"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6DAA75DC-C2D4-4F55-B907-6AE1602EA639}"/>
              </a:ext>
            </a:extLst>
          </p:cNvPr>
          <p:cNvGrpSpPr/>
          <p:nvPr/>
        </p:nvGrpSpPr>
        <p:grpSpPr>
          <a:xfrm>
            <a:off x="2467587" y="4252282"/>
            <a:ext cx="4324864" cy="1369047"/>
            <a:chOff x="734154" y="3734648"/>
            <a:chExt cx="4324864" cy="1369047"/>
          </a:xfrm>
        </p:grpSpPr>
        <p:sp>
          <p:nvSpPr>
            <p:cNvPr id="78" name="Rectangle: Rounded Corners 77">
              <a:extLst>
                <a:ext uri="{FF2B5EF4-FFF2-40B4-BE49-F238E27FC236}">
                  <a16:creationId xmlns:a16="http://schemas.microsoft.com/office/drawing/2014/main" id="{B3F1B35D-0F7C-706D-B8C3-3EF704A33E33}"/>
                </a:ext>
              </a:extLst>
            </p:cNvPr>
            <p:cNvSpPr/>
            <p:nvPr/>
          </p:nvSpPr>
          <p:spPr>
            <a:xfrm>
              <a:off x="734154" y="3734648"/>
              <a:ext cx="4324864" cy="1369047"/>
            </a:xfrm>
            <a:prstGeom prst="roundRect">
              <a:avLst>
                <a:gd name="adj" fmla="val 18827"/>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Picture 78" descr="File:IMessage logo.svg - Wikimedia Commons">
              <a:extLst>
                <a:ext uri="{FF2B5EF4-FFF2-40B4-BE49-F238E27FC236}">
                  <a16:creationId xmlns:a16="http://schemas.microsoft.com/office/drawing/2014/main" id="{07522566-3414-C7BF-066D-17110083CDF2}"/>
                </a:ext>
              </a:extLst>
            </p:cNvPr>
            <p:cNvPicPr>
              <a:picLocks noChangeAspect="1"/>
            </p:cNvPicPr>
            <p:nvPr/>
          </p:nvPicPr>
          <p:blipFill>
            <a:blip r:embed="rId7"/>
            <a:stretch>
              <a:fillRect/>
            </a:stretch>
          </p:blipFill>
          <p:spPr>
            <a:xfrm>
              <a:off x="929173" y="3913686"/>
              <a:ext cx="338120" cy="338120"/>
            </a:xfrm>
            <a:prstGeom prst="rect">
              <a:avLst/>
            </a:prstGeom>
          </p:spPr>
        </p:pic>
        <p:sp>
          <p:nvSpPr>
            <p:cNvPr id="80" name="Title 1">
              <a:extLst>
                <a:ext uri="{FF2B5EF4-FFF2-40B4-BE49-F238E27FC236}">
                  <a16:creationId xmlns:a16="http://schemas.microsoft.com/office/drawing/2014/main" id="{0122FD2C-1E7E-A865-2D36-B257A77E5B57}"/>
                </a:ext>
              </a:extLst>
            </p:cNvPr>
            <p:cNvSpPr txBox="1">
              <a:spLocks/>
            </p:cNvSpPr>
            <p:nvPr/>
          </p:nvSpPr>
          <p:spPr>
            <a:xfrm>
              <a:off x="1279757" y="3905269"/>
              <a:ext cx="2062295" cy="35221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400" dirty="0">
                  <a:latin typeface="Google Sans Flex Light" panose="020B0503030502040204" pitchFamily="34" charset="0"/>
                  <a:ea typeface="Google Sans Flex Light" panose="020B0503030502040204" pitchFamily="34" charset="0"/>
                  <a:cs typeface="Google Sans Flex Light" panose="020B0503030502040204" pitchFamily="34" charset="0"/>
                </a:rPr>
                <a:t>Messages</a:t>
              </a:r>
              <a:endParaRPr lang="en-US" sz="14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81" name="Title 1">
              <a:extLst>
                <a:ext uri="{FF2B5EF4-FFF2-40B4-BE49-F238E27FC236}">
                  <a16:creationId xmlns:a16="http://schemas.microsoft.com/office/drawing/2014/main" id="{95709D9A-2D1B-DED9-DEB2-B3CEEB5AD2BA}"/>
                </a:ext>
              </a:extLst>
            </p:cNvPr>
            <p:cNvSpPr txBox="1">
              <a:spLocks/>
            </p:cNvSpPr>
            <p:nvPr/>
          </p:nvSpPr>
          <p:spPr>
            <a:xfrm>
              <a:off x="2745982" y="3905269"/>
              <a:ext cx="2062295" cy="35221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GB" sz="1400" dirty="0">
                  <a:latin typeface="Google Sans Flex Light" panose="020B0503030502040204" pitchFamily="34" charset="0"/>
                  <a:ea typeface="Google Sans Flex Light" panose="020B0503030502040204" pitchFamily="34" charset="0"/>
                  <a:cs typeface="Google Sans Flex Light" panose="020B0503030502040204" pitchFamily="34" charset="0"/>
                </a:rPr>
                <a:t>now</a:t>
              </a:r>
              <a:endParaRPr lang="en-US" sz="14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82" name="Title 1">
              <a:extLst>
                <a:ext uri="{FF2B5EF4-FFF2-40B4-BE49-F238E27FC236}">
                  <a16:creationId xmlns:a16="http://schemas.microsoft.com/office/drawing/2014/main" id="{5F8FF1CF-F41E-9E1F-7C14-01F3C3DEC1DD}"/>
                </a:ext>
              </a:extLst>
            </p:cNvPr>
            <p:cNvSpPr txBox="1">
              <a:spLocks/>
            </p:cNvSpPr>
            <p:nvPr/>
          </p:nvSpPr>
          <p:spPr>
            <a:xfrm>
              <a:off x="918647" y="4517768"/>
              <a:ext cx="2727066" cy="41939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Chilled stock spoils</a:t>
              </a:r>
              <a:endParaRPr lang="en-US"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cxnSp>
          <p:nvCxnSpPr>
            <p:cNvPr id="83" name="Straight Connector 82">
              <a:extLst>
                <a:ext uri="{FF2B5EF4-FFF2-40B4-BE49-F238E27FC236}">
                  <a16:creationId xmlns:a16="http://schemas.microsoft.com/office/drawing/2014/main" id="{3F959617-FCB2-8857-554E-550317C1097E}"/>
                </a:ext>
              </a:extLst>
            </p:cNvPr>
            <p:cNvCxnSpPr/>
            <p:nvPr/>
          </p:nvCxnSpPr>
          <p:spPr>
            <a:xfrm>
              <a:off x="929173" y="4365063"/>
              <a:ext cx="3879104"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grpSp>
      <p:grpSp>
        <p:nvGrpSpPr>
          <p:cNvPr id="84" name="Group 83">
            <a:extLst>
              <a:ext uri="{FF2B5EF4-FFF2-40B4-BE49-F238E27FC236}">
                <a16:creationId xmlns:a16="http://schemas.microsoft.com/office/drawing/2014/main" id="{E7D2D171-4A2D-2DE9-0A30-2EA8AD17A357}"/>
              </a:ext>
            </a:extLst>
          </p:cNvPr>
          <p:cNvGrpSpPr/>
          <p:nvPr/>
        </p:nvGrpSpPr>
        <p:grpSpPr>
          <a:xfrm>
            <a:off x="1333239" y="4840637"/>
            <a:ext cx="4324864" cy="1369047"/>
            <a:chOff x="734154" y="3734648"/>
            <a:chExt cx="4324864" cy="1369047"/>
          </a:xfrm>
        </p:grpSpPr>
        <p:sp>
          <p:nvSpPr>
            <p:cNvPr id="85" name="Rectangle: Rounded Corners 84">
              <a:extLst>
                <a:ext uri="{FF2B5EF4-FFF2-40B4-BE49-F238E27FC236}">
                  <a16:creationId xmlns:a16="http://schemas.microsoft.com/office/drawing/2014/main" id="{FFB9DB9B-A04C-B256-5A2F-C8368836E9DA}"/>
                </a:ext>
              </a:extLst>
            </p:cNvPr>
            <p:cNvSpPr/>
            <p:nvPr/>
          </p:nvSpPr>
          <p:spPr>
            <a:xfrm>
              <a:off x="734154" y="3734648"/>
              <a:ext cx="4324864" cy="1369047"/>
            </a:xfrm>
            <a:prstGeom prst="roundRect">
              <a:avLst>
                <a:gd name="adj" fmla="val 18827"/>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descr="File:IMessage logo.svg - Wikimedia Commons">
              <a:extLst>
                <a:ext uri="{FF2B5EF4-FFF2-40B4-BE49-F238E27FC236}">
                  <a16:creationId xmlns:a16="http://schemas.microsoft.com/office/drawing/2014/main" id="{77796C99-8841-AE32-9F7E-CDF0BB9B97A8}"/>
                </a:ext>
              </a:extLst>
            </p:cNvPr>
            <p:cNvPicPr>
              <a:picLocks noChangeAspect="1"/>
            </p:cNvPicPr>
            <p:nvPr/>
          </p:nvPicPr>
          <p:blipFill>
            <a:blip r:embed="rId7"/>
            <a:stretch>
              <a:fillRect/>
            </a:stretch>
          </p:blipFill>
          <p:spPr>
            <a:xfrm>
              <a:off x="929173" y="3913686"/>
              <a:ext cx="338120" cy="338120"/>
            </a:xfrm>
            <a:prstGeom prst="rect">
              <a:avLst/>
            </a:prstGeom>
          </p:spPr>
        </p:pic>
        <p:sp>
          <p:nvSpPr>
            <p:cNvPr id="87" name="Title 1">
              <a:extLst>
                <a:ext uri="{FF2B5EF4-FFF2-40B4-BE49-F238E27FC236}">
                  <a16:creationId xmlns:a16="http://schemas.microsoft.com/office/drawing/2014/main" id="{A8833620-5D16-68F1-264F-8D04699C0F07}"/>
                </a:ext>
              </a:extLst>
            </p:cNvPr>
            <p:cNvSpPr txBox="1">
              <a:spLocks/>
            </p:cNvSpPr>
            <p:nvPr/>
          </p:nvSpPr>
          <p:spPr>
            <a:xfrm>
              <a:off x="1279757" y="3905269"/>
              <a:ext cx="2062295" cy="35221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400" dirty="0">
                  <a:latin typeface="Google Sans Flex Light" panose="020B0503030502040204" pitchFamily="34" charset="0"/>
                  <a:ea typeface="Google Sans Flex Light" panose="020B0503030502040204" pitchFamily="34" charset="0"/>
                  <a:cs typeface="Google Sans Flex Light" panose="020B0503030502040204" pitchFamily="34" charset="0"/>
                </a:rPr>
                <a:t>Messages</a:t>
              </a:r>
              <a:endParaRPr lang="en-US" sz="14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88" name="Title 1">
              <a:extLst>
                <a:ext uri="{FF2B5EF4-FFF2-40B4-BE49-F238E27FC236}">
                  <a16:creationId xmlns:a16="http://schemas.microsoft.com/office/drawing/2014/main" id="{9D6C2072-8E6C-F4D0-90C9-52902685E10B}"/>
                </a:ext>
              </a:extLst>
            </p:cNvPr>
            <p:cNvSpPr txBox="1">
              <a:spLocks/>
            </p:cNvSpPr>
            <p:nvPr/>
          </p:nvSpPr>
          <p:spPr>
            <a:xfrm>
              <a:off x="2745982" y="3905269"/>
              <a:ext cx="2062295" cy="35221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GB" sz="1400" dirty="0">
                  <a:latin typeface="Google Sans Flex Light" panose="020B0503030502040204" pitchFamily="34" charset="0"/>
                  <a:ea typeface="Google Sans Flex Light" panose="020B0503030502040204" pitchFamily="34" charset="0"/>
                  <a:cs typeface="Google Sans Flex Light" panose="020B0503030502040204" pitchFamily="34" charset="0"/>
                </a:rPr>
                <a:t>now</a:t>
              </a:r>
              <a:endParaRPr lang="en-US" sz="14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89" name="Title 1">
              <a:extLst>
                <a:ext uri="{FF2B5EF4-FFF2-40B4-BE49-F238E27FC236}">
                  <a16:creationId xmlns:a16="http://schemas.microsoft.com/office/drawing/2014/main" id="{9EFB98FF-2D0D-FA24-6E01-5D069E7D8B2E}"/>
                </a:ext>
              </a:extLst>
            </p:cNvPr>
            <p:cNvSpPr txBox="1">
              <a:spLocks/>
            </p:cNvSpPr>
            <p:nvPr/>
          </p:nvSpPr>
          <p:spPr>
            <a:xfrm>
              <a:off x="918646" y="4517768"/>
              <a:ext cx="3218199" cy="36445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Disputes rest on memory</a:t>
              </a:r>
              <a:endParaRPr lang="en-US"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cxnSp>
          <p:nvCxnSpPr>
            <p:cNvPr id="90" name="Straight Connector 89">
              <a:extLst>
                <a:ext uri="{FF2B5EF4-FFF2-40B4-BE49-F238E27FC236}">
                  <a16:creationId xmlns:a16="http://schemas.microsoft.com/office/drawing/2014/main" id="{27F7548A-6B72-B035-EDDE-BC911E267B6C}"/>
                </a:ext>
              </a:extLst>
            </p:cNvPr>
            <p:cNvCxnSpPr/>
            <p:nvPr/>
          </p:nvCxnSpPr>
          <p:spPr>
            <a:xfrm>
              <a:off x="929173" y="4365063"/>
              <a:ext cx="3879104"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grpSp>
      <p:sp>
        <p:nvSpPr>
          <p:cNvPr id="121" name="Oval 15">
            <a:extLst>
              <a:ext uri="{FF2B5EF4-FFF2-40B4-BE49-F238E27FC236}">
                <a16:creationId xmlns:a16="http://schemas.microsoft.com/office/drawing/2014/main" id="{AF2F82B8-6748-5E0C-AC99-03F6C48B73BA}"/>
              </a:ext>
            </a:extLst>
          </p:cNvPr>
          <p:cNvSpPr/>
          <p:nvPr/>
        </p:nvSpPr>
        <p:spPr>
          <a:xfrm>
            <a:off x="-6266009" y="6898000"/>
            <a:ext cx="24724018" cy="24724018"/>
          </a:xfrm>
          <a:prstGeom prst="ellipse">
            <a:avLst/>
          </a:prstGeom>
          <a:solidFill>
            <a:srgbClr val="CCEE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 name="Picture 17">
            <a:extLst>
              <a:ext uri="{FF2B5EF4-FFF2-40B4-BE49-F238E27FC236}">
                <a16:creationId xmlns:a16="http://schemas.microsoft.com/office/drawing/2014/main" id="{9930DEDF-C9BD-51E0-F28B-798F5E0FD2D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7068163"/>
            <a:ext cx="12192000" cy="6858000"/>
          </a:xfrm>
          <a:prstGeom prst="rect">
            <a:avLst/>
          </a:prstGeom>
        </p:spPr>
      </p:pic>
      <p:pic>
        <p:nvPicPr>
          <p:cNvPr id="123" name="Picture 19">
            <a:extLst>
              <a:ext uri="{FF2B5EF4-FFF2-40B4-BE49-F238E27FC236}">
                <a16:creationId xmlns:a16="http://schemas.microsoft.com/office/drawing/2014/main" id="{1A8BFE7F-2713-253B-0C81-BBBB2C81156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7068163"/>
            <a:ext cx="12192000" cy="6858000"/>
          </a:xfrm>
          <a:prstGeom prst="rect">
            <a:avLst/>
          </a:prstGeom>
        </p:spPr>
      </p:pic>
      <p:pic>
        <p:nvPicPr>
          <p:cNvPr id="124" name="Picture 21">
            <a:extLst>
              <a:ext uri="{FF2B5EF4-FFF2-40B4-BE49-F238E27FC236}">
                <a16:creationId xmlns:a16="http://schemas.microsoft.com/office/drawing/2014/main" id="{E56EAF95-02E2-F918-2331-A08617E8876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7068163"/>
            <a:ext cx="12192000" cy="6858000"/>
          </a:xfrm>
          <a:prstGeom prst="rect">
            <a:avLst/>
          </a:prstGeom>
        </p:spPr>
      </p:pic>
      <p:pic>
        <p:nvPicPr>
          <p:cNvPr id="126" name="Picture 25">
            <a:extLst>
              <a:ext uri="{FF2B5EF4-FFF2-40B4-BE49-F238E27FC236}">
                <a16:creationId xmlns:a16="http://schemas.microsoft.com/office/drawing/2014/main" id="{49113A42-54A6-31E0-9FA4-09B53BC79CC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0" y="7068163"/>
            <a:ext cx="12192000" cy="6858000"/>
          </a:xfrm>
          <a:prstGeom prst="rect">
            <a:avLst/>
          </a:prstGeom>
        </p:spPr>
      </p:pic>
      <p:pic>
        <p:nvPicPr>
          <p:cNvPr id="127" name="Picture 27">
            <a:extLst>
              <a:ext uri="{FF2B5EF4-FFF2-40B4-BE49-F238E27FC236}">
                <a16:creationId xmlns:a16="http://schemas.microsoft.com/office/drawing/2014/main" id="{B660C6F1-F105-10DB-E79D-A23363C1B5F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7068163"/>
            <a:ext cx="12192000" cy="6858000"/>
          </a:xfrm>
          <a:prstGeom prst="rect">
            <a:avLst/>
          </a:prstGeom>
        </p:spPr>
      </p:pic>
      <p:pic>
        <p:nvPicPr>
          <p:cNvPr id="125" name="Picture 23">
            <a:extLst>
              <a:ext uri="{FF2B5EF4-FFF2-40B4-BE49-F238E27FC236}">
                <a16:creationId xmlns:a16="http://schemas.microsoft.com/office/drawing/2014/main" id="{E52C8126-7736-0222-FE1A-00C56C55A08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0" y="7068163"/>
            <a:ext cx="12192000" cy="6858000"/>
          </a:xfrm>
          <a:prstGeom prst="rect">
            <a:avLst/>
          </a:prstGeom>
        </p:spPr>
      </p:pic>
    </p:spTree>
    <p:extLst>
      <p:ext uri="{BB962C8B-B14F-4D97-AF65-F5344CB8AC3E}">
        <p14:creationId xmlns:p14="http://schemas.microsoft.com/office/powerpoint/2010/main" val="244178341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p:cTn id="7" dur="500" fill="hold"/>
                                        <p:tgtEl>
                                          <p:spTgt spid="77"/>
                                        </p:tgtEl>
                                        <p:attrNameLst>
                                          <p:attrName>ppt_w</p:attrName>
                                        </p:attrNameLst>
                                      </p:cBhvr>
                                      <p:tavLst>
                                        <p:tav tm="0">
                                          <p:val>
                                            <p:fltVal val="0"/>
                                          </p:val>
                                        </p:tav>
                                        <p:tav tm="100000">
                                          <p:val>
                                            <p:strVal val="#ppt_w"/>
                                          </p:val>
                                        </p:tav>
                                      </p:tavLst>
                                    </p:anim>
                                    <p:anim calcmode="lin" valueType="num">
                                      <p:cBhvr>
                                        <p:cTn id="8" dur="500" fill="hold"/>
                                        <p:tgtEl>
                                          <p:spTgt spid="77"/>
                                        </p:tgtEl>
                                        <p:attrNameLst>
                                          <p:attrName>ppt_h</p:attrName>
                                        </p:attrNameLst>
                                      </p:cBhvr>
                                      <p:tavLst>
                                        <p:tav tm="0">
                                          <p:val>
                                            <p:fltVal val="0"/>
                                          </p:val>
                                        </p:tav>
                                        <p:tav tm="100000">
                                          <p:val>
                                            <p:strVal val="#ppt_h"/>
                                          </p:val>
                                        </p:tav>
                                      </p:tavLst>
                                    </p:anim>
                                    <p:animEffect transition="in" filter="fade">
                                      <p:cBhvr>
                                        <p:cTn id="9" dur="500"/>
                                        <p:tgtEl>
                                          <p:spTgt spid="7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84"/>
                                        </p:tgtEl>
                                        <p:attrNameLst>
                                          <p:attrName>style.visibility</p:attrName>
                                        </p:attrNameLst>
                                      </p:cBhvr>
                                      <p:to>
                                        <p:strVal val="visible"/>
                                      </p:to>
                                    </p:set>
                                    <p:anim calcmode="lin" valueType="num">
                                      <p:cBhvr>
                                        <p:cTn id="14" dur="500" fill="hold"/>
                                        <p:tgtEl>
                                          <p:spTgt spid="84"/>
                                        </p:tgtEl>
                                        <p:attrNameLst>
                                          <p:attrName>ppt_w</p:attrName>
                                        </p:attrNameLst>
                                      </p:cBhvr>
                                      <p:tavLst>
                                        <p:tav tm="0">
                                          <p:val>
                                            <p:fltVal val="0"/>
                                          </p:val>
                                        </p:tav>
                                        <p:tav tm="100000">
                                          <p:val>
                                            <p:strVal val="#ppt_w"/>
                                          </p:val>
                                        </p:tav>
                                      </p:tavLst>
                                    </p:anim>
                                    <p:anim calcmode="lin" valueType="num">
                                      <p:cBhvr>
                                        <p:cTn id="15" dur="500" fill="hold"/>
                                        <p:tgtEl>
                                          <p:spTgt spid="84"/>
                                        </p:tgtEl>
                                        <p:attrNameLst>
                                          <p:attrName>ppt_h</p:attrName>
                                        </p:attrNameLst>
                                      </p:cBhvr>
                                      <p:tavLst>
                                        <p:tav tm="0">
                                          <p:val>
                                            <p:fltVal val="0"/>
                                          </p:val>
                                        </p:tav>
                                        <p:tav tm="100000">
                                          <p:val>
                                            <p:strVal val="#ppt_h"/>
                                          </p:val>
                                        </p:tav>
                                      </p:tavLst>
                                    </p:anim>
                                    <p:animEffect transition="in" filter="fade">
                                      <p:cBhvr>
                                        <p:cTn id="16" dur="500"/>
                                        <p:tgtEl>
                                          <p:spTgt spid="84"/>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anim calcmode="lin" valueType="num">
                                      <p:cBhvr>
                                        <p:cTn id="22" dur="500" fill="hold"/>
                                        <p:tgtEl>
                                          <p:spTgt spid="4"/>
                                        </p:tgtEl>
                                        <p:attrNameLst>
                                          <p:attrName>ppt_x</p:attrName>
                                        </p:attrNameLst>
                                      </p:cBhvr>
                                      <p:tavLst>
                                        <p:tav tm="0">
                                          <p:val>
                                            <p:strVal val="#ppt_x"/>
                                          </p:val>
                                        </p:tav>
                                        <p:tav tm="100000">
                                          <p:val>
                                            <p:strVal val="#ppt_x"/>
                                          </p:val>
                                        </p:tav>
                                      </p:tavLst>
                                    </p:anim>
                                    <p:anim calcmode="lin" valueType="num">
                                      <p:cBhvr>
                                        <p:cTn id="23" dur="500" fill="hold"/>
                                        <p:tgtEl>
                                          <p:spTgt spid="4"/>
                                        </p:tgtEl>
                                        <p:attrNameLst>
                                          <p:attrName>ppt_y</p:attrName>
                                        </p:attrNameLst>
                                      </p:cBhvr>
                                      <p:tavLst>
                                        <p:tav tm="0">
                                          <p:val>
                                            <p:strVal val="#ppt_y+.1"/>
                                          </p:val>
                                        </p:tav>
                                        <p:tav tm="100000">
                                          <p:val>
                                            <p:strVal val="#ppt_y"/>
                                          </p:val>
                                        </p:tav>
                                      </p:tavLst>
                                    </p:anim>
                                  </p:childTnLst>
                                </p:cTn>
                              </p:par>
                              <p:par>
                                <p:cTn id="24" presetID="22" presetClass="entr" presetSubtype="8" fill="hold" grpId="0" nodeType="withEffect">
                                  <p:stCondLst>
                                    <p:cond delay="20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wipe(left)">
                                      <p:cBhvr>
                                        <p:cTn id="26" dur="750"/>
                                        <p:tgtEl>
                                          <p:spTgt spid="7">
                                            <p:txEl>
                                              <p:pRg st="0" end="0"/>
                                            </p:txEl>
                                          </p:spTgt>
                                        </p:tgtEl>
                                      </p:cBhvr>
                                    </p:animEffect>
                                  </p:childTnLst>
                                </p:cTn>
                              </p:par>
                              <p:par>
                                <p:cTn id="27" presetID="22" presetClass="entr" presetSubtype="8" fill="hold" grpId="0" nodeType="withEffect">
                                  <p:stCondLst>
                                    <p:cond delay="100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par>
                                <p:cTn id="30" presetID="22" presetClass="entr" presetSubtype="8" fill="hold" grpId="0" nodeType="withEffect">
                                  <p:stCondLst>
                                    <p:cond delay="1200"/>
                                  </p:stCondLst>
                                  <p:childTnLst>
                                    <p:set>
                                      <p:cBhvr>
                                        <p:cTn id="31" dur="1" fill="hold">
                                          <p:stCondLst>
                                            <p:cond delay="0"/>
                                          </p:stCondLst>
                                        </p:cTn>
                                        <p:tgtEl>
                                          <p:spTgt spid="24"/>
                                        </p:tgtEl>
                                        <p:attrNameLst>
                                          <p:attrName>style.visibility</p:attrName>
                                        </p:attrNameLst>
                                      </p:cBhvr>
                                      <p:to>
                                        <p:strVal val="visible"/>
                                      </p:to>
                                    </p:set>
                                    <p:animEffect transition="in" filter="wipe(left)">
                                      <p:cBhvr>
                                        <p:cTn id="32" dur="500"/>
                                        <p:tgtEl>
                                          <p:spTgt spid="24"/>
                                        </p:tgtEl>
                                      </p:cBhvr>
                                    </p:animEffect>
                                  </p:childTnLst>
                                </p:cTn>
                              </p:par>
                              <p:par>
                                <p:cTn id="33" presetID="22" presetClass="entr" presetSubtype="8" fill="hold" grpId="0" nodeType="withEffect">
                                  <p:stCondLst>
                                    <p:cond delay="1300"/>
                                  </p:stCondLst>
                                  <p:childTnLst>
                                    <p:set>
                                      <p:cBhvr>
                                        <p:cTn id="34" dur="1" fill="hold">
                                          <p:stCondLst>
                                            <p:cond delay="0"/>
                                          </p:stCondLst>
                                        </p:cTn>
                                        <p:tgtEl>
                                          <p:spTgt spid="26"/>
                                        </p:tgtEl>
                                        <p:attrNameLst>
                                          <p:attrName>style.visibility</p:attrName>
                                        </p:attrNameLst>
                                      </p:cBhvr>
                                      <p:to>
                                        <p:strVal val="visible"/>
                                      </p:to>
                                    </p:set>
                                    <p:animEffect transition="in" filter="wipe(left)">
                                      <p:cBhvr>
                                        <p:cTn id="35" dur="500"/>
                                        <p:tgtEl>
                                          <p:spTgt spid="26"/>
                                        </p:tgtEl>
                                      </p:cBhvr>
                                    </p:animEffect>
                                  </p:childTnLst>
                                </p:cTn>
                              </p:par>
                              <p:par>
                                <p:cTn id="36" presetID="22" presetClass="entr" presetSubtype="8" fill="hold" grpId="0" nodeType="withEffect">
                                  <p:stCondLst>
                                    <p:cond delay="1400"/>
                                  </p:stCondLst>
                                  <p:childTnLst>
                                    <p:set>
                                      <p:cBhvr>
                                        <p:cTn id="37" dur="1" fill="hold">
                                          <p:stCondLst>
                                            <p:cond delay="0"/>
                                          </p:stCondLst>
                                        </p:cTn>
                                        <p:tgtEl>
                                          <p:spTgt spid="27"/>
                                        </p:tgtEl>
                                        <p:attrNameLst>
                                          <p:attrName>style.visibility</p:attrName>
                                        </p:attrNameLst>
                                      </p:cBhvr>
                                      <p:to>
                                        <p:strVal val="visible"/>
                                      </p:to>
                                    </p:set>
                                    <p:animEffect transition="in" filter="wipe(left)">
                                      <p:cBhvr>
                                        <p:cTn id="38" dur="500"/>
                                        <p:tgtEl>
                                          <p:spTgt spid="27"/>
                                        </p:tgtEl>
                                      </p:cBhvr>
                                    </p:animEffect>
                                  </p:childTnLst>
                                </p:cTn>
                              </p:par>
                              <p:par>
                                <p:cTn id="39" presetID="22" presetClass="entr" presetSubtype="8" fill="hold" grpId="0" nodeType="withEffect">
                                  <p:stCondLst>
                                    <p:cond delay="1500"/>
                                  </p:stCondLst>
                                  <p:childTnLst>
                                    <p:set>
                                      <p:cBhvr>
                                        <p:cTn id="40" dur="1" fill="hold">
                                          <p:stCondLst>
                                            <p:cond delay="0"/>
                                          </p:stCondLst>
                                        </p:cTn>
                                        <p:tgtEl>
                                          <p:spTgt spid="29"/>
                                        </p:tgtEl>
                                        <p:attrNameLst>
                                          <p:attrName>style.visibility</p:attrName>
                                        </p:attrNameLst>
                                      </p:cBhvr>
                                      <p:to>
                                        <p:strVal val="visible"/>
                                      </p:to>
                                    </p:set>
                                    <p:animEffect transition="in" filter="wipe(left)">
                                      <p:cBhvr>
                                        <p:cTn id="41" dur="500"/>
                                        <p:tgtEl>
                                          <p:spTgt spid="29"/>
                                        </p:tgtEl>
                                      </p:cBhvr>
                                    </p:animEffect>
                                  </p:childTnLst>
                                </p:cTn>
                              </p:par>
                              <p:par>
                                <p:cTn id="42" presetID="22" presetClass="entr" presetSubtype="8" fill="hold" grpId="0" nodeType="withEffect">
                                  <p:stCondLst>
                                    <p:cond delay="1600"/>
                                  </p:stCondLst>
                                  <p:childTnLst>
                                    <p:set>
                                      <p:cBhvr>
                                        <p:cTn id="43" dur="1" fill="hold">
                                          <p:stCondLst>
                                            <p:cond delay="0"/>
                                          </p:stCondLst>
                                        </p:cTn>
                                        <p:tgtEl>
                                          <p:spTgt spid="30"/>
                                        </p:tgtEl>
                                        <p:attrNameLst>
                                          <p:attrName>style.visibility</p:attrName>
                                        </p:attrNameLst>
                                      </p:cBhvr>
                                      <p:to>
                                        <p:strVal val="visible"/>
                                      </p:to>
                                    </p:set>
                                    <p:animEffect transition="in" filter="wipe(left)">
                                      <p:cBhvr>
                                        <p:cTn id="44" dur="500"/>
                                        <p:tgtEl>
                                          <p:spTgt spid="30"/>
                                        </p:tgtEl>
                                      </p:cBhvr>
                                    </p:animEffect>
                                  </p:childTnLst>
                                </p:cTn>
                              </p:par>
                              <p:par>
                                <p:cTn id="45" presetID="22" presetClass="entr" presetSubtype="8" fill="hold" grpId="0" nodeType="withEffect">
                                  <p:stCondLst>
                                    <p:cond delay="1700"/>
                                  </p:stCondLst>
                                  <p:childTnLst>
                                    <p:set>
                                      <p:cBhvr>
                                        <p:cTn id="46" dur="1" fill="hold">
                                          <p:stCondLst>
                                            <p:cond delay="0"/>
                                          </p:stCondLst>
                                        </p:cTn>
                                        <p:tgtEl>
                                          <p:spTgt spid="32"/>
                                        </p:tgtEl>
                                        <p:attrNameLst>
                                          <p:attrName>style.visibility</p:attrName>
                                        </p:attrNameLst>
                                      </p:cBhvr>
                                      <p:to>
                                        <p:strVal val="visible"/>
                                      </p:to>
                                    </p:set>
                                    <p:animEffect transition="in" filter="wipe(left)">
                                      <p:cBhvr>
                                        <p:cTn id="47" dur="500"/>
                                        <p:tgtEl>
                                          <p:spTgt spid="32"/>
                                        </p:tgtEl>
                                      </p:cBhvr>
                                    </p:animEffect>
                                  </p:childTnLst>
                                </p:cTn>
                              </p:par>
                              <p:par>
                                <p:cTn id="48" presetID="22" presetClass="entr" presetSubtype="8" fill="hold" grpId="0" nodeType="withEffect">
                                  <p:stCondLst>
                                    <p:cond delay="1800"/>
                                  </p:stCondLst>
                                  <p:childTnLst>
                                    <p:set>
                                      <p:cBhvr>
                                        <p:cTn id="49" dur="1" fill="hold">
                                          <p:stCondLst>
                                            <p:cond delay="0"/>
                                          </p:stCondLst>
                                        </p:cTn>
                                        <p:tgtEl>
                                          <p:spTgt spid="33"/>
                                        </p:tgtEl>
                                        <p:attrNameLst>
                                          <p:attrName>style.visibility</p:attrName>
                                        </p:attrNameLst>
                                      </p:cBhvr>
                                      <p:to>
                                        <p:strVal val="visible"/>
                                      </p:to>
                                    </p:set>
                                    <p:animEffect transition="in" filter="wipe(left)">
                                      <p:cBhvr>
                                        <p:cTn id="50" dur="500"/>
                                        <p:tgtEl>
                                          <p:spTgt spid="33"/>
                                        </p:tgtEl>
                                      </p:cBhvr>
                                    </p:animEffect>
                                  </p:childTnLst>
                                </p:cTn>
                              </p:par>
                              <p:par>
                                <p:cTn id="51" presetID="53" presetClass="entr" presetSubtype="16" fill="hold" nodeType="withEffect">
                                  <p:stCondLst>
                                    <p:cond delay="700"/>
                                  </p:stCondLst>
                                  <p:childTnLst>
                                    <p:set>
                                      <p:cBhvr>
                                        <p:cTn id="52" dur="1" fill="hold">
                                          <p:stCondLst>
                                            <p:cond delay="0"/>
                                          </p:stCondLst>
                                        </p:cTn>
                                        <p:tgtEl>
                                          <p:spTgt spid="115"/>
                                        </p:tgtEl>
                                        <p:attrNameLst>
                                          <p:attrName>style.visibility</p:attrName>
                                        </p:attrNameLst>
                                      </p:cBhvr>
                                      <p:to>
                                        <p:strVal val="visible"/>
                                      </p:to>
                                    </p:set>
                                    <p:anim calcmode="lin" valueType="num">
                                      <p:cBhvr>
                                        <p:cTn id="53" dur="500" fill="hold"/>
                                        <p:tgtEl>
                                          <p:spTgt spid="115"/>
                                        </p:tgtEl>
                                        <p:attrNameLst>
                                          <p:attrName>ppt_w</p:attrName>
                                        </p:attrNameLst>
                                      </p:cBhvr>
                                      <p:tavLst>
                                        <p:tav tm="0">
                                          <p:val>
                                            <p:fltVal val="0"/>
                                          </p:val>
                                        </p:tav>
                                        <p:tav tm="100000">
                                          <p:val>
                                            <p:strVal val="#ppt_w"/>
                                          </p:val>
                                        </p:tav>
                                      </p:tavLst>
                                    </p:anim>
                                    <p:anim calcmode="lin" valueType="num">
                                      <p:cBhvr>
                                        <p:cTn id="54" dur="500" fill="hold"/>
                                        <p:tgtEl>
                                          <p:spTgt spid="115"/>
                                        </p:tgtEl>
                                        <p:attrNameLst>
                                          <p:attrName>ppt_h</p:attrName>
                                        </p:attrNameLst>
                                      </p:cBhvr>
                                      <p:tavLst>
                                        <p:tav tm="0">
                                          <p:val>
                                            <p:fltVal val="0"/>
                                          </p:val>
                                        </p:tav>
                                        <p:tav tm="100000">
                                          <p:val>
                                            <p:strVal val="#ppt_h"/>
                                          </p:val>
                                        </p:tav>
                                      </p:tavLst>
                                    </p:anim>
                                    <p:animEffect transition="in" filter="fade">
                                      <p:cBhvr>
                                        <p:cTn id="55" dur="500"/>
                                        <p:tgtEl>
                                          <p:spTgt spid="115"/>
                                        </p:tgtEl>
                                      </p:cBhvr>
                                    </p:animEffect>
                                  </p:childTnLst>
                                </p:cTn>
                              </p:par>
                              <p:par>
                                <p:cTn id="56" presetID="53" presetClass="entr" presetSubtype="16" fill="hold" nodeType="withEffect">
                                  <p:stCondLst>
                                    <p:cond delay="900"/>
                                  </p:stCondLst>
                                  <p:childTnLst>
                                    <p:set>
                                      <p:cBhvr>
                                        <p:cTn id="57" dur="1" fill="hold">
                                          <p:stCondLst>
                                            <p:cond delay="0"/>
                                          </p:stCondLst>
                                        </p:cTn>
                                        <p:tgtEl>
                                          <p:spTgt spid="116"/>
                                        </p:tgtEl>
                                        <p:attrNameLst>
                                          <p:attrName>style.visibility</p:attrName>
                                        </p:attrNameLst>
                                      </p:cBhvr>
                                      <p:to>
                                        <p:strVal val="visible"/>
                                      </p:to>
                                    </p:set>
                                    <p:anim calcmode="lin" valueType="num">
                                      <p:cBhvr>
                                        <p:cTn id="58" dur="500" fill="hold"/>
                                        <p:tgtEl>
                                          <p:spTgt spid="116"/>
                                        </p:tgtEl>
                                        <p:attrNameLst>
                                          <p:attrName>ppt_w</p:attrName>
                                        </p:attrNameLst>
                                      </p:cBhvr>
                                      <p:tavLst>
                                        <p:tav tm="0">
                                          <p:val>
                                            <p:fltVal val="0"/>
                                          </p:val>
                                        </p:tav>
                                        <p:tav tm="100000">
                                          <p:val>
                                            <p:strVal val="#ppt_w"/>
                                          </p:val>
                                        </p:tav>
                                      </p:tavLst>
                                    </p:anim>
                                    <p:anim calcmode="lin" valueType="num">
                                      <p:cBhvr>
                                        <p:cTn id="59" dur="500" fill="hold"/>
                                        <p:tgtEl>
                                          <p:spTgt spid="116"/>
                                        </p:tgtEl>
                                        <p:attrNameLst>
                                          <p:attrName>ppt_h</p:attrName>
                                        </p:attrNameLst>
                                      </p:cBhvr>
                                      <p:tavLst>
                                        <p:tav tm="0">
                                          <p:val>
                                            <p:fltVal val="0"/>
                                          </p:val>
                                        </p:tav>
                                        <p:tav tm="100000">
                                          <p:val>
                                            <p:strVal val="#ppt_h"/>
                                          </p:val>
                                        </p:tav>
                                      </p:tavLst>
                                    </p:anim>
                                    <p:animEffect transition="in" filter="fade">
                                      <p:cBhvr>
                                        <p:cTn id="60" dur="500"/>
                                        <p:tgtEl>
                                          <p:spTgt spid="116"/>
                                        </p:tgtEl>
                                      </p:cBhvr>
                                    </p:animEffect>
                                  </p:childTnLst>
                                </p:cTn>
                              </p:par>
                              <p:par>
                                <p:cTn id="61" presetID="53" presetClass="entr" presetSubtype="16" fill="hold" nodeType="withEffect">
                                  <p:stCondLst>
                                    <p:cond delay="1000"/>
                                  </p:stCondLst>
                                  <p:childTnLst>
                                    <p:set>
                                      <p:cBhvr>
                                        <p:cTn id="62" dur="1" fill="hold">
                                          <p:stCondLst>
                                            <p:cond delay="0"/>
                                          </p:stCondLst>
                                        </p:cTn>
                                        <p:tgtEl>
                                          <p:spTgt spid="118"/>
                                        </p:tgtEl>
                                        <p:attrNameLst>
                                          <p:attrName>style.visibility</p:attrName>
                                        </p:attrNameLst>
                                      </p:cBhvr>
                                      <p:to>
                                        <p:strVal val="visible"/>
                                      </p:to>
                                    </p:set>
                                    <p:anim calcmode="lin" valueType="num">
                                      <p:cBhvr>
                                        <p:cTn id="63" dur="500" fill="hold"/>
                                        <p:tgtEl>
                                          <p:spTgt spid="118"/>
                                        </p:tgtEl>
                                        <p:attrNameLst>
                                          <p:attrName>ppt_w</p:attrName>
                                        </p:attrNameLst>
                                      </p:cBhvr>
                                      <p:tavLst>
                                        <p:tav tm="0">
                                          <p:val>
                                            <p:fltVal val="0"/>
                                          </p:val>
                                        </p:tav>
                                        <p:tav tm="100000">
                                          <p:val>
                                            <p:strVal val="#ppt_w"/>
                                          </p:val>
                                        </p:tav>
                                      </p:tavLst>
                                    </p:anim>
                                    <p:anim calcmode="lin" valueType="num">
                                      <p:cBhvr>
                                        <p:cTn id="64" dur="500" fill="hold"/>
                                        <p:tgtEl>
                                          <p:spTgt spid="118"/>
                                        </p:tgtEl>
                                        <p:attrNameLst>
                                          <p:attrName>ppt_h</p:attrName>
                                        </p:attrNameLst>
                                      </p:cBhvr>
                                      <p:tavLst>
                                        <p:tav tm="0">
                                          <p:val>
                                            <p:fltVal val="0"/>
                                          </p:val>
                                        </p:tav>
                                        <p:tav tm="100000">
                                          <p:val>
                                            <p:strVal val="#ppt_h"/>
                                          </p:val>
                                        </p:tav>
                                      </p:tavLst>
                                    </p:anim>
                                    <p:animEffect transition="in" filter="fade">
                                      <p:cBhvr>
                                        <p:cTn id="65" dur="500"/>
                                        <p:tgtEl>
                                          <p:spTgt spid="118"/>
                                        </p:tgtEl>
                                      </p:cBhvr>
                                    </p:animEffect>
                                  </p:childTnLst>
                                </p:cTn>
                              </p:par>
                              <p:par>
                                <p:cTn id="66" presetID="53" presetClass="entr" presetSubtype="16" fill="hold" nodeType="withEffect">
                                  <p:stCondLst>
                                    <p:cond delay="1100"/>
                                  </p:stCondLst>
                                  <p:childTnLst>
                                    <p:set>
                                      <p:cBhvr>
                                        <p:cTn id="67" dur="1" fill="hold">
                                          <p:stCondLst>
                                            <p:cond delay="0"/>
                                          </p:stCondLst>
                                        </p:cTn>
                                        <p:tgtEl>
                                          <p:spTgt spid="117"/>
                                        </p:tgtEl>
                                        <p:attrNameLst>
                                          <p:attrName>style.visibility</p:attrName>
                                        </p:attrNameLst>
                                      </p:cBhvr>
                                      <p:to>
                                        <p:strVal val="visible"/>
                                      </p:to>
                                    </p:set>
                                    <p:anim calcmode="lin" valueType="num">
                                      <p:cBhvr>
                                        <p:cTn id="68" dur="500" fill="hold"/>
                                        <p:tgtEl>
                                          <p:spTgt spid="117"/>
                                        </p:tgtEl>
                                        <p:attrNameLst>
                                          <p:attrName>ppt_w</p:attrName>
                                        </p:attrNameLst>
                                      </p:cBhvr>
                                      <p:tavLst>
                                        <p:tav tm="0">
                                          <p:val>
                                            <p:fltVal val="0"/>
                                          </p:val>
                                        </p:tav>
                                        <p:tav tm="100000">
                                          <p:val>
                                            <p:strVal val="#ppt_w"/>
                                          </p:val>
                                        </p:tav>
                                      </p:tavLst>
                                    </p:anim>
                                    <p:anim calcmode="lin" valueType="num">
                                      <p:cBhvr>
                                        <p:cTn id="69" dur="500" fill="hold"/>
                                        <p:tgtEl>
                                          <p:spTgt spid="117"/>
                                        </p:tgtEl>
                                        <p:attrNameLst>
                                          <p:attrName>ppt_h</p:attrName>
                                        </p:attrNameLst>
                                      </p:cBhvr>
                                      <p:tavLst>
                                        <p:tav tm="0">
                                          <p:val>
                                            <p:fltVal val="0"/>
                                          </p:val>
                                        </p:tav>
                                        <p:tav tm="100000">
                                          <p:val>
                                            <p:strVal val="#ppt_h"/>
                                          </p:val>
                                        </p:tav>
                                      </p:tavLst>
                                    </p:anim>
                                    <p:animEffect transition="in" filter="fade">
                                      <p:cBhvr>
                                        <p:cTn id="70" dur="500"/>
                                        <p:tgtEl>
                                          <p:spTgt spid="117"/>
                                        </p:tgtEl>
                                      </p:cBhvr>
                                    </p:animEffect>
                                  </p:childTnLst>
                                </p:cTn>
                              </p:par>
                              <p:par>
                                <p:cTn id="71" presetID="22" presetClass="entr" presetSubtype="1" fill="hold" nodeType="withEffect">
                                  <p:stCondLst>
                                    <p:cond delay="1150"/>
                                  </p:stCondLst>
                                  <p:childTnLst>
                                    <p:set>
                                      <p:cBhvr>
                                        <p:cTn id="72" dur="1" fill="hold">
                                          <p:stCondLst>
                                            <p:cond delay="0"/>
                                          </p:stCondLst>
                                        </p:cTn>
                                        <p:tgtEl>
                                          <p:spTgt spid="120"/>
                                        </p:tgtEl>
                                        <p:attrNameLst>
                                          <p:attrName>style.visibility</p:attrName>
                                        </p:attrNameLst>
                                      </p:cBhvr>
                                      <p:to>
                                        <p:strVal val="visible"/>
                                      </p:to>
                                    </p:set>
                                    <p:animEffect transition="in" filter="wipe(up)">
                                      <p:cBhvr>
                                        <p:cTn id="73" dur="1000"/>
                                        <p:tgtEl>
                                          <p:spTgt spid="120"/>
                                        </p:tgtEl>
                                      </p:cBhvr>
                                    </p:animEffect>
                                  </p:childTnLst>
                                </p:cTn>
                              </p:par>
                            </p:childTnLst>
                          </p:cTn>
                        </p:par>
                      </p:childTnLst>
                    </p:cTn>
                  </p:par>
                  <p:par>
                    <p:cTn id="74" fill="hold">
                      <p:stCondLst>
                        <p:cond delay="indefinite"/>
                      </p:stCondLst>
                      <p:childTnLst>
                        <p:par>
                          <p:cTn id="75" fill="hold">
                            <p:stCondLst>
                              <p:cond delay="0"/>
                            </p:stCondLst>
                            <p:childTnLst>
                              <p:par>
                                <p:cTn id="76" presetID="64" presetClass="path" presetSubtype="0" accel="50000" decel="50000" fill="hold" nodeType="clickEffect">
                                  <p:stCondLst>
                                    <p:cond delay="350"/>
                                  </p:stCondLst>
                                  <p:childTnLst>
                                    <p:animMotion origin="layout" path="M 0 0 L 0 -1.0306449 E" pathEditMode="relative" ptsTypes="">
                                      <p:cBhvr>
                                        <p:cTn id="77" dur="2000" fill="hold"/>
                                        <p:tgtEl>
                                          <p:spTgt spid="77"/>
                                        </p:tgtEl>
                                        <p:attrNameLst>
                                          <p:attrName>ppt_x</p:attrName>
                                          <p:attrName>ppt_y</p:attrName>
                                        </p:attrNameLst>
                                      </p:cBhvr>
                                    </p:animMotion>
                                  </p:childTnLst>
                                </p:cTn>
                              </p:par>
                              <p:par>
                                <p:cTn id="78" presetID="64" presetClass="path" presetSubtype="0" accel="50000" decel="50000" fill="hold" nodeType="withEffect">
                                  <p:stCondLst>
                                    <p:cond delay="400"/>
                                  </p:stCondLst>
                                  <p:childTnLst>
                                    <p:animMotion origin="layout" path="M 0 0 L 0 -1.0306449 E" pathEditMode="relative" ptsTypes="">
                                      <p:cBhvr>
                                        <p:cTn id="79" dur="2000" fill="hold"/>
                                        <p:tgtEl>
                                          <p:spTgt spid="84"/>
                                        </p:tgtEl>
                                        <p:attrNameLst>
                                          <p:attrName>ppt_x</p:attrName>
                                          <p:attrName>ppt_y</p:attrName>
                                        </p:attrNameLst>
                                      </p:cBhvr>
                                    </p:animMotion>
                                  </p:childTnLst>
                                </p:cTn>
                              </p:par>
                              <p:par>
                                <p:cTn id="80" presetID="64" presetClass="path" presetSubtype="0" accel="50000" decel="50000" fill="hold" grpId="1" nodeType="withEffect">
                                  <p:stCondLst>
                                    <p:cond delay="750"/>
                                  </p:stCondLst>
                                  <p:childTnLst>
                                    <p:animMotion origin="layout" path="M 0 0 L 0 -1.0306449 E" pathEditMode="relative" ptsTypes="">
                                      <p:cBhvr>
                                        <p:cTn id="81" dur="2000" fill="hold"/>
                                        <p:tgtEl>
                                          <p:spTgt spid="4"/>
                                        </p:tgtEl>
                                        <p:attrNameLst>
                                          <p:attrName>ppt_x</p:attrName>
                                          <p:attrName>ppt_y</p:attrName>
                                        </p:attrNameLst>
                                      </p:cBhvr>
                                    </p:animMotion>
                                  </p:childTnLst>
                                </p:cTn>
                              </p:par>
                              <p:par>
                                <p:cTn id="82" presetID="64" presetClass="path" presetSubtype="0" accel="50000" decel="50000" fill="hold" grpId="1" nodeType="withEffect">
                                  <p:stCondLst>
                                    <p:cond delay="750"/>
                                  </p:stCondLst>
                                  <p:childTnLst>
                                    <p:animMotion origin="layout" path="M 0 0 L 0 -1.0306449 E" pathEditMode="relative" ptsTypes="">
                                      <p:cBhvr>
                                        <p:cTn id="83" dur="2000" fill="hold"/>
                                        <p:tgtEl>
                                          <p:spTgt spid="7">
                                            <p:txEl>
                                              <p:pRg st="0" end="0"/>
                                            </p:txEl>
                                          </p:spTgt>
                                        </p:tgtEl>
                                        <p:attrNameLst>
                                          <p:attrName>ppt_x</p:attrName>
                                          <p:attrName>ppt_y</p:attrName>
                                        </p:attrNameLst>
                                      </p:cBhvr>
                                    </p:animMotion>
                                  </p:childTnLst>
                                </p:cTn>
                              </p:par>
                              <p:par>
                                <p:cTn id="84" presetID="64" presetClass="path" presetSubtype="0" accel="50000" decel="50000" fill="hold" grpId="1" nodeType="withEffect">
                                  <p:stCondLst>
                                    <p:cond delay="750"/>
                                  </p:stCondLst>
                                  <p:childTnLst>
                                    <p:animMotion origin="layout" path="M 0 0 L 0 -1.0306449 E" pathEditMode="relative" ptsTypes="">
                                      <p:cBhvr>
                                        <p:cTn id="85" dur="2000" fill="hold"/>
                                        <p:tgtEl>
                                          <p:spTgt spid="9"/>
                                        </p:tgtEl>
                                        <p:attrNameLst>
                                          <p:attrName>ppt_x</p:attrName>
                                          <p:attrName>ppt_y</p:attrName>
                                        </p:attrNameLst>
                                      </p:cBhvr>
                                    </p:animMotion>
                                  </p:childTnLst>
                                </p:cTn>
                              </p:par>
                              <p:par>
                                <p:cTn id="86" presetID="64" presetClass="path" presetSubtype="0" accel="50000" decel="50000" fill="hold" grpId="1" nodeType="withEffect">
                                  <p:stCondLst>
                                    <p:cond delay="750"/>
                                  </p:stCondLst>
                                  <p:childTnLst>
                                    <p:animMotion origin="layout" path="M 0 0 L 0 -1.0306449 E" pathEditMode="relative" ptsTypes="">
                                      <p:cBhvr>
                                        <p:cTn id="87" dur="2000" fill="hold"/>
                                        <p:tgtEl>
                                          <p:spTgt spid="24"/>
                                        </p:tgtEl>
                                        <p:attrNameLst>
                                          <p:attrName>ppt_x</p:attrName>
                                          <p:attrName>ppt_y</p:attrName>
                                        </p:attrNameLst>
                                      </p:cBhvr>
                                    </p:animMotion>
                                  </p:childTnLst>
                                </p:cTn>
                              </p:par>
                              <p:par>
                                <p:cTn id="88" presetID="64" presetClass="path" presetSubtype="0" accel="50000" decel="50000" fill="hold" grpId="1" nodeType="withEffect">
                                  <p:stCondLst>
                                    <p:cond delay="750"/>
                                  </p:stCondLst>
                                  <p:childTnLst>
                                    <p:animMotion origin="layout" path="M 0 0 L 0 -1.0306449 E" pathEditMode="relative" ptsTypes="">
                                      <p:cBhvr>
                                        <p:cTn id="89" dur="2000" fill="hold"/>
                                        <p:tgtEl>
                                          <p:spTgt spid="26"/>
                                        </p:tgtEl>
                                        <p:attrNameLst>
                                          <p:attrName>ppt_x</p:attrName>
                                          <p:attrName>ppt_y</p:attrName>
                                        </p:attrNameLst>
                                      </p:cBhvr>
                                    </p:animMotion>
                                  </p:childTnLst>
                                </p:cTn>
                              </p:par>
                              <p:par>
                                <p:cTn id="90" presetID="64" presetClass="path" presetSubtype="0" accel="50000" decel="50000" fill="hold" grpId="1" nodeType="withEffect">
                                  <p:stCondLst>
                                    <p:cond delay="750"/>
                                  </p:stCondLst>
                                  <p:childTnLst>
                                    <p:animMotion origin="layout" path="M 0 0 L 0 -1.0306449 E" pathEditMode="relative" ptsTypes="">
                                      <p:cBhvr>
                                        <p:cTn id="91" dur="2000" fill="hold"/>
                                        <p:tgtEl>
                                          <p:spTgt spid="27"/>
                                        </p:tgtEl>
                                        <p:attrNameLst>
                                          <p:attrName>ppt_x</p:attrName>
                                          <p:attrName>ppt_y</p:attrName>
                                        </p:attrNameLst>
                                      </p:cBhvr>
                                    </p:animMotion>
                                  </p:childTnLst>
                                </p:cTn>
                              </p:par>
                              <p:par>
                                <p:cTn id="92" presetID="64" presetClass="path" presetSubtype="0" accel="50000" decel="50000" fill="hold" grpId="1" nodeType="withEffect">
                                  <p:stCondLst>
                                    <p:cond delay="750"/>
                                  </p:stCondLst>
                                  <p:childTnLst>
                                    <p:animMotion origin="layout" path="M 0 0 L 0 -1.0306449 E" pathEditMode="relative" ptsTypes="">
                                      <p:cBhvr>
                                        <p:cTn id="93" dur="2000" fill="hold"/>
                                        <p:tgtEl>
                                          <p:spTgt spid="29"/>
                                        </p:tgtEl>
                                        <p:attrNameLst>
                                          <p:attrName>ppt_x</p:attrName>
                                          <p:attrName>ppt_y</p:attrName>
                                        </p:attrNameLst>
                                      </p:cBhvr>
                                    </p:animMotion>
                                  </p:childTnLst>
                                </p:cTn>
                              </p:par>
                              <p:par>
                                <p:cTn id="94" presetID="64" presetClass="path" presetSubtype="0" accel="50000" decel="50000" fill="hold" grpId="1" nodeType="withEffect">
                                  <p:stCondLst>
                                    <p:cond delay="750"/>
                                  </p:stCondLst>
                                  <p:childTnLst>
                                    <p:animMotion origin="layout" path="M 0 0 L 0 -1.0306449 E" pathEditMode="relative" ptsTypes="">
                                      <p:cBhvr>
                                        <p:cTn id="95" dur="2000" fill="hold"/>
                                        <p:tgtEl>
                                          <p:spTgt spid="30"/>
                                        </p:tgtEl>
                                        <p:attrNameLst>
                                          <p:attrName>ppt_x</p:attrName>
                                          <p:attrName>ppt_y</p:attrName>
                                        </p:attrNameLst>
                                      </p:cBhvr>
                                    </p:animMotion>
                                  </p:childTnLst>
                                </p:cTn>
                              </p:par>
                              <p:par>
                                <p:cTn id="96" presetID="64" presetClass="path" presetSubtype="0" accel="50000" decel="50000" fill="hold" grpId="1" nodeType="withEffect">
                                  <p:stCondLst>
                                    <p:cond delay="750"/>
                                  </p:stCondLst>
                                  <p:childTnLst>
                                    <p:animMotion origin="layout" path="M 0 0 L 0 -1.0306449 E" pathEditMode="relative" ptsTypes="">
                                      <p:cBhvr>
                                        <p:cTn id="97" dur="2000" fill="hold"/>
                                        <p:tgtEl>
                                          <p:spTgt spid="32"/>
                                        </p:tgtEl>
                                        <p:attrNameLst>
                                          <p:attrName>ppt_x</p:attrName>
                                          <p:attrName>ppt_y</p:attrName>
                                        </p:attrNameLst>
                                      </p:cBhvr>
                                    </p:animMotion>
                                  </p:childTnLst>
                                </p:cTn>
                              </p:par>
                              <p:par>
                                <p:cTn id="98" presetID="64" presetClass="path" presetSubtype="0" accel="50000" decel="50000" fill="hold" grpId="1" nodeType="withEffect">
                                  <p:stCondLst>
                                    <p:cond delay="750"/>
                                  </p:stCondLst>
                                  <p:childTnLst>
                                    <p:animMotion origin="layout" path="M 0 0 L 0 -1.0306449 E" pathEditMode="relative" ptsTypes="">
                                      <p:cBhvr>
                                        <p:cTn id="99" dur="2000" fill="hold"/>
                                        <p:tgtEl>
                                          <p:spTgt spid="33"/>
                                        </p:tgtEl>
                                        <p:attrNameLst>
                                          <p:attrName>ppt_x</p:attrName>
                                          <p:attrName>ppt_y</p:attrName>
                                        </p:attrNameLst>
                                      </p:cBhvr>
                                    </p:animMotion>
                                  </p:childTnLst>
                                </p:cTn>
                              </p:par>
                              <p:par>
                                <p:cTn id="100" presetID="64" presetClass="path" presetSubtype="0" accel="50000" decel="50000" fill="hold" nodeType="withEffect">
                                  <p:stCondLst>
                                    <p:cond delay="750"/>
                                  </p:stCondLst>
                                  <p:childTnLst>
                                    <p:animMotion origin="layout" path="M 0 0 L 0 -1.0306449 E" pathEditMode="relative" ptsTypes="">
                                      <p:cBhvr>
                                        <p:cTn id="101" dur="2000" fill="hold"/>
                                        <p:tgtEl>
                                          <p:spTgt spid="115"/>
                                        </p:tgtEl>
                                        <p:attrNameLst>
                                          <p:attrName>ppt_x</p:attrName>
                                          <p:attrName>ppt_y</p:attrName>
                                        </p:attrNameLst>
                                      </p:cBhvr>
                                    </p:animMotion>
                                  </p:childTnLst>
                                </p:cTn>
                              </p:par>
                              <p:par>
                                <p:cTn id="102" presetID="64" presetClass="path" presetSubtype="0" accel="50000" decel="50000" fill="hold" nodeType="withEffect">
                                  <p:stCondLst>
                                    <p:cond delay="750"/>
                                  </p:stCondLst>
                                  <p:childTnLst>
                                    <p:animMotion origin="layout" path="M 0 0 L 0 -1.0306449 E" pathEditMode="relative" ptsTypes="">
                                      <p:cBhvr>
                                        <p:cTn id="103" dur="2000" fill="hold"/>
                                        <p:tgtEl>
                                          <p:spTgt spid="116"/>
                                        </p:tgtEl>
                                        <p:attrNameLst>
                                          <p:attrName>ppt_x</p:attrName>
                                          <p:attrName>ppt_y</p:attrName>
                                        </p:attrNameLst>
                                      </p:cBhvr>
                                    </p:animMotion>
                                  </p:childTnLst>
                                </p:cTn>
                              </p:par>
                              <p:par>
                                <p:cTn id="104" presetID="64" presetClass="path" presetSubtype="0" accel="50000" decel="50000" fill="hold" nodeType="withEffect">
                                  <p:stCondLst>
                                    <p:cond delay="750"/>
                                  </p:stCondLst>
                                  <p:childTnLst>
                                    <p:animMotion origin="layout" path="M 0 0 L 0 -1.0306449 E" pathEditMode="relative" ptsTypes="">
                                      <p:cBhvr>
                                        <p:cTn id="105" dur="2000" fill="hold"/>
                                        <p:tgtEl>
                                          <p:spTgt spid="118"/>
                                        </p:tgtEl>
                                        <p:attrNameLst>
                                          <p:attrName>ppt_x</p:attrName>
                                          <p:attrName>ppt_y</p:attrName>
                                        </p:attrNameLst>
                                      </p:cBhvr>
                                    </p:animMotion>
                                  </p:childTnLst>
                                </p:cTn>
                              </p:par>
                              <p:par>
                                <p:cTn id="106" presetID="64" presetClass="path" presetSubtype="0" accel="50000" decel="50000" fill="hold" nodeType="withEffect">
                                  <p:stCondLst>
                                    <p:cond delay="750"/>
                                  </p:stCondLst>
                                  <p:childTnLst>
                                    <p:animMotion origin="layout" path="M 0 0 L 0 -1.0306449 E" pathEditMode="relative" ptsTypes="">
                                      <p:cBhvr>
                                        <p:cTn id="107" dur="2000" fill="hold"/>
                                        <p:tgtEl>
                                          <p:spTgt spid="117"/>
                                        </p:tgtEl>
                                        <p:attrNameLst>
                                          <p:attrName>ppt_x</p:attrName>
                                          <p:attrName>ppt_y</p:attrName>
                                        </p:attrNameLst>
                                      </p:cBhvr>
                                    </p:animMotion>
                                  </p:childTnLst>
                                </p:cTn>
                              </p:par>
                              <p:par>
                                <p:cTn id="108" presetID="64" presetClass="path" presetSubtype="0" accel="50000" decel="50000" fill="hold" nodeType="withEffect">
                                  <p:stCondLst>
                                    <p:cond delay="750"/>
                                  </p:stCondLst>
                                  <p:childTnLst>
                                    <p:animMotion origin="layout" path="M 0 0 L 0 -1.0306449 E" pathEditMode="relative" ptsTypes="">
                                      <p:cBhvr>
                                        <p:cTn id="109" dur="2000" fill="hold"/>
                                        <p:tgtEl>
                                          <p:spTgt spid="120"/>
                                        </p:tgtEl>
                                        <p:attrNameLst>
                                          <p:attrName>ppt_x</p:attrName>
                                          <p:attrName>ppt_y</p:attrName>
                                        </p:attrNameLst>
                                      </p:cBhvr>
                                    </p:animMotion>
                                  </p:childTnLst>
                                </p:cTn>
                              </p:par>
                              <p:par>
                                <p:cTn id="110" presetID="64" presetClass="path" presetSubtype="0" accel="50000" decel="50000" fill="hold" grpId="0" nodeType="withEffect">
                                  <p:stCondLst>
                                    <p:cond delay="750"/>
                                  </p:stCondLst>
                                  <p:childTnLst>
                                    <p:animMotion origin="layout" path="M 0 0 L 0 -1.0306449 E" pathEditMode="relative" ptsTypes="">
                                      <p:cBhvr>
                                        <p:cTn id="111" dur="2000" fill="hold"/>
                                        <p:tgtEl>
                                          <p:spTgt spid="5"/>
                                        </p:tgtEl>
                                        <p:attrNameLst>
                                          <p:attrName>ppt_x</p:attrName>
                                          <p:attrName>ppt_y</p:attrName>
                                        </p:attrNameLst>
                                      </p:cBhvr>
                                    </p:animMotion>
                                  </p:childTnLst>
                                </p:cTn>
                              </p:par>
                              <p:par>
                                <p:cTn id="112" presetID="64" presetClass="path" presetSubtype="0" accel="50000" decel="50000" fill="hold" grpId="0" nodeType="withEffect">
                                  <p:stCondLst>
                                    <p:cond delay="0"/>
                                  </p:stCondLst>
                                  <p:childTnLst>
                                    <p:animMotion origin="layout" path="M 0 0 L 0 -1.0306449 E" pathEditMode="relative" ptsTypes="">
                                      <p:cBhvr>
                                        <p:cTn id="113" dur="2000" fill="hold"/>
                                        <p:tgtEl>
                                          <p:spTgt spid="3"/>
                                        </p:tgtEl>
                                        <p:attrNameLst>
                                          <p:attrName>ppt_x</p:attrName>
                                          <p:attrName>ppt_y</p:attrName>
                                        </p:attrNameLst>
                                      </p:cBhvr>
                                    </p:animMotion>
                                  </p:childTnLst>
                                </p:cTn>
                              </p:par>
                              <p:par>
                                <p:cTn id="114" presetID="64" presetClass="path" presetSubtype="0" accel="50000" decel="50000" fill="hold" grpId="0" nodeType="withEffect">
                                  <p:stCondLst>
                                    <p:cond delay="50"/>
                                  </p:stCondLst>
                                  <p:childTnLst>
                                    <p:animMotion origin="layout" path="M 0 0 L 0 -1.0306449 E" pathEditMode="relative" ptsTypes="">
                                      <p:cBhvr>
                                        <p:cTn id="115" dur="2000" fill="hold"/>
                                        <p:tgtEl>
                                          <p:spTgt spid="18"/>
                                        </p:tgtEl>
                                        <p:attrNameLst>
                                          <p:attrName>ppt_x</p:attrName>
                                          <p:attrName>ppt_y</p:attrName>
                                        </p:attrNameLst>
                                      </p:cBhvr>
                                    </p:animMotion>
                                  </p:childTnLst>
                                </p:cTn>
                              </p:par>
                              <p:par>
                                <p:cTn id="116" presetID="64" presetClass="path" presetSubtype="0" accel="50000" decel="50000" fill="hold" grpId="0" nodeType="withEffect">
                                  <p:stCondLst>
                                    <p:cond delay="50"/>
                                  </p:stCondLst>
                                  <p:childTnLst>
                                    <p:animMotion origin="layout" path="M 0 0 L 0 -1.0306449 E" pathEditMode="relative" ptsTypes="">
                                      <p:cBhvr>
                                        <p:cTn id="117" dur="2000" fill="hold"/>
                                        <p:tgtEl>
                                          <p:spTgt spid="17"/>
                                        </p:tgtEl>
                                        <p:attrNameLst>
                                          <p:attrName>ppt_x</p:attrName>
                                          <p:attrName>ppt_y</p:attrName>
                                        </p:attrNameLst>
                                      </p:cBhvr>
                                    </p:animMotion>
                                  </p:childTnLst>
                                </p:cTn>
                              </p:par>
                              <p:par>
                                <p:cTn id="118" presetID="64" presetClass="path" presetSubtype="0" accel="50000" decel="50000" fill="hold" grpId="0" nodeType="withEffect">
                                  <p:stCondLst>
                                    <p:cond delay="100"/>
                                  </p:stCondLst>
                                  <p:childTnLst>
                                    <p:animMotion origin="layout" path="M 0 0 L 0 -1.0306449 E" pathEditMode="relative" ptsTypes="">
                                      <p:cBhvr>
                                        <p:cTn id="119" dur="2000" fill="hold"/>
                                        <p:tgtEl>
                                          <p:spTgt spid="19"/>
                                        </p:tgtEl>
                                        <p:attrNameLst>
                                          <p:attrName>ppt_x</p:attrName>
                                          <p:attrName>ppt_y</p:attrName>
                                        </p:attrNameLst>
                                      </p:cBhvr>
                                    </p:animMotion>
                                  </p:childTnLst>
                                </p:cTn>
                              </p:par>
                              <p:par>
                                <p:cTn id="120" presetID="64" presetClass="path" presetSubtype="0" accel="50000" decel="50000" fill="hold" grpId="0" nodeType="withEffect">
                                  <p:stCondLst>
                                    <p:cond delay="100"/>
                                  </p:stCondLst>
                                  <p:childTnLst>
                                    <p:animMotion origin="layout" path="M 0 0 L 0 -1.0306449 E" pathEditMode="relative" ptsTypes="">
                                      <p:cBhvr>
                                        <p:cTn id="121" dur="2000" fill="hold"/>
                                        <p:tgtEl>
                                          <p:spTgt spid="20"/>
                                        </p:tgtEl>
                                        <p:attrNameLst>
                                          <p:attrName>ppt_x</p:attrName>
                                          <p:attrName>ppt_y</p:attrName>
                                        </p:attrNameLst>
                                      </p:cBhvr>
                                    </p:animMotion>
                                  </p:childTnLst>
                                </p:cTn>
                              </p:par>
                              <p:par>
                                <p:cTn id="122" presetID="64" presetClass="path" presetSubtype="0" accel="50000" decel="50000" fill="hold" grpId="0" nodeType="withEffect">
                                  <p:stCondLst>
                                    <p:cond delay="150"/>
                                  </p:stCondLst>
                                  <p:childTnLst>
                                    <p:animMotion origin="layout" path="M 0 0 L 0 -1.0306449 E" pathEditMode="relative" ptsTypes="">
                                      <p:cBhvr>
                                        <p:cTn id="123" dur="2000" fill="hold"/>
                                        <p:tgtEl>
                                          <p:spTgt spid="21"/>
                                        </p:tgtEl>
                                        <p:attrNameLst>
                                          <p:attrName>ppt_x</p:attrName>
                                          <p:attrName>ppt_y</p:attrName>
                                        </p:attrNameLst>
                                      </p:cBhvr>
                                    </p:animMotion>
                                  </p:childTnLst>
                                </p:cTn>
                              </p:par>
                              <p:par>
                                <p:cTn id="124" presetID="64" presetClass="path" presetSubtype="0" accel="50000" decel="50000" fill="hold" grpId="0" nodeType="withEffect">
                                  <p:stCondLst>
                                    <p:cond delay="150"/>
                                  </p:stCondLst>
                                  <p:childTnLst>
                                    <p:animMotion origin="layout" path="M 0 0 L 0 -1.0306449 E" pathEditMode="relative" ptsTypes="">
                                      <p:cBhvr>
                                        <p:cTn id="125" dur="2000" fill="hold"/>
                                        <p:tgtEl>
                                          <p:spTgt spid="22"/>
                                        </p:tgtEl>
                                        <p:attrNameLst>
                                          <p:attrName>ppt_x</p:attrName>
                                          <p:attrName>ppt_y</p:attrName>
                                        </p:attrNameLst>
                                      </p:cBhvr>
                                    </p:animMotion>
                                  </p:childTnLst>
                                </p:cTn>
                              </p:par>
                              <p:par>
                                <p:cTn id="126" presetID="64" presetClass="path" presetSubtype="0" accel="50000" decel="50000" fill="hold" grpId="0" nodeType="withEffect">
                                  <p:stCondLst>
                                    <p:cond delay="250"/>
                                  </p:stCondLst>
                                  <p:childTnLst>
                                    <p:animMotion origin="layout" path="M 0 0 L 0 -1.0306449 E" pathEditMode="relative" ptsTypes="">
                                      <p:cBhvr>
                                        <p:cTn id="127" dur="2000" fill="hold"/>
                                        <p:tgtEl>
                                          <p:spTgt spid="23"/>
                                        </p:tgtEl>
                                        <p:attrNameLst>
                                          <p:attrName>ppt_x</p:attrName>
                                          <p:attrName>ppt_y</p:attrName>
                                        </p:attrNameLst>
                                      </p:cBhvr>
                                    </p:animMotion>
                                  </p:childTnLst>
                                </p:cTn>
                              </p:par>
                              <p:par>
                                <p:cTn id="128" presetID="64" presetClass="path" presetSubtype="0" accel="50000" decel="50000" fill="hold" nodeType="withEffect">
                                  <p:stCondLst>
                                    <p:cond delay="300"/>
                                  </p:stCondLst>
                                  <p:childTnLst>
                                    <p:animMotion origin="layout" path="M 0 0 L 0 -1.0306449 E" pathEditMode="relative" ptsTypes="">
                                      <p:cBhvr>
                                        <p:cTn id="129" dur="2000" fill="hold"/>
                                        <p:tgtEl>
                                          <p:spTgt spid="70"/>
                                        </p:tgtEl>
                                        <p:attrNameLst>
                                          <p:attrName>ppt_x</p:attrName>
                                          <p:attrName>ppt_y</p:attrName>
                                        </p:attrNameLst>
                                      </p:cBhvr>
                                    </p:animMotion>
                                  </p:childTnLst>
                                </p:cTn>
                              </p:par>
                              <p:par>
                                <p:cTn id="130" presetID="64" presetClass="path" presetSubtype="0" accel="50000" decel="50000" fill="hold" grpId="0" nodeType="withEffect">
                                  <p:stCondLst>
                                    <p:cond delay="350"/>
                                  </p:stCondLst>
                                  <p:childTnLst>
                                    <p:animMotion origin="layout" path="M 0 0 L 0 -1.3247714 E" pathEditMode="relative" rAng="0" ptsTypes="AA">
                                      <p:cBhvr>
                                        <p:cTn id="131" dur="2000" fill="hold"/>
                                        <p:tgtEl>
                                          <p:spTgt spid="121"/>
                                        </p:tgtEl>
                                        <p:attrNameLst>
                                          <p:attrName>ppt_x</p:attrName>
                                          <p:attrName>ppt_y</p:attrName>
                                        </p:attrNameLst>
                                      </p:cBhvr>
                                      <p:rCtr x="0" y="-66239"/>
                                    </p:animMotion>
                                  </p:childTnLst>
                                </p:cTn>
                              </p:par>
                              <p:par>
                                <p:cTn id="132" presetID="64" presetClass="path" presetSubtype="0" accel="50000" decel="50000" fill="hold" nodeType="withEffect">
                                  <p:stCondLst>
                                    <p:cond delay="650"/>
                                  </p:stCondLst>
                                  <p:childTnLst>
                                    <p:animMotion origin="layout" path="M 0 0 L 0 -1.0306449 E" pathEditMode="relative" rAng="0" ptsTypes="AA">
                                      <p:cBhvr>
                                        <p:cTn id="133" dur="2000" fill="hold"/>
                                        <p:tgtEl>
                                          <p:spTgt spid="122"/>
                                        </p:tgtEl>
                                        <p:attrNameLst>
                                          <p:attrName>ppt_x</p:attrName>
                                          <p:attrName>ppt_y</p:attrName>
                                        </p:attrNameLst>
                                      </p:cBhvr>
                                      <p:rCtr x="0" y="-51532"/>
                                    </p:animMotion>
                                  </p:childTnLst>
                                </p:cTn>
                              </p:par>
                              <p:par>
                                <p:cTn id="134" presetID="64" presetClass="path" presetSubtype="0" accel="50000" decel="50000" fill="hold" nodeType="withEffect">
                                  <p:stCondLst>
                                    <p:cond delay="1000"/>
                                  </p:stCondLst>
                                  <p:childTnLst>
                                    <p:animMotion origin="layout" path="M 0 0 L 0 -1.0306449 E" pathEditMode="relative" rAng="0" ptsTypes="AA">
                                      <p:cBhvr>
                                        <p:cTn id="135" dur="2000" fill="hold"/>
                                        <p:tgtEl>
                                          <p:spTgt spid="123"/>
                                        </p:tgtEl>
                                        <p:attrNameLst>
                                          <p:attrName>ppt_x</p:attrName>
                                          <p:attrName>ppt_y</p:attrName>
                                        </p:attrNameLst>
                                      </p:cBhvr>
                                      <p:rCtr x="0" y="-51532"/>
                                    </p:animMotion>
                                  </p:childTnLst>
                                </p:cTn>
                              </p:par>
                              <p:par>
                                <p:cTn id="136" presetID="64" presetClass="path" presetSubtype="0" accel="50000" decel="50000" fill="hold" nodeType="withEffect">
                                  <p:stCondLst>
                                    <p:cond delay="700"/>
                                  </p:stCondLst>
                                  <p:childTnLst>
                                    <p:animMotion origin="layout" path="M 0 0 L 0 -1.0306449 E" pathEditMode="relative" rAng="0" ptsTypes="AA">
                                      <p:cBhvr>
                                        <p:cTn id="137" dur="2000" fill="hold"/>
                                        <p:tgtEl>
                                          <p:spTgt spid="124"/>
                                        </p:tgtEl>
                                        <p:attrNameLst>
                                          <p:attrName>ppt_x</p:attrName>
                                          <p:attrName>ppt_y</p:attrName>
                                        </p:attrNameLst>
                                      </p:cBhvr>
                                      <p:rCtr x="0" y="-51532"/>
                                    </p:animMotion>
                                  </p:childTnLst>
                                </p:cTn>
                              </p:par>
                              <p:par>
                                <p:cTn id="138" presetID="64" presetClass="path" presetSubtype="0" accel="50000" decel="50000" fill="hold" nodeType="withEffect">
                                  <p:stCondLst>
                                    <p:cond delay="400"/>
                                  </p:stCondLst>
                                  <p:childTnLst>
                                    <p:animMotion origin="layout" path="M 0 0 L 0 -1.0306449 E" pathEditMode="relative" rAng="0" ptsTypes="AA">
                                      <p:cBhvr>
                                        <p:cTn id="139" dur="2000" fill="hold"/>
                                        <p:tgtEl>
                                          <p:spTgt spid="125"/>
                                        </p:tgtEl>
                                        <p:attrNameLst>
                                          <p:attrName>ppt_x</p:attrName>
                                          <p:attrName>ppt_y</p:attrName>
                                        </p:attrNameLst>
                                      </p:cBhvr>
                                      <p:rCtr x="0" y="-51532"/>
                                    </p:animMotion>
                                  </p:childTnLst>
                                </p:cTn>
                              </p:par>
                              <p:par>
                                <p:cTn id="140" presetID="64" presetClass="path" presetSubtype="0" accel="50000" decel="50000" fill="hold" nodeType="withEffect">
                                  <p:stCondLst>
                                    <p:cond delay="450"/>
                                  </p:stCondLst>
                                  <p:childTnLst>
                                    <p:animMotion origin="layout" path="M 0 0 L 0 -1.0306449 E" pathEditMode="relative" rAng="0" ptsTypes="AA">
                                      <p:cBhvr>
                                        <p:cTn id="141" dur="2000" fill="hold"/>
                                        <p:tgtEl>
                                          <p:spTgt spid="126"/>
                                        </p:tgtEl>
                                        <p:attrNameLst>
                                          <p:attrName>ppt_x</p:attrName>
                                          <p:attrName>ppt_y</p:attrName>
                                        </p:attrNameLst>
                                      </p:cBhvr>
                                      <p:rCtr x="0" y="-51532"/>
                                    </p:animMotion>
                                  </p:childTnLst>
                                </p:cTn>
                              </p:par>
                              <p:par>
                                <p:cTn id="142" presetID="64" presetClass="path" presetSubtype="0" accel="50000" decel="50000" fill="hold" nodeType="withEffect">
                                  <p:stCondLst>
                                    <p:cond delay="450"/>
                                  </p:stCondLst>
                                  <p:childTnLst>
                                    <p:animMotion origin="layout" path="M 0 0 L 0 -1.0306449 E" pathEditMode="relative" rAng="0" ptsTypes="AA">
                                      <p:cBhvr>
                                        <p:cTn id="143" dur="2000" fill="hold"/>
                                        <p:tgtEl>
                                          <p:spTgt spid="127"/>
                                        </p:tgtEl>
                                        <p:attrNameLst>
                                          <p:attrName>ppt_x</p:attrName>
                                          <p:attrName>ppt_y</p:attrName>
                                        </p:attrNameLst>
                                      </p:cBhvr>
                                      <p:rCtr x="0" y="-5153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p:bldP spid="3" grpId="0"/>
      <p:bldP spid="7" grpId="0" build="p"/>
      <p:bldP spid="7" grpId="1" build="allAtOnce"/>
      <p:bldP spid="9" grpId="0"/>
      <p:bldP spid="9" grpId="1"/>
      <p:bldP spid="18" grpId="0" animBg="1"/>
      <p:bldP spid="17" grpId="0"/>
      <p:bldP spid="19" grpId="0" animBg="1"/>
      <p:bldP spid="20" grpId="0"/>
      <p:bldP spid="21" grpId="0" animBg="1"/>
      <p:bldP spid="22" grpId="0"/>
      <p:bldP spid="23" grpId="0"/>
      <p:bldP spid="24" grpId="0"/>
      <p:bldP spid="24" grpId="1"/>
      <p:bldP spid="26" grpId="0"/>
      <p:bldP spid="26" grpId="1"/>
      <p:bldP spid="27" grpId="0"/>
      <p:bldP spid="27" grpId="1"/>
      <p:bldP spid="29" grpId="0"/>
      <p:bldP spid="29" grpId="1"/>
      <p:bldP spid="30" grpId="0"/>
      <p:bldP spid="30" grpId="1"/>
      <p:bldP spid="32" grpId="0"/>
      <p:bldP spid="32" grpId="1"/>
      <p:bldP spid="33" grpId="0"/>
      <p:bldP spid="33" grpId="1"/>
      <p:bldP spid="12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3432273-D032-A814-1C42-F2503493D1DC}"/>
              </a:ext>
            </a:extLst>
          </p:cNvPr>
          <p:cNvSpPr/>
          <p:nvPr/>
        </p:nvSpPr>
        <p:spPr>
          <a:xfrm>
            <a:off x="923544" y="10147274"/>
            <a:ext cx="3265424" cy="5312674"/>
          </a:xfrm>
          <a:prstGeom prst="roundRect">
            <a:avLst>
              <a:gd name="adj" fmla="val 689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32EC96F7-B59C-F223-A62E-12B248948C2C}"/>
              </a:ext>
            </a:extLst>
          </p:cNvPr>
          <p:cNvSpPr/>
          <p:nvPr/>
        </p:nvSpPr>
        <p:spPr>
          <a:xfrm>
            <a:off x="4463288" y="11037317"/>
            <a:ext cx="3265424" cy="5312674"/>
          </a:xfrm>
          <a:prstGeom prst="roundRect">
            <a:avLst>
              <a:gd name="adj" fmla="val 689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791803F-E2AE-1882-5FE7-05215A911200}"/>
              </a:ext>
            </a:extLst>
          </p:cNvPr>
          <p:cNvSpPr/>
          <p:nvPr/>
        </p:nvSpPr>
        <p:spPr>
          <a:xfrm>
            <a:off x="8003032" y="11870910"/>
            <a:ext cx="3265424" cy="5312674"/>
          </a:xfrm>
          <a:prstGeom prst="roundRect">
            <a:avLst>
              <a:gd name="adj" fmla="val 689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waypoint go">
            <a:hlinkClick r:id="" action="ppaction://media"/>
            <a:extLst>
              <a:ext uri="{FF2B5EF4-FFF2-40B4-BE49-F238E27FC236}">
                <a16:creationId xmlns:a16="http://schemas.microsoft.com/office/drawing/2014/main" id="{633C0986-E1AD-01B2-63B4-9DB306E67E8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BE53CEEF-C09D-9D01-5104-DD6D7523446C}"/>
              </a:ext>
            </a:extLst>
          </p:cNvPr>
          <p:cNvPicPr>
            <a:picLocks noChangeAspect="1"/>
          </p:cNvPicPr>
          <p:nvPr/>
        </p:nvPicPr>
        <p:blipFill>
          <a:blip r:embed="rId5">
            <a:extLst>
              <a:ext uri="{28A0092B-C50C-407E-A947-70E740481C1C}">
                <a14:useLocalDpi xmlns:a14="http://schemas.microsoft.com/office/drawing/2010/main" val="0"/>
              </a:ext>
            </a:extLst>
          </a:blip>
          <a:srcRect r="66475"/>
          <a:stretch>
            <a:fillRect/>
          </a:stretch>
        </p:blipFill>
        <p:spPr>
          <a:xfrm>
            <a:off x="0" y="0"/>
            <a:ext cx="4087368" cy="6858000"/>
          </a:xfrm>
          <a:prstGeom prst="roundRect">
            <a:avLst>
              <a:gd name="adj" fmla="val 0"/>
            </a:avLst>
          </a:prstGeom>
        </p:spPr>
      </p:pic>
      <p:pic>
        <p:nvPicPr>
          <p:cNvPr id="9" name="Picture 8">
            <a:extLst>
              <a:ext uri="{FF2B5EF4-FFF2-40B4-BE49-F238E27FC236}">
                <a16:creationId xmlns:a16="http://schemas.microsoft.com/office/drawing/2014/main" id="{8967286A-7E93-8453-B698-F376E65A0CF7}"/>
              </a:ext>
            </a:extLst>
          </p:cNvPr>
          <p:cNvPicPr>
            <a:picLocks noChangeAspect="1"/>
          </p:cNvPicPr>
          <p:nvPr/>
        </p:nvPicPr>
        <p:blipFill>
          <a:blip r:embed="rId5">
            <a:extLst>
              <a:ext uri="{28A0092B-C50C-407E-A947-70E740481C1C}">
                <a14:useLocalDpi xmlns:a14="http://schemas.microsoft.com/office/drawing/2010/main" val="0"/>
              </a:ext>
            </a:extLst>
          </a:blip>
          <a:srcRect l="33525" r="33550"/>
          <a:stretch>
            <a:fillRect/>
          </a:stretch>
        </p:blipFill>
        <p:spPr>
          <a:xfrm>
            <a:off x="4087368" y="0"/>
            <a:ext cx="4014216" cy="6858000"/>
          </a:xfrm>
          <a:prstGeom prst="roundRect">
            <a:avLst>
              <a:gd name="adj" fmla="val 0"/>
            </a:avLst>
          </a:prstGeom>
        </p:spPr>
      </p:pic>
      <p:pic>
        <p:nvPicPr>
          <p:cNvPr id="11" name="Picture 10">
            <a:extLst>
              <a:ext uri="{FF2B5EF4-FFF2-40B4-BE49-F238E27FC236}">
                <a16:creationId xmlns:a16="http://schemas.microsoft.com/office/drawing/2014/main" id="{749A6F3E-AEBB-545D-BFB5-D2EFFD10E1BC}"/>
              </a:ext>
            </a:extLst>
          </p:cNvPr>
          <p:cNvPicPr>
            <a:picLocks noChangeAspect="1"/>
          </p:cNvPicPr>
          <p:nvPr/>
        </p:nvPicPr>
        <p:blipFill>
          <a:blip r:embed="rId5">
            <a:extLst>
              <a:ext uri="{28A0092B-C50C-407E-A947-70E740481C1C}">
                <a14:useLocalDpi xmlns:a14="http://schemas.microsoft.com/office/drawing/2010/main" val="0"/>
              </a:ext>
            </a:extLst>
          </a:blip>
          <a:srcRect l="66450"/>
          <a:stretch>
            <a:fillRect/>
          </a:stretch>
        </p:blipFill>
        <p:spPr>
          <a:xfrm>
            <a:off x="8101584" y="0"/>
            <a:ext cx="4090416" cy="6858000"/>
          </a:xfrm>
          <a:prstGeom prst="roundRect">
            <a:avLst>
              <a:gd name="adj" fmla="val 0"/>
            </a:avLst>
          </a:prstGeom>
        </p:spPr>
      </p:pic>
      <p:sp>
        <p:nvSpPr>
          <p:cNvPr id="16" name="!!title">
            <a:extLst>
              <a:ext uri="{FF2B5EF4-FFF2-40B4-BE49-F238E27FC236}">
                <a16:creationId xmlns:a16="http://schemas.microsoft.com/office/drawing/2014/main" id="{2455C520-AF62-69EC-374D-092860DE9FAB}"/>
              </a:ext>
            </a:extLst>
          </p:cNvPr>
          <p:cNvSpPr txBox="1"/>
          <p:nvPr/>
        </p:nvSpPr>
        <p:spPr>
          <a:xfrm>
            <a:off x="923544" y="7662672"/>
            <a:ext cx="6622662" cy="1107996"/>
          </a:xfrm>
          <a:prstGeom prst="rect">
            <a:avLst/>
          </a:prstGeom>
          <a:noFill/>
        </p:spPr>
        <p:txBody>
          <a:bodyPr wrap="square" lIns="0" tIns="0" rIns="0" bIns="0" anchor="t">
            <a:spAutoFit/>
          </a:bodyPr>
          <a:lstStyle/>
          <a:p>
            <a:pPr algn="l"/>
            <a:r>
              <a:rPr sz="3600" dirty="0">
                <a:solidFill>
                  <a:srgbClr val="00B050"/>
                </a:solidFill>
                <a:latin typeface="Google Sans Flex SemiBold"/>
              </a:rPr>
              <a:t>Three problems</a:t>
            </a:r>
            <a:r>
              <a:rPr sz="3600" dirty="0">
                <a:latin typeface="Google Sans Flex Light"/>
              </a:rPr>
              <a:t> we found on the</a:t>
            </a:r>
          </a:p>
        </p:txBody>
      </p:sp>
      <p:sp>
        <p:nvSpPr>
          <p:cNvPr id="20" name="!!prob0-head">
            <a:extLst>
              <a:ext uri="{FF2B5EF4-FFF2-40B4-BE49-F238E27FC236}">
                <a16:creationId xmlns:a16="http://schemas.microsoft.com/office/drawing/2014/main" id="{A6EDCE07-A3F4-1FDF-0BF1-0BEE9B45B8EF}"/>
              </a:ext>
            </a:extLst>
          </p:cNvPr>
          <p:cNvSpPr txBox="1"/>
          <p:nvPr/>
        </p:nvSpPr>
        <p:spPr>
          <a:xfrm>
            <a:off x="1243584" y="10871789"/>
            <a:ext cx="2762504" cy="1188720"/>
          </a:xfrm>
          <a:prstGeom prst="rect">
            <a:avLst/>
          </a:prstGeom>
          <a:noFill/>
        </p:spPr>
        <p:txBody>
          <a:bodyPr wrap="square" lIns="0" tIns="0" rIns="0" bIns="0" anchor="t"/>
          <a:lstStyle/>
          <a:p>
            <a:pPr>
              <a:lnSpc>
                <a:spcPct val="105000"/>
              </a:lnSpc>
            </a:pPr>
            <a:r>
              <a:rPr lang="en-US" sz="2200" dirty="0">
                <a:latin typeface="Google Sans Flex SemiBold"/>
              </a:rPr>
              <a:t>Vehicle Shortage</a:t>
            </a:r>
          </a:p>
        </p:txBody>
      </p:sp>
      <p:sp>
        <p:nvSpPr>
          <p:cNvPr id="22" name="!!prob0-sub">
            <a:extLst>
              <a:ext uri="{FF2B5EF4-FFF2-40B4-BE49-F238E27FC236}">
                <a16:creationId xmlns:a16="http://schemas.microsoft.com/office/drawing/2014/main" id="{A24DF941-F97A-0D14-4307-BD50F84280D4}"/>
              </a:ext>
            </a:extLst>
          </p:cNvPr>
          <p:cNvSpPr txBox="1"/>
          <p:nvPr/>
        </p:nvSpPr>
        <p:spPr>
          <a:xfrm>
            <a:off x="1243584" y="12673887"/>
            <a:ext cx="2625344" cy="640080"/>
          </a:xfrm>
          <a:prstGeom prst="rect">
            <a:avLst/>
          </a:prstGeom>
          <a:noFill/>
        </p:spPr>
        <p:txBody>
          <a:bodyPr wrap="square" lIns="0" tIns="0" rIns="0" bIns="0" anchor="t"/>
          <a:lstStyle/>
          <a:p>
            <a:pPr>
              <a:lnSpc>
                <a:spcPct val="105000"/>
              </a:lnSpc>
            </a:pPr>
            <a:r>
              <a:rPr lang="en-US" sz="1600" dirty="0">
                <a:solidFill>
                  <a:srgbClr val="6B7A72"/>
                </a:solidFill>
                <a:latin typeface="Google Sans Flex Light"/>
              </a:rPr>
              <a:t>On peak days, there are more orders than vehicles</a:t>
            </a:r>
          </a:p>
        </p:txBody>
      </p:sp>
      <p:sp>
        <p:nvSpPr>
          <p:cNvPr id="26" name="!!prob1-head">
            <a:extLst>
              <a:ext uri="{FF2B5EF4-FFF2-40B4-BE49-F238E27FC236}">
                <a16:creationId xmlns:a16="http://schemas.microsoft.com/office/drawing/2014/main" id="{0DE2EDC3-F5D0-D847-B573-4B440330D5EA}"/>
              </a:ext>
            </a:extLst>
          </p:cNvPr>
          <p:cNvSpPr txBox="1"/>
          <p:nvPr/>
        </p:nvSpPr>
        <p:spPr>
          <a:xfrm>
            <a:off x="4783328" y="13628163"/>
            <a:ext cx="2625344" cy="1188720"/>
          </a:xfrm>
          <a:prstGeom prst="rect">
            <a:avLst/>
          </a:prstGeom>
          <a:noFill/>
        </p:spPr>
        <p:txBody>
          <a:bodyPr wrap="square" lIns="0" tIns="0" rIns="0" bIns="0" anchor="t"/>
          <a:lstStyle/>
          <a:p>
            <a:pPr>
              <a:lnSpc>
                <a:spcPct val="105000"/>
              </a:lnSpc>
            </a:pPr>
            <a:r>
              <a:rPr lang="en-US" sz="2200" dirty="0">
                <a:latin typeface="Google Sans Flex SemiBold"/>
              </a:rPr>
              <a:t>Dispatcher Stress </a:t>
            </a:r>
          </a:p>
        </p:txBody>
      </p:sp>
      <p:sp>
        <p:nvSpPr>
          <p:cNvPr id="28" name="!!prob1-sub">
            <a:extLst>
              <a:ext uri="{FF2B5EF4-FFF2-40B4-BE49-F238E27FC236}">
                <a16:creationId xmlns:a16="http://schemas.microsoft.com/office/drawing/2014/main" id="{08ED99D2-7DFC-344E-171B-57F8795ACCC5}"/>
              </a:ext>
            </a:extLst>
          </p:cNvPr>
          <p:cNvSpPr txBox="1"/>
          <p:nvPr/>
        </p:nvSpPr>
        <p:spPr>
          <a:xfrm>
            <a:off x="4783328" y="15012138"/>
            <a:ext cx="2625344" cy="640080"/>
          </a:xfrm>
          <a:prstGeom prst="rect">
            <a:avLst/>
          </a:prstGeom>
          <a:noFill/>
        </p:spPr>
        <p:txBody>
          <a:bodyPr wrap="square" lIns="0" tIns="0" rIns="0" bIns="0" anchor="t"/>
          <a:lstStyle/>
          <a:p>
            <a:pPr>
              <a:lnSpc>
                <a:spcPct val="105000"/>
              </a:lnSpc>
            </a:pPr>
            <a:r>
              <a:rPr lang="en-US" sz="1600" dirty="0">
                <a:solidFill>
                  <a:srgbClr val="6B7A72"/>
                </a:solidFill>
                <a:latin typeface="Google Sans Flex Light"/>
              </a:rPr>
              <a:t>One dispatcher, up to 120 trips a day</a:t>
            </a:r>
          </a:p>
        </p:txBody>
      </p:sp>
      <p:sp>
        <p:nvSpPr>
          <p:cNvPr id="32" name="!!prob2-head">
            <a:extLst>
              <a:ext uri="{FF2B5EF4-FFF2-40B4-BE49-F238E27FC236}">
                <a16:creationId xmlns:a16="http://schemas.microsoft.com/office/drawing/2014/main" id="{4A1EAAAA-DF04-6847-05A1-A6553176DED1}"/>
              </a:ext>
            </a:extLst>
          </p:cNvPr>
          <p:cNvSpPr txBox="1"/>
          <p:nvPr/>
        </p:nvSpPr>
        <p:spPr>
          <a:xfrm>
            <a:off x="8323072" y="12510680"/>
            <a:ext cx="2625344" cy="1188720"/>
          </a:xfrm>
          <a:prstGeom prst="rect">
            <a:avLst/>
          </a:prstGeom>
          <a:noFill/>
        </p:spPr>
        <p:txBody>
          <a:bodyPr wrap="square" lIns="0" tIns="0" rIns="0" bIns="0" anchor="t"/>
          <a:lstStyle/>
          <a:p>
            <a:pPr>
              <a:lnSpc>
                <a:spcPct val="105000"/>
              </a:lnSpc>
            </a:pPr>
            <a:r>
              <a:rPr lang="en-US" sz="2200" dirty="0">
                <a:latin typeface="Google Sans Flex SemiBold"/>
              </a:rPr>
              <a:t>Poor Coordination</a:t>
            </a:r>
          </a:p>
        </p:txBody>
      </p:sp>
      <p:sp>
        <p:nvSpPr>
          <p:cNvPr id="34" name="!!prob2-sub">
            <a:extLst>
              <a:ext uri="{FF2B5EF4-FFF2-40B4-BE49-F238E27FC236}">
                <a16:creationId xmlns:a16="http://schemas.microsoft.com/office/drawing/2014/main" id="{10AB92E9-F5CA-616C-61EF-5E66DC48C0EE}"/>
              </a:ext>
            </a:extLst>
          </p:cNvPr>
          <p:cNvSpPr txBox="1"/>
          <p:nvPr/>
        </p:nvSpPr>
        <p:spPr>
          <a:xfrm>
            <a:off x="8323072" y="14217163"/>
            <a:ext cx="2625344" cy="640080"/>
          </a:xfrm>
          <a:prstGeom prst="rect">
            <a:avLst/>
          </a:prstGeom>
          <a:noFill/>
        </p:spPr>
        <p:txBody>
          <a:bodyPr wrap="square" lIns="0" tIns="0" rIns="0" bIns="0" anchor="t"/>
          <a:lstStyle/>
          <a:p>
            <a:pPr>
              <a:lnSpc>
                <a:spcPct val="105000"/>
              </a:lnSpc>
            </a:pPr>
            <a:r>
              <a:rPr lang="en-US" sz="1600" dirty="0">
                <a:solidFill>
                  <a:srgbClr val="6B7A72"/>
                </a:solidFill>
                <a:latin typeface="Google Sans Flex Light"/>
              </a:rPr>
              <a:t>One late van starts a chain of phone calls</a:t>
            </a:r>
          </a:p>
        </p:txBody>
      </p:sp>
      <p:sp>
        <p:nvSpPr>
          <p:cNvPr id="36" name="!!title">
            <a:extLst>
              <a:ext uri="{FF2B5EF4-FFF2-40B4-BE49-F238E27FC236}">
                <a16:creationId xmlns:a16="http://schemas.microsoft.com/office/drawing/2014/main" id="{D60A8549-2A55-1E63-339A-BE1ABA7B2D2D}"/>
              </a:ext>
            </a:extLst>
          </p:cNvPr>
          <p:cNvSpPr txBox="1"/>
          <p:nvPr/>
        </p:nvSpPr>
        <p:spPr>
          <a:xfrm>
            <a:off x="2436208" y="13532810"/>
            <a:ext cx="1592740" cy="1477328"/>
          </a:xfrm>
          <a:prstGeom prst="rect">
            <a:avLst/>
          </a:prstGeom>
          <a:noFill/>
        </p:spPr>
        <p:txBody>
          <a:bodyPr wrap="square" lIns="0" tIns="0" rIns="0" bIns="0" anchor="t">
            <a:spAutoFit/>
          </a:bodyPr>
          <a:lstStyle/>
          <a:p>
            <a:pPr algn="ctr"/>
            <a:r>
              <a:rPr lang="en-US" sz="9600" dirty="0">
                <a:solidFill>
                  <a:schemeClr val="accent2">
                    <a:lumMod val="20000"/>
                    <a:lumOff val="80000"/>
                  </a:schemeClr>
                </a:solidFill>
                <a:latin typeface="Google Sans Flex SemiBold"/>
              </a:rPr>
              <a:t>01</a:t>
            </a:r>
            <a:endParaRPr lang="en-US" sz="9600" dirty="0">
              <a:solidFill>
                <a:schemeClr val="accent2">
                  <a:lumMod val="20000"/>
                  <a:lumOff val="80000"/>
                </a:schemeClr>
              </a:solidFill>
              <a:latin typeface="Google Sans Flex Light"/>
            </a:endParaRPr>
          </a:p>
        </p:txBody>
      </p:sp>
      <p:sp>
        <p:nvSpPr>
          <p:cNvPr id="38" name="!!title">
            <a:extLst>
              <a:ext uri="{FF2B5EF4-FFF2-40B4-BE49-F238E27FC236}">
                <a16:creationId xmlns:a16="http://schemas.microsoft.com/office/drawing/2014/main" id="{0796F4A1-3405-1171-7F1A-49112D64ADBF}"/>
              </a:ext>
            </a:extLst>
          </p:cNvPr>
          <p:cNvSpPr txBox="1"/>
          <p:nvPr/>
        </p:nvSpPr>
        <p:spPr>
          <a:xfrm>
            <a:off x="4698145" y="11593028"/>
            <a:ext cx="1592740" cy="1477328"/>
          </a:xfrm>
          <a:prstGeom prst="rect">
            <a:avLst/>
          </a:prstGeom>
          <a:noFill/>
        </p:spPr>
        <p:txBody>
          <a:bodyPr wrap="square" lIns="0" tIns="0" rIns="0" bIns="0" anchor="t">
            <a:spAutoFit/>
          </a:bodyPr>
          <a:lstStyle/>
          <a:p>
            <a:pPr algn="ctr"/>
            <a:r>
              <a:rPr lang="en-US" sz="9600" dirty="0">
                <a:solidFill>
                  <a:schemeClr val="accent2">
                    <a:lumMod val="20000"/>
                    <a:lumOff val="80000"/>
                  </a:schemeClr>
                </a:solidFill>
                <a:latin typeface="Google Sans Flex SemiBold"/>
              </a:rPr>
              <a:t>02</a:t>
            </a:r>
            <a:endParaRPr lang="en-US" sz="9600" dirty="0">
              <a:solidFill>
                <a:schemeClr val="accent2">
                  <a:lumMod val="20000"/>
                  <a:lumOff val="80000"/>
                </a:schemeClr>
              </a:solidFill>
              <a:latin typeface="Google Sans Flex Light"/>
            </a:endParaRPr>
          </a:p>
        </p:txBody>
      </p:sp>
      <p:sp>
        <p:nvSpPr>
          <p:cNvPr id="40" name="!!title">
            <a:extLst>
              <a:ext uri="{FF2B5EF4-FFF2-40B4-BE49-F238E27FC236}">
                <a16:creationId xmlns:a16="http://schemas.microsoft.com/office/drawing/2014/main" id="{79974F15-ED77-C068-E9CC-F22CD25BAC72}"/>
              </a:ext>
            </a:extLst>
          </p:cNvPr>
          <p:cNvSpPr txBox="1"/>
          <p:nvPr/>
        </p:nvSpPr>
        <p:spPr>
          <a:xfrm>
            <a:off x="9515696" y="15227116"/>
            <a:ext cx="1592740" cy="1477328"/>
          </a:xfrm>
          <a:prstGeom prst="rect">
            <a:avLst/>
          </a:prstGeom>
          <a:noFill/>
        </p:spPr>
        <p:txBody>
          <a:bodyPr wrap="square" lIns="0" tIns="0" rIns="0" bIns="0" anchor="t">
            <a:spAutoFit/>
          </a:bodyPr>
          <a:lstStyle/>
          <a:p>
            <a:pPr algn="ctr"/>
            <a:r>
              <a:rPr lang="en-US" sz="9600" dirty="0">
                <a:solidFill>
                  <a:schemeClr val="accent2">
                    <a:lumMod val="20000"/>
                    <a:lumOff val="80000"/>
                  </a:schemeClr>
                </a:solidFill>
                <a:latin typeface="Google Sans Flex SemiBold"/>
              </a:rPr>
              <a:t>03</a:t>
            </a:r>
            <a:endParaRPr lang="en-US" sz="9600" dirty="0">
              <a:solidFill>
                <a:schemeClr val="accent2">
                  <a:lumMod val="20000"/>
                  <a:lumOff val="80000"/>
                </a:schemeClr>
              </a:solidFill>
              <a:latin typeface="Google Sans Flex Light"/>
            </a:endParaRPr>
          </a:p>
        </p:txBody>
      </p:sp>
      <p:sp>
        <p:nvSpPr>
          <p:cNvPr id="42" name="!!title">
            <a:extLst>
              <a:ext uri="{FF2B5EF4-FFF2-40B4-BE49-F238E27FC236}">
                <a16:creationId xmlns:a16="http://schemas.microsoft.com/office/drawing/2014/main" id="{64FA9C4A-E607-E2A3-3B76-7BF70C034F19}"/>
              </a:ext>
            </a:extLst>
          </p:cNvPr>
          <p:cNvSpPr txBox="1"/>
          <p:nvPr/>
        </p:nvSpPr>
        <p:spPr>
          <a:xfrm>
            <a:off x="1737342" y="8223576"/>
            <a:ext cx="8449598" cy="553998"/>
          </a:xfrm>
          <a:prstGeom prst="rect">
            <a:avLst/>
          </a:prstGeom>
          <a:noFill/>
        </p:spPr>
        <p:txBody>
          <a:bodyPr wrap="square" lIns="0" tIns="0" rIns="0" bIns="0" anchor="t">
            <a:spAutoFit/>
          </a:bodyPr>
          <a:lstStyle/>
          <a:p>
            <a:r>
              <a:rPr lang="en-GB" sz="3600" spc="20" dirty="0">
                <a:latin typeface="Google Sans Flex ExtraBold" panose="020B0503030502040204" pitchFamily="34" charset="0"/>
                <a:ea typeface="Google Sans Flex ExtraBold" panose="020B0503030502040204" pitchFamily="34" charset="0"/>
                <a:cs typeface="Google Sans Flex ExtraBold" panose="020B0503030502040204" pitchFamily="34" charset="0"/>
              </a:rPr>
              <a:t>Ground Operations</a:t>
            </a:r>
            <a:endParaRPr sz="3600" spc="20" dirty="0">
              <a:latin typeface="Google Sans Flex ExtraBold" panose="020B0503030502040204" pitchFamily="34" charset="0"/>
              <a:ea typeface="Google Sans Flex ExtraBold" panose="020B0503030502040204" pitchFamily="34" charset="0"/>
              <a:cs typeface="Google Sans Flex ExtraBold" panose="020B0503030502040204" pitchFamily="34" charset="0"/>
            </a:endParaRPr>
          </a:p>
        </p:txBody>
      </p:sp>
    </p:spTree>
    <p:extLst>
      <p:ext uri="{BB962C8B-B14F-4D97-AF65-F5344CB8AC3E}">
        <p14:creationId xmlns:p14="http://schemas.microsoft.com/office/powerpoint/2010/main" val="1660381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7989" fill="hold"/>
                                        <p:tgtEl>
                                          <p:spTgt spid="5"/>
                                        </p:tgtEl>
                                      </p:cBhvr>
                                    </p:cmd>
                                  </p:childTnLst>
                                </p:cTn>
                              </p:par>
                            </p:childTnLst>
                          </p:cTn>
                        </p:par>
                        <p:par>
                          <p:cTn id="7" fill="hold">
                            <p:stCondLst>
                              <p:cond delay="27989"/>
                            </p:stCondLst>
                            <p:childTnLst>
                              <p:par>
                                <p:cTn id="8" presetID="1" presetClass="exit" presetSubtype="0" fill="hold" nodeType="afterEffect">
                                  <p:stCondLst>
                                    <p:cond delay="0"/>
                                  </p:stCondLst>
                                  <p:childTnLst>
                                    <p:set>
                                      <p:cBhvr>
                                        <p:cTn id="9" dur="1" fill="hold">
                                          <p:stCondLst>
                                            <p:cond delay="0"/>
                                          </p:stCondLst>
                                        </p:cTn>
                                        <p:tgtEl>
                                          <p:spTgt spid="5"/>
                                        </p:tgtEl>
                                        <p:attrNameLst>
                                          <p:attrName>style.visibility</p:attrName>
                                        </p:attrNameLst>
                                      </p:cBhvr>
                                      <p:to>
                                        <p:strVal val="hidden"/>
                                      </p:to>
                                    </p:set>
                                    <p:cmd type="call" cmd="stop">
                                      <p:cBhvr>
                                        <p:cTn id="10" dur="1">
                                          <p:stCondLst>
                                            <p:cond delay="0"/>
                                          </p:stCondLst>
                                        </p:cTn>
                                        <p:tgtEl>
                                          <p:spTgt spid="5"/>
                                        </p:tgtEl>
                                      </p:cBhvr>
                                    </p:cmd>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hold" display="0">
                  <p:stCondLst>
                    <p:cond delay="indefinite"/>
                  </p:stCondLst>
                </p:cTn>
                <p:tgtEl>
                  <p:spTgt spid="5"/>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7747B41-0D9D-F4FC-D733-3DFD0C04B942}"/>
              </a:ext>
            </a:extLst>
          </p:cNvPr>
          <p:cNvSpPr/>
          <p:nvPr/>
        </p:nvSpPr>
        <p:spPr>
          <a:xfrm>
            <a:off x="923544" y="2554541"/>
            <a:ext cx="3265424" cy="3001467"/>
          </a:xfrm>
          <a:prstGeom prst="roundRect">
            <a:avLst>
              <a:gd name="adj" fmla="val 1603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5759DEF9-5563-18B1-985A-8A295E8C9979}"/>
              </a:ext>
            </a:extLst>
          </p:cNvPr>
          <p:cNvSpPr/>
          <p:nvPr/>
        </p:nvSpPr>
        <p:spPr>
          <a:xfrm>
            <a:off x="4463288" y="2554541"/>
            <a:ext cx="3265424" cy="3001467"/>
          </a:xfrm>
          <a:prstGeom prst="roundRect">
            <a:avLst>
              <a:gd name="adj" fmla="val 1542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20D988AC-ACC5-8DE5-25F5-F2131D7D64CC}"/>
              </a:ext>
            </a:extLst>
          </p:cNvPr>
          <p:cNvSpPr/>
          <p:nvPr/>
        </p:nvSpPr>
        <p:spPr>
          <a:xfrm>
            <a:off x="8003032" y="2554541"/>
            <a:ext cx="3265424" cy="3001467"/>
          </a:xfrm>
          <a:prstGeom prst="roundRect">
            <a:avLst>
              <a:gd name="adj" fmla="val 1420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p:cNvSpPr txBox="1"/>
          <p:nvPr/>
        </p:nvSpPr>
        <p:spPr>
          <a:xfrm>
            <a:off x="923544" y="913805"/>
            <a:ext cx="6622662" cy="1107996"/>
          </a:xfrm>
          <a:prstGeom prst="rect">
            <a:avLst/>
          </a:prstGeom>
          <a:noFill/>
        </p:spPr>
        <p:txBody>
          <a:bodyPr wrap="square" lIns="0" tIns="0" rIns="0" bIns="0" anchor="t">
            <a:spAutoFit/>
          </a:bodyPr>
          <a:lstStyle/>
          <a:p>
            <a:pPr algn="l"/>
            <a:r>
              <a:rPr sz="3600" dirty="0">
                <a:solidFill>
                  <a:srgbClr val="00B050"/>
                </a:solidFill>
                <a:latin typeface="Google Sans Flex SemiBold"/>
              </a:rPr>
              <a:t>Three problems</a:t>
            </a:r>
            <a:r>
              <a:rPr sz="3600" dirty="0">
                <a:latin typeface="Google Sans Flex Light"/>
              </a:rPr>
              <a:t> we found on the</a:t>
            </a:r>
          </a:p>
        </p:txBody>
      </p:sp>
      <p:sp>
        <p:nvSpPr>
          <p:cNvPr id="8" name="!!prob0-head"/>
          <p:cNvSpPr txBox="1"/>
          <p:nvPr/>
        </p:nvSpPr>
        <p:spPr>
          <a:xfrm>
            <a:off x="1243584" y="2928017"/>
            <a:ext cx="2762504" cy="534558"/>
          </a:xfrm>
          <a:prstGeom prst="rect">
            <a:avLst/>
          </a:prstGeom>
          <a:noFill/>
        </p:spPr>
        <p:txBody>
          <a:bodyPr wrap="square" lIns="0" tIns="0" rIns="0" bIns="0" anchor="t"/>
          <a:lstStyle/>
          <a:p>
            <a:pPr>
              <a:lnSpc>
                <a:spcPct val="105000"/>
              </a:lnSpc>
            </a:pPr>
            <a:r>
              <a:rPr lang="en-US" sz="2200" dirty="0">
                <a:latin typeface="Google Sans Flex SemiBold"/>
              </a:rPr>
              <a:t>Vehicle Shortage</a:t>
            </a:r>
          </a:p>
        </p:txBody>
      </p:sp>
      <p:sp>
        <p:nvSpPr>
          <p:cNvPr id="9" name="!!prob0-sub"/>
          <p:cNvSpPr txBox="1"/>
          <p:nvPr/>
        </p:nvSpPr>
        <p:spPr>
          <a:xfrm>
            <a:off x="1243584" y="3470351"/>
            <a:ext cx="2625344" cy="640080"/>
          </a:xfrm>
          <a:prstGeom prst="rect">
            <a:avLst/>
          </a:prstGeom>
          <a:noFill/>
        </p:spPr>
        <p:txBody>
          <a:bodyPr wrap="square" lIns="0" tIns="0" rIns="0" bIns="0" anchor="t"/>
          <a:lstStyle/>
          <a:p>
            <a:pPr algn="l">
              <a:lnSpc>
                <a:spcPct val="105000"/>
              </a:lnSpc>
            </a:pPr>
            <a:r>
              <a:rPr lang="en-US" sz="1600" dirty="0">
                <a:solidFill>
                  <a:srgbClr val="6B7A72"/>
                </a:solidFill>
                <a:latin typeface="Google Sans Flex Light"/>
              </a:rPr>
              <a:t>On peak days, there are more orders than vehicles</a:t>
            </a:r>
          </a:p>
        </p:txBody>
      </p:sp>
      <p:sp>
        <p:nvSpPr>
          <p:cNvPr id="12" name="!!prob1-head"/>
          <p:cNvSpPr txBox="1"/>
          <p:nvPr/>
        </p:nvSpPr>
        <p:spPr>
          <a:xfrm>
            <a:off x="4783328" y="4131494"/>
            <a:ext cx="2625344" cy="457266"/>
          </a:xfrm>
          <a:prstGeom prst="rect">
            <a:avLst/>
          </a:prstGeom>
          <a:noFill/>
        </p:spPr>
        <p:txBody>
          <a:bodyPr wrap="square" lIns="0" tIns="0" rIns="0" bIns="0" anchor="t"/>
          <a:lstStyle/>
          <a:p>
            <a:pPr>
              <a:lnSpc>
                <a:spcPct val="105000"/>
              </a:lnSpc>
            </a:pPr>
            <a:r>
              <a:rPr lang="en-US" sz="2200" dirty="0">
                <a:latin typeface="Google Sans Flex SemiBold"/>
              </a:rPr>
              <a:t>Dispatcher Stress </a:t>
            </a:r>
          </a:p>
        </p:txBody>
      </p:sp>
      <p:sp>
        <p:nvSpPr>
          <p:cNvPr id="13" name="!!prob1-sub"/>
          <p:cNvSpPr txBox="1"/>
          <p:nvPr/>
        </p:nvSpPr>
        <p:spPr>
          <a:xfrm>
            <a:off x="4783328" y="4685871"/>
            <a:ext cx="2625344" cy="640080"/>
          </a:xfrm>
          <a:prstGeom prst="rect">
            <a:avLst/>
          </a:prstGeom>
          <a:noFill/>
        </p:spPr>
        <p:txBody>
          <a:bodyPr wrap="square" lIns="0" tIns="0" rIns="0" bIns="0" anchor="t"/>
          <a:lstStyle/>
          <a:p>
            <a:pPr algn="l">
              <a:lnSpc>
                <a:spcPct val="105000"/>
              </a:lnSpc>
            </a:pPr>
            <a:r>
              <a:rPr lang="en-US" sz="1600" dirty="0">
                <a:solidFill>
                  <a:srgbClr val="6B7A72"/>
                </a:solidFill>
                <a:latin typeface="Google Sans Flex Light"/>
              </a:rPr>
              <a:t>One dispatcher, up to 120 trips a day</a:t>
            </a:r>
          </a:p>
        </p:txBody>
      </p:sp>
      <p:sp>
        <p:nvSpPr>
          <p:cNvPr id="16" name="!!prob2-head"/>
          <p:cNvSpPr txBox="1"/>
          <p:nvPr/>
        </p:nvSpPr>
        <p:spPr>
          <a:xfrm>
            <a:off x="8323072" y="2997970"/>
            <a:ext cx="2625344" cy="464605"/>
          </a:xfrm>
          <a:prstGeom prst="rect">
            <a:avLst/>
          </a:prstGeom>
          <a:noFill/>
        </p:spPr>
        <p:txBody>
          <a:bodyPr wrap="square" lIns="0" tIns="0" rIns="0" bIns="0" anchor="t"/>
          <a:lstStyle/>
          <a:p>
            <a:pPr>
              <a:lnSpc>
                <a:spcPct val="105000"/>
              </a:lnSpc>
            </a:pPr>
            <a:r>
              <a:rPr lang="en-US" sz="2200" dirty="0">
                <a:latin typeface="Google Sans Flex SemiBold"/>
              </a:rPr>
              <a:t>Poor Coordination</a:t>
            </a:r>
          </a:p>
        </p:txBody>
      </p:sp>
      <p:sp>
        <p:nvSpPr>
          <p:cNvPr id="17" name="!!prob2-sub"/>
          <p:cNvSpPr txBox="1"/>
          <p:nvPr/>
        </p:nvSpPr>
        <p:spPr>
          <a:xfrm>
            <a:off x="8323072" y="3470351"/>
            <a:ext cx="2625344" cy="640080"/>
          </a:xfrm>
          <a:prstGeom prst="rect">
            <a:avLst/>
          </a:prstGeom>
          <a:noFill/>
        </p:spPr>
        <p:txBody>
          <a:bodyPr wrap="square" lIns="0" tIns="0" rIns="0" bIns="0" anchor="t"/>
          <a:lstStyle/>
          <a:p>
            <a:pPr algn="l">
              <a:lnSpc>
                <a:spcPct val="105000"/>
              </a:lnSpc>
            </a:pPr>
            <a:r>
              <a:rPr lang="en-US" sz="1600" dirty="0">
                <a:solidFill>
                  <a:srgbClr val="6B7A72"/>
                </a:solidFill>
                <a:latin typeface="Google Sans Flex Light"/>
              </a:rPr>
              <a:t>One late van starts a chain of phone calls</a:t>
            </a:r>
          </a:p>
        </p:txBody>
      </p:sp>
      <p:sp>
        <p:nvSpPr>
          <p:cNvPr id="43" name="!!title">
            <a:extLst>
              <a:ext uri="{FF2B5EF4-FFF2-40B4-BE49-F238E27FC236}">
                <a16:creationId xmlns:a16="http://schemas.microsoft.com/office/drawing/2014/main" id="{D7987B04-9EB1-6390-FD44-3B380933476F}"/>
              </a:ext>
            </a:extLst>
          </p:cNvPr>
          <p:cNvSpPr txBox="1"/>
          <p:nvPr/>
        </p:nvSpPr>
        <p:spPr>
          <a:xfrm>
            <a:off x="2436208" y="4086916"/>
            <a:ext cx="1592740" cy="1477328"/>
          </a:xfrm>
          <a:prstGeom prst="rect">
            <a:avLst/>
          </a:prstGeom>
          <a:noFill/>
        </p:spPr>
        <p:txBody>
          <a:bodyPr wrap="square" lIns="0" tIns="0" rIns="0" bIns="0" anchor="t">
            <a:spAutoFit/>
          </a:bodyPr>
          <a:lstStyle/>
          <a:p>
            <a:pPr algn="ctr"/>
            <a:r>
              <a:rPr lang="en-US" sz="9600" dirty="0">
                <a:solidFill>
                  <a:schemeClr val="accent2">
                    <a:lumMod val="20000"/>
                    <a:lumOff val="80000"/>
                  </a:schemeClr>
                </a:solidFill>
                <a:latin typeface="Google Sans Flex SemiBold"/>
              </a:rPr>
              <a:t>01</a:t>
            </a:r>
            <a:endParaRPr lang="en-US" sz="9600" dirty="0">
              <a:solidFill>
                <a:schemeClr val="accent2">
                  <a:lumMod val="20000"/>
                  <a:lumOff val="80000"/>
                </a:schemeClr>
              </a:solidFill>
              <a:latin typeface="Google Sans Flex Light"/>
            </a:endParaRPr>
          </a:p>
        </p:txBody>
      </p:sp>
      <p:sp>
        <p:nvSpPr>
          <p:cNvPr id="44" name="!!title">
            <a:extLst>
              <a:ext uri="{FF2B5EF4-FFF2-40B4-BE49-F238E27FC236}">
                <a16:creationId xmlns:a16="http://schemas.microsoft.com/office/drawing/2014/main" id="{FA010724-FEC2-FE4D-F2A8-4CE76F04965B}"/>
              </a:ext>
            </a:extLst>
          </p:cNvPr>
          <p:cNvSpPr txBox="1"/>
          <p:nvPr/>
        </p:nvSpPr>
        <p:spPr>
          <a:xfrm>
            <a:off x="4698145" y="2723911"/>
            <a:ext cx="1592740" cy="1477328"/>
          </a:xfrm>
          <a:prstGeom prst="rect">
            <a:avLst/>
          </a:prstGeom>
          <a:noFill/>
        </p:spPr>
        <p:txBody>
          <a:bodyPr wrap="square" lIns="0" tIns="0" rIns="0" bIns="0" anchor="t">
            <a:spAutoFit/>
          </a:bodyPr>
          <a:lstStyle/>
          <a:p>
            <a:pPr algn="ctr"/>
            <a:r>
              <a:rPr lang="en-US" sz="9600" dirty="0">
                <a:solidFill>
                  <a:schemeClr val="accent2">
                    <a:lumMod val="20000"/>
                    <a:lumOff val="80000"/>
                  </a:schemeClr>
                </a:solidFill>
                <a:latin typeface="Google Sans Flex SemiBold"/>
              </a:rPr>
              <a:t>02</a:t>
            </a:r>
            <a:endParaRPr lang="en-US" sz="9600" dirty="0">
              <a:solidFill>
                <a:schemeClr val="accent2">
                  <a:lumMod val="20000"/>
                  <a:lumOff val="80000"/>
                </a:schemeClr>
              </a:solidFill>
              <a:latin typeface="Google Sans Flex Light"/>
            </a:endParaRPr>
          </a:p>
        </p:txBody>
      </p:sp>
      <p:sp>
        <p:nvSpPr>
          <p:cNvPr id="45" name="!!title">
            <a:extLst>
              <a:ext uri="{FF2B5EF4-FFF2-40B4-BE49-F238E27FC236}">
                <a16:creationId xmlns:a16="http://schemas.microsoft.com/office/drawing/2014/main" id="{4CED3999-4B44-987A-400F-83350AB3CFCD}"/>
              </a:ext>
            </a:extLst>
          </p:cNvPr>
          <p:cNvSpPr txBox="1"/>
          <p:nvPr/>
        </p:nvSpPr>
        <p:spPr>
          <a:xfrm>
            <a:off x="9515696" y="3938043"/>
            <a:ext cx="1592740" cy="1477328"/>
          </a:xfrm>
          <a:prstGeom prst="rect">
            <a:avLst/>
          </a:prstGeom>
          <a:noFill/>
        </p:spPr>
        <p:txBody>
          <a:bodyPr wrap="square" lIns="0" tIns="0" rIns="0" bIns="0" anchor="t">
            <a:spAutoFit/>
          </a:bodyPr>
          <a:lstStyle/>
          <a:p>
            <a:pPr algn="ctr"/>
            <a:r>
              <a:rPr lang="en-US" sz="9600" dirty="0">
                <a:solidFill>
                  <a:schemeClr val="accent2">
                    <a:lumMod val="20000"/>
                    <a:lumOff val="80000"/>
                  </a:schemeClr>
                </a:solidFill>
                <a:latin typeface="Google Sans Flex SemiBold"/>
              </a:rPr>
              <a:t>03</a:t>
            </a:r>
            <a:endParaRPr lang="en-US" sz="9600" dirty="0">
              <a:solidFill>
                <a:schemeClr val="accent2">
                  <a:lumMod val="20000"/>
                  <a:lumOff val="80000"/>
                </a:schemeClr>
              </a:solidFill>
              <a:latin typeface="Google Sans Flex Light"/>
            </a:endParaRPr>
          </a:p>
        </p:txBody>
      </p:sp>
      <p:sp>
        <p:nvSpPr>
          <p:cNvPr id="48" name="!!title">
            <a:extLst>
              <a:ext uri="{FF2B5EF4-FFF2-40B4-BE49-F238E27FC236}">
                <a16:creationId xmlns:a16="http://schemas.microsoft.com/office/drawing/2014/main" id="{D6E07F96-E516-980D-10DE-FFEEC747A995}"/>
              </a:ext>
            </a:extLst>
          </p:cNvPr>
          <p:cNvSpPr txBox="1"/>
          <p:nvPr/>
        </p:nvSpPr>
        <p:spPr>
          <a:xfrm>
            <a:off x="1737342" y="1474709"/>
            <a:ext cx="8449598" cy="553998"/>
          </a:xfrm>
          <a:prstGeom prst="rect">
            <a:avLst/>
          </a:prstGeom>
          <a:noFill/>
        </p:spPr>
        <p:txBody>
          <a:bodyPr wrap="square" lIns="0" tIns="0" rIns="0" bIns="0" anchor="t">
            <a:spAutoFit/>
          </a:bodyPr>
          <a:lstStyle/>
          <a:p>
            <a:r>
              <a:rPr lang="en-GB" sz="3600" spc="20" dirty="0">
                <a:latin typeface="Google Sans Flex ExtraBold" panose="020B0503030502040204" pitchFamily="34" charset="0"/>
                <a:ea typeface="Google Sans Flex ExtraBold" panose="020B0503030502040204" pitchFamily="34" charset="0"/>
                <a:cs typeface="Google Sans Flex ExtraBold" panose="020B0503030502040204" pitchFamily="34" charset="0"/>
              </a:rPr>
              <a:t>Ground Operations</a:t>
            </a:r>
            <a:endParaRPr sz="3600" spc="20" dirty="0">
              <a:latin typeface="Google Sans Flex ExtraBold" panose="020B0503030502040204" pitchFamily="34" charset="0"/>
              <a:ea typeface="Google Sans Flex ExtraBold" panose="020B0503030502040204" pitchFamily="34" charset="0"/>
              <a:cs typeface="Google Sans Flex ExtraBold" panose="020B0503030502040204" pitchFamily="34" charset="0"/>
            </a:endParaRPr>
          </a:p>
        </p:txBody>
      </p:sp>
      <p:pic>
        <p:nvPicPr>
          <p:cNvPr id="50" name="Picture 49">
            <a:extLst>
              <a:ext uri="{FF2B5EF4-FFF2-40B4-BE49-F238E27FC236}">
                <a16:creationId xmlns:a16="http://schemas.microsoft.com/office/drawing/2014/main" id="{062C89FF-41CC-403C-65C7-E8F8003C27CB}"/>
              </a:ext>
            </a:extLst>
          </p:cNvPr>
          <p:cNvPicPr>
            <a:picLocks noChangeAspect="1"/>
          </p:cNvPicPr>
          <p:nvPr/>
        </p:nvPicPr>
        <p:blipFill>
          <a:blip r:embed="rId3">
            <a:extLst>
              <a:ext uri="{28A0092B-C50C-407E-A947-70E740481C1C}">
                <a14:useLocalDpi xmlns:a14="http://schemas.microsoft.com/office/drawing/2010/main" val="0"/>
              </a:ext>
            </a:extLst>
          </a:blip>
          <a:srcRect r="66475"/>
          <a:stretch>
            <a:fillRect/>
          </a:stretch>
        </p:blipFill>
        <p:spPr>
          <a:xfrm>
            <a:off x="0" y="-11027664"/>
            <a:ext cx="4087368" cy="6858000"/>
          </a:xfrm>
          <a:prstGeom prst="roundRect">
            <a:avLst>
              <a:gd name="adj" fmla="val 0"/>
            </a:avLst>
          </a:prstGeom>
        </p:spPr>
      </p:pic>
      <p:pic>
        <p:nvPicPr>
          <p:cNvPr id="52" name="Picture 51">
            <a:extLst>
              <a:ext uri="{FF2B5EF4-FFF2-40B4-BE49-F238E27FC236}">
                <a16:creationId xmlns:a16="http://schemas.microsoft.com/office/drawing/2014/main" id="{80533A7D-8194-2E3E-C197-24FE3DCED9F1}"/>
              </a:ext>
            </a:extLst>
          </p:cNvPr>
          <p:cNvPicPr>
            <a:picLocks noChangeAspect="1"/>
          </p:cNvPicPr>
          <p:nvPr/>
        </p:nvPicPr>
        <p:blipFill>
          <a:blip r:embed="rId3">
            <a:extLst>
              <a:ext uri="{28A0092B-C50C-407E-A947-70E740481C1C}">
                <a14:useLocalDpi xmlns:a14="http://schemas.microsoft.com/office/drawing/2010/main" val="0"/>
              </a:ext>
            </a:extLst>
          </a:blip>
          <a:srcRect l="33525" r="33550"/>
          <a:stretch>
            <a:fillRect/>
          </a:stretch>
        </p:blipFill>
        <p:spPr>
          <a:xfrm>
            <a:off x="4087368" y="-9509760"/>
            <a:ext cx="4014216" cy="6858000"/>
          </a:xfrm>
          <a:prstGeom prst="roundRect">
            <a:avLst>
              <a:gd name="adj" fmla="val 0"/>
            </a:avLst>
          </a:prstGeom>
        </p:spPr>
      </p:pic>
      <p:pic>
        <p:nvPicPr>
          <p:cNvPr id="54" name="Picture 53">
            <a:extLst>
              <a:ext uri="{FF2B5EF4-FFF2-40B4-BE49-F238E27FC236}">
                <a16:creationId xmlns:a16="http://schemas.microsoft.com/office/drawing/2014/main" id="{A47BC713-7279-2B97-0A1B-4112F0442A99}"/>
              </a:ext>
            </a:extLst>
          </p:cNvPr>
          <p:cNvPicPr>
            <a:picLocks noChangeAspect="1"/>
          </p:cNvPicPr>
          <p:nvPr/>
        </p:nvPicPr>
        <p:blipFill>
          <a:blip r:embed="rId3">
            <a:extLst>
              <a:ext uri="{28A0092B-C50C-407E-A947-70E740481C1C}">
                <a14:useLocalDpi xmlns:a14="http://schemas.microsoft.com/office/drawing/2010/main" val="0"/>
              </a:ext>
            </a:extLst>
          </a:blip>
          <a:srcRect l="66450"/>
          <a:stretch>
            <a:fillRect/>
          </a:stretch>
        </p:blipFill>
        <p:spPr>
          <a:xfrm>
            <a:off x="8101584" y="-8119872"/>
            <a:ext cx="4090416" cy="6858000"/>
          </a:xfrm>
          <a:prstGeom prst="roundRect">
            <a:avLst>
              <a:gd name="adj" fmla="val 0"/>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A066F05-8B53-8CEC-E33D-910BB65BF26E}"/>
              </a:ext>
            </a:extLst>
          </p:cNvPr>
          <p:cNvSpPr/>
          <p:nvPr/>
        </p:nvSpPr>
        <p:spPr>
          <a:xfrm>
            <a:off x="923544" y="11231813"/>
            <a:ext cx="3265424" cy="5340658"/>
          </a:xfrm>
          <a:prstGeom prst="roundRect">
            <a:avLst>
              <a:gd name="adj" fmla="val 689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E5D44020-9CB6-9CC5-FE14-99706A7275BE}"/>
              </a:ext>
            </a:extLst>
          </p:cNvPr>
          <p:cNvSpPr/>
          <p:nvPr/>
        </p:nvSpPr>
        <p:spPr>
          <a:xfrm>
            <a:off x="4463288" y="8904157"/>
            <a:ext cx="3265424" cy="5340658"/>
          </a:xfrm>
          <a:prstGeom prst="roundRect">
            <a:avLst>
              <a:gd name="adj" fmla="val 689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5F4884F8-768D-3EC4-E90A-48FEC6C4822F}"/>
              </a:ext>
            </a:extLst>
          </p:cNvPr>
          <p:cNvSpPr/>
          <p:nvPr/>
        </p:nvSpPr>
        <p:spPr>
          <a:xfrm>
            <a:off x="8003032" y="7185885"/>
            <a:ext cx="3265424" cy="5340658"/>
          </a:xfrm>
          <a:prstGeom prst="roundRect">
            <a:avLst>
              <a:gd name="adj" fmla="val 689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O_animation">
            <a:hlinkClick r:id="" action="ppaction://media"/>
            <a:extLst>
              <a:ext uri="{FF2B5EF4-FFF2-40B4-BE49-F238E27FC236}">
                <a16:creationId xmlns:a16="http://schemas.microsoft.com/office/drawing/2014/main" id="{77785CCD-0529-4387-6CB9-7406F9F89142}"/>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2697" t="16400" r="2393" b="22825"/>
          <a:stretch>
            <a:fillRect/>
          </a:stretch>
        </p:blipFill>
        <p:spPr>
          <a:xfrm>
            <a:off x="1407519" y="1602788"/>
            <a:ext cx="9338463" cy="3363671"/>
          </a:xfrm>
          <a:prstGeom prst="rect">
            <a:avLst/>
          </a:prstGeom>
        </p:spPr>
      </p:pic>
      <p:sp>
        <p:nvSpPr>
          <p:cNvPr id="7" name="!!title">
            <a:extLst>
              <a:ext uri="{FF2B5EF4-FFF2-40B4-BE49-F238E27FC236}">
                <a16:creationId xmlns:a16="http://schemas.microsoft.com/office/drawing/2014/main" id="{32829FB5-DEE9-10D7-8B30-12A760909E46}"/>
              </a:ext>
            </a:extLst>
          </p:cNvPr>
          <p:cNvSpPr txBox="1"/>
          <p:nvPr/>
        </p:nvSpPr>
        <p:spPr>
          <a:xfrm>
            <a:off x="2013063" y="2921169"/>
            <a:ext cx="8449598" cy="1015663"/>
          </a:xfrm>
          <a:prstGeom prst="rect">
            <a:avLst/>
          </a:prstGeom>
          <a:noFill/>
        </p:spPr>
        <p:txBody>
          <a:bodyPr wrap="square" lIns="0" tIns="0" rIns="0" bIns="0" anchor="t">
            <a:spAutoFit/>
          </a:bodyPr>
          <a:lstStyle/>
          <a:p>
            <a:r>
              <a:rPr lang="en-GB" sz="6600" spc="20" dirty="0">
                <a:latin typeface="Google Sans Flex ExtraBold" panose="020B0503030502040204" pitchFamily="34" charset="0"/>
                <a:ea typeface="Google Sans Flex ExtraBold" panose="020B0503030502040204" pitchFamily="34" charset="0"/>
                <a:cs typeface="Google Sans Flex ExtraBold" panose="020B0503030502040204" pitchFamily="34" charset="0"/>
              </a:rPr>
              <a:t>Ground Operations</a:t>
            </a:r>
            <a:endParaRPr sz="6600" spc="20" dirty="0">
              <a:latin typeface="Google Sans Flex ExtraBold" panose="020B0503030502040204" pitchFamily="34" charset="0"/>
              <a:ea typeface="Google Sans Flex ExtraBold" panose="020B0503030502040204" pitchFamily="34" charset="0"/>
              <a:cs typeface="Google Sans Flex ExtraBold" panose="020B0503030502040204" pitchFamily="34" charset="0"/>
            </a:endParaRPr>
          </a:p>
        </p:txBody>
      </p:sp>
      <p:sp>
        <p:nvSpPr>
          <p:cNvPr id="6" name="Title 1">
            <a:extLst>
              <a:ext uri="{FF2B5EF4-FFF2-40B4-BE49-F238E27FC236}">
                <a16:creationId xmlns:a16="http://schemas.microsoft.com/office/drawing/2014/main" id="{8CA3756F-8CFD-A0AE-038F-0DADEA23C7C8}"/>
              </a:ext>
            </a:extLst>
          </p:cNvPr>
          <p:cNvSpPr txBox="1">
            <a:spLocks/>
          </p:cNvSpPr>
          <p:nvPr/>
        </p:nvSpPr>
        <p:spPr>
          <a:xfrm>
            <a:off x="-2944017" y="3232922"/>
            <a:ext cx="2699176" cy="3866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950" dirty="0">
                <a:latin typeface="Google Sans Flex" panose="020B0503030502040204" pitchFamily="34" charset="0"/>
                <a:ea typeface="Google Sans Flex" panose="020B0503030502040204" pitchFamily="34" charset="0"/>
                <a:cs typeface="Google Sans Flex" panose="020B0503030502040204" pitchFamily="34" charset="0"/>
              </a:rPr>
              <a:t>WayPoint  |</a:t>
            </a:r>
            <a:endParaRPr lang="en-US" sz="3950" dirty="0">
              <a:latin typeface="Google Sans Flex" panose="020B0503030502040204" pitchFamily="34" charset="0"/>
              <a:ea typeface="Google Sans Flex" panose="020B0503030502040204" pitchFamily="34" charset="0"/>
              <a:cs typeface="Google Sans Flex" panose="020B0503030502040204" pitchFamily="34" charset="0"/>
            </a:endParaRPr>
          </a:p>
        </p:txBody>
      </p:sp>
      <p:sp>
        <p:nvSpPr>
          <p:cNvPr id="17" name="!!prob0-head">
            <a:extLst>
              <a:ext uri="{FF2B5EF4-FFF2-40B4-BE49-F238E27FC236}">
                <a16:creationId xmlns:a16="http://schemas.microsoft.com/office/drawing/2014/main" id="{2E66DF67-DBE5-F5B1-A8FE-5D69F91AAF97}"/>
              </a:ext>
            </a:extLst>
          </p:cNvPr>
          <p:cNvSpPr txBox="1"/>
          <p:nvPr/>
        </p:nvSpPr>
        <p:spPr>
          <a:xfrm>
            <a:off x="1243584" y="11942077"/>
            <a:ext cx="2762504" cy="1188720"/>
          </a:xfrm>
          <a:prstGeom prst="rect">
            <a:avLst/>
          </a:prstGeom>
          <a:noFill/>
        </p:spPr>
        <p:txBody>
          <a:bodyPr wrap="square" lIns="0" tIns="0" rIns="0" bIns="0" anchor="t"/>
          <a:lstStyle/>
          <a:p>
            <a:pPr>
              <a:lnSpc>
                <a:spcPct val="105000"/>
              </a:lnSpc>
            </a:pPr>
            <a:r>
              <a:rPr lang="en-US" sz="2200" dirty="0">
                <a:latin typeface="Google Sans Flex SemiBold"/>
              </a:rPr>
              <a:t>Vehicle Shortage</a:t>
            </a:r>
          </a:p>
        </p:txBody>
      </p:sp>
      <p:sp>
        <p:nvSpPr>
          <p:cNvPr id="19" name="!!prob0-sub">
            <a:extLst>
              <a:ext uri="{FF2B5EF4-FFF2-40B4-BE49-F238E27FC236}">
                <a16:creationId xmlns:a16="http://schemas.microsoft.com/office/drawing/2014/main" id="{8CC3EC1E-BDA8-0D0D-3E2E-4E38CEAC2D1A}"/>
              </a:ext>
            </a:extLst>
          </p:cNvPr>
          <p:cNvSpPr txBox="1"/>
          <p:nvPr/>
        </p:nvSpPr>
        <p:spPr>
          <a:xfrm>
            <a:off x="1243584" y="13486168"/>
            <a:ext cx="2625344" cy="640080"/>
          </a:xfrm>
          <a:prstGeom prst="rect">
            <a:avLst/>
          </a:prstGeom>
          <a:noFill/>
        </p:spPr>
        <p:txBody>
          <a:bodyPr wrap="square" lIns="0" tIns="0" rIns="0" bIns="0" anchor="t"/>
          <a:lstStyle/>
          <a:p>
            <a:pPr>
              <a:lnSpc>
                <a:spcPct val="105000"/>
              </a:lnSpc>
            </a:pPr>
            <a:r>
              <a:rPr lang="en-US" sz="1600" dirty="0">
                <a:solidFill>
                  <a:srgbClr val="6B7A72"/>
                </a:solidFill>
                <a:latin typeface="Google Sans Flex Light"/>
              </a:rPr>
              <a:t>On peak days, there are more orders than vehicles</a:t>
            </a:r>
          </a:p>
        </p:txBody>
      </p:sp>
      <p:sp>
        <p:nvSpPr>
          <p:cNvPr id="23" name="!!prob1-head">
            <a:extLst>
              <a:ext uri="{FF2B5EF4-FFF2-40B4-BE49-F238E27FC236}">
                <a16:creationId xmlns:a16="http://schemas.microsoft.com/office/drawing/2014/main" id="{47B98870-AE6B-936E-24C6-442B93B47775}"/>
              </a:ext>
            </a:extLst>
          </p:cNvPr>
          <p:cNvSpPr txBox="1"/>
          <p:nvPr/>
        </p:nvSpPr>
        <p:spPr>
          <a:xfrm>
            <a:off x="4783328" y="11231813"/>
            <a:ext cx="2625344" cy="1188720"/>
          </a:xfrm>
          <a:prstGeom prst="rect">
            <a:avLst/>
          </a:prstGeom>
          <a:noFill/>
        </p:spPr>
        <p:txBody>
          <a:bodyPr wrap="square" lIns="0" tIns="0" rIns="0" bIns="0" anchor="t"/>
          <a:lstStyle/>
          <a:p>
            <a:pPr>
              <a:lnSpc>
                <a:spcPct val="105000"/>
              </a:lnSpc>
            </a:pPr>
            <a:r>
              <a:rPr lang="en-US" sz="2200" dirty="0">
                <a:latin typeface="Google Sans Flex SemiBold"/>
              </a:rPr>
              <a:t>Dispatcher Stress </a:t>
            </a:r>
          </a:p>
        </p:txBody>
      </p:sp>
      <p:sp>
        <p:nvSpPr>
          <p:cNvPr id="25" name="!!prob1-sub">
            <a:extLst>
              <a:ext uri="{FF2B5EF4-FFF2-40B4-BE49-F238E27FC236}">
                <a16:creationId xmlns:a16="http://schemas.microsoft.com/office/drawing/2014/main" id="{19CFBD83-4139-18A6-4B00-90C7296FD795}"/>
              </a:ext>
            </a:extLst>
          </p:cNvPr>
          <p:cNvSpPr txBox="1"/>
          <p:nvPr/>
        </p:nvSpPr>
        <p:spPr>
          <a:xfrm>
            <a:off x="4783328" y="12883736"/>
            <a:ext cx="2625344" cy="640080"/>
          </a:xfrm>
          <a:prstGeom prst="rect">
            <a:avLst/>
          </a:prstGeom>
          <a:noFill/>
        </p:spPr>
        <p:txBody>
          <a:bodyPr wrap="square" lIns="0" tIns="0" rIns="0" bIns="0" anchor="t"/>
          <a:lstStyle/>
          <a:p>
            <a:pPr>
              <a:lnSpc>
                <a:spcPct val="105000"/>
              </a:lnSpc>
            </a:pPr>
            <a:r>
              <a:rPr lang="en-US" sz="1600" dirty="0">
                <a:solidFill>
                  <a:srgbClr val="6B7A72"/>
                </a:solidFill>
                <a:latin typeface="Google Sans Flex Light"/>
              </a:rPr>
              <a:t>One dispatcher, up to 120 trips a day</a:t>
            </a:r>
          </a:p>
        </p:txBody>
      </p:sp>
      <p:sp>
        <p:nvSpPr>
          <p:cNvPr id="29" name="!!prob2-head">
            <a:extLst>
              <a:ext uri="{FF2B5EF4-FFF2-40B4-BE49-F238E27FC236}">
                <a16:creationId xmlns:a16="http://schemas.microsoft.com/office/drawing/2014/main" id="{7DF3260C-4DF2-EC73-E7E1-60B433747251}"/>
              </a:ext>
            </a:extLst>
          </p:cNvPr>
          <p:cNvSpPr txBox="1"/>
          <p:nvPr/>
        </p:nvSpPr>
        <p:spPr>
          <a:xfrm>
            <a:off x="8323072" y="7793173"/>
            <a:ext cx="2625344" cy="1188720"/>
          </a:xfrm>
          <a:prstGeom prst="rect">
            <a:avLst/>
          </a:prstGeom>
          <a:noFill/>
        </p:spPr>
        <p:txBody>
          <a:bodyPr wrap="square" lIns="0" tIns="0" rIns="0" bIns="0" anchor="t"/>
          <a:lstStyle/>
          <a:p>
            <a:pPr>
              <a:lnSpc>
                <a:spcPct val="105000"/>
              </a:lnSpc>
            </a:pPr>
            <a:r>
              <a:rPr lang="en-US" sz="2200" dirty="0">
                <a:latin typeface="Google Sans Flex SemiBold"/>
              </a:rPr>
              <a:t>Poor Coordination</a:t>
            </a:r>
          </a:p>
        </p:txBody>
      </p:sp>
      <p:sp>
        <p:nvSpPr>
          <p:cNvPr id="31" name="!!prob2-sub">
            <a:extLst>
              <a:ext uri="{FF2B5EF4-FFF2-40B4-BE49-F238E27FC236}">
                <a16:creationId xmlns:a16="http://schemas.microsoft.com/office/drawing/2014/main" id="{E4E5E22E-0860-81C6-9307-0743A436DDDC}"/>
              </a:ext>
            </a:extLst>
          </p:cNvPr>
          <p:cNvSpPr txBox="1"/>
          <p:nvPr/>
        </p:nvSpPr>
        <p:spPr>
          <a:xfrm>
            <a:off x="8323072" y="9241649"/>
            <a:ext cx="2625344" cy="640080"/>
          </a:xfrm>
          <a:prstGeom prst="rect">
            <a:avLst/>
          </a:prstGeom>
          <a:noFill/>
        </p:spPr>
        <p:txBody>
          <a:bodyPr wrap="square" lIns="0" tIns="0" rIns="0" bIns="0" anchor="t"/>
          <a:lstStyle/>
          <a:p>
            <a:pPr>
              <a:lnSpc>
                <a:spcPct val="105000"/>
              </a:lnSpc>
            </a:pPr>
            <a:r>
              <a:rPr lang="en-US" sz="1600" dirty="0">
                <a:solidFill>
                  <a:srgbClr val="6B7A72"/>
                </a:solidFill>
                <a:latin typeface="Google Sans Flex Light"/>
              </a:rPr>
              <a:t>One late van starts a chain of phone calls</a:t>
            </a:r>
          </a:p>
        </p:txBody>
      </p:sp>
      <p:sp>
        <p:nvSpPr>
          <p:cNvPr id="33" name="!!title">
            <a:extLst>
              <a:ext uri="{FF2B5EF4-FFF2-40B4-BE49-F238E27FC236}">
                <a16:creationId xmlns:a16="http://schemas.microsoft.com/office/drawing/2014/main" id="{74AB4C48-F11E-19F2-9CEE-5BAE78A92F8F}"/>
              </a:ext>
            </a:extLst>
          </p:cNvPr>
          <p:cNvSpPr txBox="1"/>
          <p:nvPr/>
        </p:nvSpPr>
        <p:spPr>
          <a:xfrm>
            <a:off x="2436208" y="14613039"/>
            <a:ext cx="1592740" cy="1477328"/>
          </a:xfrm>
          <a:prstGeom prst="rect">
            <a:avLst/>
          </a:prstGeom>
          <a:noFill/>
        </p:spPr>
        <p:txBody>
          <a:bodyPr wrap="square" lIns="0" tIns="0" rIns="0" bIns="0" anchor="t">
            <a:spAutoFit/>
          </a:bodyPr>
          <a:lstStyle/>
          <a:p>
            <a:pPr algn="ctr"/>
            <a:r>
              <a:rPr lang="en-US" sz="9600" dirty="0">
                <a:solidFill>
                  <a:schemeClr val="accent2">
                    <a:lumMod val="20000"/>
                    <a:lumOff val="80000"/>
                  </a:schemeClr>
                </a:solidFill>
                <a:latin typeface="Google Sans Flex SemiBold"/>
              </a:rPr>
              <a:t>01</a:t>
            </a:r>
            <a:endParaRPr lang="en-US" sz="9600" dirty="0">
              <a:solidFill>
                <a:schemeClr val="accent2">
                  <a:lumMod val="20000"/>
                  <a:lumOff val="80000"/>
                </a:schemeClr>
              </a:solidFill>
              <a:latin typeface="Google Sans Flex Light"/>
            </a:endParaRPr>
          </a:p>
        </p:txBody>
      </p:sp>
      <p:sp>
        <p:nvSpPr>
          <p:cNvPr id="35" name="!!title">
            <a:extLst>
              <a:ext uri="{FF2B5EF4-FFF2-40B4-BE49-F238E27FC236}">
                <a16:creationId xmlns:a16="http://schemas.microsoft.com/office/drawing/2014/main" id="{F995D152-5639-270F-D675-C4A83D10688C}"/>
              </a:ext>
            </a:extLst>
          </p:cNvPr>
          <p:cNvSpPr txBox="1"/>
          <p:nvPr/>
        </p:nvSpPr>
        <p:spPr>
          <a:xfrm>
            <a:off x="4698145" y="9454685"/>
            <a:ext cx="1592740" cy="1477328"/>
          </a:xfrm>
          <a:prstGeom prst="rect">
            <a:avLst/>
          </a:prstGeom>
          <a:noFill/>
        </p:spPr>
        <p:txBody>
          <a:bodyPr wrap="square" lIns="0" tIns="0" rIns="0" bIns="0" anchor="t">
            <a:spAutoFit/>
          </a:bodyPr>
          <a:lstStyle/>
          <a:p>
            <a:pPr algn="ctr"/>
            <a:r>
              <a:rPr lang="en-US" sz="9600" dirty="0">
                <a:solidFill>
                  <a:schemeClr val="accent2">
                    <a:lumMod val="20000"/>
                    <a:lumOff val="80000"/>
                  </a:schemeClr>
                </a:solidFill>
                <a:latin typeface="Google Sans Flex SemiBold"/>
              </a:rPr>
              <a:t>02</a:t>
            </a:r>
            <a:endParaRPr lang="en-US" sz="9600" dirty="0">
              <a:solidFill>
                <a:schemeClr val="accent2">
                  <a:lumMod val="20000"/>
                  <a:lumOff val="80000"/>
                </a:schemeClr>
              </a:solidFill>
              <a:latin typeface="Google Sans Flex Light"/>
            </a:endParaRPr>
          </a:p>
        </p:txBody>
      </p:sp>
      <p:sp>
        <p:nvSpPr>
          <p:cNvPr id="37" name="!!title">
            <a:extLst>
              <a:ext uri="{FF2B5EF4-FFF2-40B4-BE49-F238E27FC236}">
                <a16:creationId xmlns:a16="http://schemas.microsoft.com/office/drawing/2014/main" id="{3262E9DC-BFF0-1316-04FA-973EB5427D1A}"/>
              </a:ext>
            </a:extLst>
          </p:cNvPr>
          <p:cNvSpPr txBox="1"/>
          <p:nvPr/>
        </p:nvSpPr>
        <p:spPr>
          <a:xfrm>
            <a:off x="9515696" y="10519550"/>
            <a:ext cx="1592740" cy="1477328"/>
          </a:xfrm>
          <a:prstGeom prst="rect">
            <a:avLst/>
          </a:prstGeom>
          <a:noFill/>
        </p:spPr>
        <p:txBody>
          <a:bodyPr wrap="square" lIns="0" tIns="0" rIns="0" bIns="0" anchor="t">
            <a:spAutoFit/>
          </a:bodyPr>
          <a:lstStyle/>
          <a:p>
            <a:pPr algn="ctr"/>
            <a:r>
              <a:rPr lang="en-US" sz="9600" dirty="0">
                <a:solidFill>
                  <a:schemeClr val="accent2">
                    <a:lumMod val="20000"/>
                    <a:lumOff val="80000"/>
                  </a:schemeClr>
                </a:solidFill>
                <a:latin typeface="Google Sans Flex SemiBold"/>
              </a:rPr>
              <a:t>03</a:t>
            </a:r>
            <a:endParaRPr lang="en-US" sz="9600" dirty="0">
              <a:solidFill>
                <a:schemeClr val="accent2">
                  <a:lumMod val="20000"/>
                  <a:lumOff val="80000"/>
                </a:schemeClr>
              </a:solidFill>
              <a:latin typeface="Google Sans Flex Light"/>
            </a:endParaRPr>
          </a:p>
        </p:txBody>
      </p:sp>
      <p:sp>
        <p:nvSpPr>
          <p:cNvPr id="40" name="!!title">
            <a:extLst>
              <a:ext uri="{FF2B5EF4-FFF2-40B4-BE49-F238E27FC236}">
                <a16:creationId xmlns:a16="http://schemas.microsoft.com/office/drawing/2014/main" id="{374C3DB0-E70F-23F8-A35B-532F69CDDF52}"/>
              </a:ext>
            </a:extLst>
          </p:cNvPr>
          <p:cNvSpPr txBox="1"/>
          <p:nvPr/>
        </p:nvSpPr>
        <p:spPr>
          <a:xfrm>
            <a:off x="923544" y="-1749819"/>
            <a:ext cx="6622662" cy="1107996"/>
          </a:xfrm>
          <a:prstGeom prst="rect">
            <a:avLst/>
          </a:prstGeom>
          <a:noFill/>
        </p:spPr>
        <p:txBody>
          <a:bodyPr wrap="square" lIns="0" tIns="0" rIns="0" bIns="0" anchor="t">
            <a:spAutoFit/>
          </a:bodyPr>
          <a:lstStyle/>
          <a:p>
            <a:pPr algn="l"/>
            <a:r>
              <a:rPr sz="3600" dirty="0">
                <a:solidFill>
                  <a:srgbClr val="00B050"/>
                </a:solidFill>
                <a:latin typeface="Google Sans Flex SemiBold"/>
              </a:rPr>
              <a:t>Three problems</a:t>
            </a:r>
            <a:r>
              <a:rPr sz="3600" dirty="0">
                <a:latin typeface="Google Sans Flex Light"/>
              </a:rPr>
              <a:t> we found on the</a:t>
            </a:r>
          </a:p>
        </p:txBody>
      </p:sp>
      <p:pic>
        <p:nvPicPr>
          <p:cNvPr id="11" name="GO_animation" descr="GO logo (last frame of animation)">
            <a:extLst>
              <a:ext uri="{FF2B5EF4-FFF2-40B4-BE49-F238E27FC236}">
                <a16:creationId xmlns:a16="http://schemas.microsoft.com/office/drawing/2014/main" id="{5D3C92B7-F6F6-043D-02C8-3E7D843BE285}"/>
              </a:ext>
            </a:extLst>
          </p:cNvPr>
          <p:cNvPicPr>
            <a:picLocks noChangeAspect="1"/>
          </p:cNvPicPr>
          <p:nvPr/>
        </p:nvPicPr>
        <p:blipFill>
          <a:blip r:embed="rId6"/>
          <a:srcRect l="2697" t="16400" r="2393" b="22825"/>
          <a:stretch>
            <a:fillRect/>
          </a:stretch>
        </p:blipFill>
        <p:spPr>
          <a:xfrm>
            <a:off x="2896497" y="1571002"/>
            <a:ext cx="9338463" cy="3363671"/>
          </a:xfrm>
          <a:prstGeom prst="rect">
            <a:avLst/>
          </a:prstGeom>
        </p:spPr>
      </p:pic>
      <p:sp>
        <p:nvSpPr>
          <p:cNvPr id="13" name="WayPoint Label">
            <a:extLst>
              <a:ext uri="{FF2B5EF4-FFF2-40B4-BE49-F238E27FC236}">
                <a16:creationId xmlns:a16="http://schemas.microsoft.com/office/drawing/2014/main" id="{25FB2785-687F-37E2-B45F-E943FFC186B2}"/>
              </a:ext>
            </a:extLst>
          </p:cNvPr>
          <p:cNvSpPr txBox="1">
            <a:spLocks/>
          </p:cNvSpPr>
          <p:nvPr/>
        </p:nvSpPr>
        <p:spPr>
          <a:xfrm>
            <a:off x="4145763" y="3236056"/>
            <a:ext cx="2699176" cy="3866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950" dirty="0">
                <a:latin typeface="Google Sans Flex" panose="020B0503030502040204" pitchFamily="34" charset="0"/>
                <a:ea typeface="Google Sans Flex" panose="020B0503030502040204" pitchFamily="34" charset="0"/>
                <a:cs typeface="Google Sans Flex" panose="020B0503030502040204" pitchFamily="34" charset="0"/>
              </a:rPr>
              <a:t>WayPoint  |</a:t>
            </a:r>
            <a:endParaRPr lang="en-US" sz="3950" dirty="0">
              <a:latin typeface="Google Sans Flex" panose="020B0503030502040204" pitchFamily="34" charset="0"/>
              <a:ea typeface="Google Sans Flex" panose="020B0503030502040204" pitchFamily="34" charset="0"/>
              <a:cs typeface="Google Sans Flex" panose="020B0503030502040204" pitchFamily="34" charset="0"/>
            </a:endParaRPr>
          </a:p>
        </p:txBody>
      </p:sp>
      <p:pic>
        <p:nvPicPr>
          <p:cNvPr id="16" name="Picture 15">
            <a:extLst>
              <a:ext uri="{FF2B5EF4-FFF2-40B4-BE49-F238E27FC236}">
                <a16:creationId xmlns:a16="http://schemas.microsoft.com/office/drawing/2014/main" id="{E4EA7187-B03D-2A56-2A21-90BECEE1A35F}"/>
              </a:ext>
            </a:extLst>
          </p:cNvPr>
          <p:cNvPicPr>
            <a:picLocks noChangeAspect="1"/>
          </p:cNvPicPr>
          <p:nvPr/>
        </p:nvPicPr>
        <p:blipFill>
          <a:blip r:embed="rId7">
            <a:extLst>
              <a:ext uri="{28A0092B-C50C-407E-A947-70E740481C1C}">
                <a14:useLocalDpi xmlns:a14="http://schemas.microsoft.com/office/drawing/2010/main" val="0"/>
              </a:ext>
            </a:extLst>
          </a:blip>
          <a:srcRect l="33095" r="40609" b="33159"/>
          <a:stretch>
            <a:fillRect/>
          </a:stretch>
        </p:blipFill>
        <p:spPr>
          <a:xfrm>
            <a:off x="4231796" y="16438683"/>
            <a:ext cx="932094" cy="4244817"/>
          </a:xfrm>
          <a:prstGeom prst="rect">
            <a:avLst/>
          </a:prstGeom>
        </p:spPr>
      </p:pic>
      <p:pic>
        <p:nvPicPr>
          <p:cNvPr id="18" name="Picture 17">
            <a:extLst>
              <a:ext uri="{FF2B5EF4-FFF2-40B4-BE49-F238E27FC236}">
                <a16:creationId xmlns:a16="http://schemas.microsoft.com/office/drawing/2014/main" id="{A7E31668-078A-143E-7BE3-F530E55CDE50}"/>
              </a:ext>
            </a:extLst>
          </p:cNvPr>
          <p:cNvPicPr>
            <a:picLocks noChangeAspect="1"/>
          </p:cNvPicPr>
          <p:nvPr/>
        </p:nvPicPr>
        <p:blipFill>
          <a:blip r:embed="rId8">
            <a:extLst>
              <a:ext uri="{28A0092B-C50C-407E-A947-70E740481C1C}">
                <a14:useLocalDpi xmlns:a14="http://schemas.microsoft.com/office/drawing/2010/main" val="0"/>
              </a:ext>
            </a:extLst>
          </a:blip>
          <a:srcRect l="30543" r="52788"/>
          <a:stretch>
            <a:fillRect/>
          </a:stretch>
        </p:blipFill>
        <p:spPr>
          <a:xfrm>
            <a:off x="5174258" y="15066972"/>
            <a:ext cx="921732" cy="4128655"/>
          </a:xfrm>
          <a:prstGeom prst="rect">
            <a:avLst/>
          </a:prstGeom>
        </p:spPr>
      </p:pic>
      <p:pic>
        <p:nvPicPr>
          <p:cNvPr id="20" name="Picture 19">
            <a:extLst>
              <a:ext uri="{FF2B5EF4-FFF2-40B4-BE49-F238E27FC236}">
                <a16:creationId xmlns:a16="http://schemas.microsoft.com/office/drawing/2014/main" id="{1933E407-4B05-8144-1E4C-A0DA2C85650B}"/>
              </a:ext>
            </a:extLst>
          </p:cNvPr>
          <p:cNvPicPr>
            <a:picLocks noChangeAspect="1"/>
          </p:cNvPicPr>
          <p:nvPr/>
        </p:nvPicPr>
        <p:blipFill>
          <a:blip r:embed="rId9">
            <a:extLst>
              <a:ext uri="{28A0092B-C50C-407E-A947-70E740481C1C}">
                <a14:useLocalDpi xmlns:a14="http://schemas.microsoft.com/office/drawing/2010/main" val="0"/>
              </a:ext>
            </a:extLst>
          </a:blip>
          <a:srcRect l="47558" r="38108" b="5628"/>
          <a:stretch>
            <a:fillRect/>
          </a:stretch>
        </p:blipFill>
        <p:spPr>
          <a:xfrm>
            <a:off x="3307426" y="17947451"/>
            <a:ext cx="934732" cy="4128655"/>
          </a:xfrm>
          <a:prstGeom prst="rect">
            <a:avLst/>
          </a:prstGeom>
        </p:spPr>
      </p:pic>
      <p:pic>
        <p:nvPicPr>
          <p:cNvPr id="22" name="Picture 21">
            <a:extLst>
              <a:ext uri="{FF2B5EF4-FFF2-40B4-BE49-F238E27FC236}">
                <a16:creationId xmlns:a16="http://schemas.microsoft.com/office/drawing/2014/main" id="{6EA0B392-B90E-2246-1714-011BC370F61C}"/>
              </a:ext>
            </a:extLst>
          </p:cNvPr>
          <p:cNvPicPr>
            <a:picLocks noChangeAspect="1"/>
          </p:cNvPicPr>
          <p:nvPr/>
        </p:nvPicPr>
        <p:blipFill>
          <a:blip r:embed="rId10">
            <a:extLst>
              <a:ext uri="{28A0092B-C50C-407E-A947-70E740481C1C}">
                <a14:useLocalDpi xmlns:a14="http://schemas.microsoft.com/office/drawing/2010/main" val="0"/>
              </a:ext>
            </a:extLst>
          </a:blip>
          <a:srcRect l="19443" r="22283" b="21928"/>
          <a:stretch>
            <a:fillRect/>
          </a:stretch>
        </p:blipFill>
        <p:spPr>
          <a:xfrm>
            <a:off x="1069113" y="18086258"/>
            <a:ext cx="2230583" cy="5354187"/>
          </a:xfrm>
          <a:prstGeom prst="rect">
            <a:avLst/>
          </a:prstGeom>
        </p:spPr>
      </p:pic>
      <p:cxnSp>
        <p:nvCxnSpPr>
          <p:cNvPr id="24" name="Straight Connector 23">
            <a:extLst>
              <a:ext uri="{FF2B5EF4-FFF2-40B4-BE49-F238E27FC236}">
                <a16:creationId xmlns:a16="http://schemas.microsoft.com/office/drawing/2014/main" id="{098222C2-D168-B998-75C3-7BDE91DA1D35}"/>
              </a:ext>
            </a:extLst>
          </p:cNvPr>
          <p:cNvCxnSpPr>
            <a:cxnSpLocks/>
          </p:cNvCxnSpPr>
          <p:nvPr/>
        </p:nvCxnSpPr>
        <p:spPr>
          <a:xfrm>
            <a:off x="1069114" y="18739572"/>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79D924C-9972-C47F-2311-3DC557543ACF}"/>
              </a:ext>
            </a:extLst>
          </p:cNvPr>
          <p:cNvCxnSpPr>
            <a:cxnSpLocks/>
          </p:cNvCxnSpPr>
          <p:nvPr/>
        </p:nvCxnSpPr>
        <p:spPr>
          <a:xfrm>
            <a:off x="3299696" y="17375233"/>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F350BAE-CC1C-BDD8-948E-59EDA3BF8364}"/>
              </a:ext>
            </a:extLst>
          </p:cNvPr>
          <p:cNvCxnSpPr>
            <a:cxnSpLocks/>
          </p:cNvCxnSpPr>
          <p:nvPr/>
        </p:nvCxnSpPr>
        <p:spPr>
          <a:xfrm>
            <a:off x="4231797" y="15982628"/>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4F90D2D-0AFC-D008-E088-192E0687B01F}"/>
              </a:ext>
            </a:extLst>
          </p:cNvPr>
          <p:cNvCxnSpPr>
            <a:cxnSpLocks/>
          </p:cNvCxnSpPr>
          <p:nvPr/>
        </p:nvCxnSpPr>
        <p:spPr>
          <a:xfrm>
            <a:off x="5163898" y="14494755"/>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196E83-62CE-7294-ED16-B2DFBF1D57B0}"/>
              </a:ext>
            </a:extLst>
          </p:cNvPr>
          <p:cNvCxnSpPr>
            <a:cxnSpLocks/>
          </p:cNvCxnSpPr>
          <p:nvPr/>
        </p:nvCxnSpPr>
        <p:spPr>
          <a:xfrm>
            <a:off x="6096000" y="14494755"/>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sp>
        <p:nvSpPr>
          <p:cNvPr id="34" name="Title 1">
            <a:extLst>
              <a:ext uri="{FF2B5EF4-FFF2-40B4-BE49-F238E27FC236}">
                <a16:creationId xmlns:a16="http://schemas.microsoft.com/office/drawing/2014/main" id="{2FD02B01-3958-23C5-77CD-0DBBEF03EDAE}"/>
              </a:ext>
            </a:extLst>
          </p:cNvPr>
          <p:cNvSpPr txBox="1">
            <a:spLocks/>
          </p:cNvSpPr>
          <p:nvPr/>
        </p:nvSpPr>
        <p:spPr>
          <a:xfrm>
            <a:off x="925704" y="9282736"/>
            <a:ext cx="5698176" cy="1304036"/>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4 People One app,  </a:t>
            </a:r>
          </a:p>
          <a:p>
            <a:pPr algn="l"/>
            <a:r>
              <a:rPr lang="en-GB" sz="3600" dirty="0">
                <a:latin typeface="Google Sans Flex Light" panose="020B0503030502040204" pitchFamily="34" charset="0"/>
                <a:ea typeface="Google Sans Flex Light" panose="020B0503030502040204" pitchFamily="34" charset="0"/>
                <a:cs typeface="Google Sans Flex Light" panose="020B0503030502040204" pitchFamily="34" charset="0"/>
              </a:rPr>
              <a:t>Every Handoff on record</a:t>
            </a:r>
            <a:endParaRPr lang="en-US" sz="36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pic>
        <p:nvPicPr>
          <p:cNvPr id="45" name="[Picture 19]">
            <a:extLst>
              <a:ext uri="{FF2B5EF4-FFF2-40B4-BE49-F238E27FC236}">
                <a16:creationId xmlns:a16="http://schemas.microsoft.com/office/drawing/2014/main" id="{BA6F868F-20E6-937B-7C31-0BF0E971B829}"/>
              </a:ext>
            </a:extLst>
          </p:cNvPr>
          <p:cNvPicPr>
            <a:picLocks noChangeAspect="1"/>
          </p:cNvPicPr>
          <p:nvPr/>
        </p:nvPicPr>
        <p:blipFill>
          <a:blip r:embed="rId11">
            <a:extLst>
              <a:ext uri="{28A0092B-C50C-407E-A947-70E740481C1C}">
                <a14:useLocalDpi xmlns:a14="http://schemas.microsoft.com/office/drawing/2010/main" val="0"/>
              </a:ext>
            </a:extLst>
          </a:blip>
          <a:srcRect l="27958" t="8547" r="24471" b="6771"/>
          <a:stretch>
            <a:fillRect/>
          </a:stretch>
        </p:blipFill>
        <p:spPr>
          <a:xfrm flipH="1">
            <a:off x="7388580" y="11129426"/>
            <a:ext cx="3464543" cy="6167206"/>
          </a:xfrm>
          <a:prstGeom prst="rect">
            <a:avLst/>
          </a:prstGeom>
        </p:spPr>
      </p:pic>
    </p:spTree>
    <p:extLst>
      <p:ext uri="{BB962C8B-B14F-4D97-AF65-F5344CB8AC3E}">
        <p14:creationId xmlns:p14="http://schemas.microsoft.com/office/powerpoint/2010/main" val="1270210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xit" presetSubtype="0" fill="hold" grpId="0" nodeType="withEffect">
                                  <p:stCondLst>
                                    <p:cond delay="0"/>
                                  </p:stCondLst>
                                  <p:childTnLst>
                                    <p:animEffect transition="out" filter="fade">
                                      <p:cBhvr>
                                        <p:cTn id="9" dur="500"/>
                                        <p:tgtEl>
                                          <p:spTgt spid="7"/>
                                        </p:tgtEl>
                                      </p:cBhvr>
                                    </p:animEffect>
                                    <p:set>
                                      <p:cBhvr>
                                        <p:cTn id="10" dur="1" fill="hold">
                                          <p:stCondLst>
                                            <p:cond delay="499"/>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2516" fill="hold"/>
                                        <p:tgtEl>
                                          <p:spTgt spid="10"/>
                                        </p:tgtEl>
                                      </p:cBhvr>
                                    </p:cmd>
                                  </p:childTnLst>
                                </p:cTn>
                              </p:par>
                              <p:par>
                                <p:cTn id="15" presetID="63" presetClass="path" presetSubtype="0" accel="50000" decel="50000" fill="hold" nodeType="withEffect">
                                  <p:stCondLst>
                                    <p:cond delay="0"/>
                                  </p:stCondLst>
                                  <p:childTnLst>
                                    <p:animMotion origin="layout" path="M 2.5E-6 4.81481E-6 L 0.12213 -0.00463 " pathEditMode="relative" rAng="0" ptsTypes="AA">
                                      <p:cBhvr>
                                        <p:cTn id="16" dur="2000" fill="hold"/>
                                        <p:tgtEl>
                                          <p:spTgt spid="10"/>
                                        </p:tgtEl>
                                        <p:attrNameLst>
                                          <p:attrName>ppt_x</p:attrName>
                                          <p:attrName>ppt_y</p:attrName>
                                        </p:attrNameLst>
                                      </p:cBhvr>
                                      <p:rCtr x="6107" y="-231"/>
                                    </p:animMotion>
                                  </p:childTnLst>
                                </p:cTn>
                              </p:par>
                              <p:par>
                                <p:cTn id="17" presetID="63" presetClass="path" presetSubtype="0" accel="50000" decel="50000" fill="hold" grpId="0" nodeType="withEffect">
                                  <p:stCondLst>
                                    <p:cond delay="0"/>
                                  </p:stCondLst>
                                  <p:childTnLst>
                                    <p:animMotion origin="layout" path="M -8.33333E-7 2.96296E-6 L 0.58151 0.00046 " pathEditMode="relative" rAng="0" ptsTypes="AA">
                                      <p:cBhvr>
                                        <p:cTn id="18" dur="2000" fill="hold"/>
                                        <p:tgtEl>
                                          <p:spTgt spid="6"/>
                                        </p:tgtEl>
                                        <p:attrNameLst>
                                          <p:attrName>ppt_x</p:attrName>
                                          <p:attrName>ppt_y</p:attrName>
                                        </p:attrNameLst>
                                      </p:cBhvr>
                                      <p:rCtr x="29076" y="23"/>
                                    </p:animMotion>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0"/>
                                        </p:tgtEl>
                                        <p:attrNameLst>
                                          <p:attrName>style.visibility</p:attrName>
                                        </p:attrNameLst>
                                      </p:cBhvr>
                                      <p:to>
                                        <p:strVal val="hidden"/>
                                      </p:to>
                                    </p:set>
                                    <p:cmd type="call" cmd="stop">
                                      <p:cBhvr>
                                        <p:cTn id="23" dur="1">
                                          <p:stCondLst>
                                            <p:cond delay="0"/>
                                          </p:stCondLst>
                                        </p:cTn>
                                        <p:tgtEl>
                                          <p:spTgt spid="10"/>
                                        </p:tgtEl>
                                      </p:cBhvr>
                                    </p:cmd>
                                  </p:childTnLst>
                                </p:cTn>
                              </p:par>
                              <p:par>
                                <p:cTn id="24" presetID="1" presetClass="exit" presetSubtype="0" fill="hold" grpId="1" nodeType="withEffect">
                                  <p:stCondLst>
                                    <p:cond delay="0"/>
                                  </p:stCondLst>
                                  <p:childTnLst>
                                    <p:set>
                                      <p:cBhvr>
                                        <p:cTn id="25" dur="1" fill="hold">
                                          <p:stCondLst>
                                            <p:cond delay="0"/>
                                          </p:stCondLst>
                                        </p:cTn>
                                        <p:tgtEl>
                                          <p:spTgt spid="6"/>
                                        </p:tgtEl>
                                        <p:attrNameLst>
                                          <p:attrName>style.visibility</p:attrName>
                                        </p:attrNameLst>
                                      </p:cBhvr>
                                      <p:to>
                                        <p:strVal val="hidden"/>
                                      </p:to>
                                    </p:set>
                                  </p:childTnLst>
                                </p:cTn>
                              </p:par>
                              <p:par>
                                <p:cTn id="26" presetID="1"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30" fill="hold" display="0">
                  <p:stCondLst>
                    <p:cond delay="indefinite"/>
                  </p:stCondLst>
                </p:cTn>
                <p:tgtEl>
                  <p:spTgt spid="10"/>
                </p:tgtEl>
              </p:cMediaNode>
            </p:video>
          </p:childTnLst>
        </p:cTn>
      </p:par>
    </p:tnLst>
    <p:bldLst>
      <p:bldP spid="7" grpId="0"/>
      <p:bldP spid="6" grpId="0"/>
      <p:bldP spid="6" grpId="1"/>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9D00C-D1F2-F42F-35A8-5C1BD9E52F4E}"/>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E6CC4FAE-301D-CD77-0CED-040013DED2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4792" y="8059311"/>
            <a:ext cx="7839735" cy="6854844"/>
          </a:xfrm>
          <a:prstGeom prst="rect">
            <a:avLst/>
          </a:prstGeom>
        </p:spPr>
      </p:pic>
      <p:pic>
        <p:nvPicPr>
          <p:cNvPr id="2" name="[Picture 19]">
            <a:extLst>
              <a:ext uri="{FF2B5EF4-FFF2-40B4-BE49-F238E27FC236}">
                <a16:creationId xmlns:a16="http://schemas.microsoft.com/office/drawing/2014/main" id="{91289E4F-7C0B-EC10-EDB1-E78F475FF63D}"/>
              </a:ext>
            </a:extLst>
          </p:cNvPr>
          <p:cNvPicPr>
            <a:picLocks noChangeAspect="1"/>
          </p:cNvPicPr>
          <p:nvPr/>
        </p:nvPicPr>
        <p:blipFill>
          <a:blip r:embed="rId4">
            <a:extLst>
              <a:ext uri="{28A0092B-C50C-407E-A947-70E740481C1C}">
                <a14:useLocalDpi xmlns:a14="http://schemas.microsoft.com/office/drawing/2010/main" val="0"/>
              </a:ext>
            </a:extLst>
          </a:blip>
          <a:srcRect l="27958" t="8547" r="24471" b="6771"/>
          <a:stretch>
            <a:fillRect/>
          </a:stretch>
        </p:blipFill>
        <p:spPr>
          <a:xfrm flipH="1">
            <a:off x="7388580" y="345397"/>
            <a:ext cx="3464543" cy="6167206"/>
          </a:xfrm>
          <a:prstGeom prst="rect">
            <a:avLst/>
          </a:prstGeom>
        </p:spPr>
      </p:pic>
      <p:pic>
        <p:nvPicPr>
          <p:cNvPr id="6" name="Picture 5">
            <a:extLst>
              <a:ext uri="{FF2B5EF4-FFF2-40B4-BE49-F238E27FC236}">
                <a16:creationId xmlns:a16="http://schemas.microsoft.com/office/drawing/2014/main" id="{A103D29E-A15B-49B9-42CE-7B321B878538}"/>
              </a:ext>
            </a:extLst>
          </p:cNvPr>
          <p:cNvPicPr>
            <a:picLocks noChangeAspect="1"/>
          </p:cNvPicPr>
          <p:nvPr/>
        </p:nvPicPr>
        <p:blipFill>
          <a:blip r:embed="rId5">
            <a:extLst>
              <a:ext uri="{28A0092B-C50C-407E-A947-70E740481C1C}">
                <a14:useLocalDpi xmlns:a14="http://schemas.microsoft.com/office/drawing/2010/main" val="0"/>
              </a:ext>
            </a:extLst>
          </a:blip>
          <a:srcRect l="33095" r="40609" b="33159"/>
          <a:stretch>
            <a:fillRect/>
          </a:stretch>
        </p:blipFill>
        <p:spPr>
          <a:xfrm>
            <a:off x="4231796" y="2613182"/>
            <a:ext cx="932094" cy="4244817"/>
          </a:xfrm>
          <a:prstGeom prst="rect">
            <a:avLst/>
          </a:prstGeom>
        </p:spPr>
      </p:pic>
      <p:pic>
        <p:nvPicPr>
          <p:cNvPr id="10" name="Picture 9">
            <a:extLst>
              <a:ext uri="{FF2B5EF4-FFF2-40B4-BE49-F238E27FC236}">
                <a16:creationId xmlns:a16="http://schemas.microsoft.com/office/drawing/2014/main" id="{1E21D64E-0439-BBFA-1560-0D6ED8F13F3C}"/>
              </a:ext>
            </a:extLst>
          </p:cNvPr>
          <p:cNvPicPr>
            <a:picLocks noChangeAspect="1"/>
          </p:cNvPicPr>
          <p:nvPr/>
        </p:nvPicPr>
        <p:blipFill>
          <a:blip r:embed="rId6">
            <a:extLst>
              <a:ext uri="{28A0092B-C50C-407E-A947-70E740481C1C}">
                <a14:useLocalDpi xmlns:a14="http://schemas.microsoft.com/office/drawing/2010/main" val="0"/>
              </a:ext>
            </a:extLst>
          </a:blip>
          <a:srcRect l="30543" r="52788"/>
          <a:stretch>
            <a:fillRect/>
          </a:stretch>
        </p:blipFill>
        <p:spPr>
          <a:xfrm>
            <a:off x="5174258" y="2729344"/>
            <a:ext cx="921732" cy="4128655"/>
          </a:xfrm>
          <a:prstGeom prst="rect">
            <a:avLst/>
          </a:prstGeom>
        </p:spPr>
      </p:pic>
      <p:pic>
        <p:nvPicPr>
          <p:cNvPr id="11" name="Picture 10">
            <a:extLst>
              <a:ext uri="{FF2B5EF4-FFF2-40B4-BE49-F238E27FC236}">
                <a16:creationId xmlns:a16="http://schemas.microsoft.com/office/drawing/2014/main" id="{5C64AD82-743B-8CA8-0A30-BEBB388502ED}"/>
              </a:ext>
            </a:extLst>
          </p:cNvPr>
          <p:cNvPicPr>
            <a:picLocks noChangeAspect="1"/>
          </p:cNvPicPr>
          <p:nvPr/>
        </p:nvPicPr>
        <p:blipFill>
          <a:blip r:embed="rId7">
            <a:extLst>
              <a:ext uri="{28A0092B-C50C-407E-A947-70E740481C1C}">
                <a14:useLocalDpi xmlns:a14="http://schemas.microsoft.com/office/drawing/2010/main" val="0"/>
              </a:ext>
            </a:extLst>
          </a:blip>
          <a:srcRect l="47558" r="38108" b="5628"/>
          <a:stretch>
            <a:fillRect/>
          </a:stretch>
        </p:blipFill>
        <p:spPr>
          <a:xfrm>
            <a:off x="3307426" y="2729345"/>
            <a:ext cx="934732" cy="4128655"/>
          </a:xfrm>
          <a:prstGeom prst="rect">
            <a:avLst/>
          </a:prstGeom>
        </p:spPr>
      </p:pic>
      <p:pic>
        <p:nvPicPr>
          <p:cNvPr id="40" name="Picture 39">
            <a:extLst>
              <a:ext uri="{FF2B5EF4-FFF2-40B4-BE49-F238E27FC236}">
                <a16:creationId xmlns:a16="http://schemas.microsoft.com/office/drawing/2014/main" id="{0D594F45-6553-B0E8-FB4E-66136B1D2F41}"/>
              </a:ext>
            </a:extLst>
          </p:cNvPr>
          <p:cNvPicPr>
            <a:picLocks noChangeAspect="1"/>
          </p:cNvPicPr>
          <p:nvPr/>
        </p:nvPicPr>
        <p:blipFill>
          <a:blip r:embed="rId8">
            <a:extLst>
              <a:ext uri="{28A0092B-C50C-407E-A947-70E740481C1C}">
                <a14:useLocalDpi xmlns:a14="http://schemas.microsoft.com/office/drawing/2010/main" val="0"/>
              </a:ext>
            </a:extLst>
          </a:blip>
          <a:srcRect l="19443" r="22283" b="21928"/>
          <a:stretch>
            <a:fillRect/>
          </a:stretch>
        </p:blipFill>
        <p:spPr>
          <a:xfrm>
            <a:off x="1069113" y="1503813"/>
            <a:ext cx="2230583" cy="5354187"/>
          </a:xfrm>
          <a:prstGeom prst="rect">
            <a:avLst/>
          </a:prstGeom>
        </p:spPr>
      </p:pic>
      <p:cxnSp>
        <p:nvCxnSpPr>
          <p:cNvPr id="41" name="Straight Connector 40">
            <a:extLst>
              <a:ext uri="{FF2B5EF4-FFF2-40B4-BE49-F238E27FC236}">
                <a16:creationId xmlns:a16="http://schemas.microsoft.com/office/drawing/2014/main" id="{3FCF2443-F95B-FCDE-6047-B7491F0DD0A2}"/>
              </a:ext>
            </a:extLst>
          </p:cNvPr>
          <p:cNvCxnSpPr>
            <a:cxnSpLocks/>
          </p:cNvCxnSpPr>
          <p:nvPr/>
        </p:nvCxnSpPr>
        <p:spPr>
          <a:xfrm>
            <a:off x="1069114"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BD4C68D-8E78-1FBF-2AF2-F86403AF8993}"/>
              </a:ext>
            </a:extLst>
          </p:cNvPr>
          <p:cNvCxnSpPr>
            <a:cxnSpLocks/>
          </p:cNvCxnSpPr>
          <p:nvPr/>
        </p:nvCxnSpPr>
        <p:spPr>
          <a:xfrm>
            <a:off x="3299696"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5A0B824-CFE7-C291-1C7E-3ECBCE5F79A2}"/>
              </a:ext>
            </a:extLst>
          </p:cNvPr>
          <p:cNvCxnSpPr>
            <a:cxnSpLocks/>
          </p:cNvCxnSpPr>
          <p:nvPr/>
        </p:nvCxnSpPr>
        <p:spPr>
          <a:xfrm>
            <a:off x="4231797"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BCB92C4-85B9-6319-B39F-FA296228A681}"/>
              </a:ext>
            </a:extLst>
          </p:cNvPr>
          <p:cNvCxnSpPr>
            <a:cxnSpLocks/>
          </p:cNvCxnSpPr>
          <p:nvPr/>
        </p:nvCxnSpPr>
        <p:spPr>
          <a:xfrm>
            <a:off x="5163898"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1FC2036-3216-4659-BFD9-2142390ED617}"/>
              </a:ext>
            </a:extLst>
          </p:cNvPr>
          <p:cNvCxnSpPr>
            <a:cxnSpLocks/>
          </p:cNvCxnSpPr>
          <p:nvPr/>
        </p:nvCxnSpPr>
        <p:spPr>
          <a:xfrm>
            <a:off x="6096000"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sp>
        <p:nvSpPr>
          <p:cNvPr id="46" name="Title 1">
            <a:extLst>
              <a:ext uri="{FF2B5EF4-FFF2-40B4-BE49-F238E27FC236}">
                <a16:creationId xmlns:a16="http://schemas.microsoft.com/office/drawing/2014/main" id="{3179D433-B9E3-1451-6EDD-68810AF9F29B}"/>
              </a:ext>
            </a:extLst>
          </p:cNvPr>
          <p:cNvSpPr txBox="1">
            <a:spLocks/>
          </p:cNvSpPr>
          <p:nvPr/>
        </p:nvSpPr>
        <p:spPr>
          <a:xfrm>
            <a:off x="925704" y="621152"/>
            <a:ext cx="5698176" cy="1304036"/>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4 People One app,  </a:t>
            </a:r>
          </a:p>
          <a:p>
            <a:pPr algn="l"/>
            <a:r>
              <a:rPr lang="en-GB" sz="3600" dirty="0">
                <a:latin typeface="Google Sans Flex Light" panose="020B0503030502040204" pitchFamily="34" charset="0"/>
                <a:ea typeface="Google Sans Flex Light" panose="020B0503030502040204" pitchFamily="34" charset="0"/>
                <a:cs typeface="Google Sans Flex Light" panose="020B0503030502040204" pitchFamily="34" charset="0"/>
              </a:rPr>
              <a:t>Every Handoff on record</a:t>
            </a:r>
            <a:endParaRPr lang="en-US" sz="36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pic>
        <p:nvPicPr>
          <p:cNvPr id="100" name="GO_animation" descr="GO logo (last frame of animation)"/>
          <p:cNvPicPr>
            <a:picLocks noChangeAspect="1"/>
          </p:cNvPicPr>
          <p:nvPr/>
        </p:nvPicPr>
        <p:blipFill>
          <a:blip r:embed="rId9"/>
          <a:srcRect l="2697" t="16400" r="2393" b="22825"/>
          <a:stretch>
            <a:fillRect/>
          </a:stretch>
        </p:blipFill>
        <p:spPr>
          <a:xfrm>
            <a:off x="2896497" y="-4421452"/>
            <a:ext cx="9338463" cy="3363671"/>
          </a:xfrm>
          <a:prstGeom prst="rect">
            <a:avLst/>
          </a:prstGeom>
        </p:spPr>
      </p:pic>
      <p:sp>
        <p:nvSpPr>
          <p:cNvPr id="101" name="WayPoint Label">
            <a:extLst>
              <a:ext uri="{FF2B5EF4-FFF2-40B4-BE49-F238E27FC236}">
                <a16:creationId xmlns:a16="http://schemas.microsoft.com/office/drawing/2014/main" id="{8CA3756F-8CFD-A0AE-038F-0DADEA23C7D9}"/>
              </a:ext>
            </a:extLst>
          </p:cNvPr>
          <p:cNvSpPr txBox="1">
            <a:spLocks/>
          </p:cNvSpPr>
          <p:nvPr/>
        </p:nvSpPr>
        <p:spPr>
          <a:xfrm>
            <a:off x="4145763" y="-2756398"/>
            <a:ext cx="2699176" cy="3866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950" dirty="0">
                <a:latin typeface="Google Sans Flex" panose="020B0503030502040204" pitchFamily="34" charset="0"/>
                <a:ea typeface="Google Sans Flex" panose="020B0503030502040204" pitchFamily="34" charset="0"/>
                <a:cs typeface="Google Sans Flex" panose="020B0503030502040204" pitchFamily="34" charset="0"/>
              </a:rPr>
              <a:t>WayPoint  |</a:t>
            </a:r>
            <a:endParaRPr lang="en-US" sz="3950" dirty="0">
              <a:latin typeface="Google Sans Flex" panose="020B0503030502040204" pitchFamily="34" charset="0"/>
              <a:ea typeface="Google Sans Flex" panose="020B0503030502040204" pitchFamily="34" charset="0"/>
              <a:cs typeface="Google Sans Flex" panose="020B0503030502040204" pitchFamily="34" charset="0"/>
            </a:endParaRPr>
          </a:p>
        </p:txBody>
      </p:sp>
    </p:spTree>
    <p:extLst>
      <p:ext uri="{BB962C8B-B14F-4D97-AF65-F5344CB8AC3E}">
        <p14:creationId xmlns:p14="http://schemas.microsoft.com/office/powerpoint/2010/main" val="15945032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11CC0-299A-2DFE-EF7E-C236FA717ECC}"/>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C471C2B8-2E13-C847-91FF-FA7480E086DF}"/>
              </a:ext>
            </a:extLst>
          </p:cNvPr>
          <p:cNvPicPr>
            <a:picLocks noChangeAspect="1"/>
          </p:cNvPicPr>
          <p:nvPr/>
        </p:nvPicPr>
        <p:blipFill>
          <a:blip r:embed="rId2">
            <a:extLst>
              <a:ext uri="{28A0092B-C50C-407E-A947-70E740481C1C}">
                <a14:useLocalDpi xmlns:a14="http://schemas.microsoft.com/office/drawing/2010/main" val="0"/>
              </a:ext>
            </a:extLst>
          </a:blip>
          <a:srcRect l="27958" t="8547" r="24471" b="6771"/>
          <a:stretch>
            <a:fillRect/>
          </a:stretch>
        </p:blipFill>
        <p:spPr>
          <a:xfrm flipH="1">
            <a:off x="7388580" y="-6522763"/>
            <a:ext cx="3464543" cy="6167206"/>
          </a:xfrm>
          <a:prstGeom prst="rect">
            <a:avLst/>
          </a:prstGeom>
        </p:spPr>
      </p:pic>
      <p:pic>
        <p:nvPicPr>
          <p:cNvPr id="18" name="Picture 17">
            <a:extLst>
              <a:ext uri="{FF2B5EF4-FFF2-40B4-BE49-F238E27FC236}">
                <a16:creationId xmlns:a16="http://schemas.microsoft.com/office/drawing/2014/main" id="{64E5C22A-185B-AF6F-83FF-471ADD611B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1792" y="351256"/>
            <a:ext cx="7839735" cy="6854844"/>
          </a:xfrm>
          <a:prstGeom prst="rect">
            <a:avLst/>
          </a:prstGeom>
        </p:spPr>
      </p:pic>
      <p:pic>
        <p:nvPicPr>
          <p:cNvPr id="5" name="Picture 4">
            <a:extLst>
              <a:ext uri="{FF2B5EF4-FFF2-40B4-BE49-F238E27FC236}">
                <a16:creationId xmlns:a16="http://schemas.microsoft.com/office/drawing/2014/main" id="{BF810BE7-CF19-5704-1EC9-FFEB2A8FAA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36539" y="6904455"/>
            <a:ext cx="13351231" cy="7510067"/>
          </a:xfrm>
          <a:prstGeom prst="rect">
            <a:avLst/>
          </a:prstGeom>
        </p:spPr>
      </p:pic>
      <p:sp>
        <p:nvSpPr>
          <p:cNvPr id="23" name="Rectangle 22">
            <a:extLst>
              <a:ext uri="{FF2B5EF4-FFF2-40B4-BE49-F238E27FC236}">
                <a16:creationId xmlns:a16="http://schemas.microsoft.com/office/drawing/2014/main" id="{BF1882CC-CC6F-D93B-C916-A4EDBF3D7D34}"/>
              </a:ext>
            </a:extLst>
          </p:cNvPr>
          <p:cNvSpPr/>
          <p:nvPr/>
        </p:nvSpPr>
        <p:spPr>
          <a:xfrm>
            <a:off x="0" y="0"/>
            <a:ext cx="609599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CA088603-EA86-AF5C-1975-5B8FF0F48ECB}"/>
              </a:ext>
            </a:extLst>
          </p:cNvPr>
          <p:cNvPicPr>
            <a:picLocks noChangeAspect="1"/>
          </p:cNvPicPr>
          <p:nvPr/>
        </p:nvPicPr>
        <p:blipFill>
          <a:blip r:embed="rId5">
            <a:extLst>
              <a:ext uri="{28A0092B-C50C-407E-A947-70E740481C1C}">
                <a14:useLocalDpi xmlns:a14="http://schemas.microsoft.com/office/drawing/2010/main" val="0"/>
              </a:ext>
            </a:extLst>
          </a:blip>
          <a:srcRect l="30543" r="52788"/>
          <a:stretch>
            <a:fillRect/>
          </a:stretch>
        </p:blipFill>
        <p:spPr>
          <a:xfrm>
            <a:off x="5174258" y="2729344"/>
            <a:ext cx="921732" cy="4128655"/>
          </a:xfrm>
          <a:prstGeom prst="rect">
            <a:avLst/>
          </a:prstGeom>
        </p:spPr>
      </p:pic>
      <p:pic>
        <p:nvPicPr>
          <p:cNvPr id="9" name="Picture 8">
            <a:extLst>
              <a:ext uri="{FF2B5EF4-FFF2-40B4-BE49-F238E27FC236}">
                <a16:creationId xmlns:a16="http://schemas.microsoft.com/office/drawing/2014/main" id="{46350976-24C6-726E-0170-7F47C69D6463}"/>
              </a:ext>
            </a:extLst>
          </p:cNvPr>
          <p:cNvPicPr>
            <a:picLocks noChangeAspect="1"/>
          </p:cNvPicPr>
          <p:nvPr/>
        </p:nvPicPr>
        <p:blipFill>
          <a:blip r:embed="rId6">
            <a:extLst>
              <a:ext uri="{28A0092B-C50C-407E-A947-70E740481C1C}">
                <a14:useLocalDpi xmlns:a14="http://schemas.microsoft.com/office/drawing/2010/main" val="0"/>
              </a:ext>
            </a:extLst>
          </a:blip>
          <a:srcRect l="35067" r="38108" b="5628"/>
          <a:stretch>
            <a:fillRect/>
          </a:stretch>
        </p:blipFill>
        <p:spPr>
          <a:xfrm>
            <a:off x="2001210" y="1593273"/>
            <a:ext cx="2230587" cy="5264727"/>
          </a:xfrm>
          <a:prstGeom prst="rect">
            <a:avLst/>
          </a:prstGeom>
        </p:spPr>
      </p:pic>
      <p:pic>
        <p:nvPicPr>
          <p:cNvPr id="13" name="Picture 12">
            <a:extLst>
              <a:ext uri="{FF2B5EF4-FFF2-40B4-BE49-F238E27FC236}">
                <a16:creationId xmlns:a16="http://schemas.microsoft.com/office/drawing/2014/main" id="{CB415FD9-9BC8-BBD2-5E4B-0615597F1BB8}"/>
              </a:ext>
            </a:extLst>
          </p:cNvPr>
          <p:cNvPicPr>
            <a:picLocks noChangeAspect="1"/>
          </p:cNvPicPr>
          <p:nvPr/>
        </p:nvPicPr>
        <p:blipFill>
          <a:blip r:embed="rId7">
            <a:extLst>
              <a:ext uri="{28A0092B-C50C-407E-A947-70E740481C1C}">
                <a14:useLocalDpi xmlns:a14="http://schemas.microsoft.com/office/drawing/2010/main" val="0"/>
              </a:ext>
            </a:extLst>
          </a:blip>
          <a:srcRect l="33095" r="40609" b="33159"/>
          <a:stretch>
            <a:fillRect/>
          </a:stretch>
        </p:blipFill>
        <p:spPr>
          <a:xfrm>
            <a:off x="4231796" y="2613182"/>
            <a:ext cx="932094" cy="4244817"/>
          </a:xfrm>
          <a:prstGeom prst="rect">
            <a:avLst/>
          </a:prstGeom>
        </p:spPr>
      </p:pic>
      <p:pic>
        <p:nvPicPr>
          <p:cNvPr id="10" name="Picture 9">
            <a:extLst>
              <a:ext uri="{FF2B5EF4-FFF2-40B4-BE49-F238E27FC236}">
                <a16:creationId xmlns:a16="http://schemas.microsoft.com/office/drawing/2014/main" id="{D4EE2D51-02DB-CB22-9B4C-2B786FBA88AB}"/>
              </a:ext>
            </a:extLst>
          </p:cNvPr>
          <p:cNvPicPr>
            <a:picLocks noChangeAspect="1"/>
          </p:cNvPicPr>
          <p:nvPr/>
        </p:nvPicPr>
        <p:blipFill>
          <a:blip r:embed="rId8">
            <a:extLst>
              <a:ext uri="{28A0092B-C50C-407E-A947-70E740481C1C}">
                <a14:useLocalDpi xmlns:a14="http://schemas.microsoft.com/office/drawing/2010/main" val="0"/>
              </a:ext>
            </a:extLst>
          </a:blip>
          <a:srcRect l="35747" r="32674" b="21928"/>
          <a:stretch>
            <a:fillRect/>
          </a:stretch>
        </p:blipFill>
        <p:spPr>
          <a:xfrm>
            <a:off x="1069114" y="2729345"/>
            <a:ext cx="932097" cy="4128655"/>
          </a:xfrm>
          <a:prstGeom prst="rect">
            <a:avLst/>
          </a:prstGeom>
        </p:spPr>
      </p:pic>
      <p:cxnSp>
        <p:nvCxnSpPr>
          <p:cNvPr id="4" name="Straight Connector 3">
            <a:extLst>
              <a:ext uri="{FF2B5EF4-FFF2-40B4-BE49-F238E27FC236}">
                <a16:creationId xmlns:a16="http://schemas.microsoft.com/office/drawing/2014/main" id="{F5519232-F897-509A-0E3A-1C9EE8C2B08F}"/>
              </a:ext>
            </a:extLst>
          </p:cNvPr>
          <p:cNvCxnSpPr>
            <a:cxnSpLocks/>
          </p:cNvCxnSpPr>
          <p:nvPr/>
        </p:nvCxnSpPr>
        <p:spPr>
          <a:xfrm>
            <a:off x="1069114"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B46FC9B-0F8B-CDCC-81B7-D562A8322A51}"/>
              </a:ext>
            </a:extLst>
          </p:cNvPr>
          <p:cNvCxnSpPr>
            <a:cxnSpLocks/>
          </p:cNvCxnSpPr>
          <p:nvPr/>
        </p:nvCxnSpPr>
        <p:spPr>
          <a:xfrm>
            <a:off x="4231797"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84440F5-94B7-61C2-CB74-98D3A19494D1}"/>
              </a:ext>
            </a:extLst>
          </p:cNvPr>
          <p:cNvCxnSpPr>
            <a:cxnSpLocks/>
          </p:cNvCxnSpPr>
          <p:nvPr/>
        </p:nvCxnSpPr>
        <p:spPr>
          <a:xfrm>
            <a:off x="5163898"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44D8251-8AFF-F9C4-69BC-5E4833E6E89A}"/>
              </a:ext>
            </a:extLst>
          </p:cNvPr>
          <p:cNvCxnSpPr>
            <a:cxnSpLocks/>
          </p:cNvCxnSpPr>
          <p:nvPr/>
        </p:nvCxnSpPr>
        <p:spPr>
          <a:xfrm>
            <a:off x="6096000"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435C192D-0467-80C1-2B7E-4EF1C201E42E}"/>
              </a:ext>
            </a:extLst>
          </p:cNvPr>
          <p:cNvSpPr txBox="1">
            <a:spLocks/>
          </p:cNvSpPr>
          <p:nvPr/>
        </p:nvSpPr>
        <p:spPr>
          <a:xfrm>
            <a:off x="925704" y="621152"/>
            <a:ext cx="5698176" cy="1304036"/>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4 People One app,  </a:t>
            </a:r>
          </a:p>
          <a:p>
            <a:pPr algn="l"/>
            <a:r>
              <a:rPr lang="en-GB" sz="3600" dirty="0">
                <a:latin typeface="Google Sans Flex Light" panose="020B0503030502040204" pitchFamily="34" charset="0"/>
                <a:ea typeface="Google Sans Flex Light" panose="020B0503030502040204" pitchFamily="34" charset="0"/>
                <a:cs typeface="Google Sans Flex Light" panose="020B0503030502040204" pitchFamily="34" charset="0"/>
              </a:rPr>
              <a:t>Every Handoff on record</a:t>
            </a:r>
            <a:endParaRPr lang="en-US" sz="36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cxnSp>
        <p:nvCxnSpPr>
          <p:cNvPr id="3" name="Straight Connector 2">
            <a:extLst>
              <a:ext uri="{FF2B5EF4-FFF2-40B4-BE49-F238E27FC236}">
                <a16:creationId xmlns:a16="http://schemas.microsoft.com/office/drawing/2014/main" id="{81639248-E3F5-69A6-B73A-BD41C0D2D9ED}"/>
              </a:ext>
            </a:extLst>
          </p:cNvPr>
          <p:cNvCxnSpPr>
            <a:cxnSpLocks/>
          </p:cNvCxnSpPr>
          <p:nvPr/>
        </p:nvCxnSpPr>
        <p:spPr>
          <a:xfrm>
            <a:off x="2001215"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18024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4C6F9-7583-5C5E-857D-D8B8C69F39DE}"/>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761DFD53-B44E-3EB2-E522-6BE595DBE4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4792" y="-6854844"/>
            <a:ext cx="7839735" cy="6854844"/>
          </a:xfrm>
          <a:prstGeom prst="rect">
            <a:avLst/>
          </a:prstGeom>
        </p:spPr>
      </p:pic>
      <p:pic>
        <p:nvPicPr>
          <p:cNvPr id="6" name="Picture 5">
            <a:extLst>
              <a:ext uri="{FF2B5EF4-FFF2-40B4-BE49-F238E27FC236}">
                <a16:creationId xmlns:a16="http://schemas.microsoft.com/office/drawing/2014/main" id="{3DCDA3C2-1C91-5AF4-C36B-AF7093F4FC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36539" y="-93267"/>
            <a:ext cx="13351231" cy="7510067"/>
          </a:xfrm>
          <a:prstGeom prst="rect">
            <a:avLst/>
          </a:prstGeom>
        </p:spPr>
      </p:pic>
      <p:sp>
        <p:nvSpPr>
          <p:cNvPr id="26" name="Rectangle 25">
            <a:extLst>
              <a:ext uri="{FF2B5EF4-FFF2-40B4-BE49-F238E27FC236}">
                <a16:creationId xmlns:a16="http://schemas.microsoft.com/office/drawing/2014/main" id="{08E2FF14-51F6-808B-C3F8-D70F0E126195}"/>
              </a:ext>
            </a:extLst>
          </p:cNvPr>
          <p:cNvSpPr/>
          <p:nvPr/>
        </p:nvSpPr>
        <p:spPr>
          <a:xfrm>
            <a:off x="0" y="0"/>
            <a:ext cx="609599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79053EAA-5CFB-77D0-301D-9AEA64166DF5}"/>
              </a:ext>
            </a:extLst>
          </p:cNvPr>
          <p:cNvPicPr>
            <a:picLocks noChangeAspect="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l="8652" r="33074" b="23233"/>
          <a:stretch>
            <a:fillRect/>
          </a:stretch>
        </p:blipFill>
        <p:spPr>
          <a:xfrm>
            <a:off x="2933307" y="1593273"/>
            <a:ext cx="2230590" cy="5264727"/>
          </a:xfrm>
          <a:prstGeom prst="rect">
            <a:avLst/>
          </a:prstGeom>
        </p:spPr>
      </p:pic>
      <p:pic>
        <p:nvPicPr>
          <p:cNvPr id="17" name="Picture 16">
            <a:extLst>
              <a:ext uri="{FF2B5EF4-FFF2-40B4-BE49-F238E27FC236}">
                <a16:creationId xmlns:a16="http://schemas.microsoft.com/office/drawing/2014/main" id="{C2956780-A617-180F-FADA-7E5B76129068}"/>
              </a:ext>
            </a:extLst>
          </p:cNvPr>
          <p:cNvPicPr>
            <a:picLocks noChangeAspect="1"/>
          </p:cNvPicPr>
          <p:nvPr/>
        </p:nvPicPr>
        <p:blipFill>
          <a:blip r:embed="rId6">
            <a:extLst>
              <a:ext uri="{28A0092B-C50C-407E-A947-70E740481C1C}">
                <a14:useLocalDpi xmlns:a14="http://schemas.microsoft.com/office/drawing/2010/main" val="0"/>
              </a:ext>
            </a:extLst>
          </a:blip>
          <a:srcRect l="30543" r="52788"/>
          <a:stretch>
            <a:fillRect/>
          </a:stretch>
        </p:blipFill>
        <p:spPr>
          <a:xfrm>
            <a:off x="5174258" y="2729344"/>
            <a:ext cx="921732" cy="4128655"/>
          </a:xfrm>
          <a:prstGeom prst="rect">
            <a:avLst/>
          </a:prstGeom>
        </p:spPr>
      </p:pic>
      <p:pic>
        <p:nvPicPr>
          <p:cNvPr id="12" name="Picture 11">
            <a:extLst>
              <a:ext uri="{FF2B5EF4-FFF2-40B4-BE49-F238E27FC236}">
                <a16:creationId xmlns:a16="http://schemas.microsoft.com/office/drawing/2014/main" id="{53383AD4-B41F-AAE6-A65C-6468C1184773}"/>
              </a:ext>
            </a:extLst>
          </p:cNvPr>
          <p:cNvPicPr>
            <a:picLocks noChangeAspect="1"/>
          </p:cNvPicPr>
          <p:nvPr/>
        </p:nvPicPr>
        <p:blipFill>
          <a:blip r:embed="rId7">
            <a:extLst>
              <a:ext uri="{28A0092B-C50C-407E-A947-70E740481C1C}">
                <a14:useLocalDpi xmlns:a14="http://schemas.microsoft.com/office/drawing/2010/main" val="0"/>
              </a:ext>
            </a:extLst>
          </a:blip>
          <a:srcRect l="35747" r="32674" b="21928"/>
          <a:stretch>
            <a:fillRect/>
          </a:stretch>
        </p:blipFill>
        <p:spPr>
          <a:xfrm>
            <a:off x="1069114" y="2729345"/>
            <a:ext cx="932097" cy="4128655"/>
          </a:xfrm>
          <a:prstGeom prst="rect">
            <a:avLst/>
          </a:prstGeom>
        </p:spPr>
      </p:pic>
      <p:pic>
        <p:nvPicPr>
          <p:cNvPr id="8" name="Picture 7">
            <a:extLst>
              <a:ext uri="{FF2B5EF4-FFF2-40B4-BE49-F238E27FC236}">
                <a16:creationId xmlns:a16="http://schemas.microsoft.com/office/drawing/2014/main" id="{DDFED555-067A-9CC0-AB6F-B65D69CBAF2E}"/>
              </a:ext>
            </a:extLst>
          </p:cNvPr>
          <p:cNvPicPr>
            <a:picLocks noChangeAspect="1"/>
          </p:cNvPicPr>
          <p:nvPr/>
        </p:nvPicPr>
        <p:blipFill>
          <a:blip r:embed="rId8">
            <a:extLst>
              <a:ext uri="{28A0092B-C50C-407E-A947-70E740481C1C}">
                <a14:useLocalDpi xmlns:a14="http://schemas.microsoft.com/office/drawing/2010/main" val="0"/>
              </a:ext>
            </a:extLst>
          </a:blip>
          <a:srcRect l="47558" r="38108" b="5628"/>
          <a:stretch>
            <a:fillRect/>
          </a:stretch>
        </p:blipFill>
        <p:spPr>
          <a:xfrm>
            <a:off x="1995074" y="2729345"/>
            <a:ext cx="934732" cy="4128655"/>
          </a:xfrm>
          <a:prstGeom prst="rect">
            <a:avLst/>
          </a:prstGeom>
        </p:spPr>
      </p:pic>
      <p:cxnSp>
        <p:nvCxnSpPr>
          <p:cNvPr id="4" name="Straight Connector 3">
            <a:extLst>
              <a:ext uri="{FF2B5EF4-FFF2-40B4-BE49-F238E27FC236}">
                <a16:creationId xmlns:a16="http://schemas.microsoft.com/office/drawing/2014/main" id="{4B42D750-1E1E-33C0-EE14-B7FE3A514ED2}"/>
              </a:ext>
            </a:extLst>
          </p:cNvPr>
          <p:cNvCxnSpPr>
            <a:cxnSpLocks/>
          </p:cNvCxnSpPr>
          <p:nvPr/>
        </p:nvCxnSpPr>
        <p:spPr>
          <a:xfrm>
            <a:off x="1069114"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627EE4C-6A10-9306-4131-CBA45E9A6552}"/>
              </a:ext>
            </a:extLst>
          </p:cNvPr>
          <p:cNvCxnSpPr>
            <a:cxnSpLocks/>
          </p:cNvCxnSpPr>
          <p:nvPr/>
        </p:nvCxnSpPr>
        <p:spPr>
          <a:xfrm>
            <a:off x="5163898"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33B7EFB-2F02-0D0B-E396-31AB4EA348CE}"/>
              </a:ext>
            </a:extLst>
          </p:cNvPr>
          <p:cNvCxnSpPr>
            <a:cxnSpLocks/>
          </p:cNvCxnSpPr>
          <p:nvPr/>
        </p:nvCxnSpPr>
        <p:spPr>
          <a:xfrm>
            <a:off x="6096000"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248DB0E2-4E48-DCF6-A82D-23277C078574}"/>
              </a:ext>
            </a:extLst>
          </p:cNvPr>
          <p:cNvSpPr txBox="1">
            <a:spLocks/>
          </p:cNvSpPr>
          <p:nvPr/>
        </p:nvSpPr>
        <p:spPr>
          <a:xfrm>
            <a:off x="925704" y="621152"/>
            <a:ext cx="5698176" cy="1304036"/>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4 People One app,  </a:t>
            </a:r>
          </a:p>
          <a:p>
            <a:pPr algn="l"/>
            <a:r>
              <a:rPr lang="en-GB" sz="3600" dirty="0">
                <a:latin typeface="Google Sans Flex Light" panose="020B0503030502040204" pitchFamily="34" charset="0"/>
                <a:ea typeface="Google Sans Flex Light" panose="020B0503030502040204" pitchFamily="34" charset="0"/>
                <a:cs typeface="Google Sans Flex Light" panose="020B0503030502040204" pitchFamily="34" charset="0"/>
              </a:rPr>
              <a:t>Every Handoff on record</a:t>
            </a:r>
            <a:endParaRPr lang="en-US" sz="36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cxnSp>
        <p:nvCxnSpPr>
          <p:cNvPr id="3" name="Straight Connector 2">
            <a:extLst>
              <a:ext uri="{FF2B5EF4-FFF2-40B4-BE49-F238E27FC236}">
                <a16:creationId xmlns:a16="http://schemas.microsoft.com/office/drawing/2014/main" id="{72F75324-8AFD-8190-5512-D5EDF15116C6}"/>
              </a:ext>
            </a:extLst>
          </p:cNvPr>
          <p:cNvCxnSpPr>
            <a:cxnSpLocks/>
          </p:cNvCxnSpPr>
          <p:nvPr/>
        </p:nvCxnSpPr>
        <p:spPr>
          <a:xfrm>
            <a:off x="2001215"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55EB035-32D2-A461-3381-39979D0DA77E}"/>
              </a:ext>
            </a:extLst>
          </p:cNvPr>
          <p:cNvCxnSpPr>
            <a:cxnSpLocks/>
          </p:cNvCxnSpPr>
          <p:nvPr/>
        </p:nvCxnSpPr>
        <p:spPr>
          <a:xfrm>
            <a:off x="2925621"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a16="http://schemas.microsoft.com/office/drawing/2014/main" id="{23D062E7-1A8A-A5CB-C51A-9589F01345C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15935" y="6854844"/>
            <a:ext cx="6858000" cy="6858000"/>
          </a:xfrm>
          <a:prstGeom prst="rect">
            <a:avLst/>
          </a:prstGeom>
        </p:spPr>
      </p:pic>
    </p:spTree>
    <p:extLst>
      <p:ext uri="{BB962C8B-B14F-4D97-AF65-F5344CB8AC3E}">
        <p14:creationId xmlns:p14="http://schemas.microsoft.com/office/powerpoint/2010/main" val="19818226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C407C-D438-9641-0F82-1A063C66995D}"/>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BA2C575-3DE6-77FD-2498-D2613D1F41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6539" y="-6873506"/>
            <a:ext cx="13351231" cy="7510067"/>
          </a:xfrm>
          <a:prstGeom prst="rect">
            <a:avLst/>
          </a:prstGeom>
        </p:spPr>
      </p:pic>
      <p:sp>
        <p:nvSpPr>
          <p:cNvPr id="26" name="Rectangle 25">
            <a:extLst>
              <a:ext uri="{FF2B5EF4-FFF2-40B4-BE49-F238E27FC236}">
                <a16:creationId xmlns:a16="http://schemas.microsoft.com/office/drawing/2014/main" id="{F61518D7-E506-56D1-4E97-729210F1615B}"/>
              </a:ext>
            </a:extLst>
          </p:cNvPr>
          <p:cNvSpPr/>
          <p:nvPr/>
        </p:nvSpPr>
        <p:spPr>
          <a:xfrm>
            <a:off x="0" y="0"/>
            <a:ext cx="609599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pic>
        <p:nvPicPr>
          <p:cNvPr id="20" name="Picture 19">
            <a:extLst>
              <a:ext uri="{FF2B5EF4-FFF2-40B4-BE49-F238E27FC236}">
                <a16:creationId xmlns:a16="http://schemas.microsoft.com/office/drawing/2014/main" id="{1BF4D5AD-BB40-1DE4-9090-C1811EC2E6DB}"/>
              </a:ext>
            </a:extLst>
          </p:cNvPr>
          <p:cNvPicPr>
            <a:picLocks noChangeAspect="1"/>
          </p:cNvPicPr>
          <p:nvPr/>
        </p:nvPicPr>
        <p:blipFill>
          <a:blip r:embed="rId3">
            <a:extLst>
              <a:ext uri="{28A0092B-C50C-407E-A947-70E740481C1C}">
                <a14:useLocalDpi xmlns:a14="http://schemas.microsoft.com/office/drawing/2010/main" val="0"/>
              </a:ext>
            </a:extLst>
          </a:blip>
          <a:srcRect l="31381" t="108" r="36550" b="-108"/>
          <a:stretch>
            <a:fillRect/>
          </a:stretch>
        </p:blipFill>
        <p:spPr>
          <a:xfrm>
            <a:off x="3849107" y="1650832"/>
            <a:ext cx="2236438" cy="5207169"/>
          </a:xfrm>
          <a:prstGeom prst="rect">
            <a:avLst/>
          </a:prstGeom>
        </p:spPr>
      </p:pic>
      <p:pic>
        <p:nvPicPr>
          <p:cNvPr id="18" name="Picture 17">
            <a:extLst>
              <a:ext uri="{FF2B5EF4-FFF2-40B4-BE49-F238E27FC236}">
                <a16:creationId xmlns:a16="http://schemas.microsoft.com/office/drawing/2014/main" id="{2D40B46C-2F3D-2F3B-28E4-90A500F421EB}"/>
              </a:ext>
            </a:extLst>
          </p:cNvPr>
          <p:cNvPicPr>
            <a:picLocks noChangeAspect="1"/>
          </p:cNvPicPr>
          <p:nvPr/>
        </p:nvPicPr>
        <p:blipFill>
          <a:blip r:embed="rId4">
            <a:extLst>
              <a:ext uri="{28A0092B-C50C-407E-A947-70E740481C1C}">
                <a14:useLocalDpi xmlns:a14="http://schemas.microsoft.com/office/drawing/2010/main" val="0"/>
              </a:ext>
            </a:extLst>
          </a:blip>
          <a:srcRect l="33095" r="40609" b="33159"/>
          <a:stretch>
            <a:fillRect/>
          </a:stretch>
        </p:blipFill>
        <p:spPr>
          <a:xfrm>
            <a:off x="2933592" y="2663420"/>
            <a:ext cx="921063" cy="4194579"/>
          </a:xfrm>
          <a:prstGeom prst="rect">
            <a:avLst/>
          </a:prstGeom>
        </p:spPr>
      </p:pic>
      <p:pic>
        <p:nvPicPr>
          <p:cNvPr id="16" name="Picture 15">
            <a:extLst>
              <a:ext uri="{FF2B5EF4-FFF2-40B4-BE49-F238E27FC236}">
                <a16:creationId xmlns:a16="http://schemas.microsoft.com/office/drawing/2014/main" id="{F2D20989-0E43-FF9A-7FBC-64EB48CA91D1}"/>
              </a:ext>
            </a:extLst>
          </p:cNvPr>
          <p:cNvPicPr>
            <a:picLocks noChangeAspect="1"/>
          </p:cNvPicPr>
          <p:nvPr/>
        </p:nvPicPr>
        <p:blipFill>
          <a:blip r:embed="rId5">
            <a:extLst>
              <a:ext uri="{28A0092B-C50C-407E-A947-70E740481C1C}">
                <a14:useLocalDpi xmlns:a14="http://schemas.microsoft.com/office/drawing/2010/main" val="0"/>
              </a:ext>
            </a:extLst>
          </a:blip>
          <a:srcRect l="35747" r="32674" b="21928"/>
          <a:stretch>
            <a:fillRect/>
          </a:stretch>
        </p:blipFill>
        <p:spPr>
          <a:xfrm>
            <a:off x="1069114" y="2729345"/>
            <a:ext cx="932097" cy="4128655"/>
          </a:xfrm>
          <a:prstGeom prst="rect">
            <a:avLst/>
          </a:prstGeom>
        </p:spPr>
      </p:pic>
      <p:pic>
        <p:nvPicPr>
          <p:cNvPr id="13" name="Picture 12">
            <a:extLst>
              <a:ext uri="{FF2B5EF4-FFF2-40B4-BE49-F238E27FC236}">
                <a16:creationId xmlns:a16="http://schemas.microsoft.com/office/drawing/2014/main" id="{38FA3AFB-E1BE-3DBC-0FFB-499645A51111}"/>
              </a:ext>
            </a:extLst>
          </p:cNvPr>
          <p:cNvPicPr>
            <a:picLocks noChangeAspect="1"/>
          </p:cNvPicPr>
          <p:nvPr/>
        </p:nvPicPr>
        <p:blipFill>
          <a:blip r:embed="rId6">
            <a:extLst>
              <a:ext uri="{28A0092B-C50C-407E-A947-70E740481C1C}">
                <a14:useLocalDpi xmlns:a14="http://schemas.microsoft.com/office/drawing/2010/main" val="0"/>
              </a:ext>
            </a:extLst>
          </a:blip>
          <a:srcRect l="47558" r="38108" b="5628"/>
          <a:stretch>
            <a:fillRect/>
          </a:stretch>
        </p:blipFill>
        <p:spPr>
          <a:xfrm>
            <a:off x="2001211" y="2729345"/>
            <a:ext cx="934732" cy="4128655"/>
          </a:xfrm>
          <a:prstGeom prst="rect">
            <a:avLst/>
          </a:prstGeom>
        </p:spPr>
      </p:pic>
      <p:cxnSp>
        <p:nvCxnSpPr>
          <p:cNvPr id="4" name="Straight Connector 3">
            <a:extLst>
              <a:ext uri="{FF2B5EF4-FFF2-40B4-BE49-F238E27FC236}">
                <a16:creationId xmlns:a16="http://schemas.microsoft.com/office/drawing/2014/main" id="{6C039470-5C92-EBAB-05AF-8DFB56E62650}"/>
              </a:ext>
            </a:extLst>
          </p:cNvPr>
          <p:cNvCxnSpPr>
            <a:cxnSpLocks/>
          </p:cNvCxnSpPr>
          <p:nvPr/>
        </p:nvCxnSpPr>
        <p:spPr>
          <a:xfrm>
            <a:off x="1069114"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CEC3759-49C8-4CC0-4E65-D48FD55EAAA1}"/>
              </a:ext>
            </a:extLst>
          </p:cNvPr>
          <p:cNvCxnSpPr>
            <a:cxnSpLocks/>
          </p:cNvCxnSpPr>
          <p:nvPr/>
        </p:nvCxnSpPr>
        <p:spPr>
          <a:xfrm>
            <a:off x="6096000"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8EDDFAA6-0C60-AC0E-FED4-3DCC651C21DA}"/>
              </a:ext>
            </a:extLst>
          </p:cNvPr>
          <p:cNvSpPr txBox="1">
            <a:spLocks/>
          </p:cNvSpPr>
          <p:nvPr/>
        </p:nvSpPr>
        <p:spPr>
          <a:xfrm>
            <a:off x="925704" y="621152"/>
            <a:ext cx="5698176" cy="1304036"/>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4 People One app,  </a:t>
            </a:r>
          </a:p>
          <a:p>
            <a:pPr algn="l"/>
            <a:r>
              <a:rPr lang="en-GB" sz="3600" dirty="0">
                <a:latin typeface="Google Sans Flex Light" panose="020B0503030502040204" pitchFamily="34" charset="0"/>
                <a:ea typeface="Google Sans Flex Light" panose="020B0503030502040204" pitchFamily="34" charset="0"/>
                <a:cs typeface="Google Sans Flex Light" panose="020B0503030502040204" pitchFamily="34" charset="0"/>
              </a:rPr>
              <a:t>Every Handoff on record</a:t>
            </a:r>
            <a:endParaRPr lang="en-US" sz="36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cxnSp>
        <p:nvCxnSpPr>
          <p:cNvPr id="3" name="Straight Connector 2">
            <a:extLst>
              <a:ext uri="{FF2B5EF4-FFF2-40B4-BE49-F238E27FC236}">
                <a16:creationId xmlns:a16="http://schemas.microsoft.com/office/drawing/2014/main" id="{7CA04021-5BDF-34A4-F39F-F29180D08C3D}"/>
              </a:ext>
            </a:extLst>
          </p:cNvPr>
          <p:cNvCxnSpPr>
            <a:cxnSpLocks/>
          </p:cNvCxnSpPr>
          <p:nvPr/>
        </p:nvCxnSpPr>
        <p:spPr>
          <a:xfrm>
            <a:off x="2001215"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DB9FE41-080C-ADCC-8A57-174AC54DDDC8}"/>
              </a:ext>
            </a:extLst>
          </p:cNvPr>
          <p:cNvCxnSpPr>
            <a:cxnSpLocks/>
          </p:cNvCxnSpPr>
          <p:nvPr/>
        </p:nvCxnSpPr>
        <p:spPr>
          <a:xfrm>
            <a:off x="2925621"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C21E604-5378-6450-ADED-93F1D915F125}"/>
              </a:ext>
            </a:extLst>
          </p:cNvPr>
          <p:cNvCxnSpPr>
            <a:cxnSpLocks/>
          </p:cNvCxnSpPr>
          <p:nvPr/>
        </p:nvCxnSpPr>
        <p:spPr>
          <a:xfrm>
            <a:off x="3852672"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89E53573-3F30-51D4-1395-417AE1FBAB2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15935" y="0"/>
            <a:ext cx="6858000" cy="6858000"/>
          </a:xfrm>
          <a:prstGeom prst="rect">
            <a:avLst/>
          </a:prstGeom>
        </p:spPr>
      </p:pic>
      <p:pic>
        <p:nvPicPr>
          <p:cNvPr id="10" name="Picture 9">
            <a:extLst>
              <a:ext uri="{FF2B5EF4-FFF2-40B4-BE49-F238E27FC236}">
                <a16:creationId xmlns:a16="http://schemas.microsoft.com/office/drawing/2014/main" id="{1EC9B50B-49E3-33A1-E2B2-65C566790BE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581111" y="2029968"/>
            <a:ext cx="5399532" cy="3543059"/>
          </a:xfrm>
          <a:prstGeom prst="rect">
            <a:avLst/>
          </a:prstGeom>
        </p:spPr>
      </p:pic>
      <p:pic>
        <p:nvPicPr>
          <p:cNvPr id="12" name="Picture 11">
            <a:extLst>
              <a:ext uri="{FF2B5EF4-FFF2-40B4-BE49-F238E27FC236}">
                <a16:creationId xmlns:a16="http://schemas.microsoft.com/office/drawing/2014/main" id="{EC07E72A-BD01-079B-77FE-0858F7C5CD2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581111" y="2029968"/>
            <a:ext cx="5399532" cy="3543059"/>
          </a:xfrm>
          <a:prstGeom prst="rect">
            <a:avLst/>
          </a:prstGeom>
        </p:spPr>
      </p:pic>
      <p:pic>
        <p:nvPicPr>
          <p:cNvPr id="17" name="Picture 16">
            <a:extLst>
              <a:ext uri="{FF2B5EF4-FFF2-40B4-BE49-F238E27FC236}">
                <a16:creationId xmlns:a16="http://schemas.microsoft.com/office/drawing/2014/main" id="{02A8677B-9472-1128-0902-90CB6581AD5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581111" y="2029968"/>
            <a:ext cx="5399532" cy="3543059"/>
          </a:xfrm>
          <a:prstGeom prst="rect">
            <a:avLst/>
          </a:prstGeom>
        </p:spPr>
      </p:pic>
      <p:sp>
        <p:nvSpPr>
          <p:cNvPr id="21" name="!!edge0">
            <a:extLst>
              <a:ext uri="{FF2B5EF4-FFF2-40B4-BE49-F238E27FC236}">
                <a16:creationId xmlns:a16="http://schemas.microsoft.com/office/drawing/2014/main" id="{72B1E19B-6CF3-1CED-A4B9-F3A83E2AAE03}"/>
              </a:ext>
            </a:extLst>
          </p:cNvPr>
          <p:cNvSpPr/>
          <p:nvPr/>
        </p:nvSpPr>
        <p:spPr>
          <a:xfrm>
            <a:off x="12861633" y="640080"/>
            <a:ext cx="2486549"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7" name="!!edge0">
            <a:extLst>
              <a:ext uri="{FF2B5EF4-FFF2-40B4-BE49-F238E27FC236}">
                <a16:creationId xmlns:a16="http://schemas.microsoft.com/office/drawing/2014/main" id="{B4837AE4-DCE5-B176-F0BA-D8CD2DA5832F}"/>
              </a:ext>
            </a:extLst>
          </p:cNvPr>
          <p:cNvSpPr/>
          <p:nvPr/>
        </p:nvSpPr>
        <p:spPr>
          <a:xfrm>
            <a:off x="24790624" y="4365093"/>
            <a:ext cx="4741166" cy="1058434"/>
          </a:xfrm>
          <a:prstGeom prst="roundRect">
            <a:avLst>
              <a:gd name="adj" fmla="val 2451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30" name="!!edge0">
            <a:extLst>
              <a:ext uri="{FF2B5EF4-FFF2-40B4-BE49-F238E27FC236}">
                <a16:creationId xmlns:a16="http://schemas.microsoft.com/office/drawing/2014/main" id="{824D24C5-6B79-B6A0-C51A-EAB7EF83DB34}"/>
              </a:ext>
            </a:extLst>
          </p:cNvPr>
          <p:cNvSpPr/>
          <p:nvPr/>
        </p:nvSpPr>
        <p:spPr>
          <a:xfrm>
            <a:off x="23731269" y="3111230"/>
            <a:ext cx="4741166" cy="1058434"/>
          </a:xfrm>
          <a:prstGeom prst="roundRect">
            <a:avLst>
              <a:gd name="adj" fmla="val 2451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34" name="!!section">
            <a:extLst>
              <a:ext uri="{FF2B5EF4-FFF2-40B4-BE49-F238E27FC236}">
                <a16:creationId xmlns:a16="http://schemas.microsoft.com/office/drawing/2014/main" id="{83C8F984-D36E-FD61-3C57-7FB79DA82047}"/>
              </a:ext>
            </a:extLst>
          </p:cNvPr>
          <p:cNvSpPr txBox="1"/>
          <p:nvPr/>
        </p:nvSpPr>
        <p:spPr>
          <a:xfrm>
            <a:off x="13062801" y="777723"/>
            <a:ext cx="7315200" cy="369332"/>
          </a:xfrm>
          <a:prstGeom prst="rect">
            <a:avLst/>
          </a:prstGeom>
          <a:noFill/>
        </p:spPr>
        <p:txBody>
          <a:bodyPr wrap="square" lIns="0" tIns="0" rIns="0" bIns="0" anchor="t">
            <a:spAutoFit/>
          </a:bodyPr>
          <a:lstStyle/>
          <a:p>
            <a:pPr algn="l"/>
            <a:r>
              <a:rPr sz="1200" dirty="0">
                <a:solidFill>
                  <a:srgbClr val="006A62"/>
                </a:solidFill>
                <a:latin typeface="Google Sans Flex SemiBold"/>
              </a:rPr>
              <a:t>Problem 1 · </a:t>
            </a:r>
            <a:r>
              <a:rPr lang="en-US" sz="1200" dirty="0">
                <a:solidFill>
                  <a:srgbClr val="006A62"/>
                </a:solidFill>
                <a:latin typeface="Google Sans Flex SemiBold"/>
              </a:rPr>
              <a:t>Vehicle Shortage</a:t>
            </a:r>
          </a:p>
          <a:p>
            <a:pPr algn="l"/>
            <a:endParaRPr sz="1200" dirty="0">
              <a:solidFill>
                <a:srgbClr val="006A62"/>
              </a:solidFill>
              <a:latin typeface="Google Sans Flex SemiBold"/>
            </a:endParaRPr>
          </a:p>
        </p:txBody>
      </p:sp>
      <p:sp>
        <p:nvSpPr>
          <p:cNvPr id="37" name="!!title">
            <a:extLst>
              <a:ext uri="{FF2B5EF4-FFF2-40B4-BE49-F238E27FC236}">
                <a16:creationId xmlns:a16="http://schemas.microsoft.com/office/drawing/2014/main" id="{BF68392B-CFF8-214B-5BF0-B9E4BAD6C00C}"/>
              </a:ext>
            </a:extLst>
          </p:cNvPr>
          <p:cNvSpPr txBox="1"/>
          <p:nvPr/>
        </p:nvSpPr>
        <p:spPr>
          <a:xfrm>
            <a:off x="13723945" y="1185022"/>
            <a:ext cx="7863840" cy="1325880"/>
          </a:xfrm>
          <a:prstGeom prst="rect">
            <a:avLst/>
          </a:prstGeom>
          <a:noFill/>
        </p:spPr>
        <p:txBody>
          <a:bodyPr wrap="square" lIns="0" tIns="0" rIns="0" bIns="0" anchor="t">
            <a:spAutoFit/>
          </a:bodyPr>
          <a:lstStyle/>
          <a:p>
            <a:pPr algn="l"/>
            <a:r>
              <a:rPr sz="3600" dirty="0">
                <a:solidFill>
                  <a:srgbClr val="00B050"/>
                </a:solidFill>
                <a:latin typeface="Google Sans Flex SemiBold"/>
              </a:rPr>
              <a:t>When vehicles</a:t>
            </a:r>
            <a:r>
              <a:rPr sz="3600" dirty="0">
                <a:latin typeface="Google Sans Flex Light"/>
              </a:rPr>
              <a:t> run short</a:t>
            </a:r>
          </a:p>
        </p:txBody>
      </p:sp>
      <p:sp>
        <p:nvSpPr>
          <p:cNvPr id="41" name="!!t7-1-head">
            <a:extLst>
              <a:ext uri="{FF2B5EF4-FFF2-40B4-BE49-F238E27FC236}">
                <a16:creationId xmlns:a16="http://schemas.microsoft.com/office/drawing/2014/main" id="{2CF028DF-6290-8208-CB03-D42C523E9873}"/>
              </a:ext>
            </a:extLst>
          </p:cNvPr>
          <p:cNvSpPr txBox="1"/>
          <p:nvPr/>
        </p:nvSpPr>
        <p:spPr>
          <a:xfrm>
            <a:off x="23950726" y="3264408"/>
            <a:ext cx="4937760" cy="457200"/>
          </a:xfrm>
          <a:prstGeom prst="rect">
            <a:avLst/>
          </a:prstGeom>
          <a:noFill/>
        </p:spPr>
        <p:txBody>
          <a:bodyPr wrap="square" lIns="0" tIns="0" rIns="0" bIns="0" anchor="t">
            <a:spAutoFit/>
          </a:bodyPr>
          <a:lstStyle/>
          <a:p>
            <a:pPr algn="l"/>
            <a:r>
              <a:rPr sz="2200">
                <a:latin typeface="Google Sans Flex SemiBold"/>
              </a:rPr>
              <a:t>Every waiting order explained</a:t>
            </a:r>
          </a:p>
        </p:txBody>
      </p:sp>
      <p:sp>
        <p:nvSpPr>
          <p:cNvPr id="42" name="!!t7-1-sub">
            <a:extLst>
              <a:ext uri="{FF2B5EF4-FFF2-40B4-BE49-F238E27FC236}">
                <a16:creationId xmlns:a16="http://schemas.microsoft.com/office/drawing/2014/main" id="{D5444F1D-F611-DC21-3FD1-96A11BF518AF}"/>
              </a:ext>
            </a:extLst>
          </p:cNvPr>
          <p:cNvSpPr txBox="1"/>
          <p:nvPr/>
        </p:nvSpPr>
        <p:spPr>
          <a:xfrm>
            <a:off x="23950726" y="3721608"/>
            <a:ext cx="4937760" cy="548640"/>
          </a:xfrm>
          <a:prstGeom prst="rect">
            <a:avLst/>
          </a:prstGeom>
          <a:noFill/>
        </p:spPr>
        <p:txBody>
          <a:bodyPr wrap="square" lIns="0" tIns="0" rIns="0" bIns="0" anchor="t">
            <a:spAutoFit/>
          </a:bodyPr>
          <a:lstStyle/>
          <a:p>
            <a:pPr algn="l"/>
            <a:r>
              <a:rPr sz="1500">
                <a:solidFill>
                  <a:srgbClr val="6B7A72"/>
                </a:solidFill>
                <a:latin typeface="Google Sans Flex Light"/>
              </a:rPr>
              <a:t>the rule, and the smallest change that makes room</a:t>
            </a:r>
          </a:p>
        </p:txBody>
      </p:sp>
      <p:sp>
        <p:nvSpPr>
          <p:cNvPr id="43" name="!!t7-2-head">
            <a:extLst>
              <a:ext uri="{FF2B5EF4-FFF2-40B4-BE49-F238E27FC236}">
                <a16:creationId xmlns:a16="http://schemas.microsoft.com/office/drawing/2014/main" id="{065F9A42-D097-F966-2779-377B297B00D8}"/>
              </a:ext>
            </a:extLst>
          </p:cNvPr>
          <p:cNvSpPr txBox="1"/>
          <p:nvPr/>
        </p:nvSpPr>
        <p:spPr>
          <a:xfrm>
            <a:off x="25010081" y="4498848"/>
            <a:ext cx="4937760" cy="457200"/>
          </a:xfrm>
          <a:prstGeom prst="rect">
            <a:avLst/>
          </a:prstGeom>
          <a:noFill/>
        </p:spPr>
        <p:txBody>
          <a:bodyPr wrap="square" lIns="0" tIns="0" rIns="0" bIns="0" anchor="t">
            <a:spAutoFit/>
          </a:bodyPr>
          <a:lstStyle/>
          <a:p>
            <a:pPr algn="l"/>
            <a:r>
              <a:rPr sz="2200">
                <a:latin typeface="Google Sans Flex SemiBold"/>
              </a:rPr>
              <a:t>Hire ahead</a:t>
            </a:r>
          </a:p>
        </p:txBody>
      </p:sp>
      <p:sp>
        <p:nvSpPr>
          <p:cNvPr id="44" name="!!t7-2-sub">
            <a:extLst>
              <a:ext uri="{FF2B5EF4-FFF2-40B4-BE49-F238E27FC236}">
                <a16:creationId xmlns:a16="http://schemas.microsoft.com/office/drawing/2014/main" id="{AEE34B14-DDD1-986C-9269-D867C3A1E57C}"/>
              </a:ext>
            </a:extLst>
          </p:cNvPr>
          <p:cNvSpPr txBox="1"/>
          <p:nvPr/>
        </p:nvSpPr>
        <p:spPr>
          <a:xfrm>
            <a:off x="25010081" y="4956048"/>
            <a:ext cx="4937760" cy="548640"/>
          </a:xfrm>
          <a:prstGeom prst="rect">
            <a:avLst/>
          </a:prstGeom>
          <a:noFill/>
        </p:spPr>
        <p:txBody>
          <a:bodyPr wrap="square" lIns="0" tIns="0" rIns="0" bIns="0" anchor="t">
            <a:spAutoFit/>
          </a:bodyPr>
          <a:lstStyle/>
          <a:p>
            <a:pPr algn="l"/>
            <a:r>
              <a:rPr sz="1500">
                <a:solidFill>
                  <a:srgbClr val="6B7A72"/>
                </a:solidFill>
                <a:latin typeface="Google Sans Flex Light"/>
              </a:rPr>
              <a:t>the forecast shows the gap; the admin hires</a:t>
            </a:r>
          </a:p>
        </p:txBody>
      </p:sp>
      <p:pic>
        <p:nvPicPr>
          <p:cNvPr id="45" name="Picture 44" descr="MockUPhone">
            <a:extLst>
              <a:ext uri="{FF2B5EF4-FFF2-40B4-BE49-F238E27FC236}">
                <a16:creationId xmlns:a16="http://schemas.microsoft.com/office/drawing/2014/main" id="{38066100-BB4D-AB20-ED72-E29AB89D7B11}"/>
              </a:ext>
            </a:extLst>
          </p:cNvPr>
          <p:cNvPicPr>
            <a:picLocks noChangeAspect="1"/>
          </p:cNvPicPr>
          <p:nvPr/>
        </p:nvPicPr>
        <p:blipFill>
          <a:blip r:embed="rId11"/>
          <a:stretch>
            <a:fillRect/>
          </a:stretch>
        </p:blipFill>
        <p:spPr>
          <a:xfrm>
            <a:off x="14767297" y="1511029"/>
            <a:ext cx="7028514" cy="4569248"/>
          </a:xfrm>
          <a:prstGeom prst="rect">
            <a:avLst/>
          </a:prstGeom>
        </p:spPr>
      </p:pic>
      <p:sp>
        <p:nvSpPr>
          <p:cNvPr id="62" name="!!edge0">
            <a:extLst>
              <a:ext uri="{FF2B5EF4-FFF2-40B4-BE49-F238E27FC236}">
                <a16:creationId xmlns:a16="http://schemas.microsoft.com/office/drawing/2014/main" id="{BC5DB42A-AE29-44CC-5C17-4E895BCDB82C}"/>
              </a:ext>
            </a:extLst>
          </p:cNvPr>
          <p:cNvSpPr/>
          <p:nvPr/>
        </p:nvSpPr>
        <p:spPr>
          <a:xfrm>
            <a:off x="23056594" y="1857367"/>
            <a:ext cx="4741166" cy="1058434"/>
          </a:xfrm>
          <a:prstGeom prst="roundRect">
            <a:avLst>
              <a:gd name="adj" fmla="val 2451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63" name="!!t7-0-head">
            <a:extLst>
              <a:ext uri="{FF2B5EF4-FFF2-40B4-BE49-F238E27FC236}">
                <a16:creationId xmlns:a16="http://schemas.microsoft.com/office/drawing/2014/main" id="{4044FE18-48F2-7D80-A9D8-48E081DDE4D6}"/>
              </a:ext>
            </a:extLst>
          </p:cNvPr>
          <p:cNvSpPr txBox="1"/>
          <p:nvPr/>
        </p:nvSpPr>
        <p:spPr>
          <a:xfrm>
            <a:off x="23276051" y="2029968"/>
            <a:ext cx="4937760" cy="457200"/>
          </a:xfrm>
          <a:prstGeom prst="rect">
            <a:avLst/>
          </a:prstGeom>
          <a:noFill/>
        </p:spPr>
        <p:txBody>
          <a:bodyPr wrap="square" lIns="0" tIns="0" rIns="0" bIns="0" anchor="t">
            <a:spAutoFit/>
          </a:bodyPr>
          <a:lstStyle/>
          <a:p>
            <a:pPr algn="l"/>
            <a:r>
              <a:rPr sz="2200">
                <a:latin typeface="Google Sans Flex SemiBold"/>
              </a:rPr>
              <a:t>Plan in seconds</a:t>
            </a:r>
          </a:p>
        </p:txBody>
      </p:sp>
      <p:sp>
        <p:nvSpPr>
          <p:cNvPr id="64" name="!!t7-0-sub">
            <a:extLst>
              <a:ext uri="{FF2B5EF4-FFF2-40B4-BE49-F238E27FC236}">
                <a16:creationId xmlns:a16="http://schemas.microsoft.com/office/drawing/2014/main" id="{C136088F-7A1B-3A15-C644-47E518669CCE}"/>
              </a:ext>
            </a:extLst>
          </p:cNvPr>
          <p:cNvSpPr txBox="1"/>
          <p:nvPr/>
        </p:nvSpPr>
        <p:spPr>
          <a:xfrm>
            <a:off x="23276051" y="2487168"/>
            <a:ext cx="4937760" cy="548640"/>
          </a:xfrm>
          <a:prstGeom prst="rect">
            <a:avLst/>
          </a:prstGeom>
          <a:noFill/>
        </p:spPr>
        <p:txBody>
          <a:bodyPr wrap="square" lIns="0" tIns="0" rIns="0" bIns="0" anchor="t">
            <a:spAutoFit/>
          </a:bodyPr>
          <a:lstStyle/>
          <a:p>
            <a:pPr algn="l"/>
            <a:r>
              <a:rPr sz="1500">
                <a:solidFill>
                  <a:srgbClr val="6B7A72"/>
                </a:solidFill>
                <a:latin typeface="Google Sans Flex Light"/>
              </a:rPr>
              <a:t>within every vehicle's limits</a:t>
            </a:r>
          </a:p>
        </p:txBody>
      </p:sp>
      <p:grpSp>
        <p:nvGrpSpPr>
          <p:cNvPr id="65" name="Group 64">
            <a:extLst>
              <a:ext uri="{FF2B5EF4-FFF2-40B4-BE49-F238E27FC236}">
                <a16:creationId xmlns:a16="http://schemas.microsoft.com/office/drawing/2014/main" id="{FFD698AA-E610-C429-8876-FF6247F0ADC5}"/>
              </a:ext>
            </a:extLst>
          </p:cNvPr>
          <p:cNvGrpSpPr/>
          <p:nvPr/>
        </p:nvGrpSpPr>
        <p:grpSpPr>
          <a:xfrm>
            <a:off x="23056594" y="1857367"/>
            <a:ext cx="5157217" cy="1058434"/>
            <a:chOff x="12908104" y="1857367"/>
            <a:chExt cx="5157217" cy="1058434"/>
          </a:xfrm>
        </p:grpSpPr>
        <p:sp>
          <p:nvSpPr>
            <p:cNvPr id="66" name="!!edge0">
              <a:extLst>
                <a:ext uri="{FF2B5EF4-FFF2-40B4-BE49-F238E27FC236}">
                  <a16:creationId xmlns:a16="http://schemas.microsoft.com/office/drawing/2014/main" id="{8775B082-B960-F4B3-B0D5-CA86A84BE543}"/>
                </a:ext>
              </a:extLst>
            </p:cNvPr>
            <p:cNvSpPr/>
            <p:nvPr/>
          </p:nvSpPr>
          <p:spPr>
            <a:xfrm>
              <a:off x="12908104" y="1857367"/>
              <a:ext cx="4741166" cy="1058434"/>
            </a:xfrm>
            <a:prstGeom prst="roundRect">
              <a:avLst>
                <a:gd name="adj" fmla="val 24511"/>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solidFill>
                  <a:schemeClr val="bg1"/>
                </a:solidFill>
              </a:endParaRPr>
            </a:p>
          </p:txBody>
        </p:sp>
        <p:sp>
          <p:nvSpPr>
            <p:cNvPr id="67" name="!!t7-0-head">
              <a:extLst>
                <a:ext uri="{FF2B5EF4-FFF2-40B4-BE49-F238E27FC236}">
                  <a16:creationId xmlns:a16="http://schemas.microsoft.com/office/drawing/2014/main" id="{80DE3BD0-AA92-5620-1089-345B2DF9432F}"/>
                </a:ext>
              </a:extLst>
            </p:cNvPr>
            <p:cNvSpPr txBox="1"/>
            <p:nvPr/>
          </p:nvSpPr>
          <p:spPr>
            <a:xfrm>
              <a:off x="13127561" y="2029968"/>
              <a:ext cx="4937760" cy="338554"/>
            </a:xfrm>
            <a:prstGeom prst="rect">
              <a:avLst/>
            </a:prstGeom>
            <a:noFill/>
          </p:spPr>
          <p:txBody>
            <a:bodyPr wrap="square" lIns="0" tIns="0" rIns="0" bIns="0" anchor="t">
              <a:spAutoFit/>
            </a:bodyPr>
            <a:lstStyle/>
            <a:p>
              <a:pPr algn="l"/>
              <a:r>
                <a:rPr sz="2200" dirty="0">
                  <a:solidFill>
                    <a:schemeClr val="bg1"/>
                  </a:solidFill>
                  <a:latin typeface="Google Sans Flex SemiBold"/>
                </a:rPr>
                <a:t>Plan in seconds</a:t>
              </a:r>
            </a:p>
          </p:txBody>
        </p:sp>
        <p:sp>
          <p:nvSpPr>
            <p:cNvPr id="68" name="!!t7-0-sub">
              <a:extLst>
                <a:ext uri="{FF2B5EF4-FFF2-40B4-BE49-F238E27FC236}">
                  <a16:creationId xmlns:a16="http://schemas.microsoft.com/office/drawing/2014/main" id="{1C1C30AA-02A5-293F-B62A-04E3AA3E4DA7}"/>
                </a:ext>
              </a:extLst>
            </p:cNvPr>
            <p:cNvSpPr txBox="1"/>
            <p:nvPr/>
          </p:nvSpPr>
          <p:spPr>
            <a:xfrm>
              <a:off x="13127561" y="2487168"/>
              <a:ext cx="4937760" cy="230832"/>
            </a:xfrm>
            <a:prstGeom prst="rect">
              <a:avLst/>
            </a:prstGeom>
            <a:noFill/>
          </p:spPr>
          <p:txBody>
            <a:bodyPr wrap="square" lIns="0" tIns="0" rIns="0" bIns="0" anchor="t">
              <a:spAutoFit/>
            </a:bodyPr>
            <a:lstStyle/>
            <a:p>
              <a:pPr algn="l"/>
              <a:r>
                <a:rPr sz="1500">
                  <a:solidFill>
                    <a:schemeClr val="bg1"/>
                  </a:solidFill>
                  <a:latin typeface="Google Sans Flex Light"/>
                </a:rPr>
                <a:t>within every vehicle's limits</a:t>
              </a:r>
            </a:p>
          </p:txBody>
        </p:sp>
      </p:grpSp>
    </p:spTree>
    <p:extLst>
      <p:ext uri="{BB962C8B-B14F-4D97-AF65-F5344CB8AC3E}">
        <p14:creationId xmlns:p14="http://schemas.microsoft.com/office/powerpoint/2010/main" val="20444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65"/>
                                        </p:tgtEl>
                                      </p:cBhvr>
                                    </p:animEffect>
                                    <p:set>
                                      <p:cBhvr>
                                        <p:cTn id="7" dur="1" fill="hold">
                                          <p:stCondLst>
                                            <p:cond delay="499"/>
                                          </p:stCondLst>
                                        </p:cTn>
                                        <p:tgtEl>
                                          <p:spTgt spid="6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C3AD6B48-EC26-1C7F-547D-386218C882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411" y="2029968"/>
            <a:ext cx="5399532" cy="3543059"/>
          </a:xfrm>
          <a:prstGeom prst="rect">
            <a:avLst/>
          </a:prstGeom>
        </p:spPr>
      </p:pic>
      <p:pic>
        <p:nvPicPr>
          <p:cNvPr id="38" name="Picture 37">
            <a:extLst>
              <a:ext uri="{FF2B5EF4-FFF2-40B4-BE49-F238E27FC236}">
                <a16:creationId xmlns:a16="http://schemas.microsoft.com/office/drawing/2014/main" id="{361B34E2-43B0-9D30-BC53-44273F78CA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0411" y="2029968"/>
            <a:ext cx="5399532" cy="3543059"/>
          </a:xfrm>
          <a:prstGeom prst="rect">
            <a:avLst/>
          </a:prstGeom>
        </p:spPr>
      </p:pic>
      <p:pic>
        <p:nvPicPr>
          <p:cNvPr id="36" name="Picture 35">
            <a:extLst>
              <a:ext uri="{FF2B5EF4-FFF2-40B4-BE49-F238E27FC236}">
                <a16:creationId xmlns:a16="http://schemas.microsoft.com/office/drawing/2014/main" id="{4E511D33-D865-A42B-C2CE-6A0E541BC1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0411" y="2029968"/>
            <a:ext cx="5399532" cy="3543059"/>
          </a:xfrm>
          <a:prstGeom prst="rect">
            <a:avLst/>
          </a:prstGeom>
        </p:spPr>
      </p:pic>
      <p:sp>
        <p:nvSpPr>
          <p:cNvPr id="32" name="!!edge0">
            <a:extLst>
              <a:ext uri="{FF2B5EF4-FFF2-40B4-BE49-F238E27FC236}">
                <a16:creationId xmlns:a16="http://schemas.microsoft.com/office/drawing/2014/main" id="{1CD820B1-08CD-DC67-D912-6A0AA12FD4C9}"/>
              </a:ext>
            </a:extLst>
          </p:cNvPr>
          <p:cNvSpPr/>
          <p:nvPr/>
        </p:nvSpPr>
        <p:spPr>
          <a:xfrm>
            <a:off x="923544" y="640080"/>
            <a:ext cx="2486549"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30" name="!!edge0">
            <a:extLst>
              <a:ext uri="{FF2B5EF4-FFF2-40B4-BE49-F238E27FC236}">
                <a16:creationId xmlns:a16="http://schemas.microsoft.com/office/drawing/2014/main" id="{B30E9224-DBBD-B265-8808-E65F332DAD97}"/>
              </a:ext>
            </a:extLst>
          </p:cNvPr>
          <p:cNvSpPr/>
          <p:nvPr/>
        </p:nvSpPr>
        <p:spPr>
          <a:xfrm>
            <a:off x="6825994" y="1857367"/>
            <a:ext cx="4741166" cy="1058434"/>
          </a:xfrm>
          <a:prstGeom prst="roundRect">
            <a:avLst>
              <a:gd name="adj" fmla="val 2451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8" name="!!edge0">
            <a:extLst>
              <a:ext uri="{FF2B5EF4-FFF2-40B4-BE49-F238E27FC236}">
                <a16:creationId xmlns:a16="http://schemas.microsoft.com/office/drawing/2014/main" id="{2FD7E1C0-C9A0-3306-6603-E8401DA35DA6}"/>
              </a:ext>
            </a:extLst>
          </p:cNvPr>
          <p:cNvSpPr/>
          <p:nvPr/>
        </p:nvSpPr>
        <p:spPr>
          <a:xfrm>
            <a:off x="6825994" y="3111230"/>
            <a:ext cx="4741166" cy="1058434"/>
          </a:xfrm>
          <a:prstGeom prst="roundRect">
            <a:avLst>
              <a:gd name="adj" fmla="val 2451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 name="!!section"/>
          <p:cNvSpPr txBox="1"/>
          <p:nvPr/>
        </p:nvSpPr>
        <p:spPr>
          <a:xfrm>
            <a:off x="1124712" y="777723"/>
            <a:ext cx="7315200" cy="369332"/>
          </a:xfrm>
          <a:prstGeom prst="rect">
            <a:avLst/>
          </a:prstGeom>
          <a:noFill/>
        </p:spPr>
        <p:txBody>
          <a:bodyPr wrap="square" lIns="0" tIns="0" rIns="0" bIns="0" anchor="t">
            <a:spAutoFit/>
          </a:bodyPr>
          <a:lstStyle/>
          <a:p>
            <a:pPr algn="l"/>
            <a:r>
              <a:rPr sz="1200" dirty="0">
                <a:solidFill>
                  <a:srgbClr val="006A62"/>
                </a:solidFill>
                <a:latin typeface="Google Sans Flex SemiBold"/>
              </a:rPr>
              <a:t>Problem 1 · </a:t>
            </a:r>
            <a:r>
              <a:rPr lang="en-US" sz="1200" dirty="0">
                <a:solidFill>
                  <a:srgbClr val="006A62"/>
                </a:solidFill>
                <a:latin typeface="Google Sans Flex SemiBold"/>
              </a:rPr>
              <a:t>Vehicle Shortage</a:t>
            </a:r>
          </a:p>
          <a:p>
            <a:pPr algn="l"/>
            <a:endParaRPr sz="1200" dirty="0">
              <a:solidFill>
                <a:srgbClr val="006A62"/>
              </a:solidFill>
              <a:latin typeface="Google Sans Flex SemiBold"/>
            </a:endParaRPr>
          </a:p>
        </p:txBody>
      </p:sp>
      <p:sp>
        <p:nvSpPr>
          <p:cNvPr id="6" name="!!title"/>
          <p:cNvSpPr txBox="1"/>
          <p:nvPr/>
        </p:nvSpPr>
        <p:spPr>
          <a:xfrm>
            <a:off x="923544" y="1185022"/>
            <a:ext cx="7863840" cy="1325880"/>
          </a:xfrm>
          <a:prstGeom prst="rect">
            <a:avLst/>
          </a:prstGeom>
          <a:noFill/>
        </p:spPr>
        <p:txBody>
          <a:bodyPr wrap="square" lIns="0" tIns="0" rIns="0" bIns="0" anchor="t">
            <a:spAutoFit/>
          </a:bodyPr>
          <a:lstStyle/>
          <a:p>
            <a:pPr algn="l"/>
            <a:r>
              <a:rPr sz="3600" dirty="0">
                <a:solidFill>
                  <a:srgbClr val="00B050"/>
                </a:solidFill>
                <a:latin typeface="Google Sans Flex SemiBold"/>
              </a:rPr>
              <a:t>When vehicles</a:t>
            </a:r>
            <a:r>
              <a:rPr sz="3600" dirty="0">
                <a:latin typeface="Google Sans Flex Light"/>
              </a:rPr>
              <a:t> run short</a:t>
            </a:r>
          </a:p>
        </p:txBody>
      </p:sp>
      <p:sp>
        <p:nvSpPr>
          <p:cNvPr id="10" name="!!t7-0-head"/>
          <p:cNvSpPr txBox="1"/>
          <p:nvPr/>
        </p:nvSpPr>
        <p:spPr>
          <a:xfrm>
            <a:off x="7045451" y="2029968"/>
            <a:ext cx="4937760" cy="457200"/>
          </a:xfrm>
          <a:prstGeom prst="rect">
            <a:avLst/>
          </a:prstGeom>
          <a:noFill/>
        </p:spPr>
        <p:txBody>
          <a:bodyPr wrap="square" lIns="0" tIns="0" rIns="0" bIns="0" anchor="t">
            <a:spAutoFit/>
          </a:bodyPr>
          <a:lstStyle/>
          <a:p>
            <a:pPr algn="l"/>
            <a:r>
              <a:rPr sz="2200">
                <a:latin typeface="Google Sans Flex SemiBold"/>
              </a:rPr>
              <a:t>Plan in seconds</a:t>
            </a:r>
          </a:p>
        </p:txBody>
      </p:sp>
      <p:sp>
        <p:nvSpPr>
          <p:cNvPr id="11" name="!!t7-0-sub"/>
          <p:cNvSpPr txBox="1"/>
          <p:nvPr/>
        </p:nvSpPr>
        <p:spPr>
          <a:xfrm>
            <a:off x="7045451" y="2487168"/>
            <a:ext cx="4937760" cy="548640"/>
          </a:xfrm>
          <a:prstGeom prst="rect">
            <a:avLst/>
          </a:prstGeom>
          <a:noFill/>
        </p:spPr>
        <p:txBody>
          <a:bodyPr wrap="square" lIns="0" tIns="0" rIns="0" bIns="0" anchor="t">
            <a:spAutoFit/>
          </a:bodyPr>
          <a:lstStyle/>
          <a:p>
            <a:pPr algn="l"/>
            <a:r>
              <a:rPr sz="1500">
                <a:solidFill>
                  <a:srgbClr val="6B7A72"/>
                </a:solidFill>
                <a:latin typeface="Google Sans Flex Light"/>
              </a:rPr>
              <a:t>within every vehicle's limits</a:t>
            </a:r>
          </a:p>
        </p:txBody>
      </p:sp>
      <p:sp>
        <p:nvSpPr>
          <p:cNvPr id="13" name="!!t7-1-head"/>
          <p:cNvSpPr txBox="1"/>
          <p:nvPr/>
        </p:nvSpPr>
        <p:spPr>
          <a:xfrm>
            <a:off x="7045451" y="3264408"/>
            <a:ext cx="4937760" cy="457200"/>
          </a:xfrm>
          <a:prstGeom prst="rect">
            <a:avLst/>
          </a:prstGeom>
          <a:noFill/>
        </p:spPr>
        <p:txBody>
          <a:bodyPr wrap="square" lIns="0" tIns="0" rIns="0" bIns="0" anchor="t">
            <a:spAutoFit/>
          </a:bodyPr>
          <a:lstStyle/>
          <a:p>
            <a:pPr algn="l"/>
            <a:r>
              <a:rPr sz="2200">
                <a:latin typeface="Google Sans Flex SemiBold"/>
              </a:rPr>
              <a:t>Every waiting order explained</a:t>
            </a:r>
          </a:p>
        </p:txBody>
      </p:sp>
      <p:sp>
        <p:nvSpPr>
          <p:cNvPr id="14" name="!!t7-1-sub"/>
          <p:cNvSpPr txBox="1"/>
          <p:nvPr/>
        </p:nvSpPr>
        <p:spPr>
          <a:xfrm>
            <a:off x="7045451" y="3721608"/>
            <a:ext cx="4937760" cy="548640"/>
          </a:xfrm>
          <a:prstGeom prst="rect">
            <a:avLst/>
          </a:prstGeom>
          <a:noFill/>
        </p:spPr>
        <p:txBody>
          <a:bodyPr wrap="square" lIns="0" tIns="0" rIns="0" bIns="0" anchor="t">
            <a:spAutoFit/>
          </a:bodyPr>
          <a:lstStyle/>
          <a:p>
            <a:pPr algn="l"/>
            <a:r>
              <a:rPr sz="1500">
                <a:solidFill>
                  <a:srgbClr val="6B7A72"/>
                </a:solidFill>
                <a:latin typeface="Google Sans Flex Light"/>
              </a:rPr>
              <a:t>the rule, and the smallest change that makes room</a:t>
            </a:r>
          </a:p>
        </p:txBody>
      </p:sp>
      <p:grpSp>
        <p:nvGrpSpPr>
          <p:cNvPr id="49" name="Group 48">
            <a:extLst>
              <a:ext uri="{FF2B5EF4-FFF2-40B4-BE49-F238E27FC236}">
                <a16:creationId xmlns:a16="http://schemas.microsoft.com/office/drawing/2014/main" id="{A7831897-BE02-A757-9BA2-88E4DF1FF977}"/>
              </a:ext>
            </a:extLst>
          </p:cNvPr>
          <p:cNvGrpSpPr/>
          <p:nvPr/>
        </p:nvGrpSpPr>
        <p:grpSpPr>
          <a:xfrm>
            <a:off x="6825994" y="4365093"/>
            <a:ext cx="5157217" cy="1139595"/>
            <a:chOff x="6825994" y="4365093"/>
            <a:chExt cx="5157217" cy="1139595"/>
          </a:xfrm>
        </p:grpSpPr>
        <p:sp>
          <p:nvSpPr>
            <p:cNvPr id="31" name="!!edge0">
              <a:extLst>
                <a:ext uri="{FF2B5EF4-FFF2-40B4-BE49-F238E27FC236}">
                  <a16:creationId xmlns:a16="http://schemas.microsoft.com/office/drawing/2014/main" id="{B2B447B4-275E-1B78-2EC7-AB5A83354FA2}"/>
                </a:ext>
              </a:extLst>
            </p:cNvPr>
            <p:cNvSpPr/>
            <p:nvPr/>
          </p:nvSpPr>
          <p:spPr>
            <a:xfrm>
              <a:off x="6825994" y="4365093"/>
              <a:ext cx="4741166" cy="1058434"/>
            </a:xfrm>
            <a:prstGeom prst="roundRect">
              <a:avLst>
                <a:gd name="adj" fmla="val 2451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6" name="!!t7-2-head"/>
            <p:cNvSpPr txBox="1"/>
            <p:nvPr/>
          </p:nvSpPr>
          <p:spPr>
            <a:xfrm>
              <a:off x="7045451" y="4498848"/>
              <a:ext cx="4937760" cy="457200"/>
            </a:xfrm>
            <a:prstGeom prst="rect">
              <a:avLst/>
            </a:prstGeom>
            <a:noFill/>
          </p:spPr>
          <p:txBody>
            <a:bodyPr wrap="square" lIns="0" tIns="0" rIns="0" bIns="0" anchor="t">
              <a:spAutoFit/>
            </a:bodyPr>
            <a:lstStyle/>
            <a:p>
              <a:pPr algn="l"/>
              <a:r>
                <a:rPr sz="2200" dirty="0">
                  <a:latin typeface="Google Sans Flex SemiBold"/>
                </a:rPr>
                <a:t>Hire ahead</a:t>
              </a:r>
            </a:p>
          </p:txBody>
        </p:sp>
        <p:sp>
          <p:nvSpPr>
            <p:cNvPr id="17" name="!!t7-2-sub"/>
            <p:cNvSpPr txBox="1"/>
            <p:nvPr/>
          </p:nvSpPr>
          <p:spPr>
            <a:xfrm>
              <a:off x="7045451" y="4956048"/>
              <a:ext cx="4937760" cy="548640"/>
            </a:xfrm>
            <a:prstGeom prst="rect">
              <a:avLst/>
            </a:prstGeom>
            <a:noFill/>
          </p:spPr>
          <p:txBody>
            <a:bodyPr wrap="square" lIns="0" tIns="0" rIns="0" bIns="0" anchor="t">
              <a:spAutoFit/>
            </a:bodyPr>
            <a:lstStyle/>
            <a:p>
              <a:pPr algn="l"/>
              <a:r>
                <a:rPr sz="1500">
                  <a:solidFill>
                    <a:srgbClr val="6B7A72"/>
                  </a:solidFill>
                  <a:latin typeface="Google Sans Flex Light"/>
                </a:rPr>
                <a:t>the forecast shows the gap; the admin hires</a:t>
              </a:r>
            </a:p>
          </p:txBody>
        </p:sp>
      </p:grpSp>
      <p:pic>
        <p:nvPicPr>
          <p:cNvPr id="18" name="Picture 17" descr="MockUPhone">
            <a:extLst>
              <a:ext uri="{FF2B5EF4-FFF2-40B4-BE49-F238E27FC236}">
                <a16:creationId xmlns:a16="http://schemas.microsoft.com/office/drawing/2014/main" id="{10A2B402-A0D1-B59A-05C5-5F6680D24F2F}"/>
              </a:ext>
            </a:extLst>
          </p:cNvPr>
          <p:cNvPicPr>
            <a:picLocks noChangeAspect="1"/>
          </p:cNvPicPr>
          <p:nvPr/>
        </p:nvPicPr>
        <p:blipFill>
          <a:blip r:embed="rId6"/>
          <a:stretch>
            <a:fillRect/>
          </a:stretch>
        </p:blipFill>
        <p:spPr>
          <a:xfrm>
            <a:off x="196597" y="1511029"/>
            <a:ext cx="7028514" cy="4569248"/>
          </a:xfrm>
          <a:prstGeom prst="rect">
            <a:avLst/>
          </a:prstGeom>
        </p:spPr>
      </p:pic>
      <p:grpSp>
        <p:nvGrpSpPr>
          <p:cNvPr id="78" name="Group 77">
            <a:extLst>
              <a:ext uri="{FF2B5EF4-FFF2-40B4-BE49-F238E27FC236}">
                <a16:creationId xmlns:a16="http://schemas.microsoft.com/office/drawing/2014/main" id="{2FF67088-0427-32C4-4873-EAF589272AA8}"/>
              </a:ext>
            </a:extLst>
          </p:cNvPr>
          <p:cNvGrpSpPr/>
          <p:nvPr/>
        </p:nvGrpSpPr>
        <p:grpSpPr>
          <a:xfrm>
            <a:off x="6825994" y="1857367"/>
            <a:ext cx="5157217" cy="1058434"/>
            <a:chOff x="12908104" y="1857367"/>
            <a:chExt cx="5157217" cy="1058434"/>
          </a:xfrm>
        </p:grpSpPr>
        <p:sp>
          <p:nvSpPr>
            <p:cNvPr id="69" name="!!edge0">
              <a:extLst>
                <a:ext uri="{FF2B5EF4-FFF2-40B4-BE49-F238E27FC236}">
                  <a16:creationId xmlns:a16="http://schemas.microsoft.com/office/drawing/2014/main" id="{2D5E943E-6860-579D-9538-3B7B81AD2B53}"/>
                </a:ext>
              </a:extLst>
            </p:cNvPr>
            <p:cNvSpPr/>
            <p:nvPr/>
          </p:nvSpPr>
          <p:spPr>
            <a:xfrm>
              <a:off x="12908104" y="1857367"/>
              <a:ext cx="4741166" cy="1058434"/>
            </a:xfrm>
            <a:prstGeom prst="roundRect">
              <a:avLst>
                <a:gd name="adj" fmla="val 24511"/>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solidFill>
                  <a:schemeClr val="bg1"/>
                </a:solidFill>
              </a:endParaRPr>
            </a:p>
          </p:txBody>
        </p:sp>
        <p:sp>
          <p:nvSpPr>
            <p:cNvPr id="72" name="!!t7-0-head">
              <a:extLst>
                <a:ext uri="{FF2B5EF4-FFF2-40B4-BE49-F238E27FC236}">
                  <a16:creationId xmlns:a16="http://schemas.microsoft.com/office/drawing/2014/main" id="{5A1A5E2C-3014-A05F-4433-F17DA680004B}"/>
                </a:ext>
              </a:extLst>
            </p:cNvPr>
            <p:cNvSpPr txBox="1"/>
            <p:nvPr/>
          </p:nvSpPr>
          <p:spPr>
            <a:xfrm>
              <a:off x="13127561" y="2029968"/>
              <a:ext cx="4937760" cy="338554"/>
            </a:xfrm>
            <a:prstGeom prst="rect">
              <a:avLst/>
            </a:prstGeom>
            <a:noFill/>
          </p:spPr>
          <p:txBody>
            <a:bodyPr wrap="square" lIns="0" tIns="0" rIns="0" bIns="0" anchor="t">
              <a:spAutoFit/>
            </a:bodyPr>
            <a:lstStyle/>
            <a:p>
              <a:pPr algn="l"/>
              <a:r>
                <a:rPr sz="2200" dirty="0">
                  <a:solidFill>
                    <a:schemeClr val="bg1"/>
                  </a:solidFill>
                  <a:latin typeface="Google Sans Flex SemiBold"/>
                </a:rPr>
                <a:t>Plan in seconds</a:t>
              </a:r>
            </a:p>
          </p:txBody>
        </p:sp>
        <p:sp>
          <p:nvSpPr>
            <p:cNvPr id="73" name="!!t7-0-sub">
              <a:extLst>
                <a:ext uri="{FF2B5EF4-FFF2-40B4-BE49-F238E27FC236}">
                  <a16:creationId xmlns:a16="http://schemas.microsoft.com/office/drawing/2014/main" id="{443661D7-EAB8-C8D5-C69D-23538E0C1C7C}"/>
                </a:ext>
              </a:extLst>
            </p:cNvPr>
            <p:cNvSpPr txBox="1"/>
            <p:nvPr/>
          </p:nvSpPr>
          <p:spPr>
            <a:xfrm>
              <a:off x="13127561" y="2487168"/>
              <a:ext cx="4937760" cy="230832"/>
            </a:xfrm>
            <a:prstGeom prst="rect">
              <a:avLst/>
            </a:prstGeom>
            <a:noFill/>
          </p:spPr>
          <p:txBody>
            <a:bodyPr wrap="square" lIns="0" tIns="0" rIns="0" bIns="0" anchor="t">
              <a:spAutoFit/>
            </a:bodyPr>
            <a:lstStyle/>
            <a:p>
              <a:pPr algn="l"/>
              <a:r>
                <a:rPr sz="1500">
                  <a:solidFill>
                    <a:schemeClr val="bg1"/>
                  </a:solidFill>
                  <a:latin typeface="Google Sans Flex Light"/>
                </a:rPr>
                <a:t>within every vehicle's limits</a:t>
              </a:r>
            </a:p>
          </p:txBody>
        </p:sp>
      </p:grpSp>
      <p:grpSp>
        <p:nvGrpSpPr>
          <p:cNvPr id="79" name="Group 78">
            <a:extLst>
              <a:ext uri="{FF2B5EF4-FFF2-40B4-BE49-F238E27FC236}">
                <a16:creationId xmlns:a16="http://schemas.microsoft.com/office/drawing/2014/main" id="{2ACC9378-8181-55B1-7099-C63613B5268C}"/>
              </a:ext>
            </a:extLst>
          </p:cNvPr>
          <p:cNvGrpSpPr/>
          <p:nvPr/>
        </p:nvGrpSpPr>
        <p:grpSpPr>
          <a:xfrm>
            <a:off x="6825994" y="3111230"/>
            <a:ext cx="5157217" cy="1058434"/>
            <a:chOff x="12908104" y="3111230"/>
            <a:chExt cx="5157217" cy="1058434"/>
          </a:xfrm>
        </p:grpSpPr>
        <p:sp>
          <p:nvSpPr>
            <p:cNvPr id="71" name="!!edge0">
              <a:extLst>
                <a:ext uri="{FF2B5EF4-FFF2-40B4-BE49-F238E27FC236}">
                  <a16:creationId xmlns:a16="http://schemas.microsoft.com/office/drawing/2014/main" id="{FD408CC5-B182-A6CC-BCE2-F15130150E92}"/>
                </a:ext>
              </a:extLst>
            </p:cNvPr>
            <p:cNvSpPr/>
            <p:nvPr/>
          </p:nvSpPr>
          <p:spPr>
            <a:xfrm>
              <a:off x="12908104" y="3111230"/>
              <a:ext cx="4741166" cy="1058434"/>
            </a:xfrm>
            <a:prstGeom prst="roundRect">
              <a:avLst>
                <a:gd name="adj" fmla="val 24511"/>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solidFill>
                  <a:schemeClr val="bg1"/>
                </a:solidFill>
              </a:endParaRPr>
            </a:p>
          </p:txBody>
        </p:sp>
        <p:sp>
          <p:nvSpPr>
            <p:cNvPr id="74" name="!!t7-1-head">
              <a:extLst>
                <a:ext uri="{FF2B5EF4-FFF2-40B4-BE49-F238E27FC236}">
                  <a16:creationId xmlns:a16="http://schemas.microsoft.com/office/drawing/2014/main" id="{5D168825-D16B-7D84-1BE5-FB2492984821}"/>
                </a:ext>
              </a:extLst>
            </p:cNvPr>
            <p:cNvSpPr txBox="1"/>
            <p:nvPr/>
          </p:nvSpPr>
          <p:spPr>
            <a:xfrm>
              <a:off x="13127561" y="3264408"/>
              <a:ext cx="4937760" cy="338554"/>
            </a:xfrm>
            <a:prstGeom prst="rect">
              <a:avLst/>
            </a:prstGeom>
            <a:noFill/>
          </p:spPr>
          <p:txBody>
            <a:bodyPr wrap="square" lIns="0" tIns="0" rIns="0" bIns="0" anchor="t">
              <a:spAutoFit/>
            </a:bodyPr>
            <a:lstStyle/>
            <a:p>
              <a:pPr algn="l"/>
              <a:r>
                <a:rPr sz="2200">
                  <a:solidFill>
                    <a:schemeClr val="bg1"/>
                  </a:solidFill>
                  <a:latin typeface="Google Sans Flex SemiBold"/>
                </a:rPr>
                <a:t>Every waiting order explained</a:t>
              </a:r>
            </a:p>
          </p:txBody>
        </p:sp>
        <p:sp>
          <p:nvSpPr>
            <p:cNvPr id="75" name="!!t7-1-sub">
              <a:extLst>
                <a:ext uri="{FF2B5EF4-FFF2-40B4-BE49-F238E27FC236}">
                  <a16:creationId xmlns:a16="http://schemas.microsoft.com/office/drawing/2014/main" id="{836733B7-E64E-C007-D6E3-896EC97CCE70}"/>
                </a:ext>
              </a:extLst>
            </p:cNvPr>
            <p:cNvSpPr txBox="1"/>
            <p:nvPr/>
          </p:nvSpPr>
          <p:spPr>
            <a:xfrm>
              <a:off x="13127561" y="3721608"/>
              <a:ext cx="4937760" cy="230832"/>
            </a:xfrm>
            <a:prstGeom prst="rect">
              <a:avLst/>
            </a:prstGeom>
            <a:noFill/>
          </p:spPr>
          <p:txBody>
            <a:bodyPr wrap="square" lIns="0" tIns="0" rIns="0" bIns="0" anchor="t">
              <a:spAutoFit/>
            </a:bodyPr>
            <a:lstStyle/>
            <a:p>
              <a:pPr algn="l"/>
              <a:r>
                <a:rPr sz="1500" dirty="0">
                  <a:solidFill>
                    <a:schemeClr val="bg1"/>
                  </a:solidFill>
                  <a:latin typeface="Google Sans Flex Light"/>
                </a:rPr>
                <a:t>the rule, and the smallest change that makes room</a:t>
              </a:r>
            </a:p>
          </p:txBody>
        </p:sp>
      </p:grpSp>
      <p:grpSp>
        <p:nvGrpSpPr>
          <p:cNvPr id="80" name="Group 79">
            <a:extLst>
              <a:ext uri="{FF2B5EF4-FFF2-40B4-BE49-F238E27FC236}">
                <a16:creationId xmlns:a16="http://schemas.microsoft.com/office/drawing/2014/main" id="{733C4B8B-A9F3-EA01-B297-8AF4126C232E}"/>
              </a:ext>
            </a:extLst>
          </p:cNvPr>
          <p:cNvGrpSpPr/>
          <p:nvPr/>
        </p:nvGrpSpPr>
        <p:grpSpPr>
          <a:xfrm>
            <a:off x="6825994" y="4361198"/>
            <a:ext cx="5157217" cy="1058434"/>
            <a:chOff x="12908104" y="4365093"/>
            <a:chExt cx="5157217" cy="1058434"/>
          </a:xfrm>
        </p:grpSpPr>
        <p:sp>
          <p:nvSpPr>
            <p:cNvPr id="70" name="!!edge0">
              <a:extLst>
                <a:ext uri="{FF2B5EF4-FFF2-40B4-BE49-F238E27FC236}">
                  <a16:creationId xmlns:a16="http://schemas.microsoft.com/office/drawing/2014/main" id="{DCA19956-1BB1-B28A-E10F-10629160D839}"/>
                </a:ext>
              </a:extLst>
            </p:cNvPr>
            <p:cNvSpPr/>
            <p:nvPr/>
          </p:nvSpPr>
          <p:spPr>
            <a:xfrm>
              <a:off x="12908104" y="4365093"/>
              <a:ext cx="4741166" cy="1058434"/>
            </a:xfrm>
            <a:prstGeom prst="roundRect">
              <a:avLst>
                <a:gd name="adj" fmla="val 24511"/>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solidFill>
                  <a:schemeClr val="bg1"/>
                </a:solidFill>
              </a:endParaRPr>
            </a:p>
          </p:txBody>
        </p:sp>
        <p:sp>
          <p:nvSpPr>
            <p:cNvPr id="76" name="!!t7-2-head">
              <a:extLst>
                <a:ext uri="{FF2B5EF4-FFF2-40B4-BE49-F238E27FC236}">
                  <a16:creationId xmlns:a16="http://schemas.microsoft.com/office/drawing/2014/main" id="{A56AC61A-D00E-1F81-73DA-C77CA5859973}"/>
                </a:ext>
              </a:extLst>
            </p:cNvPr>
            <p:cNvSpPr txBox="1"/>
            <p:nvPr/>
          </p:nvSpPr>
          <p:spPr>
            <a:xfrm>
              <a:off x="13127561" y="4498848"/>
              <a:ext cx="4937760" cy="338554"/>
            </a:xfrm>
            <a:prstGeom prst="rect">
              <a:avLst/>
            </a:prstGeom>
            <a:noFill/>
          </p:spPr>
          <p:txBody>
            <a:bodyPr wrap="square" lIns="0" tIns="0" rIns="0" bIns="0" anchor="t">
              <a:spAutoFit/>
            </a:bodyPr>
            <a:lstStyle/>
            <a:p>
              <a:pPr algn="l"/>
              <a:r>
                <a:rPr sz="2200">
                  <a:solidFill>
                    <a:schemeClr val="bg1"/>
                  </a:solidFill>
                  <a:latin typeface="Google Sans Flex SemiBold"/>
                </a:rPr>
                <a:t>Hire ahead</a:t>
              </a:r>
            </a:p>
          </p:txBody>
        </p:sp>
        <p:sp>
          <p:nvSpPr>
            <p:cNvPr id="77" name="!!t7-2-sub">
              <a:extLst>
                <a:ext uri="{FF2B5EF4-FFF2-40B4-BE49-F238E27FC236}">
                  <a16:creationId xmlns:a16="http://schemas.microsoft.com/office/drawing/2014/main" id="{87E4A87F-9E76-0AE3-1ABD-68162A5A0C7A}"/>
                </a:ext>
              </a:extLst>
            </p:cNvPr>
            <p:cNvSpPr txBox="1"/>
            <p:nvPr/>
          </p:nvSpPr>
          <p:spPr>
            <a:xfrm>
              <a:off x="13127561" y="4956048"/>
              <a:ext cx="4937760" cy="230832"/>
            </a:xfrm>
            <a:prstGeom prst="rect">
              <a:avLst/>
            </a:prstGeom>
            <a:noFill/>
          </p:spPr>
          <p:txBody>
            <a:bodyPr wrap="square" lIns="0" tIns="0" rIns="0" bIns="0" anchor="t">
              <a:spAutoFit/>
            </a:bodyPr>
            <a:lstStyle/>
            <a:p>
              <a:pPr algn="l"/>
              <a:r>
                <a:rPr sz="1500">
                  <a:solidFill>
                    <a:schemeClr val="bg1"/>
                  </a:solidFill>
                  <a:latin typeface="Google Sans Flex Light"/>
                </a:rPr>
                <a:t>the forecast shows the gap; the admin hires</a:t>
              </a:r>
            </a:p>
          </p:txBody>
        </p:sp>
      </p:grpSp>
      <p:sp>
        <p:nvSpPr>
          <p:cNvPr id="2" name="Rectangle 1">
            <a:extLst>
              <a:ext uri="{FF2B5EF4-FFF2-40B4-BE49-F238E27FC236}">
                <a16:creationId xmlns:a16="http://schemas.microsoft.com/office/drawing/2014/main" id="{9A6BF37F-1282-CD10-F623-41D1BC04BD3C}"/>
              </a:ext>
            </a:extLst>
          </p:cNvPr>
          <p:cNvSpPr/>
          <p:nvPr/>
        </p:nvSpPr>
        <p:spPr>
          <a:xfrm>
            <a:off x="-14109472" y="0"/>
            <a:ext cx="609599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pic>
        <p:nvPicPr>
          <p:cNvPr id="3" name="Picture 2">
            <a:extLst>
              <a:ext uri="{FF2B5EF4-FFF2-40B4-BE49-F238E27FC236}">
                <a16:creationId xmlns:a16="http://schemas.microsoft.com/office/drawing/2014/main" id="{A1039354-F538-166C-13A2-02033EF1D8D0}"/>
              </a:ext>
            </a:extLst>
          </p:cNvPr>
          <p:cNvPicPr>
            <a:picLocks noChangeAspect="1"/>
          </p:cNvPicPr>
          <p:nvPr/>
        </p:nvPicPr>
        <p:blipFill>
          <a:blip r:embed="rId7">
            <a:extLst>
              <a:ext uri="{28A0092B-C50C-407E-A947-70E740481C1C}">
                <a14:useLocalDpi xmlns:a14="http://schemas.microsoft.com/office/drawing/2010/main" val="0"/>
              </a:ext>
            </a:extLst>
          </a:blip>
          <a:srcRect l="31381" t="108" r="36550" b="-108"/>
          <a:stretch>
            <a:fillRect/>
          </a:stretch>
        </p:blipFill>
        <p:spPr>
          <a:xfrm>
            <a:off x="-10260365" y="1650832"/>
            <a:ext cx="2236438" cy="5207169"/>
          </a:xfrm>
          <a:prstGeom prst="rect">
            <a:avLst/>
          </a:prstGeom>
        </p:spPr>
      </p:pic>
      <p:pic>
        <p:nvPicPr>
          <p:cNvPr id="4" name="Picture 3">
            <a:extLst>
              <a:ext uri="{FF2B5EF4-FFF2-40B4-BE49-F238E27FC236}">
                <a16:creationId xmlns:a16="http://schemas.microsoft.com/office/drawing/2014/main" id="{50D9EEF9-E1C6-6765-D782-3A4DF8FCC241}"/>
              </a:ext>
            </a:extLst>
          </p:cNvPr>
          <p:cNvPicPr>
            <a:picLocks noChangeAspect="1"/>
          </p:cNvPicPr>
          <p:nvPr/>
        </p:nvPicPr>
        <p:blipFill>
          <a:blip r:embed="rId8">
            <a:extLst>
              <a:ext uri="{28A0092B-C50C-407E-A947-70E740481C1C}">
                <a14:useLocalDpi xmlns:a14="http://schemas.microsoft.com/office/drawing/2010/main" val="0"/>
              </a:ext>
            </a:extLst>
          </a:blip>
          <a:srcRect l="33095" r="40609" b="33159"/>
          <a:stretch>
            <a:fillRect/>
          </a:stretch>
        </p:blipFill>
        <p:spPr>
          <a:xfrm>
            <a:off x="-11175880" y="2663420"/>
            <a:ext cx="921063" cy="4194579"/>
          </a:xfrm>
          <a:prstGeom prst="rect">
            <a:avLst/>
          </a:prstGeom>
        </p:spPr>
      </p:pic>
      <p:pic>
        <p:nvPicPr>
          <p:cNvPr id="7" name="Picture 6">
            <a:extLst>
              <a:ext uri="{FF2B5EF4-FFF2-40B4-BE49-F238E27FC236}">
                <a16:creationId xmlns:a16="http://schemas.microsoft.com/office/drawing/2014/main" id="{E029E127-2E2A-62E6-FD4B-16D1E778DE4F}"/>
              </a:ext>
            </a:extLst>
          </p:cNvPr>
          <p:cNvPicPr>
            <a:picLocks noChangeAspect="1"/>
          </p:cNvPicPr>
          <p:nvPr/>
        </p:nvPicPr>
        <p:blipFill>
          <a:blip r:embed="rId9">
            <a:extLst>
              <a:ext uri="{28A0092B-C50C-407E-A947-70E740481C1C}">
                <a14:useLocalDpi xmlns:a14="http://schemas.microsoft.com/office/drawing/2010/main" val="0"/>
              </a:ext>
            </a:extLst>
          </a:blip>
          <a:srcRect l="35747" r="32674" b="21928"/>
          <a:stretch>
            <a:fillRect/>
          </a:stretch>
        </p:blipFill>
        <p:spPr>
          <a:xfrm>
            <a:off x="-13040358" y="2729345"/>
            <a:ext cx="932097" cy="4128655"/>
          </a:xfrm>
          <a:prstGeom prst="rect">
            <a:avLst/>
          </a:prstGeom>
        </p:spPr>
      </p:pic>
      <p:pic>
        <p:nvPicPr>
          <p:cNvPr id="8" name="Picture 7">
            <a:extLst>
              <a:ext uri="{FF2B5EF4-FFF2-40B4-BE49-F238E27FC236}">
                <a16:creationId xmlns:a16="http://schemas.microsoft.com/office/drawing/2014/main" id="{55EA05D5-5708-C789-C1DE-81C64AFD5D82}"/>
              </a:ext>
            </a:extLst>
          </p:cNvPr>
          <p:cNvPicPr>
            <a:picLocks noChangeAspect="1"/>
          </p:cNvPicPr>
          <p:nvPr/>
        </p:nvPicPr>
        <p:blipFill>
          <a:blip r:embed="rId10">
            <a:extLst>
              <a:ext uri="{28A0092B-C50C-407E-A947-70E740481C1C}">
                <a14:useLocalDpi xmlns:a14="http://schemas.microsoft.com/office/drawing/2010/main" val="0"/>
              </a:ext>
            </a:extLst>
          </a:blip>
          <a:srcRect l="47558" r="38108" b="5628"/>
          <a:stretch>
            <a:fillRect/>
          </a:stretch>
        </p:blipFill>
        <p:spPr>
          <a:xfrm>
            <a:off x="-12108261" y="2729345"/>
            <a:ext cx="934732" cy="4128655"/>
          </a:xfrm>
          <a:prstGeom prst="rect">
            <a:avLst/>
          </a:prstGeom>
        </p:spPr>
      </p:pic>
      <p:cxnSp>
        <p:nvCxnSpPr>
          <p:cNvPr id="9" name="Straight Connector 8">
            <a:extLst>
              <a:ext uri="{FF2B5EF4-FFF2-40B4-BE49-F238E27FC236}">
                <a16:creationId xmlns:a16="http://schemas.microsoft.com/office/drawing/2014/main" id="{DA04D484-DE7D-3742-BC8C-8C51D3DDBCB8}"/>
              </a:ext>
            </a:extLst>
          </p:cNvPr>
          <p:cNvCxnSpPr>
            <a:cxnSpLocks/>
          </p:cNvCxnSpPr>
          <p:nvPr/>
        </p:nvCxnSpPr>
        <p:spPr>
          <a:xfrm>
            <a:off x="-13040358"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523428F-A304-8147-0CCE-2799259263AF}"/>
              </a:ext>
            </a:extLst>
          </p:cNvPr>
          <p:cNvCxnSpPr>
            <a:cxnSpLocks/>
          </p:cNvCxnSpPr>
          <p:nvPr/>
        </p:nvCxnSpPr>
        <p:spPr>
          <a:xfrm>
            <a:off x="-8013472"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B5E8C7BA-0B1F-90D6-08FE-D04D2E280F99}"/>
              </a:ext>
            </a:extLst>
          </p:cNvPr>
          <p:cNvSpPr txBox="1">
            <a:spLocks/>
          </p:cNvSpPr>
          <p:nvPr/>
        </p:nvSpPr>
        <p:spPr>
          <a:xfrm>
            <a:off x="-17630643" y="621152"/>
            <a:ext cx="5698176" cy="1304036"/>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4 People One app,  </a:t>
            </a:r>
          </a:p>
          <a:p>
            <a:pPr algn="l"/>
            <a:r>
              <a:rPr lang="en-GB" sz="3600" dirty="0">
                <a:latin typeface="Google Sans Flex Light" panose="020B0503030502040204" pitchFamily="34" charset="0"/>
                <a:ea typeface="Google Sans Flex Light" panose="020B0503030502040204" pitchFamily="34" charset="0"/>
                <a:cs typeface="Google Sans Flex Light" panose="020B0503030502040204" pitchFamily="34" charset="0"/>
              </a:rPr>
              <a:t>Every Handoff on record</a:t>
            </a:r>
            <a:endParaRPr lang="en-US" sz="36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cxnSp>
        <p:nvCxnSpPr>
          <p:cNvPr id="19" name="Straight Connector 18">
            <a:extLst>
              <a:ext uri="{FF2B5EF4-FFF2-40B4-BE49-F238E27FC236}">
                <a16:creationId xmlns:a16="http://schemas.microsoft.com/office/drawing/2014/main" id="{85B261E2-D9B0-6BF4-16D5-E377D3D0D59F}"/>
              </a:ext>
            </a:extLst>
          </p:cNvPr>
          <p:cNvCxnSpPr>
            <a:cxnSpLocks/>
          </p:cNvCxnSpPr>
          <p:nvPr/>
        </p:nvCxnSpPr>
        <p:spPr>
          <a:xfrm>
            <a:off x="-12108257"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2825043-62D0-8608-B3E4-63499C17C609}"/>
              </a:ext>
            </a:extLst>
          </p:cNvPr>
          <p:cNvCxnSpPr>
            <a:cxnSpLocks/>
          </p:cNvCxnSpPr>
          <p:nvPr/>
        </p:nvCxnSpPr>
        <p:spPr>
          <a:xfrm>
            <a:off x="-11183851"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6F37194-771E-B28C-F594-5E27EABA63AA}"/>
              </a:ext>
            </a:extLst>
          </p:cNvPr>
          <p:cNvCxnSpPr>
            <a:cxnSpLocks/>
          </p:cNvCxnSpPr>
          <p:nvPr/>
        </p:nvCxnSpPr>
        <p:spPr>
          <a:xfrm>
            <a:off x="-10256800" y="2157127"/>
            <a:ext cx="0" cy="424481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8A2EB40D-37F9-A6A0-6D2D-1CD779682D5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077454" y="0"/>
            <a:ext cx="6858000" cy="6858000"/>
          </a:xfrm>
          <a:prstGeom prst="rect">
            <a:avLst/>
          </a:prstGeom>
        </p:spPr>
      </p:pic>
      <p:sp>
        <p:nvSpPr>
          <p:cNvPr id="23" name="Rectangle: Rounded Corners 22">
            <a:extLst>
              <a:ext uri="{FF2B5EF4-FFF2-40B4-BE49-F238E27FC236}">
                <a16:creationId xmlns:a16="http://schemas.microsoft.com/office/drawing/2014/main" id="{3BE997DE-5EFA-F500-F0C6-CB8EA3A1996F}"/>
              </a:ext>
            </a:extLst>
          </p:cNvPr>
          <p:cNvSpPr/>
          <p:nvPr/>
        </p:nvSpPr>
        <p:spPr>
          <a:xfrm>
            <a:off x="918749" y="7721458"/>
            <a:ext cx="2576650" cy="1921812"/>
          </a:xfrm>
          <a:prstGeom prst="roundRect">
            <a:avLst/>
          </a:prstGeom>
          <a:solidFill>
            <a:srgbClr val="E7F3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1BCE4A4C-9C25-AFE1-9C0D-DB5D0D0D51C2}"/>
              </a:ext>
            </a:extLst>
          </p:cNvPr>
          <p:cNvPicPr>
            <a:picLocks noChangeAspect="1"/>
          </p:cNvPicPr>
          <p:nvPr/>
        </p:nvPicPr>
        <p:blipFill>
          <a:blip r:embed="rId12">
            <a:extLst>
              <a:ext uri="{28A0092B-C50C-407E-A947-70E740481C1C}">
                <a14:useLocalDpi xmlns:a14="http://schemas.microsoft.com/office/drawing/2010/main" val="0"/>
              </a:ext>
            </a:extLst>
          </a:blip>
          <a:srcRect t="7110"/>
          <a:stretch>
            <a:fillRect/>
          </a:stretch>
        </p:blipFill>
        <p:spPr>
          <a:xfrm>
            <a:off x="918749" y="8099410"/>
            <a:ext cx="2576650" cy="5188819"/>
          </a:xfrm>
          <a:prstGeom prst="roundRect">
            <a:avLst>
              <a:gd name="adj" fmla="val 13679"/>
            </a:avLst>
          </a:prstGeom>
        </p:spPr>
      </p:pic>
      <p:sp>
        <p:nvSpPr>
          <p:cNvPr id="25" name="!!title">
            <a:extLst>
              <a:ext uri="{FF2B5EF4-FFF2-40B4-BE49-F238E27FC236}">
                <a16:creationId xmlns:a16="http://schemas.microsoft.com/office/drawing/2014/main" id="{54AF3824-D78F-D3B6-47BA-5176AA1BD5CB}"/>
              </a:ext>
            </a:extLst>
          </p:cNvPr>
          <p:cNvSpPr txBox="1"/>
          <p:nvPr/>
        </p:nvSpPr>
        <p:spPr>
          <a:xfrm>
            <a:off x="4242816" y="11712634"/>
            <a:ext cx="6675120" cy="1107996"/>
          </a:xfrm>
          <a:prstGeom prst="rect">
            <a:avLst/>
          </a:prstGeom>
          <a:noFill/>
        </p:spPr>
        <p:txBody>
          <a:bodyPr wrap="square" lIns="0" tIns="0" rIns="0" bIns="0" anchor="t">
            <a:spAutoFit/>
          </a:bodyPr>
          <a:lstStyle/>
          <a:p>
            <a:r>
              <a:rPr lang="en-US" sz="3600" dirty="0">
                <a:solidFill>
                  <a:srgbClr val="00B050"/>
                </a:solidFill>
                <a:latin typeface="Google Sans Flex SemiBold"/>
              </a:rPr>
              <a:t>GO suggests a day</a:t>
            </a:r>
            <a:r>
              <a:rPr lang="en-US" sz="3600" dirty="0">
                <a:latin typeface="Google Sans Flex Light"/>
              </a:rPr>
              <a:t> when a vehicle already goes there</a:t>
            </a:r>
          </a:p>
        </p:txBody>
      </p:sp>
      <p:pic>
        <p:nvPicPr>
          <p:cNvPr id="26" name="Picture 25">
            <a:extLst>
              <a:ext uri="{FF2B5EF4-FFF2-40B4-BE49-F238E27FC236}">
                <a16:creationId xmlns:a16="http://schemas.microsoft.com/office/drawing/2014/main" id="{19DE6AFD-F706-4199-701D-3BD4B9A06AF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0" y="7651133"/>
            <a:ext cx="4443984" cy="6301172"/>
          </a:xfrm>
          <a:prstGeom prst="rect">
            <a:avLst/>
          </a:prstGeom>
        </p:spPr>
      </p:pic>
      <p:sp>
        <p:nvSpPr>
          <p:cNvPr id="27" name="!!day2">
            <a:extLst>
              <a:ext uri="{FF2B5EF4-FFF2-40B4-BE49-F238E27FC236}">
                <a16:creationId xmlns:a16="http://schemas.microsoft.com/office/drawing/2014/main" id="{E0C8A8BC-08F5-E83D-41A5-9FC25487BE6D}"/>
              </a:ext>
            </a:extLst>
          </p:cNvPr>
          <p:cNvSpPr/>
          <p:nvPr/>
        </p:nvSpPr>
        <p:spPr>
          <a:xfrm>
            <a:off x="4227578" y="13738709"/>
            <a:ext cx="896112" cy="1143000"/>
          </a:xfrm>
          <a:prstGeom prst="roundRect">
            <a:avLst>
              <a:gd name="adj" fmla="val 18000"/>
            </a:avLst>
          </a:prstGeom>
          <a:solidFill>
            <a:srgbClr val="FFFFFF"/>
          </a:solidFill>
          <a:ln w="12700">
            <a:solidFill>
              <a:srgbClr val="C9D1CC"/>
            </a:solidFill>
          </a:ln>
        </p:spPr>
        <p:txBody>
          <a:bodyPr rtlCol="0" anchor="ctr"/>
          <a:lstStyle/>
          <a:p>
            <a:pPr algn="ctr"/>
            <a:r>
              <a:rPr sz="1300">
                <a:solidFill>
                  <a:srgbClr val="000000"/>
                </a:solidFill>
                <a:latin typeface="Google Sans Flex"/>
              </a:rPr>
              <a:t>Mon</a:t>
            </a:r>
          </a:p>
          <a:p>
            <a:pPr algn="ctr"/>
            <a:r>
              <a:rPr sz="1500">
                <a:solidFill>
                  <a:srgbClr val="000000"/>
                </a:solidFill>
                <a:latin typeface="Google Sans Flex SemiBold"/>
              </a:rPr>
              <a:t>2 Nov</a:t>
            </a:r>
          </a:p>
        </p:txBody>
      </p:sp>
      <p:sp>
        <p:nvSpPr>
          <p:cNvPr id="29" name="!!day3">
            <a:extLst>
              <a:ext uri="{FF2B5EF4-FFF2-40B4-BE49-F238E27FC236}">
                <a16:creationId xmlns:a16="http://schemas.microsoft.com/office/drawing/2014/main" id="{6731D2F3-C55B-43AF-91BC-A50E643E7AEB}"/>
              </a:ext>
            </a:extLst>
          </p:cNvPr>
          <p:cNvSpPr/>
          <p:nvPr/>
        </p:nvSpPr>
        <p:spPr>
          <a:xfrm>
            <a:off x="5251706" y="14136473"/>
            <a:ext cx="896112" cy="1143000"/>
          </a:xfrm>
          <a:prstGeom prst="roundRect">
            <a:avLst>
              <a:gd name="adj" fmla="val 18000"/>
            </a:avLst>
          </a:prstGeom>
          <a:solidFill>
            <a:srgbClr val="FFFFFF"/>
          </a:solidFill>
          <a:ln w="12700">
            <a:solidFill>
              <a:srgbClr val="C9D1CC"/>
            </a:solidFill>
          </a:ln>
        </p:spPr>
        <p:txBody>
          <a:bodyPr rtlCol="0" anchor="ctr"/>
          <a:lstStyle/>
          <a:p>
            <a:pPr algn="ctr"/>
            <a:r>
              <a:rPr sz="1300">
                <a:solidFill>
                  <a:srgbClr val="000000"/>
                </a:solidFill>
                <a:latin typeface="Google Sans Flex"/>
              </a:rPr>
              <a:t>Tue</a:t>
            </a:r>
          </a:p>
          <a:p>
            <a:pPr algn="ctr"/>
            <a:r>
              <a:rPr sz="1500">
                <a:solidFill>
                  <a:srgbClr val="000000"/>
                </a:solidFill>
                <a:latin typeface="Google Sans Flex SemiBold"/>
              </a:rPr>
              <a:t>3 Nov</a:t>
            </a:r>
          </a:p>
        </p:txBody>
      </p:sp>
      <p:sp>
        <p:nvSpPr>
          <p:cNvPr id="33" name="!!day4">
            <a:extLst>
              <a:ext uri="{FF2B5EF4-FFF2-40B4-BE49-F238E27FC236}">
                <a16:creationId xmlns:a16="http://schemas.microsoft.com/office/drawing/2014/main" id="{A6605F34-ADE8-3C3D-F0CC-088F0CAEBC9A}"/>
              </a:ext>
            </a:extLst>
          </p:cNvPr>
          <p:cNvSpPr/>
          <p:nvPr/>
        </p:nvSpPr>
        <p:spPr>
          <a:xfrm>
            <a:off x="6275834" y="14569379"/>
            <a:ext cx="896112" cy="1143000"/>
          </a:xfrm>
          <a:prstGeom prst="roundRect">
            <a:avLst>
              <a:gd name="adj" fmla="val 18000"/>
            </a:avLst>
          </a:prstGeom>
          <a:solidFill>
            <a:srgbClr val="001B09"/>
          </a:solidFill>
          <a:ln w="12700">
            <a:solidFill>
              <a:srgbClr val="C9D1CC"/>
            </a:solidFill>
          </a:ln>
        </p:spPr>
        <p:txBody>
          <a:bodyPr rtlCol="0" anchor="ctr"/>
          <a:lstStyle/>
          <a:p>
            <a:pPr algn="ctr"/>
            <a:r>
              <a:rPr sz="1300">
                <a:solidFill>
                  <a:srgbClr val="FFFFFF"/>
                </a:solidFill>
                <a:latin typeface="Google Sans Flex"/>
              </a:rPr>
              <a:t>Wed</a:t>
            </a:r>
          </a:p>
          <a:p>
            <a:pPr algn="ctr"/>
            <a:r>
              <a:rPr sz="1500">
                <a:solidFill>
                  <a:srgbClr val="FFFFFF"/>
                </a:solidFill>
                <a:latin typeface="Google Sans Flex SemiBold"/>
              </a:rPr>
              <a:t>4 Nov</a:t>
            </a:r>
          </a:p>
        </p:txBody>
      </p:sp>
      <p:sp>
        <p:nvSpPr>
          <p:cNvPr id="35" name="!!day5">
            <a:extLst>
              <a:ext uri="{FF2B5EF4-FFF2-40B4-BE49-F238E27FC236}">
                <a16:creationId xmlns:a16="http://schemas.microsoft.com/office/drawing/2014/main" id="{03051B15-AD55-CBB3-7D5D-6BE8B0EE56E2}"/>
              </a:ext>
            </a:extLst>
          </p:cNvPr>
          <p:cNvSpPr/>
          <p:nvPr/>
        </p:nvSpPr>
        <p:spPr>
          <a:xfrm>
            <a:off x="7299962" y="15022982"/>
            <a:ext cx="896112" cy="1143000"/>
          </a:xfrm>
          <a:prstGeom prst="roundRect">
            <a:avLst>
              <a:gd name="adj" fmla="val 18000"/>
            </a:avLst>
          </a:prstGeom>
          <a:solidFill>
            <a:srgbClr val="FFFFFF"/>
          </a:solidFill>
          <a:ln w="12700">
            <a:solidFill>
              <a:srgbClr val="C9D1CC"/>
            </a:solidFill>
          </a:ln>
        </p:spPr>
        <p:txBody>
          <a:bodyPr rtlCol="0" anchor="ctr"/>
          <a:lstStyle/>
          <a:p>
            <a:pPr algn="ctr"/>
            <a:r>
              <a:rPr sz="1300">
                <a:solidFill>
                  <a:srgbClr val="000000"/>
                </a:solidFill>
                <a:latin typeface="Google Sans Flex"/>
              </a:rPr>
              <a:t>Thu</a:t>
            </a:r>
          </a:p>
          <a:p>
            <a:pPr algn="ctr"/>
            <a:r>
              <a:rPr sz="1500">
                <a:solidFill>
                  <a:srgbClr val="000000"/>
                </a:solidFill>
                <a:latin typeface="Google Sans Flex SemiBold"/>
              </a:rPr>
              <a:t>5 Nov</a:t>
            </a:r>
          </a:p>
        </p:txBody>
      </p:sp>
      <p:sp>
        <p:nvSpPr>
          <p:cNvPr id="37" name="!!day6">
            <a:extLst>
              <a:ext uri="{FF2B5EF4-FFF2-40B4-BE49-F238E27FC236}">
                <a16:creationId xmlns:a16="http://schemas.microsoft.com/office/drawing/2014/main" id="{EA76460B-D410-8673-73FA-85F86967AD0B}"/>
              </a:ext>
            </a:extLst>
          </p:cNvPr>
          <p:cNvSpPr/>
          <p:nvPr/>
        </p:nvSpPr>
        <p:spPr>
          <a:xfrm>
            <a:off x="8324090" y="15455732"/>
            <a:ext cx="896112" cy="1143000"/>
          </a:xfrm>
          <a:prstGeom prst="roundRect">
            <a:avLst>
              <a:gd name="adj" fmla="val 18000"/>
            </a:avLst>
          </a:prstGeom>
          <a:solidFill>
            <a:srgbClr val="FFFFFF"/>
          </a:solidFill>
          <a:ln w="12700">
            <a:solidFill>
              <a:srgbClr val="C9D1CC"/>
            </a:solidFill>
          </a:ln>
        </p:spPr>
        <p:txBody>
          <a:bodyPr rtlCol="0" anchor="ctr"/>
          <a:lstStyle/>
          <a:p>
            <a:pPr algn="ctr"/>
            <a:r>
              <a:rPr sz="1300">
                <a:solidFill>
                  <a:srgbClr val="000000"/>
                </a:solidFill>
                <a:latin typeface="Google Sans Flex"/>
              </a:rPr>
              <a:t>Fri</a:t>
            </a:r>
          </a:p>
          <a:p>
            <a:pPr algn="ctr"/>
            <a:r>
              <a:rPr sz="1500">
                <a:solidFill>
                  <a:srgbClr val="000000"/>
                </a:solidFill>
                <a:latin typeface="Google Sans Flex SemiBold"/>
              </a:rPr>
              <a:t>6 Nov</a:t>
            </a:r>
          </a:p>
        </p:txBody>
      </p:sp>
      <p:sp>
        <p:nvSpPr>
          <p:cNvPr id="39" name="!!day7">
            <a:extLst>
              <a:ext uri="{FF2B5EF4-FFF2-40B4-BE49-F238E27FC236}">
                <a16:creationId xmlns:a16="http://schemas.microsoft.com/office/drawing/2014/main" id="{DE4D8ACB-5167-7272-4477-E3E668C40551}"/>
              </a:ext>
            </a:extLst>
          </p:cNvPr>
          <p:cNvSpPr/>
          <p:nvPr/>
        </p:nvSpPr>
        <p:spPr>
          <a:xfrm>
            <a:off x="9348218" y="15890028"/>
            <a:ext cx="896112" cy="1143000"/>
          </a:xfrm>
          <a:prstGeom prst="roundRect">
            <a:avLst>
              <a:gd name="adj" fmla="val 18000"/>
            </a:avLst>
          </a:prstGeom>
          <a:solidFill>
            <a:srgbClr val="FFFFFF"/>
          </a:solidFill>
          <a:ln w="12700">
            <a:solidFill>
              <a:srgbClr val="C9D1CC"/>
            </a:solidFill>
          </a:ln>
        </p:spPr>
        <p:txBody>
          <a:bodyPr rtlCol="0" anchor="ctr"/>
          <a:lstStyle/>
          <a:p>
            <a:pPr algn="ctr"/>
            <a:r>
              <a:rPr sz="1300">
                <a:solidFill>
                  <a:srgbClr val="000000"/>
                </a:solidFill>
                <a:latin typeface="Google Sans Flex"/>
              </a:rPr>
              <a:t>Sat</a:t>
            </a:r>
          </a:p>
          <a:p>
            <a:pPr algn="ctr"/>
            <a:r>
              <a:rPr sz="1500">
                <a:solidFill>
                  <a:srgbClr val="000000"/>
                </a:solidFill>
                <a:latin typeface="Google Sans Flex SemiBold"/>
              </a:rPr>
              <a:t>7 Nov</a:t>
            </a:r>
          </a:p>
        </p:txBody>
      </p:sp>
      <p:sp>
        <p:nvSpPr>
          <p:cNvPr id="40" name="!!pick">
            <a:extLst>
              <a:ext uri="{FF2B5EF4-FFF2-40B4-BE49-F238E27FC236}">
                <a16:creationId xmlns:a16="http://schemas.microsoft.com/office/drawing/2014/main" id="{7C084861-B894-8AB0-4B9C-889EEC0EC3BB}"/>
              </a:ext>
            </a:extLst>
          </p:cNvPr>
          <p:cNvSpPr txBox="1"/>
          <p:nvPr/>
        </p:nvSpPr>
        <p:spPr>
          <a:xfrm>
            <a:off x="6275834" y="16434934"/>
            <a:ext cx="914400" cy="320040"/>
          </a:xfrm>
          <a:prstGeom prst="rect">
            <a:avLst/>
          </a:prstGeom>
          <a:noFill/>
        </p:spPr>
        <p:txBody>
          <a:bodyPr wrap="square" lIns="0" tIns="0" rIns="0" bIns="0" anchor="t">
            <a:spAutoFit/>
          </a:bodyPr>
          <a:lstStyle/>
          <a:p>
            <a:pPr algn="ctr"/>
            <a:r>
              <a:rPr sz="1100">
                <a:solidFill>
                  <a:srgbClr val="6B7A72"/>
                </a:solidFill>
                <a:latin typeface="Google Sans Flex"/>
              </a:rPr>
              <a:t>your pick</a:t>
            </a:r>
          </a:p>
        </p:txBody>
      </p:sp>
      <p:sp>
        <p:nvSpPr>
          <p:cNvPr id="41" name="!!day-note">
            <a:extLst>
              <a:ext uri="{FF2B5EF4-FFF2-40B4-BE49-F238E27FC236}">
                <a16:creationId xmlns:a16="http://schemas.microsoft.com/office/drawing/2014/main" id="{083F9BB3-CBB6-6170-804E-86F120573AD0}"/>
              </a:ext>
            </a:extLst>
          </p:cNvPr>
          <p:cNvSpPr txBox="1"/>
          <p:nvPr/>
        </p:nvSpPr>
        <p:spPr>
          <a:xfrm>
            <a:off x="4227578" y="17172754"/>
            <a:ext cx="6126480" cy="822960"/>
          </a:xfrm>
          <a:prstGeom prst="rect">
            <a:avLst/>
          </a:prstGeom>
          <a:noFill/>
        </p:spPr>
        <p:txBody>
          <a:bodyPr wrap="square" lIns="0" tIns="0" rIns="0" bIns="0" anchor="t">
            <a:spAutoFit/>
          </a:bodyPr>
          <a:lstStyle/>
          <a:p>
            <a:pPr algn="l"/>
            <a:r>
              <a:rPr sz="1700" dirty="0">
                <a:solidFill>
                  <a:srgbClr val="00B050"/>
                </a:solidFill>
                <a:latin typeface="Google Sans Flex SemiBold"/>
              </a:rPr>
              <a:t>3 and 5 Nov: </a:t>
            </a:r>
            <a:r>
              <a:rPr sz="1700" dirty="0">
                <a:latin typeface="Google Sans Flex"/>
              </a:rPr>
              <a:t>a vehicle already goes to your district</a:t>
            </a:r>
          </a:p>
        </p:txBody>
      </p:sp>
      <p:sp>
        <p:nvSpPr>
          <p:cNvPr id="42" name="!!edge0">
            <a:extLst>
              <a:ext uri="{FF2B5EF4-FFF2-40B4-BE49-F238E27FC236}">
                <a16:creationId xmlns:a16="http://schemas.microsoft.com/office/drawing/2014/main" id="{3645BE19-198D-DC7C-A15A-71013C845A36}"/>
              </a:ext>
            </a:extLst>
          </p:cNvPr>
          <p:cNvSpPr/>
          <p:nvPr/>
        </p:nvSpPr>
        <p:spPr>
          <a:xfrm>
            <a:off x="4155946" y="17741951"/>
            <a:ext cx="4375406" cy="438912"/>
          </a:xfrm>
          <a:prstGeom prst="roundRect">
            <a:avLst>
              <a:gd name="adj" fmla="val 50000"/>
            </a:avLst>
          </a:prstGeom>
          <a:solidFill>
            <a:srgbClr val="006A62"/>
          </a:solidFill>
          <a:ln>
            <a:no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43" name="!!day-only">
            <a:extLst>
              <a:ext uri="{FF2B5EF4-FFF2-40B4-BE49-F238E27FC236}">
                <a16:creationId xmlns:a16="http://schemas.microsoft.com/office/drawing/2014/main" id="{AF6D33C4-848B-3087-5FC0-B4E1CA0EA843}"/>
              </a:ext>
            </a:extLst>
          </p:cNvPr>
          <p:cNvSpPr txBox="1"/>
          <p:nvPr/>
        </p:nvSpPr>
        <p:spPr>
          <a:xfrm>
            <a:off x="4328162" y="17845991"/>
            <a:ext cx="6126480" cy="230832"/>
          </a:xfrm>
          <a:prstGeom prst="rect">
            <a:avLst/>
          </a:prstGeom>
          <a:noFill/>
        </p:spPr>
        <p:txBody>
          <a:bodyPr wrap="square" lIns="0" tIns="0" rIns="0" bIns="0" anchor="t">
            <a:spAutoFit/>
          </a:bodyPr>
          <a:lstStyle/>
          <a:p>
            <a:pPr algn="l"/>
            <a:r>
              <a:rPr sz="1500" dirty="0">
                <a:solidFill>
                  <a:schemeClr val="bg1"/>
                </a:solidFill>
                <a:latin typeface="Google Sans Flex Light"/>
              </a:rPr>
              <a:t>Only a suggestion. The store manager decides.</a:t>
            </a:r>
          </a:p>
        </p:txBody>
      </p:sp>
      <p:sp>
        <p:nvSpPr>
          <p:cNvPr id="44" name="!!day3">
            <a:extLst>
              <a:ext uri="{FF2B5EF4-FFF2-40B4-BE49-F238E27FC236}">
                <a16:creationId xmlns:a16="http://schemas.microsoft.com/office/drawing/2014/main" id="{64E1D0ED-ED10-345E-43D9-E74D5C33A01F}"/>
              </a:ext>
            </a:extLst>
          </p:cNvPr>
          <p:cNvSpPr/>
          <p:nvPr/>
        </p:nvSpPr>
        <p:spPr>
          <a:xfrm>
            <a:off x="5251706" y="14136473"/>
            <a:ext cx="896112" cy="1143000"/>
          </a:xfrm>
          <a:prstGeom prst="roundRect">
            <a:avLst>
              <a:gd name="adj" fmla="val 18000"/>
            </a:avLst>
          </a:prstGeom>
          <a:solidFill>
            <a:srgbClr val="FFFFFF"/>
          </a:solidFill>
          <a:ln w="31750">
            <a:solidFill>
              <a:srgbClr val="00B050"/>
            </a:solidFill>
          </a:ln>
        </p:spPr>
        <p:txBody>
          <a:bodyPr rtlCol="0" anchor="ctr"/>
          <a:lstStyle/>
          <a:p>
            <a:pPr algn="ctr"/>
            <a:r>
              <a:rPr sz="1300">
                <a:solidFill>
                  <a:srgbClr val="000000"/>
                </a:solidFill>
                <a:latin typeface="Google Sans Flex"/>
              </a:rPr>
              <a:t>Tue</a:t>
            </a:r>
          </a:p>
          <a:p>
            <a:pPr algn="ctr"/>
            <a:r>
              <a:rPr sz="1500">
                <a:solidFill>
                  <a:srgbClr val="000000"/>
                </a:solidFill>
                <a:latin typeface="Google Sans Flex SemiBold"/>
              </a:rPr>
              <a:t>3 Nov</a:t>
            </a:r>
          </a:p>
        </p:txBody>
      </p:sp>
      <p:sp>
        <p:nvSpPr>
          <p:cNvPr id="45" name="!!day5">
            <a:extLst>
              <a:ext uri="{FF2B5EF4-FFF2-40B4-BE49-F238E27FC236}">
                <a16:creationId xmlns:a16="http://schemas.microsoft.com/office/drawing/2014/main" id="{AB1E64F7-D547-8676-333E-53F38F23CE4D}"/>
              </a:ext>
            </a:extLst>
          </p:cNvPr>
          <p:cNvSpPr/>
          <p:nvPr/>
        </p:nvSpPr>
        <p:spPr>
          <a:xfrm>
            <a:off x="7299962" y="15022982"/>
            <a:ext cx="896112" cy="1143000"/>
          </a:xfrm>
          <a:prstGeom prst="roundRect">
            <a:avLst>
              <a:gd name="adj" fmla="val 18000"/>
            </a:avLst>
          </a:prstGeom>
          <a:solidFill>
            <a:srgbClr val="FFFFFF"/>
          </a:solidFill>
          <a:ln w="31750">
            <a:solidFill>
              <a:srgbClr val="00B050"/>
            </a:solidFill>
          </a:ln>
        </p:spPr>
        <p:txBody>
          <a:bodyPr rtlCol="0" anchor="ctr"/>
          <a:lstStyle/>
          <a:p>
            <a:pPr algn="ctr"/>
            <a:r>
              <a:rPr sz="1300">
                <a:solidFill>
                  <a:srgbClr val="000000"/>
                </a:solidFill>
                <a:latin typeface="Google Sans Flex"/>
              </a:rPr>
              <a:t>Thu</a:t>
            </a:r>
          </a:p>
          <a:p>
            <a:pPr algn="ctr"/>
            <a:r>
              <a:rPr sz="1500">
                <a:solidFill>
                  <a:srgbClr val="000000"/>
                </a:solidFill>
                <a:latin typeface="Google Sans Flex SemiBold"/>
              </a:rPr>
              <a:t>5 Nov</a:t>
            </a:r>
          </a:p>
        </p:txBody>
      </p:sp>
      <p:grpSp>
        <p:nvGrpSpPr>
          <p:cNvPr id="48" name="Group 47">
            <a:extLst>
              <a:ext uri="{FF2B5EF4-FFF2-40B4-BE49-F238E27FC236}">
                <a16:creationId xmlns:a16="http://schemas.microsoft.com/office/drawing/2014/main" id="{DDBDC8BD-03C4-2239-9F83-8CFB8C0F28DC}"/>
              </a:ext>
            </a:extLst>
          </p:cNvPr>
          <p:cNvGrpSpPr/>
          <p:nvPr/>
        </p:nvGrpSpPr>
        <p:grpSpPr>
          <a:xfrm>
            <a:off x="4212980" y="10133762"/>
            <a:ext cx="7516368" cy="506975"/>
            <a:chOff x="4212980" y="10133762"/>
            <a:chExt cx="7516368" cy="506975"/>
          </a:xfrm>
        </p:grpSpPr>
        <p:sp>
          <p:nvSpPr>
            <p:cNvPr id="46" name="!!edge0">
              <a:extLst>
                <a:ext uri="{FF2B5EF4-FFF2-40B4-BE49-F238E27FC236}">
                  <a16:creationId xmlns:a16="http://schemas.microsoft.com/office/drawing/2014/main" id="{449F839B-D5EC-E373-D4A7-1491618836F7}"/>
                </a:ext>
              </a:extLst>
            </p:cNvPr>
            <p:cNvSpPr/>
            <p:nvPr/>
          </p:nvSpPr>
          <p:spPr>
            <a:xfrm>
              <a:off x="4212980" y="10133762"/>
              <a:ext cx="2486549"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47" name="!!section">
              <a:extLst>
                <a:ext uri="{FF2B5EF4-FFF2-40B4-BE49-F238E27FC236}">
                  <a16:creationId xmlns:a16="http://schemas.microsoft.com/office/drawing/2014/main" id="{479F3E84-0C73-03BF-994A-5090EB81DAF8}"/>
                </a:ext>
              </a:extLst>
            </p:cNvPr>
            <p:cNvSpPr txBox="1"/>
            <p:nvPr/>
          </p:nvSpPr>
          <p:spPr>
            <a:xfrm>
              <a:off x="4414148" y="10271405"/>
              <a:ext cx="7315200" cy="369332"/>
            </a:xfrm>
            <a:prstGeom prst="rect">
              <a:avLst/>
            </a:prstGeom>
            <a:noFill/>
          </p:spPr>
          <p:txBody>
            <a:bodyPr wrap="square" lIns="0" tIns="0" rIns="0" bIns="0" anchor="t">
              <a:spAutoFit/>
            </a:bodyPr>
            <a:lstStyle/>
            <a:p>
              <a:pPr algn="l"/>
              <a:r>
                <a:rPr sz="1200" dirty="0">
                  <a:solidFill>
                    <a:srgbClr val="006A62"/>
                  </a:solidFill>
                  <a:latin typeface="Google Sans Flex SemiBold"/>
                </a:rPr>
                <a:t>Problem 1 · </a:t>
              </a:r>
              <a:r>
                <a:rPr lang="en-US" sz="1200" dirty="0">
                  <a:solidFill>
                    <a:srgbClr val="006A62"/>
                  </a:solidFill>
                  <a:latin typeface="Google Sans Flex SemiBold"/>
                </a:rPr>
                <a:t>Vehicle Shortage</a:t>
              </a:r>
            </a:p>
            <a:p>
              <a:pPr algn="l"/>
              <a:endParaRPr sz="1200" dirty="0">
                <a:solidFill>
                  <a:srgbClr val="006A62"/>
                </a:solidFill>
                <a:latin typeface="Google Sans Flex SemiBold"/>
              </a:endParaRPr>
            </a:p>
          </p:txBody>
        </p:sp>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78"/>
                                        </p:tgtEl>
                                      </p:cBhvr>
                                    </p:animEffect>
                                    <p:set>
                                      <p:cBhvr>
                                        <p:cTn id="7" dur="1" fill="hold">
                                          <p:stCondLst>
                                            <p:cond delay="499"/>
                                          </p:stCondLst>
                                        </p:cTn>
                                        <p:tgtEl>
                                          <p:spTgt spid="78"/>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79"/>
                                        </p:tgtEl>
                                        <p:attrNameLst>
                                          <p:attrName>style.visibility</p:attrName>
                                        </p:attrNameLst>
                                      </p:cBhvr>
                                      <p:to>
                                        <p:strVal val="visible"/>
                                      </p:to>
                                    </p:set>
                                    <p:animEffect transition="in" filter="fade">
                                      <p:cBhvr>
                                        <p:cTn id="10" dur="500"/>
                                        <p:tgtEl>
                                          <p:spTgt spid="79"/>
                                        </p:tgtEl>
                                      </p:cBhvr>
                                    </p:animEffect>
                                  </p:childTnLst>
                                </p:cTn>
                              </p:par>
                              <p:par>
                                <p:cTn id="11" presetID="10" presetClass="exit" presetSubtype="0" fill="hold" nodeType="withEffect">
                                  <p:stCondLst>
                                    <p:cond delay="0"/>
                                  </p:stCondLst>
                                  <p:childTnLst>
                                    <p:animEffect transition="out" filter="fade">
                                      <p:cBhvr>
                                        <p:cTn id="12" dur="500"/>
                                        <p:tgtEl>
                                          <p:spTgt spid="36"/>
                                        </p:tgtEl>
                                      </p:cBhvr>
                                    </p:animEffect>
                                    <p:set>
                                      <p:cBhvr>
                                        <p:cTn id="13" dur="1" fill="hold">
                                          <p:stCondLst>
                                            <p:cond delay="499"/>
                                          </p:stCondLst>
                                        </p:cTn>
                                        <p:tgtEl>
                                          <p:spTgt spid="36"/>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nodeType="clickEffect">
                                  <p:stCondLst>
                                    <p:cond delay="0"/>
                                  </p:stCondLst>
                                  <p:childTnLst>
                                    <p:set>
                                      <p:cBhvr>
                                        <p:cTn id="17" dur="1" fill="hold">
                                          <p:stCondLst>
                                            <p:cond delay="0"/>
                                          </p:stCondLst>
                                        </p:cTn>
                                        <p:tgtEl>
                                          <p:spTgt spid="79"/>
                                        </p:tgtEl>
                                        <p:attrNameLst>
                                          <p:attrName>style.visibility</p:attrName>
                                        </p:attrNameLst>
                                      </p:cBhvr>
                                      <p:to>
                                        <p:strVal val="hidden"/>
                                      </p:to>
                                    </p:set>
                                  </p:childTnLst>
                                </p:cTn>
                              </p:par>
                              <p:par>
                                <p:cTn id="18" presetID="10" presetClass="entr" presetSubtype="0" fill="hold" nodeType="withEffect">
                                  <p:stCondLst>
                                    <p:cond delay="0"/>
                                  </p:stCondLst>
                                  <p:childTnLst>
                                    <p:set>
                                      <p:cBhvr>
                                        <p:cTn id="19" dur="1" fill="hold">
                                          <p:stCondLst>
                                            <p:cond delay="0"/>
                                          </p:stCondLst>
                                        </p:cTn>
                                        <p:tgtEl>
                                          <p:spTgt spid="80"/>
                                        </p:tgtEl>
                                        <p:attrNameLst>
                                          <p:attrName>style.visibility</p:attrName>
                                        </p:attrNameLst>
                                      </p:cBhvr>
                                      <p:to>
                                        <p:strVal val="visible"/>
                                      </p:to>
                                    </p:set>
                                    <p:animEffect transition="in" filter="fade">
                                      <p:cBhvr>
                                        <p:cTn id="20" dur="500"/>
                                        <p:tgtEl>
                                          <p:spTgt spid="80"/>
                                        </p:tgtEl>
                                      </p:cBhvr>
                                    </p:animEffect>
                                  </p:childTnLst>
                                </p:cTn>
                              </p:par>
                              <p:par>
                                <p:cTn id="21" presetID="1" presetClass="exit" presetSubtype="0" fill="hold" nodeType="withEffect">
                                  <p:stCondLst>
                                    <p:cond delay="0"/>
                                  </p:stCondLst>
                                  <p:childTnLst>
                                    <p:set>
                                      <p:cBhvr>
                                        <p:cTn id="22" dur="1" fill="hold">
                                          <p:stCondLst>
                                            <p:cond delay="0"/>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E5174-5B17-C5AA-B36A-B9420A8D08E0}"/>
            </a:ext>
          </a:extLst>
        </p:cNvPr>
        <p:cNvGrpSpPr/>
        <p:nvPr/>
      </p:nvGrpSpPr>
      <p:grpSpPr>
        <a:xfrm>
          <a:off x="0" y="0"/>
          <a:ext cx="0" cy="0"/>
          <a:chOff x="0" y="0"/>
          <a:chExt cx="0" cy="0"/>
        </a:xfrm>
      </p:grpSpPr>
      <p:sp>
        <p:nvSpPr>
          <p:cNvPr id="48" name="Rectangle: Rounded Corners 47">
            <a:extLst>
              <a:ext uri="{FF2B5EF4-FFF2-40B4-BE49-F238E27FC236}">
                <a16:creationId xmlns:a16="http://schemas.microsoft.com/office/drawing/2014/main" id="{58A573DF-84FF-4082-F6CC-DF24355B03E8}"/>
              </a:ext>
            </a:extLst>
          </p:cNvPr>
          <p:cNvSpPr/>
          <p:nvPr/>
        </p:nvSpPr>
        <p:spPr>
          <a:xfrm>
            <a:off x="918749" y="612648"/>
            <a:ext cx="2576650" cy="1921812"/>
          </a:xfrm>
          <a:prstGeom prst="roundRect">
            <a:avLst/>
          </a:prstGeom>
          <a:solidFill>
            <a:srgbClr val="E7F3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3DA6C6FB-A102-92B3-ED70-5C9AB0ABD0AA}"/>
              </a:ext>
            </a:extLst>
          </p:cNvPr>
          <p:cNvPicPr>
            <a:picLocks noChangeAspect="1"/>
          </p:cNvPicPr>
          <p:nvPr/>
        </p:nvPicPr>
        <p:blipFill>
          <a:blip r:embed="rId5">
            <a:extLst>
              <a:ext uri="{28A0092B-C50C-407E-A947-70E740481C1C}">
                <a14:useLocalDpi xmlns:a14="http://schemas.microsoft.com/office/drawing/2010/main" val="0"/>
              </a:ext>
            </a:extLst>
          </a:blip>
          <a:srcRect t="7110"/>
          <a:stretch>
            <a:fillRect/>
          </a:stretch>
        </p:blipFill>
        <p:spPr>
          <a:xfrm>
            <a:off x="918749" y="990600"/>
            <a:ext cx="2576650" cy="5188819"/>
          </a:xfrm>
          <a:prstGeom prst="roundRect">
            <a:avLst>
              <a:gd name="adj" fmla="val 13679"/>
            </a:avLst>
          </a:prstGeom>
        </p:spPr>
      </p:pic>
      <p:sp>
        <p:nvSpPr>
          <p:cNvPr id="6" name="!!title">
            <a:extLst>
              <a:ext uri="{FF2B5EF4-FFF2-40B4-BE49-F238E27FC236}">
                <a16:creationId xmlns:a16="http://schemas.microsoft.com/office/drawing/2014/main" id="{320BAB02-306D-B579-CBFB-18706C1A6481}"/>
              </a:ext>
            </a:extLst>
          </p:cNvPr>
          <p:cNvSpPr txBox="1"/>
          <p:nvPr/>
        </p:nvSpPr>
        <p:spPr>
          <a:xfrm>
            <a:off x="4242816" y="1426464"/>
            <a:ext cx="6675120" cy="1107996"/>
          </a:xfrm>
          <a:prstGeom prst="rect">
            <a:avLst/>
          </a:prstGeom>
          <a:noFill/>
        </p:spPr>
        <p:txBody>
          <a:bodyPr wrap="square" lIns="0" tIns="0" rIns="0" bIns="0" anchor="t">
            <a:spAutoFit/>
          </a:bodyPr>
          <a:lstStyle/>
          <a:p>
            <a:r>
              <a:rPr lang="en-US" sz="3600" dirty="0">
                <a:solidFill>
                  <a:srgbClr val="00B050"/>
                </a:solidFill>
                <a:latin typeface="Google Sans Flex SemiBold"/>
              </a:rPr>
              <a:t>GO suggests a day</a:t>
            </a:r>
            <a:r>
              <a:rPr lang="en-US" sz="3600" dirty="0">
                <a:latin typeface="Google Sans Flex Light"/>
              </a:rPr>
              <a:t> when a vehicle already goes there</a:t>
            </a:r>
          </a:p>
        </p:txBody>
      </p:sp>
      <p:pic>
        <p:nvPicPr>
          <p:cNvPr id="3" name="Picture 2">
            <a:extLst>
              <a:ext uri="{FF2B5EF4-FFF2-40B4-BE49-F238E27FC236}">
                <a16:creationId xmlns:a16="http://schemas.microsoft.com/office/drawing/2014/main" id="{34C86001-7541-4FB0-B4BF-7D6CAE9958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542323"/>
            <a:ext cx="4443984" cy="6301172"/>
          </a:xfrm>
          <a:prstGeom prst="rect">
            <a:avLst/>
          </a:prstGeom>
        </p:spPr>
      </p:pic>
      <p:sp>
        <p:nvSpPr>
          <p:cNvPr id="7" name="!!day2">
            <a:extLst>
              <a:ext uri="{FF2B5EF4-FFF2-40B4-BE49-F238E27FC236}">
                <a16:creationId xmlns:a16="http://schemas.microsoft.com/office/drawing/2014/main" id="{2DF4CF2D-909E-CE06-6586-33FD5B78000D}"/>
              </a:ext>
            </a:extLst>
          </p:cNvPr>
          <p:cNvSpPr/>
          <p:nvPr/>
        </p:nvSpPr>
        <p:spPr>
          <a:xfrm>
            <a:off x="4227578" y="2852231"/>
            <a:ext cx="896112" cy="1143000"/>
          </a:xfrm>
          <a:prstGeom prst="roundRect">
            <a:avLst>
              <a:gd name="adj" fmla="val 18000"/>
            </a:avLst>
          </a:prstGeom>
          <a:solidFill>
            <a:srgbClr val="FFFFFF"/>
          </a:solidFill>
          <a:ln w="12700">
            <a:solidFill>
              <a:srgbClr val="C9D1CC"/>
            </a:solidFill>
          </a:ln>
        </p:spPr>
        <p:txBody>
          <a:bodyPr rtlCol="0" anchor="ctr"/>
          <a:lstStyle/>
          <a:p>
            <a:pPr algn="ctr"/>
            <a:r>
              <a:rPr sz="1300">
                <a:solidFill>
                  <a:srgbClr val="000000"/>
                </a:solidFill>
                <a:latin typeface="Google Sans Flex"/>
              </a:rPr>
              <a:t>Mon</a:t>
            </a:r>
          </a:p>
          <a:p>
            <a:pPr algn="ctr"/>
            <a:r>
              <a:rPr sz="1500">
                <a:solidFill>
                  <a:srgbClr val="000000"/>
                </a:solidFill>
                <a:latin typeface="Google Sans Flex SemiBold"/>
              </a:rPr>
              <a:t>2 Nov</a:t>
            </a:r>
          </a:p>
        </p:txBody>
      </p:sp>
      <p:sp>
        <p:nvSpPr>
          <p:cNvPr id="9" name="!!day3">
            <a:extLst>
              <a:ext uri="{FF2B5EF4-FFF2-40B4-BE49-F238E27FC236}">
                <a16:creationId xmlns:a16="http://schemas.microsoft.com/office/drawing/2014/main" id="{0288EC04-18DC-979A-6FD5-7CE3438172B2}"/>
              </a:ext>
            </a:extLst>
          </p:cNvPr>
          <p:cNvSpPr/>
          <p:nvPr/>
        </p:nvSpPr>
        <p:spPr>
          <a:xfrm>
            <a:off x="5251706" y="2852231"/>
            <a:ext cx="896112" cy="1143000"/>
          </a:xfrm>
          <a:prstGeom prst="roundRect">
            <a:avLst>
              <a:gd name="adj" fmla="val 18000"/>
            </a:avLst>
          </a:prstGeom>
          <a:solidFill>
            <a:srgbClr val="FFFFFF"/>
          </a:solidFill>
          <a:ln w="12700">
            <a:solidFill>
              <a:srgbClr val="C9D1CC"/>
            </a:solidFill>
          </a:ln>
        </p:spPr>
        <p:txBody>
          <a:bodyPr rtlCol="0" anchor="ctr"/>
          <a:lstStyle/>
          <a:p>
            <a:pPr algn="ctr"/>
            <a:r>
              <a:rPr sz="1300">
                <a:solidFill>
                  <a:srgbClr val="000000"/>
                </a:solidFill>
                <a:latin typeface="Google Sans Flex"/>
              </a:rPr>
              <a:t>Tue</a:t>
            </a:r>
          </a:p>
          <a:p>
            <a:pPr algn="ctr"/>
            <a:r>
              <a:rPr sz="1500">
                <a:solidFill>
                  <a:srgbClr val="000000"/>
                </a:solidFill>
                <a:latin typeface="Google Sans Flex SemiBold"/>
              </a:rPr>
              <a:t>3 Nov</a:t>
            </a:r>
          </a:p>
        </p:txBody>
      </p:sp>
      <p:sp>
        <p:nvSpPr>
          <p:cNvPr id="20" name="!!day5">
            <a:extLst>
              <a:ext uri="{FF2B5EF4-FFF2-40B4-BE49-F238E27FC236}">
                <a16:creationId xmlns:a16="http://schemas.microsoft.com/office/drawing/2014/main" id="{795F78CA-AD41-2EAC-B6CF-CAE2B4BA6CB5}"/>
              </a:ext>
            </a:extLst>
          </p:cNvPr>
          <p:cNvSpPr/>
          <p:nvPr/>
        </p:nvSpPr>
        <p:spPr>
          <a:xfrm>
            <a:off x="7299962" y="2852231"/>
            <a:ext cx="896112" cy="1143000"/>
          </a:xfrm>
          <a:prstGeom prst="roundRect">
            <a:avLst>
              <a:gd name="adj" fmla="val 18000"/>
            </a:avLst>
          </a:prstGeom>
          <a:solidFill>
            <a:srgbClr val="FFFFFF"/>
          </a:solidFill>
          <a:ln w="12700">
            <a:solidFill>
              <a:srgbClr val="C9D1CC"/>
            </a:solidFill>
          </a:ln>
        </p:spPr>
        <p:txBody>
          <a:bodyPr rtlCol="0" anchor="ctr"/>
          <a:lstStyle/>
          <a:p>
            <a:pPr algn="ctr"/>
            <a:r>
              <a:rPr sz="1300">
                <a:solidFill>
                  <a:srgbClr val="000000"/>
                </a:solidFill>
                <a:latin typeface="Google Sans Flex"/>
              </a:rPr>
              <a:t>Thu</a:t>
            </a:r>
          </a:p>
          <a:p>
            <a:pPr algn="ctr"/>
            <a:r>
              <a:rPr sz="1500">
                <a:solidFill>
                  <a:srgbClr val="000000"/>
                </a:solidFill>
                <a:latin typeface="Google Sans Flex SemiBold"/>
              </a:rPr>
              <a:t>5 Nov</a:t>
            </a:r>
          </a:p>
        </p:txBody>
      </p:sp>
      <p:sp>
        <p:nvSpPr>
          <p:cNvPr id="22" name="!!day6">
            <a:extLst>
              <a:ext uri="{FF2B5EF4-FFF2-40B4-BE49-F238E27FC236}">
                <a16:creationId xmlns:a16="http://schemas.microsoft.com/office/drawing/2014/main" id="{3B0CF135-0247-990F-E5AE-229956898311}"/>
              </a:ext>
            </a:extLst>
          </p:cNvPr>
          <p:cNvSpPr/>
          <p:nvPr/>
        </p:nvSpPr>
        <p:spPr>
          <a:xfrm>
            <a:off x="8324090" y="2852231"/>
            <a:ext cx="896112" cy="1143000"/>
          </a:xfrm>
          <a:prstGeom prst="roundRect">
            <a:avLst>
              <a:gd name="adj" fmla="val 18000"/>
            </a:avLst>
          </a:prstGeom>
          <a:solidFill>
            <a:srgbClr val="FFFFFF"/>
          </a:solidFill>
          <a:ln w="12700">
            <a:solidFill>
              <a:srgbClr val="C9D1CC"/>
            </a:solidFill>
          </a:ln>
        </p:spPr>
        <p:txBody>
          <a:bodyPr rtlCol="0" anchor="ctr"/>
          <a:lstStyle/>
          <a:p>
            <a:pPr algn="ctr"/>
            <a:r>
              <a:rPr sz="1300">
                <a:solidFill>
                  <a:srgbClr val="000000"/>
                </a:solidFill>
                <a:latin typeface="Google Sans Flex"/>
              </a:rPr>
              <a:t>Fri</a:t>
            </a:r>
          </a:p>
          <a:p>
            <a:pPr algn="ctr"/>
            <a:r>
              <a:rPr sz="1500">
                <a:solidFill>
                  <a:srgbClr val="000000"/>
                </a:solidFill>
                <a:latin typeface="Google Sans Flex SemiBold"/>
              </a:rPr>
              <a:t>6 Nov</a:t>
            </a:r>
          </a:p>
        </p:txBody>
      </p:sp>
      <p:sp>
        <p:nvSpPr>
          <p:cNvPr id="24" name="!!day7">
            <a:extLst>
              <a:ext uri="{FF2B5EF4-FFF2-40B4-BE49-F238E27FC236}">
                <a16:creationId xmlns:a16="http://schemas.microsoft.com/office/drawing/2014/main" id="{F131D8BB-1DCF-5288-FA68-703A6320CF49}"/>
              </a:ext>
            </a:extLst>
          </p:cNvPr>
          <p:cNvSpPr/>
          <p:nvPr/>
        </p:nvSpPr>
        <p:spPr>
          <a:xfrm>
            <a:off x="9348218" y="2852231"/>
            <a:ext cx="896112" cy="1143000"/>
          </a:xfrm>
          <a:prstGeom prst="roundRect">
            <a:avLst>
              <a:gd name="adj" fmla="val 18000"/>
            </a:avLst>
          </a:prstGeom>
          <a:solidFill>
            <a:srgbClr val="FFFFFF"/>
          </a:solidFill>
          <a:ln w="12700">
            <a:solidFill>
              <a:srgbClr val="C9D1CC"/>
            </a:solidFill>
          </a:ln>
        </p:spPr>
        <p:txBody>
          <a:bodyPr rtlCol="0" anchor="ctr"/>
          <a:lstStyle/>
          <a:p>
            <a:pPr algn="ctr"/>
            <a:r>
              <a:rPr sz="1300">
                <a:solidFill>
                  <a:srgbClr val="000000"/>
                </a:solidFill>
                <a:latin typeface="Google Sans Flex"/>
              </a:rPr>
              <a:t>Sat</a:t>
            </a:r>
          </a:p>
          <a:p>
            <a:pPr algn="ctr"/>
            <a:r>
              <a:rPr sz="1500">
                <a:solidFill>
                  <a:srgbClr val="000000"/>
                </a:solidFill>
                <a:latin typeface="Google Sans Flex SemiBold"/>
              </a:rPr>
              <a:t>7 Nov</a:t>
            </a:r>
          </a:p>
        </p:txBody>
      </p:sp>
      <p:sp>
        <p:nvSpPr>
          <p:cNvPr id="26" name="!!pick">
            <a:extLst>
              <a:ext uri="{FF2B5EF4-FFF2-40B4-BE49-F238E27FC236}">
                <a16:creationId xmlns:a16="http://schemas.microsoft.com/office/drawing/2014/main" id="{76C6EB58-1C34-F0EC-D8D3-16BFBE06BA8E}"/>
              </a:ext>
            </a:extLst>
          </p:cNvPr>
          <p:cNvSpPr txBox="1"/>
          <p:nvPr/>
        </p:nvSpPr>
        <p:spPr>
          <a:xfrm>
            <a:off x="6275834" y="4086671"/>
            <a:ext cx="914400" cy="320040"/>
          </a:xfrm>
          <a:prstGeom prst="rect">
            <a:avLst/>
          </a:prstGeom>
          <a:noFill/>
        </p:spPr>
        <p:txBody>
          <a:bodyPr wrap="square" lIns="0" tIns="0" rIns="0" bIns="0" anchor="t">
            <a:spAutoFit/>
          </a:bodyPr>
          <a:lstStyle/>
          <a:p>
            <a:pPr algn="ctr"/>
            <a:r>
              <a:rPr sz="1100">
                <a:solidFill>
                  <a:srgbClr val="6B7A72"/>
                </a:solidFill>
                <a:latin typeface="Google Sans Flex"/>
              </a:rPr>
              <a:t>your pick</a:t>
            </a:r>
          </a:p>
        </p:txBody>
      </p:sp>
      <p:sp>
        <p:nvSpPr>
          <p:cNvPr id="29" name="!!day-note">
            <a:extLst>
              <a:ext uri="{FF2B5EF4-FFF2-40B4-BE49-F238E27FC236}">
                <a16:creationId xmlns:a16="http://schemas.microsoft.com/office/drawing/2014/main" id="{29EE3DDF-4B9D-181F-BFA7-860814BA4E9C}"/>
              </a:ext>
            </a:extLst>
          </p:cNvPr>
          <p:cNvSpPr txBox="1"/>
          <p:nvPr/>
        </p:nvSpPr>
        <p:spPr>
          <a:xfrm>
            <a:off x="4227578" y="4608576"/>
            <a:ext cx="6126480" cy="822960"/>
          </a:xfrm>
          <a:prstGeom prst="rect">
            <a:avLst/>
          </a:prstGeom>
          <a:noFill/>
        </p:spPr>
        <p:txBody>
          <a:bodyPr wrap="square" lIns="0" tIns="0" rIns="0" bIns="0" anchor="t">
            <a:spAutoFit/>
          </a:bodyPr>
          <a:lstStyle/>
          <a:p>
            <a:pPr algn="l"/>
            <a:r>
              <a:rPr sz="1700" dirty="0">
                <a:solidFill>
                  <a:srgbClr val="00B050"/>
                </a:solidFill>
                <a:latin typeface="Google Sans Flex SemiBold"/>
              </a:rPr>
              <a:t>3 and 5 Nov: </a:t>
            </a:r>
            <a:r>
              <a:rPr sz="1700" dirty="0">
                <a:latin typeface="Google Sans Flex"/>
              </a:rPr>
              <a:t>a vehicle already goes to your district</a:t>
            </a:r>
          </a:p>
        </p:txBody>
      </p:sp>
      <p:sp>
        <p:nvSpPr>
          <p:cNvPr id="35" name="!!edge0">
            <a:extLst>
              <a:ext uri="{FF2B5EF4-FFF2-40B4-BE49-F238E27FC236}">
                <a16:creationId xmlns:a16="http://schemas.microsoft.com/office/drawing/2014/main" id="{6F017859-D4B4-4122-EF64-D8B7248B7DD3}"/>
              </a:ext>
            </a:extLst>
          </p:cNvPr>
          <p:cNvSpPr/>
          <p:nvPr/>
        </p:nvSpPr>
        <p:spPr>
          <a:xfrm>
            <a:off x="4155946" y="5177773"/>
            <a:ext cx="4375406" cy="438912"/>
          </a:xfrm>
          <a:prstGeom prst="roundRect">
            <a:avLst>
              <a:gd name="adj" fmla="val 50000"/>
            </a:avLst>
          </a:prstGeom>
          <a:solidFill>
            <a:srgbClr val="006A62"/>
          </a:solidFill>
          <a:ln>
            <a:no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34" name="!!day-only">
            <a:extLst>
              <a:ext uri="{FF2B5EF4-FFF2-40B4-BE49-F238E27FC236}">
                <a16:creationId xmlns:a16="http://schemas.microsoft.com/office/drawing/2014/main" id="{0C2E4E0D-1909-99FF-5AF3-3B14AA9AE8A4}"/>
              </a:ext>
            </a:extLst>
          </p:cNvPr>
          <p:cNvSpPr txBox="1"/>
          <p:nvPr/>
        </p:nvSpPr>
        <p:spPr>
          <a:xfrm>
            <a:off x="4328162" y="5281813"/>
            <a:ext cx="6126480" cy="230832"/>
          </a:xfrm>
          <a:prstGeom prst="rect">
            <a:avLst/>
          </a:prstGeom>
          <a:noFill/>
        </p:spPr>
        <p:txBody>
          <a:bodyPr wrap="square" lIns="0" tIns="0" rIns="0" bIns="0" anchor="t">
            <a:spAutoFit/>
          </a:bodyPr>
          <a:lstStyle/>
          <a:p>
            <a:pPr algn="l"/>
            <a:r>
              <a:rPr sz="1500" dirty="0">
                <a:solidFill>
                  <a:schemeClr val="bg1"/>
                </a:solidFill>
                <a:latin typeface="Google Sans Flex Light"/>
              </a:rPr>
              <a:t>Only a suggestion. The store manager decides.</a:t>
            </a:r>
          </a:p>
        </p:txBody>
      </p:sp>
      <p:sp>
        <p:nvSpPr>
          <p:cNvPr id="45" name="!!day3">
            <a:extLst>
              <a:ext uri="{FF2B5EF4-FFF2-40B4-BE49-F238E27FC236}">
                <a16:creationId xmlns:a16="http://schemas.microsoft.com/office/drawing/2014/main" id="{AD2CB510-7CA2-D201-D6C3-4B58D22F1B5D}"/>
              </a:ext>
            </a:extLst>
          </p:cNvPr>
          <p:cNvSpPr/>
          <p:nvPr/>
        </p:nvSpPr>
        <p:spPr>
          <a:xfrm>
            <a:off x="5251706" y="2852231"/>
            <a:ext cx="896112" cy="1143000"/>
          </a:xfrm>
          <a:prstGeom prst="roundRect">
            <a:avLst>
              <a:gd name="adj" fmla="val 18000"/>
            </a:avLst>
          </a:prstGeom>
          <a:solidFill>
            <a:srgbClr val="FFFFFF"/>
          </a:solidFill>
          <a:ln w="31750">
            <a:solidFill>
              <a:srgbClr val="00B050"/>
            </a:solidFill>
          </a:ln>
        </p:spPr>
        <p:txBody>
          <a:bodyPr rtlCol="0" anchor="ctr"/>
          <a:lstStyle/>
          <a:p>
            <a:pPr algn="ctr"/>
            <a:r>
              <a:rPr sz="1300">
                <a:solidFill>
                  <a:srgbClr val="000000"/>
                </a:solidFill>
                <a:latin typeface="Google Sans Flex"/>
              </a:rPr>
              <a:t>Tue</a:t>
            </a:r>
          </a:p>
          <a:p>
            <a:pPr algn="ctr"/>
            <a:r>
              <a:rPr sz="1500">
                <a:solidFill>
                  <a:srgbClr val="000000"/>
                </a:solidFill>
                <a:latin typeface="Google Sans Flex SemiBold"/>
              </a:rPr>
              <a:t>3 Nov</a:t>
            </a:r>
          </a:p>
        </p:txBody>
      </p:sp>
      <p:sp>
        <p:nvSpPr>
          <p:cNvPr id="47" name="!!day5">
            <a:extLst>
              <a:ext uri="{FF2B5EF4-FFF2-40B4-BE49-F238E27FC236}">
                <a16:creationId xmlns:a16="http://schemas.microsoft.com/office/drawing/2014/main" id="{0C86C792-9BA7-A0C1-6D4C-D6C388DC3038}"/>
              </a:ext>
            </a:extLst>
          </p:cNvPr>
          <p:cNvSpPr/>
          <p:nvPr/>
        </p:nvSpPr>
        <p:spPr>
          <a:xfrm>
            <a:off x="7299962" y="2852231"/>
            <a:ext cx="896112" cy="1143000"/>
          </a:xfrm>
          <a:prstGeom prst="roundRect">
            <a:avLst>
              <a:gd name="adj" fmla="val 18000"/>
            </a:avLst>
          </a:prstGeom>
          <a:solidFill>
            <a:srgbClr val="FFFFFF"/>
          </a:solidFill>
          <a:ln w="31750">
            <a:solidFill>
              <a:srgbClr val="00B050"/>
            </a:solidFill>
          </a:ln>
        </p:spPr>
        <p:txBody>
          <a:bodyPr rtlCol="0" anchor="ctr"/>
          <a:lstStyle/>
          <a:p>
            <a:pPr algn="ctr"/>
            <a:r>
              <a:rPr sz="1300">
                <a:solidFill>
                  <a:srgbClr val="000000"/>
                </a:solidFill>
                <a:latin typeface="Google Sans Flex"/>
              </a:rPr>
              <a:t>Thu</a:t>
            </a:r>
          </a:p>
          <a:p>
            <a:pPr algn="ctr"/>
            <a:r>
              <a:rPr sz="1500">
                <a:solidFill>
                  <a:srgbClr val="000000"/>
                </a:solidFill>
                <a:latin typeface="Google Sans Flex SemiBold"/>
              </a:rPr>
              <a:t>5 Nov</a:t>
            </a:r>
          </a:p>
        </p:txBody>
      </p:sp>
      <p:grpSp>
        <p:nvGrpSpPr>
          <p:cNvPr id="78" name="Group 77">
            <a:extLst>
              <a:ext uri="{FF2B5EF4-FFF2-40B4-BE49-F238E27FC236}">
                <a16:creationId xmlns:a16="http://schemas.microsoft.com/office/drawing/2014/main" id="{F11AFE91-3B9B-20E7-B2E7-01227B688563}"/>
              </a:ext>
            </a:extLst>
          </p:cNvPr>
          <p:cNvGrpSpPr/>
          <p:nvPr/>
        </p:nvGrpSpPr>
        <p:grpSpPr>
          <a:xfrm>
            <a:off x="4212980" y="640080"/>
            <a:ext cx="7516368" cy="506975"/>
            <a:chOff x="4212980" y="640080"/>
            <a:chExt cx="7516368" cy="506975"/>
          </a:xfrm>
        </p:grpSpPr>
        <p:sp>
          <p:nvSpPr>
            <p:cNvPr id="4" name="!!edge0">
              <a:extLst>
                <a:ext uri="{FF2B5EF4-FFF2-40B4-BE49-F238E27FC236}">
                  <a16:creationId xmlns:a16="http://schemas.microsoft.com/office/drawing/2014/main" id="{F8E9F7C0-9F84-18B7-5A28-BECAFD91793C}"/>
                </a:ext>
              </a:extLst>
            </p:cNvPr>
            <p:cNvSpPr/>
            <p:nvPr/>
          </p:nvSpPr>
          <p:spPr>
            <a:xfrm>
              <a:off x="4212980" y="640080"/>
              <a:ext cx="2486549"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0" name="!!section">
              <a:extLst>
                <a:ext uri="{FF2B5EF4-FFF2-40B4-BE49-F238E27FC236}">
                  <a16:creationId xmlns:a16="http://schemas.microsoft.com/office/drawing/2014/main" id="{0D5E7CFE-D4FE-C69D-797B-9832C56E32EC}"/>
                </a:ext>
              </a:extLst>
            </p:cNvPr>
            <p:cNvSpPr txBox="1"/>
            <p:nvPr/>
          </p:nvSpPr>
          <p:spPr>
            <a:xfrm>
              <a:off x="4414148" y="777723"/>
              <a:ext cx="7315200" cy="369332"/>
            </a:xfrm>
            <a:prstGeom prst="rect">
              <a:avLst/>
            </a:prstGeom>
            <a:noFill/>
          </p:spPr>
          <p:txBody>
            <a:bodyPr wrap="square" lIns="0" tIns="0" rIns="0" bIns="0" anchor="t">
              <a:spAutoFit/>
            </a:bodyPr>
            <a:lstStyle/>
            <a:p>
              <a:pPr algn="l"/>
              <a:r>
                <a:rPr sz="1200" dirty="0">
                  <a:solidFill>
                    <a:srgbClr val="006A62"/>
                  </a:solidFill>
                  <a:latin typeface="Google Sans Flex SemiBold"/>
                </a:rPr>
                <a:t>Problem 1 · </a:t>
              </a:r>
              <a:r>
                <a:rPr lang="en-US" sz="1200" dirty="0">
                  <a:solidFill>
                    <a:srgbClr val="006A62"/>
                  </a:solidFill>
                  <a:latin typeface="Google Sans Flex SemiBold"/>
                </a:rPr>
                <a:t>Vehicle Shortage</a:t>
              </a:r>
            </a:p>
            <a:p>
              <a:pPr algn="l"/>
              <a:endParaRPr sz="1200" dirty="0">
                <a:solidFill>
                  <a:srgbClr val="006A62"/>
                </a:solidFill>
                <a:latin typeface="Google Sans Flex SemiBold"/>
              </a:endParaRPr>
            </a:p>
          </p:txBody>
        </p:sp>
      </p:grpSp>
      <p:pic>
        <p:nvPicPr>
          <p:cNvPr id="11" name="Picture 10">
            <a:extLst>
              <a:ext uri="{FF2B5EF4-FFF2-40B4-BE49-F238E27FC236}">
                <a16:creationId xmlns:a16="http://schemas.microsoft.com/office/drawing/2014/main" id="{F0CF27F4-9E5A-F486-6463-FC224D09EAF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0411" y="-6313556"/>
            <a:ext cx="5399532" cy="3543059"/>
          </a:xfrm>
          <a:prstGeom prst="rect">
            <a:avLst/>
          </a:prstGeom>
        </p:spPr>
      </p:pic>
      <p:pic>
        <p:nvPicPr>
          <p:cNvPr id="12" name="Picture 11">
            <a:extLst>
              <a:ext uri="{FF2B5EF4-FFF2-40B4-BE49-F238E27FC236}">
                <a16:creationId xmlns:a16="http://schemas.microsoft.com/office/drawing/2014/main" id="{F8B6DEAB-CA5D-3FEC-A78D-0BCF42BE567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0411" y="-6313556"/>
            <a:ext cx="5399532" cy="3543059"/>
          </a:xfrm>
          <a:prstGeom prst="rect">
            <a:avLst/>
          </a:prstGeom>
        </p:spPr>
      </p:pic>
      <p:pic>
        <p:nvPicPr>
          <p:cNvPr id="13" name="Picture 12">
            <a:extLst>
              <a:ext uri="{FF2B5EF4-FFF2-40B4-BE49-F238E27FC236}">
                <a16:creationId xmlns:a16="http://schemas.microsoft.com/office/drawing/2014/main" id="{9DF0D2E6-F9C4-F842-1E84-F31AE9DEC60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10411" y="-6313556"/>
            <a:ext cx="5399532" cy="3543059"/>
          </a:xfrm>
          <a:prstGeom prst="rect">
            <a:avLst/>
          </a:prstGeom>
        </p:spPr>
      </p:pic>
      <p:sp>
        <p:nvSpPr>
          <p:cNvPr id="14" name="!!edge0">
            <a:extLst>
              <a:ext uri="{FF2B5EF4-FFF2-40B4-BE49-F238E27FC236}">
                <a16:creationId xmlns:a16="http://schemas.microsoft.com/office/drawing/2014/main" id="{1D32AA16-8AE2-405E-6594-F7A8E7E76CC3}"/>
              </a:ext>
            </a:extLst>
          </p:cNvPr>
          <p:cNvSpPr/>
          <p:nvPr/>
        </p:nvSpPr>
        <p:spPr>
          <a:xfrm>
            <a:off x="923544" y="-8988031"/>
            <a:ext cx="2486549"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6" name="!!edge0">
            <a:extLst>
              <a:ext uri="{FF2B5EF4-FFF2-40B4-BE49-F238E27FC236}">
                <a16:creationId xmlns:a16="http://schemas.microsoft.com/office/drawing/2014/main" id="{51C7EFB6-F664-2ED0-52B4-3A8972D44368}"/>
              </a:ext>
            </a:extLst>
          </p:cNvPr>
          <p:cNvSpPr/>
          <p:nvPr/>
        </p:nvSpPr>
        <p:spPr>
          <a:xfrm>
            <a:off x="6825994" y="-5560912"/>
            <a:ext cx="4741166" cy="1058434"/>
          </a:xfrm>
          <a:prstGeom prst="roundRect">
            <a:avLst>
              <a:gd name="adj" fmla="val 2451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8" name="!!edge0">
            <a:extLst>
              <a:ext uri="{FF2B5EF4-FFF2-40B4-BE49-F238E27FC236}">
                <a16:creationId xmlns:a16="http://schemas.microsoft.com/office/drawing/2014/main" id="{5E584103-3B26-3D26-1BD1-E658A48CB3B6}"/>
              </a:ext>
            </a:extLst>
          </p:cNvPr>
          <p:cNvSpPr/>
          <p:nvPr/>
        </p:nvSpPr>
        <p:spPr>
          <a:xfrm>
            <a:off x="6825994" y="-3682868"/>
            <a:ext cx="4741166" cy="1058434"/>
          </a:xfrm>
          <a:prstGeom prst="roundRect">
            <a:avLst>
              <a:gd name="adj" fmla="val 2451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9" name="!!section">
            <a:extLst>
              <a:ext uri="{FF2B5EF4-FFF2-40B4-BE49-F238E27FC236}">
                <a16:creationId xmlns:a16="http://schemas.microsoft.com/office/drawing/2014/main" id="{69356434-0D82-9BE1-C9BC-7F8CA467CD3F}"/>
              </a:ext>
            </a:extLst>
          </p:cNvPr>
          <p:cNvSpPr txBox="1"/>
          <p:nvPr/>
        </p:nvSpPr>
        <p:spPr>
          <a:xfrm>
            <a:off x="1124712" y="-8850388"/>
            <a:ext cx="7315200" cy="369332"/>
          </a:xfrm>
          <a:prstGeom prst="rect">
            <a:avLst/>
          </a:prstGeom>
          <a:noFill/>
        </p:spPr>
        <p:txBody>
          <a:bodyPr wrap="square" lIns="0" tIns="0" rIns="0" bIns="0" anchor="t">
            <a:spAutoFit/>
          </a:bodyPr>
          <a:lstStyle/>
          <a:p>
            <a:pPr algn="l"/>
            <a:r>
              <a:rPr sz="1200" dirty="0">
                <a:solidFill>
                  <a:srgbClr val="006A62"/>
                </a:solidFill>
                <a:latin typeface="Google Sans Flex SemiBold"/>
              </a:rPr>
              <a:t>Problem 1 · </a:t>
            </a:r>
            <a:r>
              <a:rPr lang="en-US" sz="1200" dirty="0">
                <a:solidFill>
                  <a:srgbClr val="006A62"/>
                </a:solidFill>
                <a:latin typeface="Google Sans Flex SemiBold"/>
              </a:rPr>
              <a:t>Vehicle Shortage</a:t>
            </a:r>
          </a:p>
          <a:p>
            <a:pPr algn="l"/>
            <a:endParaRPr sz="1200" dirty="0">
              <a:solidFill>
                <a:srgbClr val="006A62"/>
              </a:solidFill>
              <a:latin typeface="Google Sans Flex SemiBold"/>
            </a:endParaRPr>
          </a:p>
        </p:txBody>
      </p:sp>
      <p:sp>
        <p:nvSpPr>
          <p:cNvPr id="21" name="!!title">
            <a:extLst>
              <a:ext uri="{FF2B5EF4-FFF2-40B4-BE49-F238E27FC236}">
                <a16:creationId xmlns:a16="http://schemas.microsoft.com/office/drawing/2014/main" id="{2F0F19A4-DA49-F17C-6CAB-3B1B304D0016}"/>
              </a:ext>
            </a:extLst>
          </p:cNvPr>
          <p:cNvSpPr txBox="1"/>
          <p:nvPr/>
        </p:nvSpPr>
        <p:spPr>
          <a:xfrm>
            <a:off x="923544" y="-7837617"/>
            <a:ext cx="7863840" cy="1325880"/>
          </a:xfrm>
          <a:prstGeom prst="rect">
            <a:avLst/>
          </a:prstGeom>
          <a:noFill/>
        </p:spPr>
        <p:txBody>
          <a:bodyPr wrap="square" lIns="0" tIns="0" rIns="0" bIns="0" anchor="t">
            <a:spAutoFit/>
          </a:bodyPr>
          <a:lstStyle/>
          <a:p>
            <a:pPr algn="l"/>
            <a:r>
              <a:rPr sz="3600" dirty="0">
                <a:solidFill>
                  <a:srgbClr val="00B050"/>
                </a:solidFill>
                <a:latin typeface="Google Sans Flex SemiBold"/>
              </a:rPr>
              <a:t>When vehicles</a:t>
            </a:r>
            <a:r>
              <a:rPr sz="3600" dirty="0">
                <a:latin typeface="Google Sans Flex Light"/>
              </a:rPr>
              <a:t> run short</a:t>
            </a:r>
          </a:p>
        </p:txBody>
      </p:sp>
      <p:sp>
        <p:nvSpPr>
          <p:cNvPr id="23" name="!!t7-0-head">
            <a:extLst>
              <a:ext uri="{FF2B5EF4-FFF2-40B4-BE49-F238E27FC236}">
                <a16:creationId xmlns:a16="http://schemas.microsoft.com/office/drawing/2014/main" id="{413523E1-E6AC-591D-51B9-109A3AEC68F3}"/>
              </a:ext>
            </a:extLst>
          </p:cNvPr>
          <p:cNvSpPr txBox="1"/>
          <p:nvPr/>
        </p:nvSpPr>
        <p:spPr>
          <a:xfrm>
            <a:off x="7045451" y="-5388311"/>
            <a:ext cx="4937760" cy="457200"/>
          </a:xfrm>
          <a:prstGeom prst="rect">
            <a:avLst/>
          </a:prstGeom>
          <a:noFill/>
        </p:spPr>
        <p:txBody>
          <a:bodyPr wrap="square" lIns="0" tIns="0" rIns="0" bIns="0" anchor="t">
            <a:spAutoFit/>
          </a:bodyPr>
          <a:lstStyle/>
          <a:p>
            <a:pPr algn="l"/>
            <a:r>
              <a:rPr sz="2200">
                <a:latin typeface="Google Sans Flex SemiBold"/>
              </a:rPr>
              <a:t>Plan in seconds</a:t>
            </a:r>
          </a:p>
        </p:txBody>
      </p:sp>
      <p:sp>
        <p:nvSpPr>
          <p:cNvPr id="25" name="!!t7-0-sub">
            <a:extLst>
              <a:ext uri="{FF2B5EF4-FFF2-40B4-BE49-F238E27FC236}">
                <a16:creationId xmlns:a16="http://schemas.microsoft.com/office/drawing/2014/main" id="{98E85854-E3DB-9D3F-DE2C-4990A34D1F5B}"/>
              </a:ext>
            </a:extLst>
          </p:cNvPr>
          <p:cNvSpPr txBox="1"/>
          <p:nvPr/>
        </p:nvSpPr>
        <p:spPr>
          <a:xfrm>
            <a:off x="7045451" y="-4931111"/>
            <a:ext cx="4937760" cy="548640"/>
          </a:xfrm>
          <a:prstGeom prst="rect">
            <a:avLst/>
          </a:prstGeom>
          <a:noFill/>
        </p:spPr>
        <p:txBody>
          <a:bodyPr wrap="square" lIns="0" tIns="0" rIns="0" bIns="0" anchor="t">
            <a:spAutoFit/>
          </a:bodyPr>
          <a:lstStyle/>
          <a:p>
            <a:pPr algn="l"/>
            <a:r>
              <a:rPr sz="1500">
                <a:solidFill>
                  <a:srgbClr val="6B7A72"/>
                </a:solidFill>
                <a:latin typeface="Google Sans Flex Light"/>
              </a:rPr>
              <a:t>within every vehicle's limits</a:t>
            </a:r>
          </a:p>
        </p:txBody>
      </p:sp>
      <p:sp>
        <p:nvSpPr>
          <p:cNvPr id="27" name="!!t7-1-head">
            <a:extLst>
              <a:ext uri="{FF2B5EF4-FFF2-40B4-BE49-F238E27FC236}">
                <a16:creationId xmlns:a16="http://schemas.microsoft.com/office/drawing/2014/main" id="{C79CAA73-BA9E-BB48-E607-E30E6BE5CA04}"/>
              </a:ext>
            </a:extLst>
          </p:cNvPr>
          <p:cNvSpPr txBox="1"/>
          <p:nvPr/>
        </p:nvSpPr>
        <p:spPr>
          <a:xfrm>
            <a:off x="7045451" y="-3529690"/>
            <a:ext cx="4937760" cy="457200"/>
          </a:xfrm>
          <a:prstGeom prst="rect">
            <a:avLst/>
          </a:prstGeom>
          <a:noFill/>
        </p:spPr>
        <p:txBody>
          <a:bodyPr wrap="square" lIns="0" tIns="0" rIns="0" bIns="0" anchor="t">
            <a:spAutoFit/>
          </a:bodyPr>
          <a:lstStyle/>
          <a:p>
            <a:pPr algn="l"/>
            <a:r>
              <a:rPr sz="2200">
                <a:latin typeface="Google Sans Flex SemiBold"/>
              </a:rPr>
              <a:t>Every waiting order explained</a:t>
            </a:r>
          </a:p>
        </p:txBody>
      </p:sp>
      <p:sp>
        <p:nvSpPr>
          <p:cNvPr id="28" name="!!t7-1-sub">
            <a:extLst>
              <a:ext uri="{FF2B5EF4-FFF2-40B4-BE49-F238E27FC236}">
                <a16:creationId xmlns:a16="http://schemas.microsoft.com/office/drawing/2014/main" id="{9B7C7DD3-B938-DE6E-F53B-1ED14EEC1374}"/>
              </a:ext>
            </a:extLst>
          </p:cNvPr>
          <p:cNvSpPr txBox="1"/>
          <p:nvPr/>
        </p:nvSpPr>
        <p:spPr>
          <a:xfrm>
            <a:off x="7045451" y="-3072490"/>
            <a:ext cx="4937760" cy="548640"/>
          </a:xfrm>
          <a:prstGeom prst="rect">
            <a:avLst/>
          </a:prstGeom>
          <a:noFill/>
        </p:spPr>
        <p:txBody>
          <a:bodyPr wrap="square" lIns="0" tIns="0" rIns="0" bIns="0" anchor="t">
            <a:spAutoFit/>
          </a:bodyPr>
          <a:lstStyle/>
          <a:p>
            <a:pPr algn="l"/>
            <a:r>
              <a:rPr sz="1500">
                <a:solidFill>
                  <a:srgbClr val="6B7A72"/>
                </a:solidFill>
                <a:latin typeface="Google Sans Flex Light"/>
              </a:rPr>
              <a:t>the rule, and the smallest change that makes room</a:t>
            </a:r>
          </a:p>
        </p:txBody>
      </p:sp>
      <p:grpSp>
        <p:nvGrpSpPr>
          <p:cNvPr id="79" name="Group 78">
            <a:extLst>
              <a:ext uri="{FF2B5EF4-FFF2-40B4-BE49-F238E27FC236}">
                <a16:creationId xmlns:a16="http://schemas.microsoft.com/office/drawing/2014/main" id="{E7B83BC7-84C5-0A5E-6860-6D80E6D9B50D}"/>
              </a:ext>
            </a:extLst>
          </p:cNvPr>
          <p:cNvGrpSpPr/>
          <p:nvPr/>
        </p:nvGrpSpPr>
        <p:grpSpPr>
          <a:xfrm>
            <a:off x="6825994" y="-1806047"/>
            <a:ext cx="5157217" cy="1139595"/>
            <a:chOff x="6825994" y="-1806047"/>
            <a:chExt cx="5157217" cy="1139595"/>
          </a:xfrm>
        </p:grpSpPr>
        <p:sp>
          <p:nvSpPr>
            <p:cNvPr id="17" name="!!edge0">
              <a:extLst>
                <a:ext uri="{FF2B5EF4-FFF2-40B4-BE49-F238E27FC236}">
                  <a16:creationId xmlns:a16="http://schemas.microsoft.com/office/drawing/2014/main" id="{19271381-EAD1-0435-6E69-465D015F7762}"/>
                </a:ext>
              </a:extLst>
            </p:cNvPr>
            <p:cNvSpPr/>
            <p:nvPr/>
          </p:nvSpPr>
          <p:spPr>
            <a:xfrm>
              <a:off x="6825994" y="-1806047"/>
              <a:ext cx="4741166" cy="1058434"/>
            </a:xfrm>
            <a:prstGeom prst="roundRect">
              <a:avLst>
                <a:gd name="adj" fmla="val 2451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30" name="!!t7-2-head">
              <a:extLst>
                <a:ext uri="{FF2B5EF4-FFF2-40B4-BE49-F238E27FC236}">
                  <a16:creationId xmlns:a16="http://schemas.microsoft.com/office/drawing/2014/main" id="{94846414-2DEC-4FAF-4E93-A2DF29ED9F72}"/>
                </a:ext>
              </a:extLst>
            </p:cNvPr>
            <p:cNvSpPr txBox="1"/>
            <p:nvPr/>
          </p:nvSpPr>
          <p:spPr>
            <a:xfrm>
              <a:off x="7045451" y="-1672292"/>
              <a:ext cx="4937760" cy="457200"/>
            </a:xfrm>
            <a:prstGeom prst="rect">
              <a:avLst/>
            </a:prstGeom>
            <a:noFill/>
          </p:spPr>
          <p:txBody>
            <a:bodyPr wrap="square" lIns="0" tIns="0" rIns="0" bIns="0" anchor="t">
              <a:spAutoFit/>
            </a:bodyPr>
            <a:lstStyle/>
            <a:p>
              <a:pPr algn="l"/>
              <a:r>
                <a:rPr sz="2200">
                  <a:latin typeface="Google Sans Flex SemiBold"/>
                </a:rPr>
                <a:t>Hire ahead</a:t>
              </a:r>
            </a:p>
          </p:txBody>
        </p:sp>
        <p:sp>
          <p:nvSpPr>
            <p:cNvPr id="31" name="!!t7-2-sub">
              <a:extLst>
                <a:ext uri="{FF2B5EF4-FFF2-40B4-BE49-F238E27FC236}">
                  <a16:creationId xmlns:a16="http://schemas.microsoft.com/office/drawing/2014/main" id="{47FE7220-B9DE-6A31-6B24-3309AFE0AE93}"/>
                </a:ext>
              </a:extLst>
            </p:cNvPr>
            <p:cNvSpPr txBox="1"/>
            <p:nvPr/>
          </p:nvSpPr>
          <p:spPr>
            <a:xfrm>
              <a:off x="7045451" y="-1215092"/>
              <a:ext cx="4937760" cy="548640"/>
            </a:xfrm>
            <a:prstGeom prst="rect">
              <a:avLst/>
            </a:prstGeom>
            <a:noFill/>
          </p:spPr>
          <p:txBody>
            <a:bodyPr wrap="square" lIns="0" tIns="0" rIns="0" bIns="0" anchor="t">
              <a:spAutoFit/>
            </a:bodyPr>
            <a:lstStyle/>
            <a:p>
              <a:pPr algn="l"/>
              <a:r>
                <a:rPr sz="1500">
                  <a:solidFill>
                    <a:srgbClr val="6B7A72"/>
                  </a:solidFill>
                  <a:latin typeface="Google Sans Flex Light"/>
                </a:rPr>
                <a:t>the forecast shows the gap; the admin hires</a:t>
              </a:r>
            </a:p>
          </p:txBody>
        </p:sp>
      </p:grpSp>
      <p:pic>
        <p:nvPicPr>
          <p:cNvPr id="33" name="Picture 32" descr="MockUPhone">
            <a:extLst>
              <a:ext uri="{FF2B5EF4-FFF2-40B4-BE49-F238E27FC236}">
                <a16:creationId xmlns:a16="http://schemas.microsoft.com/office/drawing/2014/main" id="{43AE196E-A61F-1F34-5E0D-18F25EA6E11D}"/>
              </a:ext>
            </a:extLst>
          </p:cNvPr>
          <p:cNvPicPr>
            <a:picLocks noChangeAspect="1"/>
          </p:cNvPicPr>
          <p:nvPr/>
        </p:nvPicPr>
        <p:blipFill>
          <a:blip r:embed="rId10"/>
          <a:stretch>
            <a:fillRect/>
          </a:stretch>
        </p:blipFill>
        <p:spPr>
          <a:xfrm>
            <a:off x="196597" y="-6832495"/>
            <a:ext cx="7028514" cy="4569248"/>
          </a:xfrm>
          <a:prstGeom prst="rect">
            <a:avLst/>
          </a:prstGeom>
        </p:spPr>
      </p:pic>
      <p:grpSp>
        <p:nvGrpSpPr>
          <p:cNvPr id="46" name="Group 45">
            <a:extLst>
              <a:ext uri="{FF2B5EF4-FFF2-40B4-BE49-F238E27FC236}">
                <a16:creationId xmlns:a16="http://schemas.microsoft.com/office/drawing/2014/main" id="{D3C5ECD0-7B82-784A-F526-7B99C57B416D}"/>
              </a:ext>
            </a:extLst>
          </p:cNvPr>
          <p:cNvGrpSpPr/>
          <p:nvPr/>
        </p:nvGrpSpPr>
        <p:grpSpPr>
          <a:xfrm>
            <a:off x="6825994" y="-1805489"/>
            <a:ext cx="5157217" cy="1058434"/>
            <a:chOff x="12908104" y="4365093"/>
            <a:chExt cx="5157217" cy="1058434"/>
          </a:xfrm>
        </p:grpSpPr>
        <p:sp>
          <p:nvSpPr>
            <p:cNvPr id="49" name="!!edge0">
              <a:extLst>
                <a:ext uri="{FF2B5EF4-FFF2-40B4-BE49-F238E27FC236}">
                  <a16:creationId xmlns:a16="http://schemas.microsoft.com/office/drawing/2014/main" id="{5B6F9B0E-25B0-1850-3087-330887226372}"/>
                </a:ext>
              </a:extLst>
            </p:cNvPr>
            <p:cNvSpPr/>
            <p:nvPr/>
          </p:nvSpPr>
          <p:spPr>
            <a:xfrm>
              <a:off x="12908104" y="4365093"/>
              <a:ext cx="4741166" cy="1058434"/>
            </a:xfrm>
            <a:prstGeom prst="roundRect">
              <a:avLst>
                <a:gd name="adj" fmla="val 24511"/>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solidFill>
                  <a:schemeClr val="bg1"/>
                </a:solidFill>
              </a:endParaRPr>
            </a:p>
          </p:txBody>
        </p:sp>
        <p:sp>
          <p:nvSpPr>
            <p:cNvPr id="50" name="!!t7-2-head">
              <a:extLst>
                <a:ext uri="{FF2B5EF4-FFF2-40B4-BE49-F238E27FC236}">
                  <a16:creationId xmlns:a16="http://schemas.microsoft.com/office/drawing/2014/main" id="{464B21F0-690F-09D7-8BBD-8596386946F7}"/>
                </a:ext>
              </a:extLst>
            </p:cNvPr>
            <p:cNvSpPr txBox="1"/>
            <p:nvPr/>
          </p:nvSpPr>
          <p:spPr>
            <a:xfrm>
              <a:off x="13127561" y="4498848"/>
              <a:ext cx="4937760" cy="338554"/>
            </a:xfrm>
            <a:prstGeom prst="rect">
              <a:avLst/>
            </a:prstGeom>
            <a:noFill/>
          </p:spPr>
          <p:txBody>
            <a:bodyPr wrap="square" lIns="0" tIns="0" rIns="0" bIns="0" anchor="t">
              <a:spAutoFit/>
            </a:bodyPr>
            <a:lstStyle/>
            <a:p>
              <a:pPr algn="l"/>
              <a:r>
                <a:rPr sz="2200">
                  <a:solidFill>
                    <a:schemeClr val="bg1"/>
                  </a:solidFill>
                  <a:latin typeface="Google Sans Flex SemiBold"/>
                </a:rPr>
                <a:t>Hire ahead</a:t>
              </a:r>
            </a:p>
          </p:txBody>
        </p:sp>
        <p:sp>
          <p:nvSpPr>
            <p:cNvPr id="51" name="!!t7-2-sub">
              <a:extLst>
                <a:ext uri="{FF2B5EF4-FFF2-40B4-BE49-F238E27FC236}">
                  <a16:creationId xmlns:a16="http://schemas.microsoft.com/office/drawing/2014/main" id="{6242BCCF-E443-501F-FD1D-DB2295B93758}"/>
                </a:ext>
              </a:extLst>
            </p:cNvPr>
            <p:cNvSpPr txBox="1"/>
            <p:nvPr/>
          </p:nvSpPr>
          <p:spPr>
            <a:xfrm>
              <a:off x="13127561" y="4956048"/>
              <a:ext cx="4937760" cy="230832"/>
            </a:xfrm>
            <a:prstGeom prst="rect">
              <a:avLst/>
            </a:prstGeom>
            <a:noFill/>
          </p:spPr>
          <p:txBody>
            <a:bodyPr wrap="square" lIns="0" tIns="0" rIns="0" bIns="0" anchor="t">
              <a:spAutoFit/>
            </a:bodyPr>
            <a:lstStyle/>
            <a:p>
              <a:pPr algn="l"/>
              <a:r>
                <a:rPr sz="1500">
                  <a:solidFill>
                    <a:schemeClr val="bg1"/>
                  </a:solidFill>
                  <a:latin typeface="Google Sans Flex Light"/>
                </a:rPr>
                <a:t>the forecast shows the gap; the admin hires</a:t>
              </a:r>
            </a:p>
          </p:txBody>
        </p:sp>
      </p:grpSp>
      <p:sp>
        <p:nvSpPr>
          <p:cNvPr id="53" name="!!day4">
            <a:extLst>
              <a:ext uri="{FF2B5EF4-FFF2-40B4-BE49-F238E27FC236}">
                <a16:creationId xmlns:a16="http://schemas.microsoft.com/office/drawing/2014/main" id="{7054C05A-A49E-E652-7726-6A8F78CBB1C7}"/>
              </a:ext>
            </a:extLst>
          </p:cNvPr>
          <p:cNvSpPr/>
          <p:nvPr/>
        </p:nvSpPr>
        <p:spPr>
          <a:xfrm>
            <a:off x="6275834" y="2852231"/>
            <a:ext cx="896112" cy="1143000"/>
          </a:xfrm>
          <a:prstGeom prst="roundRect">
            <a:avLst>
              <a:gd name="adj" fmla="val 18000"/>
            </a:avLst>
          </a:prstGeom>
          <a:noFill/>
          <a:ln w="12700">
            <a:solidFill>
              <a:srgbClr val="C9D1CC"/>
            </a:solidFill>
          </a:ln>
        </p:spPr>
        <p:txBody>
          <a:bodyPr rtlCol="0" anchor="ctr"/>
          <a:lstStyle/>
          <a:p>
            <a:pPr algn="ctr"/>
            <a:r>
              <a:rPr sz="1300">
                <a:solidFill>
                  <a:sysClr val="windowText" lastClr="000000"/>
                </a:solidFill>
                <a:latin typeface="Google Sans Flex"/>
              </a:rPr>
              <a:t>Wed</a:t>
            </a:r>
          </a:p>
          <a:p>
            <a:pPr algn="ctr"/>
            <a:r>
              <a:rPr sz="1500">
                <a:solidFill>
                  <a:sysClr val="windowText" lastClr="000000"/>
                </a:solidFill>
                <a:latin typeface="Google Sans Flex SemiBold"/>
              </a:rPr>
              <a:t>4 Nov</a:t>
            </a:r>
          </a:p>
        </p:txBody>
      </p:sp>
      <p:sp>
        <p:nvSpPr>
          <p:cNvPr id="55" name="!!day4">
            <a:extLst>
              <a:ext uri="{FF2B5EF4-FFF2-40B4-BE49-F238E27FC236}">
                <a16:creationId xmlns:a16="http://schemas.microsoft.com/office/drawing/2014/main" id="{70154AEC-0089-DE34-A8C4-C40E50A81CEC}"/>
              </a:ext>
            </a:extLst>
          </p:cNvPr>
          <p:cNvSpPr/>
          <p:nvPr/>
        </p:nvSpPr>
        <p:spPr>
          <a:xfrm>
            <a:off x="6275834" y="2852231"/>
            <a:ext cx="896112" cy="1143000"/>
          </a:xfrm>
          <a:prstGeom prst="roundRect">
            <a:avLst>
              <a:gd name="adj" fmla="val 18000"/>
            </a:avLst>
          </a:prstGeom>
          <a:solidFill>
            <a:srgbClr val="001B09"/>
          </a:solidFill>
          <a:ln w="12700">
            <a:solidFill>
              <a:srgbClr val="C9D1CC"/>
            </a:solidFill>
          </a:ln>
        </p:spPr>
        <p:txBody>
          <a:bodyPr rtlCol="0" anchor="ctr"/>
          <a:lstStyle/>
          <a:p>
            <a:pPr algn="ctr"/>
            <a:r>
              <a:rPr sz="1300">
                <a:solidFill>
                  <a:srgbClr val="FFFFFF"/>
                </a:solidFill>
                <a:latin typeface="Google Sans Flex"/>
              </a:rPr>
              <a:t>Wed</a:t>
            </a:r>
          </a:p>
          <a:p>
            <a:pPr algn="ctr"/>
            <a:r>
              <a:rPr sz="1500">
                <a:solidFill>
                  <a:srgbClr val="FFFFFF"/>
                </a:solidFill>
                <a:latin typeface="Google Sans Flex SemiBold"/>
              </a:rPr>
              <a:t>4 Nov</a:t>
            </a:r>
          </a:p>
        </p:txBody>
      </p:sp>
      <p:pic>
        <p:nvPicPr>
          <p:cNvPr id="56" name="Picture 55">
            <a:extLst>
              <a:ext uri="{FF2B5EF4-FFF2-40B4-BE49-F238E27FC236}">
                <a16:creationId xmlns:a16="http://schemas.microsoft.com/office/drawing/2014/main" id="{DC4CA211-873D-9F27-961F-6D1FE442F47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7609201" y="2046506"/>
            <a:ext cx="5436096" cy="3524559"/>
          </a:xfrm>
          <a:prstGeom prst="rect">
            <a:avLst/>
          </a:prstGeom>
        </p:spPr>
      </p:pic>
      <p:pic>
        <p:nvPicPr>
          <p:cNvPr id="57" name="03-p2-watcher-alert-laptop-light">
            <a:hlinkClick r:id="" action="ppaction://media"/>
            <a:extLst>
              <a:ext uri="{FF2B5EF4-FFF2-40B4-BE49-F238E27FC236}">
                <a16:creationId xmlns:a16="http://schemas.microsoft.com/office/drawing/2014/main" id="{AD6C3B57-F37B-9BD5-EEE7-24AC593E1637}"/>
              </a:ext>
            </a:extLst>
          </p:cNvPr>
          <p:cNvPicPr>
            <a:picLocks noChangeAspect="1"/>
          </p:cNvPicPr>
          <p:nvPr>
            <a:videoFile r:link="rId1"/>
            <p:extLst>
              <p:ext uri="{DAA4B4D4-6D71-4841-9C94-3DE7FCFB9230}">
                <p14:media xmlns:p14="http://schemas.microsoft.com/office/powerpoint/2010/main" r:embed="rId2">
                  <p14:trim st="5443" end="2571"/>
                </p14:media>
              </p:ext>
            </p:extLst>
          </p:nvPr>
        </p:nvPicPr>
        <p:blipFill>
          <a:blip r:embed="rId12"/>
          <a:stretch>
            <a:fillRect/>
          </a:stretch>
        </p:blipFill>
        <p:spPr>
          <a:xfrm>
            <a:off x="17609201" y="2046507"/>
            <a:ext cx="5436096" cy="3524560"/>
          </a:xfrm>
          <a:prstGeom prst="rect">
            <a:avLst/>
          </a:prstGeom>
        </p:spPr>
      </p:pic>
      <p:grpSp>
        <p:nvGrpSpPr>
          <p:cNvPr id="80" name="Group 79">
            <a:extLst>
              <a:ext uri="{FF2B5EF4-FFF2-40B4-BE49-F238E27FC236}">
                <a16:creationId xmlns:a16="http://schemas.microsoft.com/office/drawing/2014/main" id="{4202CAB7-2982-C0B1-67DD-9C910770AB51}"/>
              </a:ext>
            </a:extLst>
          </p:cNvPr>
          <p:cNvGrpSpPr/>
          <p:nvPr/>
        </p:nvGrpSpPr>
        <p:grpSpPr>
          <a:xfrm>
            <a:off x="14288145" y="640080"/>
            <a:ext cx="7516368" cy="506975"/>
            <a:chOff x="14288145" y="640080"/>
            <a:chExt cx="7516368" cy="506975"/>
          </a:xfrm>
        </p:grpSpPr>
        <p:sp>
          <p:nvSpPr>
            <p:cNvPr id="58" name="!!edge0">
              <a:extLst>
                <a:ext uri="{FF2B5EF4-FFF2-40B4-BE49-F238E27FC236}">
                  <a16:creationId xmlns:a16="http://schemas.microsoft.com/office/drawing/2014/main" id="{B46FDF12-BD7C-79EE-EAA7-B4E31CAE4985}"/>
                </a:ext>
              </a:extLst>
            </p:cNvPr>
            <p:cNvSpPr/>
            <p:nvPr/>
          </p:nvSpPr>
          <p:spPr>
            <a:xfrm>
              <a:off x="14288145" y="640080"/>
              <a:ext cx="3474720"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9" name="!!section">
              <a:extLst>
                <a:ext uri="{FF2B5EF4-FFF2-40B4-BE49-F238E27FC236}">
                  <a16:creationId xmlns:a16="http://schemas.microsoft.com/office/drawing/2014/main" id="{5522F0C2-6173-DAF8-5987-DE1D02EC80FF}"/>
                </a:ext>
              </a:extLst>
            </p:cNvPr>
            <p:cNvSpPr txBox="1"/>
            <p:nvPr/>
          </p:nvSpPr>
          <p:spPr>
            <a:xfrm>
              <a:off x="14489313" y="777723"/>
              <a:ext cx="7315200" cy="369332"/>
            </a:xfrm>
            <a:prstGeom prst="rect">
              <a:avLst/>
            </a:prstGeom>
            <a:noFill/>
          </p:spPr>
          <p:txBody>
            <a:bodyPr wrap="square" lIns="0" tIns="0" rIns="0" bIns="0" anchor="t">
              <a:spAutoFit/>
            </a:bodyPr>
            <a:lstStyle/>
            <a:p>
              <a:r>
                <a:rPr lang="en-US" sz="1200" dirty="0">
                  <a:solidFill>
                    <a:srgbClr val="006A62"/>
                  </a:solidFill>
                  <a:latin typeface="Google Sans Flex SemiBold"/>
                </a:rPr>
                <a:t>Problem 2 · Dispatcher Stress </a:t>
              </a:r>
            </a:p>
            <a:p>
              <a:endParaRPr lang="en-US" sz="1200" dirty="0">
                <a:solidFill>
                  <a:srgbClr val="006A62"/>
                </a:solidFill>
                <a:latin typeface="Google Sans Flex SemiBold"/>
              </a:endParaRPr>
            </a:p>
          </p:txBody>
        </p:sp>
      </p:grpSp>
      <p:sp>
        <p:nvSpPr>
          <p:cNvPr id="60" name="!!title">
            <a:extLst>
              <a:ext uri="{FF2B5EF4-FFF2-40B4-BE49-F238E27FC236}">
                <a16:creationId xmlns:a16="http://schemas.microsoft.com/office/drawing/2014/main" id="{A4C6A393-1A71-9ECC-96BD-4D0567A06EA9}"/>
              </a:ext>
            </a:extLst>
          </p:cNvPr>
          <p:cNvSpPr txBox="1"/>
          <p:nvPr/>
        </p:nvSpPr>
        <p:spPr>
          <a:xfrm>
            <a:off x="16254105" y="1185022"/>
            <a:ext cx="7863840" cy="553998"/>
          </a:xfrm>
          <a:prstGeom prst="rect">
            <a:avLst/>
          </a:prstGeom>
          <a:noFill/>
        </p:spPr>
        <p:txBody>
          <a:bodyPr wrap="square" lIns="0" tIns="0" rIns="0" bIns="0" anchor="t">
            <a:spAutoFit/>
          </a:bodyPr>
          <a:lstStyle/>
          <a:p>
            <a:r>
              <a:rPr lang="en-US" sz="3600" dirty="0">
                <a:solidFill>
                  <a:srgbClr val="00B050"/>
                </a:solidFill>
                <a:latin typeface="Google Sans Flex SemiBold"/>
              </a:rPr>
              <a:t>GO watches</a:t>
            </a:r>
            <a:r>
              <a:rPr lang="en-US" sz="3600" dirty="0">
                <a:latin typeface="Google Sans Flex Light"/>
              </a:rPr>
              <a:t> with them</a:t>
            </a:r>
          </a:p>
        </p:txBody>
      </p:sp>
      <p:pic>
        <p:nvPicPr>
          <p:cNvPr id="61" name="Picture 60" descr="MockUPhone">
            <a:extLst>
              <a:ext uri="{FF2B5EF4-FFF2-40B4-BE49-F238E27FC236}">
                <a16:creationId xmlns:a16="http://schemas.microsoft.com/office/drawing/2014/main" id="{67AB2262-133D-E4E3-44EC-1BE9A3C4ABF0}"/>
              </a:ext>
            </a:extLst>
          </p:cNvPr>
          <p:cNvPicPr>
            <a:picLocks noChangeAspect="1"/>
          </p:cNvPicPr>
          <p:nvPr/>
        </p:nvPicPr>
        <p:blipFill>
          <a:blip r:embed="rId10"/>
          <a:stretch>
            <a:fillRect/>
          </a:stretch>
        </p:blipFill>
        <p:spPr>
          <a:xfrm>
            <a:off x="16827216" y="1511029"/>
            <a:ext cx="7028514" cy="4569248"/>
          </a:xfrm>
          <a:prstGeom prst="rect">
            <a:avLst/>
          </a:prstGeom>
        </p:spPr>
      </p:pic>
      <p:grpSp>
        <p:nvGrpSpPr>
          <p:cNvPr id="62" name="Group 61">
            <a:extLst>
              <a:ext uri="{FF2B5EF4-FFF2-40B4-BE49-F238E27FC236}">
                <a16:creationId xmlns:a16="http://schemas.microsoft.com/office/drawing/2014/main" id="{DB13CF35-258C-5B4D-8571-7D9089B7E4FA}"/>
              </a:ext>
            </a:extLst>
          </p:cNvPr>
          <p:cNvGrpSpPr/>
          <p:nvPr/>
        </p:nvGrpSpPr>
        <p:grpSpPr>
          <a:xfrm>
            <a:off x="24595601" y="1857367"/>
            <a:ext cx="5169409" cy="1167780"/>
            <a:chOff x="6825994" y="1857367"/>
            <a:chExt cx="5169409" cy="1167780"/>
          </a:xfrm>
        </p:grpSpPr>
        <p:sp>
          <p:nvSpPr>
            <p:cNvPr id="63" name="!!edge0">
              <a:extLst>
                <a:ext uri="{FF2B5EF4-FFF2-40B4-BE49-F238E27FC236}">
                  <a16:creationId xmlns:a16="http://schemas.microsoft.com/office/drawing/2014/main" id="{E937368E-354B-21F8-6362-3383648C8A0E}"/>
                </a:ext>
              </a:extLst>
            </p:cNvPr>
            <p:cNvSpPr/>
            <p:nvPr/>
          </p:nvSpPr>
          <p:spPr>
            <a:xfrm>
              <a:off x="6825994" y="1857367"/>
              <a:ext cx="4741166" cy="1058434"/>
            </a:xfrm>
            <a:prstGeom prst="roundRect">
              <a:avLst>
                <a:gd name="adj" fmla="val 2451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64" name="!!w8-0-head">
              <a:extLst>
                <a:ext uri="{FF2B5EF4-FFF2-40B4-BE49-F238E27FC236}">
                  <a16:creationId xmlns:a16="http://schemas.microsoft.com/office/drawing/2014/main" id="{3EDBA53D-4DF2-FE6E-A170-2435B3156A1E}"/>
                </a:ext>
              </a:extLst>
            </p:cNvPr>
            <p:cNvSpPr txBox="1"/>
            <p:nvPr/>
          </p:nvSpPr>
          <p:spPr>
            <a:xfrm>
              <a:off x="7057643" y="2065027"/>
              <a:ext cx="4937760" cy="457200"/>
            </a:xfrm>
            <a:prstGeom prst="rect">
              <a:avLst/>
            </a:prstGeom>
            <a:noFill/>
          </p:spPr>
          <p:txBody>
            <a:bodyPr wrap="square" lIns="0" tIns="0" rIns="0" bIns="0" anchor="t">
              <a:spAutoFit/>
            </a:bodyPr>
            <a:lstStyle/>
            <a:p>
              <a:pPr algn="l"/>
              <a:r>
                <a:rPr sz="2200" dirty="0">
                  <a:latin typeface="Google Sans Flex SemiBold"/>
                </a:rPr>
                <a:t>Watcher</a:t>
              </a:r>
            </a:p>
          </p:txBody>
        </p:sp>
        <p:sp>
          <p:nvSpPr>
            <p:cNvPr id="65" name="!!w8-0-sub">
              <a:extLst>
                <a:ext uri="{FF2B5EF4-FFF2-40B4-BE49-F238E27FC236}">
                  <a16:creationId xmlns:a16="http://schemas.microsoft.com/office/drawing/2014/main" id="{9BB043EB-7C47-5BEC-9AB3-6DF59DE139DD}"/>
                </a:ext>
              </a:extLst>
            </p:cNvPr>
            <p:cNvSpPr txBox="1"/>
            <p:nvPr/>
          </p:nvSpPr>
          <p:spPr>
            <a:xfrm>
              <a:off x="7057643" y="2476507"/>
              <a:ext cx="4937760" cy="548640"/>
            </a:xfrm>
            <a:prstGeom prst="rect">
              <a:avLst/>
            </a:prstGeom>
            <a:noFill/>
          </p:spPr>
          <p:txBody>
            <a:bodyPr wrap="square" lIns="0" tIns="0" rIns="0" bIns="0" anchor="t">
              <a:spAutoFit/>
            </a:bodyPr>
            <a:lstStyle/>
            <a:p>
              <a:pPr algn="l"/>
              <a:r>
                <a:rPr sz="1500" dirty="0">
                  <a:solidFill>
                    <a:srgbClr val="6B7A72"/>
                  </a:solidFill>
                  <a:latin typeface="Google Sans Flex Light"/>
                </a:rPr>
                <a:t>alerts only when a decision is needed</a:t>
              </a:r>
            </a:p>
          </p:txBody>
        </p:sp>
      </p:grpSp>
      <p:grpSp>
        <p:nvGrpSpPr>
          <p:cNvPr id="66" name="Group 65">
            <a:extLst>
              <a:ext uri="{FF2B5EF4-FFF2-40B4-BE49-F238E27FC236}">
                <a16:creationId xmlns:a16="http://schemas.microsoft.com/office/drawing/2014/main" id="{7F70D31A-0875-CD08-8A85-58C5FCE85A67}"/>
              </a:ext>
            </a:extLst>
          </p:cNvPr>
          <p:cNvGrpSpPr/>
          <p:nvPr/>
        </p:nvGrpSpPr>
        <p:grpSpPr>
          <a:xfrm>
            <a:off x="26012921" y="3111230"/>
            <a:ext cx="5169409" cy="1194077"/>
            <a:chOff x="6825994" y="3111230"/>
            <a:chExt cx="5169409" cy="1194077"/>
          </a:xfrm>
        </p:grpSpPr>
        <p:sp>
          <p:nvSpPr>
            <p:cNvPr id="67" name="!!edge0">
              <a:extLst>
                <a:ext uri="{FF2B5EF4-FFF2-40B4-BE49-F238E27FC236}">
                  <a16:creationId xmlns:a16="http://schemas.microsoft.com/office/drawing/2014/main" id="{87A67F32-C4FA-BA41-75EC-D7B0C8F1370B}"/>
                </a:ext>
              </a:extLst>
            </p:cNvPr>
            <p:cNvSpPr/>
            <p:nvPr/>
          </p:nvSpPr>
          <p:spPr>
            <a:xfrm>
              <a:off x="6825994" y="3111230"/>
              <a:ext cx="4741166" cy="1058434"/>
            </a:xfrm>
            <a:prstGeom prst="roundRect">
              <a:avLst>
                <a:gd name="adj" fmla="val 2451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68" name="!!w8-1-head">
              <a:extLst>
                <a:ext uri="{FF2B5EF4-FFF2-40B4-BE49-F238E27FC236}">
                  <a16:creationId xmlns:a16="http://schemas.microsoft.com/office/drawing/2014/main" id="{FCE96FF0-82E6-DAFE-E703-1BBD3BC611BD}"/>
                </a:ext>
              </a:extLst>
            </p:cNvPr>
            <p:cNvSpPr txBox="1"/>
            <p:nvPr/>
          </p:nvSpPr>
          <p:spPr>
            <a:xfrm>
              <a:off x="7057643" y="3345187"/>
              <a:ext cx="4937760" cy="457200"/>
            </a:xfrm>
            <a:prstGeom prst="rect">
              <a:avLst/>
            </a:prstGeom>
            <a:noFill/>
          </p:spPr>
          <p:txBody>
            <a:bodyPr wrap="square" lIns="0" tIns="0" rIns="0" bIns="0" anchor="t">
              <a:spAutoFit/>
            </a:bodyPr>
            <a:lstStyle/>
            <a:p>
              <a:pPr algn="l"/>
              <a:r>
                <a:rPr sz="2200">
                  <a:latin typeface="Google Sans Flex SemiBold"/>
                </a:rPr>
                <a:t>Focus page</a:t>
              </a:r>
            </a:p>
          </p:txBody>
        </p:sp>
        <p:sp>
          <p:nvSpPr>
            <p:cNvPr id="69" name="!!w8-1-sub">
              <a:extLst>
                <a:ext uri="{FF2B5EF4-FFF2-40B4-BE49-F238E27FC236}">
                  <a16:creationId xmlns:a16="http://schemas.microsoft.com/office/drawing/2014/main" id="{320347D7-0F46-1EBF-B3CC-4F3DAB67F216}"/>
                </a:ext>
              </a:extLst>
            </p:cNvPr>
            <p:cNvSpPr txBox="1"/>
            <p:nvPr/>
          </p:nvSpPr>
          <p:spPr>
            <a:xfrm>
              <a:off x="7057643" y="3756667"/>
              <a:ext cx="4937760" cy="548640"/>
            </a:xfrm>
            <a:prstGeom prst="rect">
              <a:avLst/>
            </a:prstGeom>
            <a:noFill/>
          </p:spPr>
          <p:txBody>
            <a:bodyPr wrap="square" lIns="0" tIns="0" rIns="0" bIns="0" anchor="t">
              <a:spAutoFit/>
            </a:bodyPr>
            <a:lstStyle/>
            <a:p>
              <a:pPr algn="l"/>
              <a:r>
                <a:rPr sz="1500">
                  <a:solidFill>
                    <a:srgbClr val="6B7A72"/>
                  </a:solidFill>
                  <a:latin typeface="Google Sans Flex Light"/>
                </a:rPr>
                <a:t>everything that needs you, in one place</a:t>
              </a:r>
            </a:p>
          </p:txBody>
        </p:sp>
      </p:grpSp>
      <p:grpSp>
        <p:nvGrpSpPr>
          <p:cNvPr id="70" name="Group 69">
            <a:extLst>
              <a:ext uri="{FF2B5EF4-FFF2-40B4-BE49-F238E27FC236}">
                <a16:creationId xmlns:a16="http://schemas.microsoft.com/office/drawing/2014/main" id="{C1003B0A-68C1-CAE7-E9C8-D10517461A6F}"/>
              </a:ext>
            </a:extLst>
          </p:cNvPr>
          <p:cNvGrpSpPr/>
          <p:nvPr/>
        </p:nvGrpSpPr>
        <p:grpSpPr>
          <a:xfrm>
            <a:off x="24595601" y="1857367"/>
            <a:ext cx="5169409" cy="1058434"/>
            <a:chOff x="6825994" y="1857367"/>
            <a:chExt cx="5169409" cy="1058434"/>
          </a:xfrm>
        </p:grpSpPr>
        <p:sp>
          <p:nvSpPr>
            <p:cNvPr id="71" name="!!edge0">
              <a:extLst>
                <a:ext uri="{FF2B5EF4-FFF2-40B4-BE49-F238E27FC236}">
                  <a16:creationId xmlns:a16="http://schemas.microsoft.com/office/drawing/2014/main" id="{45D2364B-51C9-C2F2-1892-7E4845B43148}"/>
                </a:ext>
              </a:extLst>
            </p:cNvPr>
            <p:cNvSpPr/>
            <p:nvPr/>
          </p:nvSpPr>
          <p:spPr>
            <a:xfrm>
              <a:off x="6825994" y="1857367"/>
              <a:ext cx="4741166" cy="1058434"/>
            </a:xfrm>
            <a:prstGeom prst="roundRect">
              <a:avLst>
                <a:gd name="adj" fmla="val 24511"/>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dirty="0">
                <a:solidFill>
                  <a:schemeClr val="bg1"/>
                </a:solidFill>
              </a:endParaRPr>
            </a:p>
          </p:txBody>
        </p:sp>
        <p:sp>
          <p:nvSpPr>
            <p:cNvPr id="72" name="!!w8-0-head">
              <a:extLst>
                <a:ext uri="{FF2B5EF4-FFF2-40B4-BE49-F238E27FC236}">
                  <a16:creationId xmlns:a16="http://schemas.microsoft.com/office/drawing/2014/main" id="{388976F3-896E-698B-5D08-1A5EA86C8FDE}"/>
                </a:ext>
              </a:extLst>
            </p:cNvPr>
            <p:cNvSpPr txBox="1"/>
            <p:nvPr/>
          </p:nvSpPr>
          <p:spPr>
            <a:xfrm>
              <a:off x="7057643" y="2065027"/>
              <a:ext cx="4937760" cy="338554"/>
            </a:xfrm>
            <a:prstGeom prst="rect">
              <a:avLst/>
            </a:prstGeom>
            <a:noFill/>
          </p:spPr>
          <p:txBody>
            <a:bodyPr wrap="square" lIns="0" tIns="0" rIns="0" bIns="0" anchor="t">
              <a:spAutoFit/>
            </a:bodyPr>
            <a:lstStyle/>
            <a:p>
              <a:pPr algn="l"/>
              <a:r>
                <a:rPr sz="2200" dirty="0">
                  <a:solidFill>
                    <a:schemeClr val="bg1"/>
                  </a:solidFill>
                  <a:latin typeface="Google Sans Flex SemiBold"/>
                </a:rPr>
                <a:t>Watcher</a:t>
              </a:r>
            </a:p>
          </p:txBody>
        </p:sp>
        <p:sp>
          <p:nvSpPr>
            <p:cNvPr id="73" name="!!w8-0-sub">
              <a:extLst>
                <a:ext uri="{FF2B5EF4-FFF2-40B4-BE49-F238E27FC236}">
                  <a16:creationId xmlns:a16="http://schemas.microsoft.com/office/drawing/2014/main" id="{B7358473-AE6C-4433-63B4-71378D2059D4}"/>
                </a:ext>
              </a:extLst>
            </p:cNvPr>
            <p:cNvSpPr txBox="1"/>
            <p:nvPr/>
          </p:nvSpPr>
          <p:spPr>
            <a:xfrm>
              <a:off x="7057643" y="2476507"/>
              <a:ext cx="4937760" cy="230832"/>
            </a:xfrm>
            <a:prstGeom prst="rect">
              <a:avLst/>
            </a:prstGeom>
            <a:noFill/>
          </p:spPr>
          <p:txBody>
            <a:bodyPr wrap="square" lIns="0" tIns="0" rIns="0" bIns="0" anchor="t">
              <a:spAutoFit/>
            </a:bodyPr>
            <a:lstStyle/>
            <a:p>
              <a:pPr algn="l"/>
              <a:r>
                <a:rPr sz="1500" dirty="0">
                  <a:solidFill>
                    <a:schemeClr val="bg1"/>
                  </a:solidFill>
                  <a:latin typeface="Google Sans Flex Light"/>
                </a:rPr>
                <a:t>alerts only when a decision is needed</a:t>
              </a:r>
            </a:p>
          </p:txBody>
        </p:sp>
      </p:grpSp>
    </p:spTree>
    <p:extLst>
      <p:ext uri="{BB962C8B-B14F-4D97-AF65-F5344CB8AC3E}">
        <p14:creationId xmlns:p14="http://schemas.microsoft.com/office/powerpoint/2010/main" val="15357951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11"/>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2"/>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3"/>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3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fade">
                                      <p:cBhvr>
                                        <p:cTn id="17" dur="500"/>
                                        <p:tgtEl>
                                          <p:spTgt spid="5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500"/>
                                        <p:tgtEl>
                                          <p:spTgt spid="4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fade">
                                      <p:cBhvr>
                                        <p:cTn id="25" dur="500"/>
                                        <p:tgtEl>
                                          <p:spTgt spid="47"/>
                                        </p:tgtEl>
                                      </p:cBhvr>
                                    </p:animEffect>
                                  </p:childTnLst>
                                </p:cTn>
                              </p:par>
                              <p:par>
                                <p:cTn id="26" presetID="10" presetClass="exit" presetSubtype="0" fill="hold" grpId="1" nodeType="withEffect">
                                  <p:stCondLst>
                                    <p:cond delay="500"/>
                                  </p:stCondLst>
                                  <p:childTnLst>
                                    <p:animEffect transition="out" filter="fade">
                                      <p:cBhvr>
                                        <p:cTn id="27" dur="500"/>
                                        <p:tgtEl>
                                          <p:spTgt spid="45"/>
                                        </p:tgtEl>
                                      </p:cBhvr>
                                    </p:animEffect>
                                    <p:set>
                                      <p:cBhvr>
                                        <p:cTn id="28" dur="1" fill="hold">
                                          <p:stCondLst>
                                            <p:cond delay="499"/>
                                          </p:stCondLst>
                                        </p:cTn>
                                        <p:tgtEl>
                                          <p:spTgt spid="45"/>
                                        </p:tgtEl>
                                        <p:attrNameLst>
                                          <p:attrName>style.visibility</p:attrName>
                                        </p:attrNameLst>
                                      </p:cBhvr>
                                      <p:to>
                                        <p:strVal val="hidden"/>
                                      </p:to>
                                    </p:set>
                                  </p:childTnLst>
                                </p:cTn>
                              </p:par>
                              <p:par>
                                <p:cTn id="29" presetID="10" presetClass="exit" presetSubtype="0" fill="hold" grpId="1" nodeType="withEffect">
                                  <p:stCondLst>
                                    <p:cond delay="500"/>
                                  </p:stCondLst>
                                  <p:childTnLst>
                                    <p:animEffect transition="out" filter="fade">
                                      <p:cBhvr>
                                        <p:cTn id="30" dur="500"/>
                                        <p:tgtEl>
                                          <p:spTgt spid="47"/>
                                        </p:tgtEl>
                                      </p:cBhvr>
                                    </p:animEffect>
                                    <p:set>
                                      <p:cBhvr>
                                        <p:cTn id="31" dur="1" fill="hold">
                                          <p:stCondLst>
                                            <p:cond delay="499"/>
                                          </p:stCondLst>
                                        </p:cTn>
                                        <p:tgtEl>
                                          <p:spTgt spid="47"/>
                                        </p:tgtEl>
                                        <p:attrNameLst>
                                          <p:attrName>style.visibility</p:attrName>
                                        </p:attrNameLst>
                                      </p:cBhvr>
                                      <p:to>
                                        <p:strVal val="hidden"/>
                                      </p:to>
                                    </p:set>
                                  </p:childTnLst>
                                </p:cTn>
                              </p:par>
                              <p:par>
                                <p:cTn id="32" presetID="10" presetClass="entr" presetSubtype="0" fill="hold" grpId="2" nodeType="withEffect">
                                  <p:stCondLst>
                                    <p:cond delay="100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500"/>
                                        <p:tgtEl>
                                          <p:spTgt spid="45"/>
                                        </p:tgtEl>
                                      </p:cBhvr>
                                    </p:animEffect>
                                  </p:childTnLst>
                                </p:cTn>
                              </p:par>
                              <p:par>
                                <p:cTn id="35" presetID="10" presetClass="entr" presetSubtype="0" fill="hold" grpId="2" nodeType="withEffect">
                                  <p:stCondLst>
                                    <p:cond delay="100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500"/>
                                        <p:tgtEl>
                                          <p:spTgt spid="47"/>
                                        </p:tgtEl>
                                      </p:cBhvr>
                                    </p:animEffect>
                                  </p:childTnLst>
                                </p:cTn>
                              </p:par>
                              <p:par>
                                <p:cTn id="38" presetID="10" presetClass="exit" presetSubtype="0" fill="hold" grpId="3" nodeType="withEffect">
                                  <p:stCondLst>
                                    <p:cond delay="1500"/>
                                  </p:stCondLst>
                                  <p:childTnLst>
                                    <p:animEffect transition="out" filter="fade">
                                      <p:cBhvr>
                                        <p:cTn id="39" dur="500"/>
                                        <p:tgtEl>
                                          <p:spTgt spid="45"/>
                                        </p:tgtEl>
                                      </p:cBhvr>
                                    </p:animEffect>
                                    <p:set>
                                      <p:cBhvr>
                                        <p:cTn id="40" dur="1" fill="hold">
                                          <p:stCondLst>
                                            <p:cond delay="499"/>
                                          </p:stCondLst>
                                        </p:cTn>
                                        <p:tgtEl>
                                          <p:spTgt spid="45"/>
                                        </p:tgtEl>
                                        <p:attrNameLst>
                                          <p:attrName>style.visibility</p:attrName>
                                        </p:attrNameLst>
                                      </p:cBhvr>
                                      <p:to>
                                        <p:strVal val="hidden"/>
                                      </p:to>
                                    </p:set>
                                  </p:childTnLst>
                                </p:cTn>
                              </p:par>
                              <p:par>
                                <p:cTn id="41" presetID="10" presetClass="exit" presetSubtype="0" fill="hold" grpId="3" nodeType="withEffect">
                                  <p:stCondLst>
                                    <p:cond delay="1500"/>
                                  </p:stCondLst>
                                  <p:childTnLst>
                                    <p:animEffect transition="out" filter="fade">
                                      <p:cBhvr>
                                        <p:cTn id="42" dur="500"/>
                                        <p:tgtEl>
                                          <p:spTgt spid="47"/>
                                        </p:tgtEl>
                                      </p:cBhvr>
                                    </p:animEffect>
                                    <p:set>
                                      <p:cBhvr>
                                        <p:cTn id="43" dur="1" fill="hold">
                                          <p:stCondLst>
                                            <p:cond delay="499"/>
                                          </p:stCondLst>
                                        </p:cTn>
                                        <p:tgtEl>
                                          <p:spTgt spid="47"/>
                                        </p:tgtEl>
                                        <p:attrNameLst>
                                          <p:attrName>style.visibility</p:attrName>
                                        </p:attrNameLst>
                                      </p:cBhvr>
                                      <p:to>
                                        <p:strVal val="hidden"/>
                                      </p:to>
                                    </p:set>
                                  </p:childTnLst>
                                </p:cTn>
                              </p:par>
                              <p:par>
                                <p:cTn id="44" presetID="10" presetClass="entr" presetSubtype="0" fill="hold" grpId="4" nodeType="withEffect">
                                  <p:stCondLst>
                                    <p:cond delay="2000"/>
                                  </p:stCondLst>
                                  <p:childTnLst>
                                    <p:set>
                                      <p:cBhvr>
                                        <p:cTn id="45" dur="1" fill="hold">
                                          <p:stCondLst>
                                            <p:cond delay="0"/>
                                          </p:stCondLst>
                                        </p:cTn>
                                        <p:tgtEl>
                                          <p:spTgt spid="45"/>
                                        </p:tgtEl>
                                        <p:attrNameLst>
                                          <p:attrName>style.visibility</p:attrName>
                                        </p:attrNameLst>
                                      </p:cBhvr>
                                      <p:to>
                                        <p:strVal val="visible"/>
                                      </p:to>
                                    </p:set>
                                    <p:animEffect transition="in" filter="fade">
                                      <p:cBhvr>
                                        <p:cTn id="46" dur="500"/>
                                        <p:tgtEl>
                                          <p:spTgt spid="45"/>
                                        </p:tgtEl>
                                      </p:cBhvr>
                                    </p:animEffect>
                                  </p:childTnLst>
                                </p:cTn>
                              </p:par>
                              <p:par>
                                <p:cTn id="47" presetID="10" presetClass="entr" presetSubtype="0" fill="hold" grpId="4" nodeType="withEffect">
                                  <p:stCondLst>
                                    <p:cond delay="2000"/>
                                  </p:stCondLst>
                                  <p:childTnLst>
                                    <p:set>
                                      <p:cBhvr>
                                        <p:cTn id="48" dur="1" fill="hold">
                                          <p:stCondLst>
                                            <p:cond delay="0"/>
                                          </p:stCondLst>
                                        </p:cTn>
                                        <p:tgtEl>
                                          <p:spTgt spid="47"/>
                                        </p:tgtEl>
                                        <p:attrNameLst>
                                          <p:attrName>style.visibility</p:attrName>
                                        </p:attrNameLst>
                                      </p:cBhvr>
                                      <p:to>
                                        <p:strVal val="visible"/>
                                      </p:to>
                                    </p:set>
                                    <p:animEffect transition="in" filter="fade">
                                      <p:cBhvr>
                                        <p:cTn id="4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50" fill="hold" display="0">
                  <p:stCondLst>
                    <p:cond delay="indefinite"/>
                  </p:stCondLst>
                </p:cTn>
                <p:tgtEl>
                  <p:spTgt spid="57"/>
                </p:tgtEl>
              </p:cMediaNode>
            </p:video>
          </p:childTnLst>
        </p:cTn>
      </p:par>
    </p:tnLst>
    <p:bldLst>
      <p:bldP spid="45" grpId="0" animBg="1"/>
      <p:bldP spid="45" grpId="1" animBg="1"/>
      <p:bldP spid="45" grpId="2" animBg="1"/>
      <p:bldP spid="45" grpId="3" animBg="1"/>
      <p:bldP spid="45" grpId="4" animBg="1"/>
      <p:bldP spid="47" grpId="0" animBg="1"/>
      <p:bldP spid="47" grpId="1" animBg="1"/>
      <p:bldP spid="47" grpId="2" animBg="1"/>
      <p:bldP spid="47" grpId="3" animBg="1"/>
      <p:bldP spid="47" grpId="4" animBg="1"/>
      <p:bldP spid="5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0E03C-4721-AE0D-7A8F-111981AD2BC1}"/>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AC88CAAC-6FB6-48B1-DB1E-3923E22A52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8582" y="2046506"/>
            <a:ext cx="5436096" cy="3524559"/>
          </a:xfrm>
          <a:prstGeom prst="rect">
            <a:avLst/>
          </a:prstGeom>
        </p:spPr>
      </p:pic>
      <p:pic>
        <p:nvPicPr>
          <p:cNvPr id="20" name="03-p2-watcher-alert-laptop-light">
            <a:hlinkClick r:id="" action="ppaction://media"/>
            <a:extLst>
              <a:ext uri="{FF2B5EF4-FFF2-40B4-BE49-F238E27FC236}">
                <a16:creationId xmlns:a16="http://schemas.microsoft.com/office/drawing/2014/main" id="{AB0B5644-03BD-7A6D-5CE8-FDAB2585029A}"/>
              </a:ext>
            </a:extLst>
          </p:cNvPr>
          <p:cNvPicPr>
            <a:picLocks noChangeAspect="1"/>
          </p:cNvPicPr>
          <p:nvPr>
            <a:videoFile r:link="rId1"/>
            <p:extLst>
              <p:ext uri="{DAA4B4D4-6D71-4841-9C94-3DE7FCFB9230}">
                <p14:media xmlns:p14="http://schemas.microsoft.com/office/powerpoint/2010/main" r:embed="rId2">
                  <p14:trim st="5443" end="2571"/>
                </p14:media>
              </p:ext>
            </p:extLst>
          </p:nvPr>
        </p:nvPicPr>
        <p:blipFill>
          <a:blip r:embed="rId6"/>
          <a:stretch>
            <a:fillRect/>
          </a:stretch>
        </p:blipFill>
        <p:spPr>
          <a:xfrm>
            <a:off x="978582" y="2046507"/>
            <a:ext cx="5436096" cy="3524560"/>
          </a:xfrm>
          <a:prstGeom prst="rect">
            <a:avLst/>
          </a:prstGeom>
        </p:spPr>
      </p:pic>
      <p:grpSp>
        <p:nvGrpSpPr>
          <p:cNvPr id="64" name="Group 63">
            <a:extLst>
              <a:ext uri="{FF2B5EF4-FFF2-40B4-BE49-F238E27FC236}">
                <a16:creationId xmlns:a16="http://schemas.microsoft.com/office/drawing/2014/main" id="{AEF2D04E-D18D-64EA-5386-5B1B2E112FF2}"/>
              </a:ext>
            </a:extLst>
          </p:cNvPr>
          <p:cNvGrpSpPr/>
          <p:nvPr/>
        </p:nvGrpSpPr>
        <p:grpSpPr>
          <a:xfrm>
            <a:off x="923544" y="640080"/>
            <a:ext cx="7516368" cy="506975"/>
            <a:chOff x="923544" y="640080"/>
            <a:chExt cx="7516368" cy="506975"/>
          </a:xfrm>
        </p:grpSpPr>
        <p:sp>
          <p:nvSpPr>
            <p:cNvPr id="32" name="!!edge0">
              <a:extLst>
                <a:ext uri="{FF2B5EF4-FFF2-40B4-BE49-F238E27FC236}">
                  <a16:creationId xmlns:a16="http://schemas.microsoft.com/office/drawing/2014/main" id="{A5C188CB-B90F-9C48-41B0-E16950628E56}"/>
                </a:ext>
              </a:extLst>
            </p:cNvPr>
            <p:cNvSpPr/>
            <p:nvPr/>
          </p:nvSpPr>
          <p:spPr>
            <a:xfrm>
              <a:off x="923544" y="640080"/>
              <a:ext cx="3474720"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 name="!!section">
              <a:extLst>
                <a:ext uri="{FF2B5EF4-FFF2-40B4-BE49-F238E27FC236}">
                  <a16:creationId xmlns:a16="http://schemas.microsoft.com/office/drawing/2014/main" id="{79E9310A-94B2-C4FA-F018-1C609D319789}"/>
                </a:ext>
              </a:extLst>
            </p:cNvPr>
            <p:cNvSpPr txBox="1"/>
            <p:nvPr/>
          </p:nvSpPr>
          <p:spPr>
            <a:xfrm>
              <a:off x="1124712" y="777723"/>
              <a:ext cx="7315200" cy="369332"/>
            </a:xfrm>
            <a:prstGeom prst="rect">
              <a:avLst/>
            </a:prstGeom>
            <a:noFill/>
          </p:spPr>
          <p:txBody>
            <a:bodyPr wrap="square" lIns="0" tIns="0" rIns="0" bIns="0" anchor="t">
              <a:spAutoFit/>
            </a:bodyPr>
            <a:lstStyle/>
            <a:p>
              <a:r>
                <a:rPr lang="en-US" sz="1200" dirty="0">
                  <a:solidFill>
                    <a:srgbClr val="006A62"/>
                  </a:solidFill>
                  <a:latin typeface="Google Sans Flex SemiBold"/>
                </a:rPr>
                <a:t>Problem 2 · Dispatcher Stress </a:t>
              </a:r>
            </a:p>
            <a:p>
              <a:endParaRPr lang="en-US" sz="1200" dirty="0">
                <a:solidFill>
                  <a:srgbClr val="006A62"/>
                </a:solidFill>
                <a:latin typeface="Google Sans Flex SemiBold"/>
              </a:endParaRPr>
            </a:p>
          </p:txBody>
        </p:sp>
      </p:grpSp>
      <p:sp>
        <p:nvSpPr>
          <p:cNvPr id="6" name="!!title">
            <a:extLst>
              <a:ext uri="{FF2B5EF4-FFF2-40B4-BE49-F238E27FC236}">
                <a16:creationId xmlns:a16="http://schemas.microsoft.com/office/drawing/2014/main" id="{468EDCD9-2705-C45F-F186-9E5C23DBEE1D}"/>
              </a:ext>
            </a:extLst>
          </p:cNvPr>
          <p:cNvSpPr txBox="1"/>
          <p:nvPr/>
        </p:nvSpPr>
        <p:spPr>
          <a:xfrm>
            <a:off x="923544" y="1185022"/>
            <a:ext cx="7863840" cy="553998"/>
          </a:xfrm>
          <a:prstGeom prst="rect">
            <a:avLst/>
          </a:prstGeom>
          <a:noFill/>
        </p:spPr>
        <p:txBody>
          <a:bodyPr wrap="square" lIns="0" tIns="0" rIns="0" bIns="0" anchor="t">
            <a:spAutoFit/>
          </a:bodyPr>
          <a:lstStyle/>
          <a:p>
            <a:r>
              <a:rPr lang="en-US" sz="3600" dirty="0">
                <a:solidFill>
                  <a:srgbClr val="00B050"/>
                </a:solidFill>
                <a:latin typeface="Google Sans Flex SemiBold"/>
              </a:rPr>
              <a:t>GO watches</a:t>
            </a:r>
            <a:r>
              <a:rPr lang="en-US" sz="3600" dirty="0">
                <a:latin typeface="Google Sans Flex Light"/>
              </a:rPr>
              <a:t> with them</a:t>
            </a:r>
          </a:p>
        </p:txBody>
      </p:sp>
      <p:pic>
        <p:nvPicPr>
          <p:cNvPr id="18" name="Picture 17" descr="MockUPhone">
            <a:extLst>
              <a:ext uri="{FF2B5EF4-FFF2-40B4-BE49-F238E27FC236}">
                <a16:creationId xmlns:a16="http://schemas.microsoft.com/office/drawing/2014/main" id="{6E4863C9-35CF-3FEF-BB63-337471424FBE}"/>
              </a:ext>
            </a:extLst>
          </p:cNvPr>
          <p:cNvPicPr>
            <a:picLocks noChangeAspect="1"/>
          </p:cNvPicPr>
          <p:nvPr/>
        </p:nvPicPr>
        <p:blipFill>
          <a:blip r:embed="rId7"/>
          <a:stretch>
            <a:fillRect/>
          </a:stretch>
        </p:blipFill>
        <p:spPr>
          <a:xfrm>
            <a:off x="196597" y="1511029"/>
            <a:ext cx="7028514" cy="4569248"/>
          </a:xfrm>
          <a:prstGeom prst="rect">
            <a:avLst/>
          </a:prstGeom>
        </p:spPr>
      </p:pic>
      <p:grpSp>
        <p:nvGrpSpPr>
          <p:cNvPr id="21" name="Group 20">
            <a:extLst>
              <a:ext uri="{FF2B5EF4-FFF2-40B4-BE49-F238E27FC236}">
                <a16:creationId xmlns:a16="http://schemas.microsoft.com/office/drawing/2014/main" id="{24783087-E0A7-2067-0722-D6DE63125B76}"/>
              </a:ext>
            </a:extLst>
          </p:cNvPr>
          <p:cNvGrpSpPr/>
          <p:nvPr/>
        </p:nvGrpSpPr>
        <p:grpSpPr>
          <a:xfrm>
            <a:off x="6825994" y="1857367"/>
            <a:ext cx="5169409" cy="1167780"/>
            <a:chOff x="6825994" y="1857367"/>
            <a:chExt cx="5169409" cy="1167780"/>
          </a:xfrm>
        </p:grpSpPr>
        <p:sp>
          <p:nvSpPr>
            <p:cNvPr id="30" name="!!edge0">
              <a:extLst>
                <a:ext uri="{FF2B5EF4-FFF2-40B4-BE49-F238E27FC236}">
                  <a16:creationId xmlns:a16="http://schemas.microsoft.com/office/drawing/2014/main" id="{3378093B-BF3D-7C60-8570-BEF07F7E4F5A}"/>
                </a:ext>
              </a:extLst>
            </p:cNvPr>
            <p:cNvSpPr/>
            <p:nvPr/>
          </p:nvSpPr>
          <p:spPr>
            <a:xfrm>
              <a:off x="6825994" y="1857367"/>
              <a:ext cx="4741166" cy="1058434"/>
            </a:xfrm>
            <a:prstGeom prst="roundRect">
              <a:avLst>
                <a:gd name="adj" fmla="val 2451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3" name="!!w8-0-head">
              <a:extLst>
                <a:ext uri="{FF2B5EF4-FFF2-40B4-BE49-F238E27FC236}">
                  <a16:creationId xmlns:a16="http://schemas.microsoft.com/office/drawing/2014/main" id="{92D647D1-90C9-DC1B-B7FF-D808DB705C02}"/>
                </a:ext>
              </a:extLst>
            </p:cNvPr>
            <p:cNvSpPr txBox="1"/>
            <p:nvPr/>
          </p:nvSpPr>
          <p:spPr>
            <a:xfrm>
              <a:off x="7057643" y="2065027"/>
              <a:ext cx="4937760" cy="457200"/>
            </a:xfrm>
            <a:prstGeom prst="rect">
              <a:avLst/>
            </a:prstGeom>
            <a:noFill/>
          </p:spPr>
          <p:txBody>
            <a:bodyPr wrap="square" lIns="0" tIns="0" rIns="0" bIns="0" anchor="t">
              <a:spAutoFit/>
            </a:bodyPr>
            <a:lstStyle/>
            <a:p>
              <a:pPr algn="l"/>
              <a:r>
                <a:rPr sz="2200" dirty="0">
                  <a:latin typeface="Google Sans Flex SemiBold"/>
                </a:rPr>
                <a:t>Watcher</a:t>
              </a:r>
            </a:p>
          </p:txBody>
        </p:sp>
        <p:sp>
          <p:nvSpPr>
            <p:cNvPr id="7" name="!!w8-0-sub">
              <a:extLst>
                <a:ext uri="{FF2B5EF4-FFF2-40B4-BE49-F238E27FC236}">
                  <a16:creationId xmlns:a16="http://schemas.microsoft.com/office/drawing/2014/main" id="{3CE55292-516C-0F98-9E9C-0FFA9C35CA1E}"/>
                </a:ext>
              </a:extLst>
            </p:cNvPr>
            <p:cNvSpPr txBox="1"/>
            <p:nvPr/>
          </p:nvSpPr>
          <p:spPr>
            <a:xfrm>
              <a:off x="7057643" y="2476507"/>
              <a:ext cx="4937760" cy="548640"/>
            </a:xfrm>
            <a:prstGeom prst="rect">
              <a:avLst/>
            </a:prstGeom>
            <a:noFill/>
          </p:spPr>
          <p:txBody>
            <a:bodyPr wrap="square" lIns="0" tIns="0" rIns="0" bIns="0" anchor="t">
              <a:spAutoFit/>
            </a:bodyPr>
            <a:lstStyle/>
            <a:p>
              <a:pPr algn="l"/>
              <a:r>
                <a:rPr sz="1500" dirty="0">
                  <a:solidFill>
                    <a:srgbClr val="6B7A72"/>
                  </a:solidFill>
                  <a:latin typeface="Google Sans Flex Light"/>
                </a:rPr>
                <a:t>alerts only when a decision is needed</a:t>
              </a:r>
            </a:p>
          </p:txBody>
        </p:sp>
      </p:grpSp>
      <p:grpSp>
        <p:nvGrpSpPr>
          <p:cNvPr id="22" name="Group 21">
            <a:extLst>
              <a:ext uri="{FF2B5EF4-FFF2-40B4-BE49-F238E27FC236}">
                <a16:creationId xmlns:a16="http://schemas.microsoft.com/office/drawing/2014/main" id="{CFCA4539-6C03-828F-97FF-A8A0D81BFAB3}"/>
              </a:ext>
            </a:extLst>
          </p:cNvPr>
          <p:cNvGrpSpPr/>
          <p:nvPr/>
        </p:nvGrpSpPr>
        <p:grpSpPr>
          <a:xfrm>
            <a:off x="6825994" y="3111230"/>
            <a:ext cx="5169409" cy="1194077"/>
            <a:chOff x="6825994" y="3111230"/>
            <a:chExt cx="5169409" cy="1194077"/>
          </a:xfrm>
        </p:grpSpPr>
        <p:sp>
          <p:nvSpPr>
            <p:cNvPr id="28" name="!!edge0">
              <a:extLst>
                <a:ext uri="{FF2B5EF4-FFF2-40B4-BE49-F238E27FC236}">
                  <a16:creationId xmlns:a16="http://schemas.microsoft.com/office/drawing/2014/main" id="{D7CB6B60-518E-22B3-2894-8F3A3869F452}"/>
                </a:ext>
              </a:extLst>
            </p:cNvPr>
            <p:cNvSpPr/>
            <p:nvPr/>
          </p:nvSpPr>
          <p:spPr>
            <a:xfrm>
              <a:off x="6825994" y="3111230"/>
              <a:ext cx="4741166" cy="1058434"/>
            </a:xfrm>
            <a:prstGeom prst="roundRect">
              <a:avLst>
                <a:gd name="adj" fmla="val 2451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9" name="!!w8-1-head">
              <a:extLst>
                <a:ext uri="{FF2B5EF4-FFF2-40B4-BE49-F238E27FC236}">
                  <a16:creationId xmlns:a16="http://schemas.microsoft.com/office/drawing/2014/main" id="{18BE8B6C-D8C6-E7DF-94D2-ED867BFDE35E}"/>
                </a:ext>
              </a:extLst>
            </p:cNvPr>
            <p:cNvSpPr txBox="1"/>
            <p:nvPr/>
          </p:nvSpPr>
          <p:spPr>
            <a:xfrm>
              <a:off x="7057643" y="3345187"/>
              <a:ext cx="4937760" cy="457200"/>
            </a:xfrm>
            <a:prstGeom prst="rect">
              <a:avLst/>
            </a:prstGeom>
            <a:noFill/>
          </p:spPr>
          <p:txBody>
            <a:bodyPr wrap="square" lIns="0" tIns="0" rIns="0" bIns="0" anchor="t">
              <a:spAutoFit/>
            </a:bodyPr>
            <a:lstStyle/>
            <a:p>
              <a:pPr algn="l"/>
              <a:r>
                <a:rPr sz="2200">
                  <a:latin typeface="Google Sans Flex SemiBold"/>
                </a:rPr>
                <a:t>Focus page</a:t>
              </a:r>
            </a:p>
          </p:txBody>
        </p:sp>
        <p:sp>
          <p:nvSpPr>
            <p:cNvPr id="15" name="!!w8-1-sub">
              <a:extLst>
                <a:ext uri="{FF2B5EF4-FFF2-40B4-BE49-F238E27FC236}">
                  <a16:creationId xmlns:a16="http://schemas.microsoft.com/office/drawing/2014/main" id="{327A9F42-8610-4BE1-3A8C-A0FEC1A53123}"/>
                </a:ext>
              </a:extLst>
            </p:cNvPr>
            <p:cNvSpPr txBox="1"/>
            <p:nvPr/>
          </p:nvSpPr>
          <p:spPr>
            <a:xfrm>
              <a:off x="7057643" y="3756667"/>
              <a:ext cx="4937760" cy="548640"/>
            </a:xfrm>
            <a:prstGeom prst="rect">
              <a:avLst/>
            </a:prstGeom>
            <a:noFill/>
          </p:spPr>
          <p:txBody>
            <a:bodyPr wrap="square" lIns="0" tIns="0" rIns="0" bIns="0" anchor="t">
              <a:spAutoFit/>
            </a:bodyPr>
            <a:lstStyle/>
            <a:p>
              <a:pPr algn="l"/>
              <a:r>
                <a:rPr sz="1500">
                  <a:solidFill>
                    <a:srgbClr val="6B7A72"/>
                  </a:solidFill>
                  <a:latin typeface="Google Sans Flex Light"/>
                </a:rPr>
                <a:t>everything that needs you, in one place</a:t>
              </a:r>
            </a:p>
          </p:txBody>
        </p:sp>
      </p:grpSp>
      <p:grpSp>
        <p:nvGrpSpPr>
          <p:cNvPr id="23" name="Group 22">
            <a:extLst>
              <a:ext uri="{FF2B5EF4-FFF2-40B4-BE49-F238E27FC236}">
                <a16:creationId xmlns:a16="http://schemas.microsoft.com/office/drawing/2014/main" id="{6071C8F1-630D-EDD6-EFA9-5DB9939A9463}"/>
              </a:ext>
            </a:extLst>
          </p:cNvPr>
          <p:cNvGrpSpPr/>
          <p:nvPr/>
        </p:nvGrpSpPr>
        <p:grpSpPr>
          <a:xfrm>
            <a:off x="6825994" y="1857367"/>
            <a:ext cx="5169409" cy="1058434"/>
            <a:chOff x="6825994" y="1857367"/>
            <a:chExt cx="5169409" cy="1058434"/>
          </a:xfrm>
        </p:grpSpPr>
        <p:sp>
          <p:nvSpPr>
            <p:cNvPr id="24" name="!!edge0">
              <a:extLst>
                <a:ext uri="{FF2B5EF4-FFF2-40B4-BE49-F238E27FC236}">
                  <a16:creationId xmlns:a16="http://schemas.microsoft.com/office/drawing/2014/main" id="{A370965A-EBEA-D169-5519-18703265B316}"/>
                </a:ext>
              </a:extLst>
            </p:cNvPr>
            <p:cNvSpPr/>
            <p:nvPr/>
          </p:nvSpPr>
          <p:spPr>
            <a:xfrm>
              <a:off x="6825994" y="1857367"/>
              <a:ext cx="4741166" cy="1058434"/>
            </a:xfrm>
            <a:prstGeom prst="roundRect">
              <a:avLst>
                <a:gd name="adj" fmla="val 24511"/>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dirty="0">
                <a:solidFill>
                  <a:schemeClr val="bg1"/>
                </a:solidFill>
              </a:endParaRPr>
            </a:p>
          </p:txBody>
        </p:sp>
        <p:sp>
          <p:nvSpPr>
            <p:cNvPr id="25" name="!!w8-0-head">
              <a:extLst>
                <a:ext uri="{FF2B5EF4-FFF2-40B4-BE49-F238E27FC236}">
                  <a16:creationId xmlns:a16="http://schemas.microsoft.com/office/drawing/2014/main" id="{C59BF811-B75F-FAF8-D7BF-21A34531311F}"/>
                </a:ext>
              </a:extLst>
            </p:cNvPr>
            <p:cNvSpPr txBox="1"/>
            <p:nvPr/>
          </p:nvSpPr>
          <p:spPr>
            <a:xfrm>
              <a:off x="7057643" y="2065027"/>
              <a:ext cx="4937760" cy="338554"/>
            </a:xfrm>
            <a:prstGeom prst="rect">
              <a:avLst/>
            </a:prstGeom>
            <a:noFill/>
          </p:spPr>
          <p:txBody>
            <a:bodyPr wrap="square" lIns="0" tIns="0" rIns="0" bIns="0" anchor="t">
              <a:spAutoFit/>
            </a:bodyPr>
            <a:lstStyle/>
            <a:p>
              <a:pPr algn="l"/>
              <a:r>
                <a:rPr sz="2200" dirty="0">
                  <a:solidFill>
                    <a:schemeClr val="bg1"/>
                  </a:solidFill>
                  <a:latin typeface="Google Sans Flex SemiBold"/>
                </a:rPr>
                <a:t>Watcher</a:t>
              </a:r>
            </a:p>
          </p:txBody>
        </p:sp>
        <p:sp>
          <p:nvSpPr>
            <p:cNvPr id="26" name="!!w8-0-sub">
              <a:extLst>
                <a:ext uri="{FF2B5EF4-FFF2-40B4-BE49-F238E27FC236}">
                  <a16:creationId xmlns:a16="http://schemas.microsoft.com/office/drawing/2014/main" id="{6D0756E5-D392-7C11-63AC-A8DC6EC1E158}"/>
                </a:ext>
              </a:extLst>
            </p:cNvPr>
            <p:cNvSpPr txBox="1"/>
            <p:nvPr/>
          </p:nvSpPr>
          <p:spPr>
            <a:xfrm>
              <a:off x="7057643" y="2476507"/>
              <a:ext cx="4937760" cy="230832"/>
            </a:xfrm>
            <a:prstGeom prst="rect">
              <a:avLst/>
            </a:prstGeom>
            <a:noFill/>
          </p:spPr>
          <p:txBody>
            <a:bodyPr wrap="square" lIns="0" tIns="0" rIns="0" bIns="0" anchor="t">
              <a:spAutoFit/>
            </a:bodyPr>
            <a:lstStyle/>
            <a:p>
              <a:pPr algn="l"/>
              <a:r>
                <a:rPr sz="1500" dirty="0">
                  <a:solidFill>
                    <a:schemeClr val="bg1"/>
                  </a:solidFill>
                  <a:latin typeface="Google Sans Flex Light"/>
                </a:rPr>
                <a:t>alerts only when a decision is needed</a:t>
              </a:r>
            </a:p>
          </p:txBody>
        </p:sp>
      </p:grpSp>
      <p:grpSp>
        <p:nvGrpSpPr>
          <p:cNvPr id="27" name="Group 26">
            <a:extLst>
              <a:ext uri="{FF2B5EF4-FFF2-40B4-BE49-F238E27FC236}">
                <a16:creationId xmlns:a16="http://schemas.microsoft.com/office/drawing/2014/main" id="{E60946CA-AFBF-1294-61A4-8C56FBA691DC}"/>
              </a:ext>
            </a:extLst>
          </p:cNvPr>
          <p:cNvGrpSpPr/>
          <p:nvPr/>
        </p:nvGrpSpPr>
        <p:grpSpPr>
          <a:xfrm>
            <a:off x="6825994" y="3111230"/>
            <a:ext cx="5169409" cy="1058434"/>
            <a:chOff x="6825994" y="3111230"/>
            <a:chExt cx="5169409" cy="1058434"/>
          </a:xfrm>
        </p:grpSpPr>
        <p:sp>
          <p:nvSpPr>
            <p:cNvPr id="29" name="!!edge0">
              <a:extLst>
                <a:ext uri="{FF2B5EF4-FFF2-40B4-BE49-F238E27FC236}">
                  <a16:creationId xmlns:a16="http://schemas.microsoft.com/office/drawing/2014/main" id="{57229A1A-3FBD-D1A4-23B7-3BF1E6709846}"/>
                </a:ext>
              </a:extLst>
            </p:cNvPr>
            <p:cNvSpPr/>
            <p:nvPr/>
          </p:nvSpPr>
          <p:spPr>
            <a:xfrm>
              <a:off x="6825994" y="3111230"/>
              <a:ext cx="4741166" cy="1058434"/>
            </a:xfrm>
            <a:prstGeom prst="roundRect">
              <a:avLst>
                <a:gd name="adj" fmla="val 24511"/>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solidFill>
                  <a:schemeClr val="bg1"/>
                </a:solidFill>
              </a:endParaRPr>
            </a:p>
          </p:txBody>
        </p:sp>
        <p:sp>
          <p:nvSpPr>
            <p:cNvPr id="33" name="!!w8-1-head">
              <a:extLst>
                <a:ext uri="{FF2B5EF4-FFF2-40B4-BE49-F238E27FC236}">
                  <a16:creationId xmlns:a16="http://schemas.microsoft.com/office/drawing/2014/main" id="{58C8DF0F-98E4-093D-F6FD-8D7AECE9537C}"/>
                </a:ext>
              </a:extLst>
            </p:cNvPr>
            <p:cNvSpPr txBox="1"/>
            <p:nvPr/>
          </p:nvSpPr>
          <p:spPr>
            <a:xfrm>
              <a:off x="7057643" y="3345187"/>
              <a:ext cx="4937760" cy="338554"/>
            </a:xfrm>
            <a:prstGeom prst="rect">
              <a:avLst/>
            </a:prstGeom>
            <a:noFill/>
          </p:spPr>
          <p:txBody>
            <a:bodyPr wrap="square" lIns="0" tIns="0" rIns="0" bIns="0" anchor="t">
              <a:spAutoFit/>
            </a:bodyPr>
            <a:lstStyle/>
            <a:p>
              <a:pPr algn="l"/>
              <a:r>
                <a:rPr sz="2200">
                  <a:solidFill>
                    <a:schemeClr val="bg1"/>
                  </a:solidFill>
                  <a:latin typeface="Google Sans Flex SemiBold"/>
                </a:rPr>
                <a:t>Focus page</a:t>
              </a:r>
            </a:p>
          </p:txBody>
        </p:sp>
        <p:sp>
          <p:nvSpPr>
            <p:cNvPr id="34" name="!!w8-1-sub">
              <a:extLst>
                <a:ext uri="{FF2B5EF4-FFF2-40B4-BE49-F238E27FC236}">
                  <a16:creationId xmlns:a16="http://schemas.microsoft.com/office/drawing/2014/main" id="{296E3425-E4DF-E864-3D19-B319F6D59069}"/>
                </a:ext>
              </a:extLst>
            </p:cNvPr>
            <p:cNvSpPr txBox="1"/>
            <p:nvPr/>
          </p:nvSpPr>
          <p:spPr>
            <a:xfrm>
              <a:off x="7057643" y="3756667"/>
              <a:ext cx="4937760" cy="230832"/>
            </a:xfrm>
            <a:prstGeom prst="rect">
              <a:avLst/>
            </a:prstGeom>
            <a:noFill/>
          </p:spPr>
          <p:txBody>
            <a:bodyPr wrap="square" lIns="0" tIns="0" rIns="0" bIns="0" anchor="t">
              <a:spAutoFit/>
            </a:bodyPr>
            <a:lstStyle/>
            <a:p>
              <a:pPr algn="l"/>
              <a:r>
                <a:rPr sz="1500">
                  <a:solidFill>
                    <a:schemeClr val="bg1"/>
                  </a:solidFill>
                  <a:latin typeface="Google Sans Flex Light"/>
                </a:rPr>
                <a:t>everything that needs you, in one place</a:t>
              </a:r>
            </a:p>
          </p:txBody>
        </p:sp>
      </p:grpSp>
      <p:sp>
        <p:nvSpPr>
          <p:cNvPr id="2" name="Rectangle: Rounded Corners 1">
            <a:extLst>
              <a:ext uri="{FF2B5EF4-FFF2-40B4-BE49-F238E27FC236}">
                <a16:creationId xmlns:a16="http://schemas.microsoft.com/office/drawing/2014/main" id="{5B310055-278C-15E0-797A-26B6F0192230}"/>
              </a:ext>
            </a:extLst>
          </p:cNvPr>
          <p:cNvSpPr/>
          <p:nvPr/>
        </p:nvSpPr>
        <p:spPr>
          <a:xfrm>
            <a:off x="-15578308" y="612648"/>
            <a:ext cx="2576650" cy="1921812"/>
          </a:xfrm>
          <a:prstGeom prst="roundRect">
            <a:avLst/>
          </a:prstGeom>
          <a:solidFill>
            <a:srgbClr val="E7F3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004458B-C186-2DF2-3B3F-3579B54DB43E}"/>
              </a:ext>
            </a:extLst>
          </p:cNvPr>
          <p:cNvPicPr>
            <a:picLocks noChangeAspect="1"/>
          </p:cNvPicPr>
          <p:nvPr/>
        </p:nvPicPr>
        <p:blipFill>
          <a:blip r:embed="rId8">
            <a:extLst>
              <a:ext uri="{28A0092B-C50C-407E-A947-70E740481C1C}">
                <a14:useLocalDpi xmlns:a14="http://schemas.microsoft.com/office/drawing/2010/main" val="0"/>
              </a:ext>
            </a:extLst>
          </a:blip>
          <a:srcRect t="7110"/>
          <a:stretch>
            <a:fillRect/>
          </a:stretch>
        </p:blipFill>
        <p:spPr>
          <a:xfrm>
            <a:off x="-15578308" y="990600"/>
            <a:ext cx="2576650" cy="5188819"/>
          </a:xfrm>
          <a:prstGeom prst="roundRect">
            <a:avLst>
              <a:gd name="adj" fmla="val 13679"/>
            </a:avLst>
          </a:prstGeom>
        </p:spPr>
      </p:pic>
      <p:sp>
        <p:nvSpPr>
          <p:cNvPr id="8" name="!!title">
            <a:extLst>
              <a:ext uri="{FF2B5EF4-FFF2-40B4-BE49-F238E27FC236}">
                <a16:creationId xmlns:a16="http://schemas.microsoft.com/office/drawing/2014/main" id="{1473A587-B644-0973-210E-89EC94A24D9B}"/>
              </a:ext>
            </a:extLst>
          </p:cNvPr>
          <p:cNvSpPr txBox="1"/>
          <p:nvPr/>
        </p:nvSpPr>
        <p:spPr>
          <a:xfrm>
            <a:off x="-10968427" y="1426464"/>
            <a:ext cx="6675120" cy="1107996"/>
          </a:xfrm>
          <a:prstGeom prst="rect">
            <a:avLst/>
          </a:prstGeom>
          <a:noFill/>
        </p:spPr>
        <p:txBody>
          <a:bodyPr wrap="square" lIns="0" tIns="0" rIns="0" bIns="0" anchor="t">
            <a:spAutoFit/>
          </a:bodyPr>
          <a:lstStyle/>
          <a:p>
            <a:r>
              <a:rPr lang="en-US" sz="3600" dirty="0">
                <a:solidFill>
                  <a:srgbClr val="00B050"/>
                </a:solidFill>
                <a:latin typeface="Google Sans Flex SemiBold"/>
              </a:rPr>
              <a:t>GO suggests a day</a:t>
            </a:r>
            <a:r>
              <a:rPr lang="en-US" sz="3600" dirty="0">
                <a:latin typeface="Google Sans Flex Light"/>
              </a:rPr>
              <a:t> when a vehicle already goes there</a:t>
            </a:r>
          </a:p>
        </p:txBody>
      </p:sp>
      <p:pic>
        <p:nvPicPr>
          <p:cNvPr id="10" name="Picture 9">
            <a:extLst>
              <a:ext uri="{FF2B5EF4-FFF2-40B4-BE49-F238E27FC236}">
                <a16:creationId xmlns:a16="http://schemas.microsoft.com/office/drawing/2014/main" id="{989FF41D-C2D9-A48F-F087-81FAC068C1D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6497057" y="542323"/>
            <a:ext cx="4443984" cy="6301172"/>
          </a:xfrm>
          <a:prstGeom prst="rect">
            <a:avLst/>
          </a:prstGeom>
        </p:spPr>
      </p:pic>
      <p:sp>
        <p:nvSpPr>
          <p:cNvPr id="11" name="!!day2">
            <a:extLst>
              <a:ext uri="{FF2B5EF4-FFF2-40B4-BE49-F238E27FC236}">
                <a16:creationId xmlns:a16="http://schemas.microsoft.com/office/drawing/2014/main" id="{F3FD0817-B7BB-B50F-6487-8FB8B842F09A}"/>
              </a:ext>
            </a:extLst>
          </p:cNvPr>
          <p:cNvSpPr/>
          <p:nvPr/>
        </p:nvSpPr>
        <p:spPr>
          <a:xfrm>
            <a:off x="-9731396" y="2852231"/>
            <a:ext cx="896112" cy="1143000"/>
          </a:xfrm>
          <a:prstGeom prst="roundRect">
            <a:avLst>
              <a:gd name="adj" fmla="val 18000"/>
            </a:avLst>
          </a:prstGeom>
          <a:solidFill>
            <a:srgbClr val="FFFFFF"/>
          </a:solidFill>
          <a:ln w="12700">
            <a:solidFill>
              <a:srgbClr val="C9D1CC"/>
            </a:solidFill>
          </a:ln>
        </p:spPr>
        <p:txBody>
          <a:bodyPr rtlCol="0" anchor="ctr"/>
          <a:lstStyle/>
          <a:p>
            <a:pPr algn="ctr"/>
            <a:r>
              <a:rPr sz="1300">
                <a:solidFill>
                  <a:srgbClr val="000000"/>
                </a:solidFill>
                <a:latin typeface="Google Sans Flex"/>
              </a:rPr>
              <a:t>Mon</a:t>
            </a:r>
          </a:p>
          <a:p>
            <a:pPr algn="ctr"/>
            <a:r>
              <a:rPr sz="1500">
                <a:solidFill>
                  <a:srgbClr val="000000"/>
                </a:solidFill>
                <a:latin typeface="Google Sans Flex SemiBold"/>
              </a:rPr>
              <a:t>2 Nov</a:t>
            </a:r>
          </a:p>
        </p:txBody>
      </p:sp>
      <p:sp>
        <p:nvSpPr>
          <p:cNvPr id="12" name="!!day3">
            <a:extLst>
              <a:ext uri="{FF2B5EF4-FFF2-40B4-BE49-F238E27FC236}">
                <a16:creationId xmlns:a16="http://schemas.microsoft.com/office/drawing/2014/main" id="{C9D3EE34-3891-7DE4-F589-71D44812C55F}"/>
              </a:ext>
            </a:extLst>
          </p:cNvPr>
          <p:cNvSpPr/>
          <p:nvPr/>
        </p:nvSpPr>
        <p:spPr>
          <a:xfrm>
            <a:off x="-8109523" y="2852231"/>
            <a:ext cx="896112" cy="1143000"/>
          </a:xfrm>
          <a:prstGeom prst="roundRect">
            <a:avLst>
              <a:gd name="adj" fmla="val 18000"/>
            </a:avLst>
          </a:prstGeom>
          <a:solidFill>
            <a:srgbClr val="FFFFFF"/>
          </a:solidFill>
          <a:ln w="12700">
            <a:solidFill>
              <a:srgbClr val="C9D1CC"/>
            </a:solidFill>
          </a:ln>
        </p:spPr>
        <p:txBody>
          <a:bodyPr rtlCol="0" anchor="ctr"/>
          <a:lstStyle/>
          <a:p>
            <a:pPr algn="ctr"/>
            <a:r>
              <a:rPr sz="1300">
                <a:solidFill>
                  <a:srgbClr val="000000"/>
                </a:solidFill>
                <a:latin typeface="Google Sans Flex"/>
              </a:rPr>
              <a:t>Tue</a:t>
            </a:r>
          </a:p>
          <a:p>
            <a:pPr algn="ctr"/>
            <a:r>
              <a:rPr sz="1500">
                <a:solidFill>
                  <a:srgbClr val="000000"/>
                </a:solidFill>
                <a:latin typeface="Google Sans Flex SemiBold"/>
              </a:rPr>
              <a:t>3 Nov</a:t>
            </a:r>
          </a:p>
        </p:txBody>
      </p:sp>
      <p:sp>
        <p:nvSpPr>
          <p:cNvPr id="13" name="!!day5">
            <a:extLst>
              <a:ext uri="{FF2B5EF4-FFF2-40B4-BE49-F238E27FC236}">
                <a16:creationId xmlns:a16="http://schemas.microsoft.com/office/drawing/2014/main" id="{87B7B412-4656-E997-1FCA-8A56660E2CDB}"/>
              </a:ext>
            </a:extLst>
          </p:cNvPr>
          <p:cNvSpPr/>
          <p:nvPr/>
        </p:nvSpPr>
        <p:spPr>
          <a:xfrm>
            <a:off x="-5102349" y="2852231"/>
            <a:ext cx="896112" cy="1143000"/>
          </a:xfrm>
          <a:prstGeom prst="roundRect">
            <a:avLst>
              <a:gd name="adj" fmla="val 18000"/>
            </a:avLst>
          </a:prstGeom>
          <a:solidFill>
            <a:srgbClr val="FFFFFF"/>
          </a:solidFill>
          <a:ln w="12700">
            <a:solidFill>
              <a:srgbClr val="C9D1CC"/>
            </a:solidFill>
          </a:ln>
        </p:spPr>
        <p:txBody>
          <a:bodyPr rtlCol="0" anchor="ctr"/>
          <a:lstStyle/>
          <a:p>
            <a:pPr algn="ctr"/>
            <a:r>
              <a:rPr sz="1300">
                <a:solidFill>
                  <a:srgbClr val="000000"/>
                </a:solidFill>
                <a:latin typeface="Google Sans Flex"/>
              </a:rPr>
              <a:t>Thu</a:t>
            </a:r>
          </a:p>
          <a:p>
            <a:pPr algn="ctr"/>
            <a:r>
              <a:rPr sz="1500">
                <a:solidFill>
                  <a:srgbClr val="000000"/>
                </a:solidFill>
                <a:latin typeface="Google Sans Flex SemiBold"/>
              </a:rPr>
              <a:t>5 Nov</a:t>
            </a:r>
          </a:p>
        </p:txBody>
      </p:sp>
      <p:sp>
        <p:nvSpPr>
          <p:cNvPr id="14" name="!!day6">
            <a:extLst>
              <a:ext uri="{FF2B5EF4-FFF2-40B4-BE49-F238E27FC236}">
                <a16:creationId xmlns:a16="http://schemas.microsoft.com/office/drawing/2014/main" id="{F906CEC9-108A-9B07-B53A-5FF1EFDEFE77}"/>
              </a:ext>
            </a:extLst>
          </p:cNvPr>
          <p:cNvSpPr/>
          <p:nvPr/>
        </p:nvSpPr>
        <p:spPr>
          <a:xfrm>
            <a:off x="-3586819" y="2852231"/>
            <a:ext cx="896112" cy="1143000"/>
          </a:xfrm>
          <a:prstGeom prst="roundRect">
            <a:avLst>
              <a:gd name="adj" fmla="val 18000"/>
            </a:avLst>
          </a:prstGeom>
          <a:solidFill>
            <a:srgbClr val="FFFFFF"/>
          </a:solidFill>
          <a:ln w="12700">
            <a:solidFill>
              <a:srgbClr val="C9D1CC"/>
            </a:solidFill>
          </a:ln>
        </p:spPr>
        <p:txBody>
          <a:bodyPr rtlCol="0" anchor="ctr"/>
          <a:lstStyle/>
          <a:p>
            <a:pPr algn="ctr"/>
            <a:r>
              <a:rPr sz="1300">
                <a:solidFill>
                  <a:srgbClr val="000000"/>
                </a:solidFill>
                <a:latin typeface="Google Sans Flex"/>
              </a:rPr>
              <a:t>Fri</a:t>
            </a:r>
          </a:p>
          <a:p>
            <a:pPr algn="ctr"/>
            <a:r>
              <a:rPr sz="1500">
                <a:solidFill>
                  <a:srgbClr val="000000"/>
                </a:solidFill>
                <a:latin typeface="Google Sans Flex SemiBold"/>
              </a:rPr>
              <a:t>6 Nov</a:t>
            </a:r>
          </a:p>
        </p:txBody>
      </p:sp>
      <p:sp>
        <p:nvSpPr>
          <p:cNvPr id="16" name="!!day7">
            <a:extLst>
              <a:ext uri="{FF2B5EF4-FFF2-40B4-BE49-F238E27FC236}">
                <a16:creationId xmlns:a16="http://schemas.microsoft.com/office/drawing/2014/main" id="{8E4E4DB4-F641-E128-54BC-27110B3B2F5D}"/>
              </a:ext>
            </a:extLst>
          </p:cNvPr>
          <p:cNvSpPr/>
          <p:nvPr/>
        </p:nvSpPr>
        <p:spPr>
          <a:xfrm>
            <a:off x="-2184533" y="2852231"/>
            <a:ext cx="896112" cy="1143000"/>
          </a:xfrm>
          <a:prstGeom prst="roundRect">
            <a:avLst>
              <a:gd name="adj" fmla="val 18000"/>
            </a:avLst>
          </a:prstGeom>
          <a:solidFill>
            <a:srgbClr val="FFFFFF"/>
          </a:solidFill>
          <a:ln w="12700">
            <a:solidFill>
              <a:srgbClr val="C9D1CC"/>
            </a:solidFill>
          </a:ln>
        </p:spPr>
        <p:txBody>
          <a:bodyPr rtlCol="0" anchor="ctr"/>
          <a:lstStyle/>
          <a:p>
            <a:pPr algn="ctr"/>
            <a:r>
              <a:rPr sz="1300">
                <a:solidFill>
                  <a:srgbClr val="000000"/>
                </a:solidFill>
                <a:latin typeface="Google Sans Flex"/>
              </a:rPr>
              <a:t>Sat</a:t>
            </a:r>
          </a:p>
          <a:p>
            <a:pPr algn="ctr"/>
            <a:r>
              <a:rPr sz="1500">
                <a:solidFill>
                  <a:srgbClr val="000000"/>
                </a:solidFill>
                <a:latin typeface="Google Sans Flex SemiBold"/>
              </a:rPr>
              <a:t>7 Nov</a:t>
            </a:r>
          </a:p>
        </p:txBody>
      </p:sp>
      <p:sp>
        <p:nvSpPr>
          <p:cNvPr id="17" name="!!pick">
            <a:extLst>
              <a:ext uri="{FF2B5EF4-FFF2-40B4-BE49-F238E27FC236}">
                <a16:creationId xmlns:a16="http://schemas.microsoft.com/office/drawing/2014/main" id="{7B473110-AE71-E1E0-C820-A5B6A0B9E142}"/>
              </a:ext>
            </a:extLst>
          </p:cNvPr>
          <p:cNvSpPr txBox="1"/>
          <p:nvPr/>
        </p:nvSpPr>
        <p:spPr>
          <a:xfrm>
            <a:off x="-6603134" y="4086671"/>
            <a:ext cx="914400" cy="320040"/>
          </a:xfrm>
          <a:prstGeom prst="rect">
            <a:avLst/>
          </a:prstGeom>
          <a:noFill/>
        </p:spPr>
        <p:txBody>
          <a:bodyPr wrap="square" lIns="0" tIns="0" rIns="0" bIns="0" anchor="t">
            <a:spAutoFit/>
          </a:bodyPr>
          <a:lstStyle/>
          <a:p>
            <a:pPr algn="ctr"/>
            <a:r>
              <a:rPr sz="1100">
                <a:solidFill>
                  <a:srgbClr val="6B7A72"/>
                </a:solidFill>
                <a:latin typeface="Google Sans Flex"/>
              </a:rPr>
              <a:t>your pick</a:t>
            </a:r>
          </a:p>
        </p:txBody>
      </p:sp>
      <p:sp>
        <p:nvSpPr>
          <p:cNvPr id="19" name="!!day-note">
            <a:extLst>
              <a:ext uri="{FF2B5EF4-FFF2-40B4-BE49-F238E27FC236}">
                <a16:creationId xmlns:a16="http://schemas.microsoft.com/office/drawing/2014/main" id="{126C5035-A4F1-28AF-2D7D-CB481B42ECB2}"/>
              </a:ext>
            </a:extLst>
          </p:cNvPr>
          <p:cNvSpPr txBox="1"/>
          <p:nvPr/>
        </p:nvSpPr>
        <p:spPr>
          <a:xfrm>
            <a:off x="-6141804" y="4608576"/>
            <a:ext cx="6126480" cy="822960"/>
          </a:xfrm>
          <a:prstGeom prst="rect">
            <a:avLst/>
          </a:prstGeom>
          <a:noFill/>
        </p:spPr>
        <p:txBody>
          <a:bodyPr wrap="square" lIns="0" tIns="0" rIns="0" bIns="0" anchor="t">
            <a:spAutoFit/>
          </a:bodyPr>
          <a:lstStyle/>
          <a:p>
            <a:pPr algn="l"/>
            <a:r>
              <a:rPr sz="1700" dirty="0">
                <a:solidFill>
                  <a:srgbClr val="00B050"/>
                </a:solidFill>
                <a:latin typeface="Google Sans Flex SemiBold"/>
              </a:rPr>
              <a:t>3 and 5 Nov: </a:t>
            </a:r>
            <a:r>
              <a:rPr sz="1700" dirty="0">
                <a:latin typeface="Google Sans Flex"/>
              </a:rPr>
              <a:t>a vehicle already goes to your district</a:t>
            </a:r>
          </a:p>
        </p:txBody>
      </p:sp>
      <p:sp>
        <p:nvSpPr>
          <p:cNvPr id="31" name="!!edge0">
            <a:extLst>
              <a:ext uri="{FF2B5EF4-FFF2-40B4-BE49-F238E27FC236}">
                <a16:creationId xmlns:a16="http://schemas.microsoft.com/office/drawing/2014/main" id="{8351F8B4-23BD-7D9D-B50B-01800562ADEE}"/>
              </a:ext>
            </a:extLst>
          </p:cNvPr>
          <p:cNvSpPr/>
          <p:nvPr/>
        </p:nvSpPr>
        <p:spPr>
          <a:xfrm>
            <a:off x="-5266267" y="5177773"/>
            <a:ext cx="4375406" cy="438912"/>
          </a:xfrm>
          <a:prstGeom prst="roundRect">
            <a:avLst>
              <a:gd name="adj" fmla="val 50000"/>
            </a:avLst>
          </a:prstGeom>
          <a:solidFill>
            <a:srgbClr val="006A62"/>
          </a:solidFill>
          <a:ln>
            <a:no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35" name="!!day-only">
            <a:extLst>
              <a:ext uri="{FF2B5EF4-FFF2-40B4-BE49-F238E27FC236}">
                <a16:creationId xmlns:a16="http://schemas.microsoft.com/office/drawing/2014/main" id="{396C3B9E-18D1-89AB-5FB3-6909BEEDC394}"/>
              </a:ext>
            </a:extLst>
          </p:cNvPr>
          <p:cNvSpPr txBox="1"/>
          <p:nvPr/>
        </p:nvSpPr>
        <p:spPr>
          <a:xfrm>
            <a:off x="-5094051" y="5281813"/>
            <a:ext cx="6126480" cy="230832"/>
          </a:xfrm>
          <a:prstGeom prst="rect">
            <a:avLst/>
          </a:prstGeom>
          <a:noFill/>
        </p:spPr>
        <p:txBody>
          <a:bodyPr wrap="square" lIns="0" tIns="0" rIns="0" bIns="0" anchor="t">
            <a:spAutoFit/>
          </a:bodyPr>
          <a:lstStyle/>
          <a:p>
            <a:pPr algn="l"/>
            <a:r>
              <a:rPr sz="1500" dirty="0">
                <a:solidFill>
                  <a:schemeClr val="bg1"/>
                </a:solidFill>
                <a:latin typeface="Google Sans Flex Light"/>
              </a:rPr>
              <a:t>Only a suggestion. The store manager decides.</a:t>
            </a:r>
          </a:p>
        </p:txBody>
      </p:sp>
      <p:sp>
        <p:nvSpPr>
          <p:cNvPr id="37" name="!!day3">
            <a:extLst>
              <a:ext uri="{FF2B5EF4-FFF2-40B4-BE49-F238E27FC236}">
                <a16:creationId xmlns:a16="http://schemas.microsoft.com/office/drawing/2014/main" id="{B5CB496A-907C-D259-D1D5-BFF9BD0C35FC}"/>
              </a:ext>
            </a:extLst>
          </p:cNvPr>
          <p:cNvSpPr/>
          <p:nvPr/>
        </p:nvSpPr>
        <p:spPr>
          <a:xfrm>
            <a:off x="-8109523" y="2852231"/>
            <a:ext cx="896112" cy="1143000"/>
          </a:xfrm>
          <a:prstGeom prst="roundRect">
            <a:avLst>
              <a:gd name="adj" fmla="val 18000"/>
            </a:avLst>
          </a:prstGeom>
          <a:solidFill>
            <a:srgbClr val="FFFFFF"/>
          </a:solidFill>
          <a:ln w="31750">
            <a:solidFill>
              <a:srgbClr val="00B050"/>
            </a:solidFill>
          </a:ln>
        </p:spPr>
        <p:txBody>
          <a:bodyPr rtlCol="0" anchor="ctr"/>
          <a:lstStyle/>
          <a:p>
            <a:pPr algn="ctr"/>
            <a:r>
              <a:rPr sz="1300">
                <a:solidFill>
                  <a:srgbClr val="000000"/>
                </a:solidFill>
                <a:latin typeface="Google Sans Flex"/>
              </a:rPr>
              <a:t>Tue</a:t>
            </a:r>
          </a:p>
          <a:p>
            <a:pPr algn="ctr"/>
            <a:r>
              <a:rPr sz="1500">
                <a:solidFill>
                  <a:srgbClr val="000000"/>
                </a:solidFill>
                <a:latin typeface="Google Sans Flex SemiBold"/>
              </a:rPr>
              <a:t>3 Nov</a:t>
            </a:r>
          </a:p>
        </p:txBody>
      </p:sp>
      <p:sp>
        <p:nvSpPr>
          <p:cNvPr id="38" name="!!day5">
            <a:extLst>
              <a:ext uri="{FF2B5EF4-FFF2-40B4-BE49-F238E27FC236}">
                <a16:creationId xmlns:a16="http://schemas.microsoft.com/office/drawing/2014/main" id="{1BEE053B-E78F-C11E-7CA5-91919A8B9DE8}"/>
              </a:ext>
            </a:extLst>
          </p:cNvPr>
          <p:cNvSpPr/>
          <p:nvPr/>
        </p:nvSpPr>
        <p:spPr>
          <a:xfrm>
            <a:off x="-5102349" y="2852231"/>
            <a:ext cx="896112" cy="1143000"/>
          </a:xfrm>
          <a:prstGeom prst="roundRect">
            <a:avLst>
              <a:gd name="adj" fmla="val 18000"/>
            </a:avLst>
          </a:prstGeom>
          <a:solidFill>
            <a:srgbClr val="FFFFFF"/>
          </a:solidFill>
          <a:ln w="31750">
            <a:solidFill>
              <a:srgbClr val="00B050"/>
            </a:solidFill>
          </a:ln>
        </p:spPr>
        <p:txBody>
          <a:bodyPr rtlCol="0" anchor="ctr"/>
          <a:lstStyle/>
          <a:p>
            <a:pPr algn="ctr"/>
            <a:r>
              <a:rPr sz="1300">
                <a:solidFill>
                  <a:srgbClr val="000000"/>
                </a:solidFill>
                <a:latin typeface="Google Sans Flex"/>
              </a:rPr>
              <a:t>Thu</a:t>
            </a:r>
          </a:p>
          <a:p>
            <a:pPr algn="ctr"/>
            <a:r>
              <a:rPr sz="1500">
                <a:solidFill>
                  <a:srgbClr val="000000"/>
                </a:solidFill>
                <a:latin typeface="Google Sans Flex SemiBold"/>
              </a:rPr>
              <a:t>5 Nov</a:t>
            </a:r>
          </a:p>
        </p:txBody>
      </p:sp>
      <p:sp>
        <p:nvSpPr>
          <p:cNvPr id="39" name="!!edge0">
            <a:extLst>
              <a:ext uri="{FF2B5EF4-FFF2-40B4-BE49-F238E27FC236}">
                <a16:creationId xmlns:a16="http://schemas.microsoft.com/office/drawing/2014/main" id="{EFDCEDE5-9E94-0E13-62E4-99DFAF907BEB}"/>
              </a:ext>
            </a:extLst>
          </p:cNvPr>
          <p:cNvSpPr/>
          <p:nvPr/>
        </p:nvSpPr>
        <p:spPr>
          <a:xfrm>
            <a:off x="-11624830" y="734340"/>
            <a:ext cx="2486549"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40" name="!!section">
            <a:extLst>
              <a:ext uri="{FF2B5EF4-FFF2-40B4-BE49-F238E27FC236}">
                <a16:creationId xmlns:a16="http://schemas.microsoft.com/office/drawing/2014/main" id="{78391DDE-95A6-D127-6FDD-B5B4E4B65480}"/>
              </a:ext>
            </a:extLst>
          </p:cNvPr>
          <p:cNvSpPr txBox="1"/>
          <p:nvPr/>
        </p:nvSpPr>
        <p:spPr>
          <a:xfrm>
            <a:off x="-11423662" y="871983"/>
            <a:ext cx="7315200" cy="369332"/>
          </a:xfrm>
          <a:prstGeom prst="rect">
            <a:avLst/>
          </a:prstGeom>
          <a:noFill/>
        </p:spPr>
        <p:txBody>
          <a:bodyPr wrap="square" lIns="0" tIns="0" rIns="0" bIns="0" anchor="t">
            <a:spAutoFit/>
          </a:bodyPr>
          <a:lstStyle/>
          <a:p>
            <a:pPr algn="l"/>
            <a:r>
              <a:rPr sz="1200" dirty="0">
                <a:solidFill>
                  <a:srgbClr val="006A62"/>
                </a:solidFill>
                <a:latin typeface="Google Sans Flex SemiBold"/>
              </a:rPr>
              <a:t>Problem 1 · </a:t>
            </a:r>
            <a:r>
              <a:rPr lang="en-US" sz="1200" dirty="0">
                <a:solidFill>
                  <a:srgbClr val="006A62"/>
                </a:solidFill>
                <a:latin typeface="Google Sans Flex SemiBold"/>
              </a:rPr>
              <a:t>Vehicle Shortage</a:t>
            </a:r>
          </a:p>
          <a:p>
            <a:pPr algn="l"/>
            <a:endParaRPr sz="1200" dirty="0">
              <a:solidFill>
                <a:srgbClr val="006A62"/>
              </a:solidFill>
              <a:latin typeface="Google Sans Flex SemiBold"/>
            </a:endParaRPr>
          </a:p>
        </p:txBody>
      </p:sp>
      <p:sp>
        <p:nvSpPr>
          <p:cNvPr id="41" name="!!day4">
            <a:extLst>
              <a:ext uri="{FF2B5EF4-FFF2-40B4-BE49-F238E27FC236}">
                <a16:creationId xmlns:a16="http://schemas.microsoft.com/office/drawing/2014/main" id="{E9CA6258-0AC4-DC00-11FA-DE87EEA33880}"/>
              </a:ext>
            </a:extLst>
          </p:cNvPr>
          <p:cNvSpPr/>
          <p:nvPr/>
        </p:nvSpPr>
        <p:spPr>
          <a:xfrm>
            <a:off x="-6658001" y="2852231"/>
            <a:ext cx="896112" cy="1143000"/>
          </a:xfrm>
          <a:prstGeom prst="roundRect">
            <a:avLst>
              <a:gd name="adj" fmla="val 18000"/>
            </a:avLst>
          </a:prstGeom>
          <a:noFill/>
          <a:ln w="12700">
            <a:solidFill>
              <a:srgbClr val="C9D1CC"/>
            </a:solidFill>
          </a:ln>
        </p:spPr>
        <p:txBody>
          <a:bodyPr rtlCol="0" anchor="ctr"/>
          <a:lstStyle/>
          <a:p>
            <a:pPr algn="ctr"/>
            <a:r>
              <a:rPr sz="1300">
                <a:solidFill>
                  <a:sysClr val="windowText" lastClr="000000"/>
                </a:solidFill>
                <a:latin typeface="Google Sans Flex"/>
              </a:rPr>
              <a:t>Wed</a:t>
            </a:r>
          </a:p>
          <a:p>
            <a:pPr algn="ctr"/>
            <a:r>
              <a:rPr sz="1500">
                <a:solidFill>
                  <a:sysClr val="windowText" lastClr="000000"/>
                </a:solidFill>
                <a:latin typeface="Google Sans Flex SemiBold"/>
              </a:rPr>
              <a:t>4 Nov</a:t>
            </a:r>
          </a:p>
        </p:txBody>
      </p:sp>
      <p:sp>
        <p:nvSpPr>
          <p:cNvPr id="42" name="!!day4">
            <a:extLst>
              <a:ext uri="{FF2B5EF4-FFF2-40B4-BE49-F238E27FC236}">
                <a16:creationId xmlns:a16="http://schemas.microsoft.com/office/drawing/2014/main" id="{1A11EB30-DACF-C9F4-C46C-2334A78BED6C}"/>
              </a:ext>
            </a:extLst>
          </p:cNvPr>
          <p:cNvSpPr/>
          <p:nvPr/>
        </p:nvSpPr>
        <p:spPr>
          <a:xfrm>
            <a:off x="-6658001" y="2852231"/>
            <a:ext cx="896112" cy="1143000"/>
          </a:xfrm>
          <a:prstGeom prst="roundRect">
            <a:avLst>
              <a:gd name="adj" fmla="val 18000"/>
            </a:avLst>
          </a:prstGeom>
          <a:solidFill>
            <a:srgbClr val="001B09"/>
          </a:solidFill>
          <a:ln w="12700">
            <a:solidFill>
              <a:srgbClr val="C9D1CC"/>
            </a:solidFill>
          </a:ln>
        </p:spPr>
        <p:txBody>
          <a:bodyPr rtlCol="0" anchor="ctr"/>
          <a:lstStyle/>
          <a:p>
            <a:pPr algn="ctr"/>
            <a:r>
              <a:rPr sz="1300">
                <a:solidFill>
                  <a:srgbClr val="FFFFFF"/>
                </a:solidFill>
                <a:latin typeface="Google Sans Flex"/>
              </a:rPr>
              <a:t>Wed</a:t>
            </a:r>
          </a:p>
          <a:p>
            <a:pPr algn="ctr"/>
            <a:r>
              <a:rPr sz="1500">
                <a:solidFill>
                  <a:srgbClr val="FFFFFF"/>
                </a:solidFill>
                <a:latin typeface="Google Sans Flex SemiBold"/>
              </a:rPr>
              <a:t>4 Nov</a:t>
            </a:r>
          </a:p>
        </p:txBody>
      </p:sp>
      <p:sp>
        <p:nvSpPr>
          <p:cNvPr id="43" name="!!t9-line">
            <a:extLst>
              <a:ext uri="{FF2B5EF4-FFF2-40B4-BE49-F238E27FC236}">
                <a16:creationId xmlns:a16="http://schemas.microsoft.com/office/drawing/2014/main" id="{B4B37D0B-8BB3-B826-9FD8-E6E9017F7E82}"/>
              </a:ext>
            </a:extLst>
          </p:cNvPr>
          <p:cNvSpPr txBox="1"/>
          <p:nvPr/>
        </p:nvSpPr>
        <p:spPr>
          <a:xfrm>
            <a:off x="6874763" y="11236244"/>
            <a:ext cx="4564381" cy="457200"/>
          </a:xfrm>
          <a:prstGeom prst="rect">
            <a:avLst/>
          </a:prstGeom>
          <a:noFill/>
        </p:spPr>
        <p:txBody>
          <a:bodyPr wrap="square" lIns="0" tIns="0" rIns="0" bIns="0" anchor="t">
            <a:spAutoFit/>
          </a:bodyPr>
          <a:lstStyle/>
          <a:p>
            <a:pPr algn="l"/>
            <a:r>
              <a:rPr sz="1500" dirty="0">
                <a:latin typeface="Google Sans Flex Light"/>
              </a:rPr>
              <a:t>GO brings the tools. </a:t>
            </a:r>
            <a:r>
              <a:rPr sz="1500" dirty="0">
                <a:solidFill>
                  <a:srgbClr val="00B050"/>
                </a:solidFill>
                <a:latin typeface="Google Sans Flex SemiBold"/>
              </a:rPr>
              <a:t>The dispatcher brings the know-how.</a:t>
            </a:r>
          </a:p>
        </p:txBody>
      </p:sp>
      <p:grpSp>
        <p:nvGrpSpPr>
          <p:cNvPr id="44" name="Group 43">
            <a:extLst>
              <a:ext uri="{FF2B5EF4-FFF2-40B4-BE49-F238E27FC236}">
                <a16:creationId xmlns:a16="http://schemas.microsoft.com/office/drawing/2014/main" id="{588DE585-6102-90DC-8656-B77F9DB9EB03}"/>
              </a:ext>
            </a:extLst>
          </p:cNvPr>
          <p:cNvGrpSpPr/>
          <p:nvPr/>
        </p:nvGrpSpPr>
        <p:grpSpPr>
          <a:xfrm>
            <a:off x="6825994" y="10098101"/>
            <a:ext cx="5157217" cy="573202"/>
            <a:chOff x="6825994" y="3421450"/>
            <a:chExt cx="5157217" cy="573202"/>
          </a:xfrm>
        </p:grpSpPr>
        <p:sp>
          <p:nvSpPr>
            <p:cNvPr id="45" name="!!edge0">
              <a:extLst>
                <a:ext uri="{FF2B5EF4-FFF2-40B4-BE49-F238E27FC236}">
                  <a16:creationId xmlns:a16="http://schemas.microsoft.com/office/drawing/2014/main" id="{0D08CD2D-396F-BE30-9E27-D0C6C099A34C}"/>
                </a:ext>
              </a:extLst>
            </p:cNvPr>
            <p:cNvSpPr/>
            <p:nvPr/>
          </p:nvSpPr>
          <p:spPr>
            <a:xfrm>
              <a:off x="6825994" y="3421450"/>
              <a:ext cx="4442462" cy="573202"/>
            </a:xfrm>
            <a:prstGeom prst="roundRect">
              <a:avLst>
                <a:gd name="adj" fmla="val 3602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46" name="!!w8-0-head">
              <a:extLst>
                <a:ext uri="{FF2B5EF4-FFF2-40B4-BE49-F238E27FC236}">
                  <a16:creationId xmlns:a16="http://schemas.microsoft.com/office/drawing/2014/main" id="{C8921CB0-8D1C-2D04-C45A-43D204246985}"/>
                </a:ext>
              </a:extLst>
            </p:cNvPr>
            <p:cNvSpPr txBox="1"/>
            <p:nvPr/>
          </p:nvSpPr>
          <p:spPr>
            <a:xfrm>
              <a:off x="7045451" y="3554162"/>
              <a:ext cx="4937760" cy="307777"/>
            </a:xfrm>
            <a:prstGeom prst="rect">
              <a:avLst/>
            </a:prstGeom>
            <a:noFill/>
          </p:spPr>
          <p:txBody>
            <a:bodyPr wrap="square" lIns="0" tIns="0" rIns="0" bIns="0" anchor="t">
              <a:spAutoFit/>
            </a:bodyPr>
            <a:lstStyle/>
            <a:p>
              <a:pPr algn="l"/>
              <a:r>
                <a:rPr lang="en-GB" sz="2000" dirty="0">
                  <a:latin typeface="Google Sans Flex SemiBold"/>
                </a:rPr>
                <a:t>Defer</a:t>
              </a:r>
              <a:endParaRPr sz="2000" dirty="0">
                <a:latin typeface="Google Sans Flex SemiBold"/>
              </a:endParaRPr>
            </a:p>
          </p:txBody>
        </p:sp>
      </p:grpSp>
      <p:grpSp>
        <p:nvGrpSpPr>
          <p:cNvPr id="47" name="Group 46">
            <a:extLst>
              <a:ext uri="{FF2B5EF4-FFF2-40B4-BE49-F238E27FC236}">
                <a16:creationId xmlns:a16="http://schemas.microsoft.com/office/drawing/2014/main" id="{13AC17FF-F90E-1DEA-5129-56DEF7B1D541}"/>
              </a:ext>
            </a:extLst>
          </p:cNvPr>
          <p:cNvGrpSpPr/>
          <p:nvPr/>
        </p:nvGrpSpPr>
        <p:grpSpPr>
          <a:xfrm>
            <a:off x="6825994" y="8996783"/>
            <a:ext cx="5157217" cy="573202"/>
            <a:chOff x="6825994" y="2729898"/>
            <a:chExt cx="5157217" cy="573202"/>
          </a:xfrm>
        </p:grpSpPr>
        <p:sp>
          <p:nvSpPr>
            <p:cNvPr id="48" name="!!edge0">
              <a:extLst>
                <a:ext uri="{FF2B5EF4-FFF2-40B4-BE49-F238E27FC236}">
                  <a16:creationId xmlns:a16="http://schemas.microsoft.com/office/drawing/2014/main" id="{926C9BF5-B5ED-7908-2949-EBD92BE106FD}"/>
                </a:ext>
              </a:extLst>
            </p:cNvPr>
            <p:cNvSpPr/>
            <p:nvPr/>
          </p:nvSpPr>
          <p:spPr>
            <a:xfrm>
              <a:off x="6825994" y="2729898"/>
              <a:ext cx="4442462" cy="573202"/>
            </a:xfrm>
            <a:prstGeom prst="roundRect">
              <a:avLst>
                <a:gd name="adj" fmla="val 3602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49" name="!!w8-0-head">
              <a:extLst>
                <a:ext uri="{FF2B5EF4-FFF2-40B4-BE49-F238E27FC236}">
                  <a16:creationId xmlns:a16="http://schemas.microsoft.com/office/drawing/2014/main" id="{9C0D37F9-A40B-AAB2-26B9-34DD7C9EC9E4}"/>
                </a:ext>
              </a:extLst>
            </p:cNvPr>
            <p:cNvSpPr txBox="1"/>
            <p:nvPr/>
          </p:nvSpPr>
          <p:spPr>
            <a:xfrm>
              <a:off x="7045451" y="2862610"/>
              <a:ext cx="4937760" cy="307777"/>
            </a:xfrm>
            <a:prstGeom prst="rect">
              <a:avLst/>
            </a:prstGeom>
            <a:noFill/>
          </p:spPr>
          <p:txBody>
            <a:bodyPr wrap="square" lIns="0" tIns="0" rIns="0" bIns="0" anchor="t">
              <a:spAutoFit/>
            </a:bodyPr>
            <a:lstStyle/>
            <a:p>
              <a:pPr algn="l"/>
              <a:r>
                <a:rPr lang="en-GB" sz="2000" dirty="0">
                  <a:latin typeface="Google Sans Flex SemiBold"/>
                </a:rPr>
                <a:t>Drag &amp; Drop</a:t>
              </a:r>
              <a:endParaRPr sz="2000" dirty="0">
                <a:latin typeface="Google Sans Flex SemiBold"/>
              </a:endParaRPr>
            </a:p>
          </p:txBody>
        </p:sp>
      </p:grpSp>
      <p:grpSp>
        <p:nvGrpSpPr>
          <p:cNvPr id="50" name="Group 49">
            <a:extLst>
              <a:ext uri="{FF2B5EF4-FFF2-40B4-BE49-F238E27FC236}">
                <a16:creationId xmlns:a16="http://schemas.microsoft.com/office/drawing/2014/main" id="{D8802D12-FA65-0E8D-0ABE-C57850C8A056}"/>
              </a:ext>
            </a:extLst>
          </p:cNvPr>
          <p:cNvGrpSpPr/>
          <p:nvPr/>
        </p:nvGrpSpPr>
        <p:grpSpPr>
          <a:xfrm>
            <a:off x="6825994" y="7913365"/>
            <a:ext cx="5157217" cy="573202"/>
            <a:chOff x="6825994" y="2038345"/>
            <a:chExt cx="5157217" cy="573202"/>
          </a:xfrm>
        </p:grpSpPr>
        <p:sp>
          <p:nvSpPr>
            <p:cNvPr id="51" name="!!edge0">
              <a:extLst>
                <a:ext uri="{FF2B5EF4-FFF2-40B4-BE49-F238E27FC236}">
                  <a16:creationId xmlns:a16="http://schemas.microsoft.com/office/drawing/2014/main" id="{6501393A-A6CB-1819-6068-901780317645}"/>
                </a:ext>
              </a:extLst>
            </p:cNvPr>
            <p:cNvSpPr/>
            <p:nvPr/>
          </p:nvSpPr>
          <p:spPr>
            <a:xfrm>
              <a:off x="6825994" y="2038345"/>
              <a:ext cx="4442462" cy="573202"/>
            </a:xfrm>
            <a:prstGeom prst="roundRect">
              <a:avLst>
                <a:gd name="adj" fmla="val 3602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2" name="!!w8-0-head">
              <a:extLst>
                <a:ext uri="{FF2B5EF4-FFF2-40B4-BE49-F238E27FC236}">
                  <a16:creationId xmlns:a16="http://schemas.microsoft.com/office/drawing/2014/main" id="{2CB9B1B0-B5C3-C766-BD6B-8ABF28BE3F5B}"/>
                </a:ext>
              </a:extLst>
            </p:cNvPr>
            <p:cNvSpPr txBox="1"/>
            <p:nvPr/>
          </p:nvSpPr>
          <p:spPr>
            <a:xfrm>
              <a:off x="7045451" y="2171057"/>
              <a:ext cx="4937760" cy="307777"/>
            </a:xfrm>
            <a:prstGeom prst="rect">
              <a:avLst/>
            </a:prstGeom>
            <a:noFill/>
          </p:spPr>
          <p:txBody>
            <a:bodyPr wrap="square" lIns="0" tIns="0" rIns="0" bIns="0" anchor="t">
              <a:spAutoFit/>
            </a:bodyPr>
            <a:lstStyle/>
            <a:p>
              <a:pPr algn="l"/>
              <a:r>
                <a:rPr lang="en-GB" sz="2000" dirty="0">
                  <a:latin typeface="Google Sans Flex SemiBold"/>
                </a:rPr>
                <a:t>Compare plans</a:t>
              </a:r>
              <a:endParaRPr sz="2000" dirty="0">
                <a:latin typeface="Google Sans Flex SemiBold"/>
              </a:endParaRPr>
            </a:p>
          </p:txBody>
        </p:sp>
      </p:grpSp>
      <p:grpSp>
        <p:nvGrpSpPr>
          <p:cNvPr id="59" name="Group 58">
            <a:extLst>
              <a:ext uri="{FF2B5EF4-FFF2-40B4-BE49-F238E27FC236}">
                <a16:creationId xmlns:a16="http://schemas.microsoft.com/office/drawing/2014/main" id="{E841EB21-9E36-DE50-7153-82F80D3760DF}"/>
              </a:ext>
            </a:extLst>
          </p:cNvPr>
          <p:cNvGrpSpPr/>
          <p:nvPr/>
        </p:nvGrpSpPr>
        <p:grpSpPr>
          <a:xfrm>
            <a:off x="6825994" y="7913365"/>
            <a:ext cx="5157217" cy="573202"/>
            <a:chOff x="6825994" y="2038345"/>
            <a:chExt cx="5157217" cy="573202"/>
          </a:xfrm>
        </p:grpSpPr>
        <p:sp>
          <p:nvSpPr>
            <p:cNvPr id="60" name="!!edge0">
              <a:extLst>
                <a:ext uri="{FF2B5EF4-FFF2-40B4-BE49-F238E27FC236}">
                  <a16:creationId xmlns:a16="http://schemas.microsoft.com/office/drawing/2014/main" id="{1791E7CD-416D-F8FF-7086-8E08C2C7534F}"/>
                </a:ext>
              </a:extLst>
            </p:cNvPr>
            <p:cNvSpPr/>
            <p:nvPr/>
          </p:nvSpPr>
          <p:spPr>
            <a:xfrm>
              <a:off x="6825994" y="2038345"/>
              <a:ext cx="4442462" cy="573202"/>
            </a:xfrm>
            <a:prstGeom prst="roundRect">
              <a:avLst>
                <a:gd name="adj" fmla="val 36022"/>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solidFill>
                  <a:schemeClr val="bg1"/>
                </a:solidFill>
              </a:endParaRPr>
            </a:p>
          </p:txBody>
        </p:sp>
        <p:sp>
          <p:nvSpPr>
            <p:cNvPr id="61" name="!!w8-0-head">
              <a:extLst>
                <a:ext uri="{FF2B5EF4-FFF2-40B4-BE49-F238E27FC236}">
                  <a16:creationId xmlns:a16="http://schemas.microsoft.com/office/drawing/2014/main" id="{BEA00606-B77B-F284-0D56-26AE623F928F}"/>
                </a:ext>
              </a:extLst>
            </p:cNvPr>
            <p:cNvSpPr txBox="1"/>
            <p:nvPr/>
          </p:nvSpPr>
          <p:spPr>
            <a:xfrm>
              <a:off x="7045451" y="2171057"/>
              <a:ext cx="4937760" cy="307777"/>
            </a:xfrm>
            <a:prstGeom prst="rect">
              <a:avLst/>
            </a:prstGeom>
            <a:noFill/>
          </p:spPr>
          <p:txBody>
            <a:bodyPr wrap="square" lIns="0" tIns="0" rIns="0" bIns="0" anchor="t">
              <a:spAutoFit/>
            </a:bodyPr>
            <a:lstStyle/>
            <a:p>
              <a:pPr algn="l"/>
              <a:r>
                <a:rPr lang="en-GB" sz="2000" dirty="0">
                  <a:solidFill>
                    <a:schemeClr val="bg1"/>
                  </a:solidFill>
                  <a:latin typeface="Google Sans Flex SemiBold"/>
                </a:rPr>
                <a:t>Compare plans</a:t>
              </a:r>
              <a:endParaRPr sz="2000" dirty="0">
                <a:solidFill>
                  <a:schemeClr val="bg1"/>
                </a:solidFill>
                <a:latin typeface="Google Sans Flex SemiBold"/>
              </a:endParaRPr>
            </a:p>
          </p:txBody>
        </p:sp>
      </p:grpSp>
      <p:sp>
        <p:nvSpPr>
          <p:cNvPr id="63" name="!!title">
            <a:extLst>
              <a:ext uri="{FF2B5EF4-FFF2-40B4-BE49-F238E27FC236}">
                <a16:creationId xmlns:a16="http://schemas.microsoft.com/office/drawing/2014/main" id="{152D13E5-C4D0-75A4-DB8C-844288184F73}"/>
              </a:ext>
            </a:extLst>
          </p:cNvPr>
          <p:cNvSpPr txBox="1"/>
          <p:nvPr/>
        </p:nvSpPr>
        <p:spPr>
          <a:xfrm>
            <a:off x="15137049" y="1200333"/>
            <a:ext cx="7863840" cy="553998"/>
          </a:xfrm>
          <a:prstGeom prst="rect">
            <a:avLst/>
          </a:prstGeom>
          <a:noFill/>
        </p:spPr>
        <p:txBody>
          <a:bodyPr wrap="square" lIns="0" tIns="0" rIns="0" bIns="0" anchor="t">
            <a:spAutoFit/>
          </a:bodyPr>
          <a:lstStyle/>
          <a:p>
            <a:r>
              <a:rPr lang="en-US" sz="3600" dirty="0">
                <a:solidFill>
                  <a:srgbClr val="00B050"/>
                </a:solidFill>
                <a:latin typeface="Google Sans Flex SemiBold"/>
              </a:rPr>
              <a:t>More flexibility</a:t>
            </a:r>
            <a:r>
              <a:rPr lang="en-US" sz="3600" dirty="0">
                <a:latin typeface="Google Sans Flex Light"/>
              </a:rPr>
              <a:t> across tools</a:t>
            </a:r>
          </a:p>
        </p:txBody>
      </p:sp>
    </p:spTree>
    <p:extLst>
      <p:ext uri="{BB962C8B-B14F-4D97-AF65-F5344CB8AC3E}">
        <p14:creationId xmlns:p14="http://schemas.microsoft.com/office/powerpoint/2010/main" val="32868513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653"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20"/>
                                        </p:tgtEl>
                                      </p:cBhvr>
                                    </p:animEffect>
                                    <p:set>
                                      <p:cBhvr>
                                        <p:cTn id="11" dur="1" fill="hold">
                                          <p:stCondLst>
                                            <p:cond delay="499"/>
                                          </p:stCondLst>
                                        </p:cTn>
                                        <p:tgtEl>
                                          <p:spTgt spid="20"/>
                                        </p:tgtEl>
                                        <p:attrNameLst>
                                          <p:attrName>style.visibility</p:attrName>
                                        </p:attrNameLst>
                                      </p:cBhvr>
                                      <p:to>
                                        <p:strVal val="hidden"/>
                                      </p:to>
                                    </p:set>
                                    <p:cmd type="call" cmd="stop">
                                      <p:cBhvr>
                                        <p:cTn id="12" dur="1">
                                          <p:stCondLst>
                                            <p:cond delay="499"/>
                                          </p:stCondLst>
                                        </p:cTn>
                                        <p:tgtEl>
                                          <p:spTgt spid="20"/>
                                        </p:tgtEl>
                                      </p:cBhvr>
                                    </p:cmd>
                                  </p:childTnLst>
                                </p:cTn>
                              </p:par>
                              <p:par>
                                <p:cTn id="13" presetID="10" presetClass="exit" presetSubtype="0" fill="hold" nodeType="withEffect">
                                  <p:stCondLst>
                                    <p:cond delay="0"/>
                                  </p:stCondLst>
                                  <p:childTnLst>
                                    <p:animEffect transition="out" filter="fade">
                                      <p:cBhvr>
                                        <p:cTn id="14" dur="500"/>
                                        <p:tgtEl>
                                          <p:spTgt spid="23"/>
                                        </p:tgtEl>
                                      </p:cBhvr>
                                    </p:animEffect>
                                    <p:set>
                                      <p:cBhvr>
                                        <p:cTn id="15" dur="1" fill="hold">
                                          <p:stCondLst>
                                            <p:cond delay="499"/>
                                          </p:stCondLst>
                                        </p:cTn>
                                        <p:tgtEl>
                                          <p:spTgt spid="23"/>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20"/>
                </p:tgtEl>
              </p:cMediaNode>
            </p:video>
            <p:seq concurrent="1" nextAc="seek">
              <p:cTn id="20" restart="whenNotActive" fill="hold" evtFilter="cancelBubble" nodeType="interactiveSeq">
                <p:stCondLst>
                  <p:cond evt="onClick" delay="0">
                    <p:tgtEl>
                      <p:spTgt spid="20"/>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2B29C-8CDB-6ADC-4F99-6AD2BB65498F}"/>
            </a:ext>
          </a:extLst>
        </p:cNvPr>
        <p:cNvGrpSpPr/>
        <p:nvPr/>
      </p:nvGrpSpPr>
      <p:grpSpPr>
        <a:xfrm>
          <a:off x="0" y="0"/>
          <a:ext cx="0" cy="0"/>
          <a:chOff x="0" y="0"/>
          <a:chExt cx="0" cy="0"/>
        </a:xfrm>
      </p:grpSpPr>
      <p:pic>
        <p:nvPicPr>
          <p:cNvPr id="31" name="03-p2-compare-drag-defer-laptop-light">
            <a:hlinkClick r:id="" action="ppaction://media"/>
            <a:extLst>
              <a:ext uri="{FF2B5EF4-FFF2-40B4-BE49-F238E27FC236}">
                <a16:creationId xmlns:a16="http://schemas.microsoft.com/office/drawing/2014/main" id="{6BADCC3C-D4A8-49DA-CAB4-A114B2901125}"/>
              </a:ext>
            </a:extLst>
          </p:cNvPr>
          <p:cNvPicPr>
            <a:picLocks noChangeAspect="1"/>
          </p:cNvPicPr>
          <p:nvPr>
            <a:videoFile r:link="rId1"/>
            <p:extLst>
              <p:ext uri="{DAA4B4D4-6D71-4841-9C94-3DE7FCFB9230}">
                <p14:media xmlns:p14="http://schemas.microsoft.com/office/powerpoint/2010/main" r:embed="rId2">
                  <p14:trim st="2633" end="2613"/>
                </p14:media>
              </p:ext>
            </p:extLst>
          </p:nvPr>
        </p:nvPicPr>
        <p:blipFill>
          <a:blip r:embed="rId5"/>
          <a:stretch>
            <a:fillRect/>
          </a:stretch>
        </p:blipFill>
        <p:spPr>
          <a:xfrm>
            <a:off x="987424" y="2019653"/>
            <a:ext cx="5453939" cy="3534479"/>
          </a:xfrm>
          <a:prstGeom prst="rect">
            <a:avLst/>
          </a:prstGeom>
        </p:spPr>
      </p:pic>
      <p:sp>
        <p:nvSpPr>
          <p:cNvPr id="6" name="!!title">
            <a:extLst>
              <a:ext uri="{FF2B5EF4-FFF2-40B4-BE49-F238E27FC236}">
                <a16:creationId xmlns:a16="http://schemas.microsoft.com/office/drawing/2014/main" id="{B93ED623-35E8-ABE0-0446-26C9211156BB}"/>
              </a:ext>
            </a:extLst>
          </p:cNvPr>
          <p:cNvSpPr txBox="1"/>
          <p:nvPr/>
        </p:nvSpPr>
        <p:spPr>
          <a:xfrm>
            <a:off x="923544" y="1185022"/>
            <a:ext cx="7863840" cy="553998"/>
          </a:xfrm>
          <a:prstGeom prst="rect">
            <a:avLst/>
          </a:prstGeom>
          <a:noFill/>
        </p:spPr>
        <p:txBody>
          <a:bodyPr wrap="square" lIns="0" tIns="0" rIns="0" bIns="0" anchor="t">
            <a:spAutoFit/>
          </a:bodyPr>
          <a:lstStyle/>
          <a:p>
            <a:r>
              <a:rPr lang="en-US" sz="3600" dirty="0">
                <a:solidFill>
                  <a:srgbClr val="00B050"/>
                </a:solidFill>
                <a:latin typeface="Google Sans Flex SemiBold"/>
              </a:rPr>
              <a:t>More flexibility</a:t>
            </a:r>
            <a:r>
              <a:rPr lang="en-US" sz="3600" dirty="0">
                <a:latin typeface="Google Sans Flex Light"/>
              </a:rPr>
              <a:t> across tools</a:t>
            </a:r>
          </a:p>
        </p:txBody>
      </p:sp>
      <p:pic>
        <p:nvPicPr>
          <p:cNvPr id="18" name="Picture 17" descr="MockUPhone">
            <a:extLst>
              <a:ext uri="{FF2B5EF4-FFF2-40B4-BE49-F238E27FC236}">
                <a16:creationId xmlns:a16="http://schemas.microsoft.com/office/drawing/2014/main" id="{5C17A7BF-69ED-C6E9-EC2D-D259AF3D3033}"/>
              </a:ext>
            </a:extLst>
          </p:cNvPr>
          <p:cNvPicPr>
            <a:picLocks noChangeAspect="1"/>
          </p:cNvPicPr>
          <p:nvPr/>
        </p:nvPicPr>
        <p:blipFill>
          <a:blip r:embed="rId6"/>
          <a:stretch>
            <a:fillRect/>
          </a:stretch>
        </p:blipFill>
        <p:spPr>
          <a:xfrm>
            <a:off x="196597" y="1511029"/>
            <a:ext cx="7028514" cy="4569248"/>
          </a:xfrm>
          <a:prstGeom prst="rect">
            <a:avLst/>
          </a:prstGeom>
        </p:spPr>
      </p:pic>
      <p:sp>
        <p:nvSpPr>
          <p:cNvPr id="22" name="!!t9-line">
            <a:extLst>
              <a:ext uri="{FF2B5EF4-FFF2-40B4-BE49-F238E27FC236}">
                <a16:creationId xmlns:a16="http://schemas.microsoft.com/office/drawing/2014/main" id="{8CBB15E9-44D1-1B18-7E3F-908C7C182E97}"/>
              </a:ext>
            </a:extLst>
          </p:cNvPr>
          <p:cNvSpPr txBox="1"/>
          <p:nvPr/>
        </p:nvSpPr>
        <p:spPr>
          <a:xfrm>
            <a:off x="6874763" y="4351664"/>
            <a:ext cx="4564381" cy="457200"/>
          </a:xfrm>
          <a:prstGeom prst="rect">
            <a:avLst/>
          </a:prstGeom>
          <a:noFill/>
        </p:spPr>
        <p:txBody>
          <a:bodyPr wrap="square" lIns="0" tIns="0" rIns="0" bIns="0" anchor="t">
            <a:spAutoFit/>
          </a:bodyPr>
          <a:lstStyle/>
          <a:p>
            <a:pPr algn="l"/>
            <a:r>
              <a:rPr sz="1500" dirty="0">
                <a:latin typeface="Google Sans Flex Light"/>
              </a:rPr>
              <a:t>GO brings the tools. </a:t>
            </a:r>
            <a:r>
              <a:rPr sz="1500" dirty="0">
                <a:solidFill>
                  <a:srgbClr val="00B050"/>
                </a:solidFill>
                <a:latin typeface="Google Sans Flex SemiBold"/>
              </a:rPr>
              <a:t>The dispatcher brings the know</a:t>
            </a:r>
            <a:r>
              <a:rPr lang="en-GB" sz="1500" dirty="0">
                <a:solidFill>
                  <a:srgbClr val="00B050"/>
                </a:solidFill>
                <a:latin typeface="Google Sans Flex SemiBold"/>
              </a:rPr>
              <a:t> </a:t>
            </a:r>
            <a:r>
              <a:rPr sz="1500" dirty="0">
                <a:solidFill>
                  <a:srgbClr val="00B050"/>
                </a:solidFill>
                <a:latin typeface="Google Sans Flex SemiBold"/>
              </a:rPr>
              <a:t>how.</a:t>
            </a:r>
          </a:p>
        </p:txBody>
      </p:sp>
      <p:grpSp>
        <p:nvGrpSpPr>
          <p:cNvPr id="35" name="Group 34">
            <a:extLst>
              <a:ext uri="{FF2B5EF4-FFF2-40B4-BE49-F238E27FC236}">
                <a16:creationId xmlns:a16="http://schemas.microsoft.com/office/drawing/2014/main" id="{7D25F8FF-6F17-0495-9E35-B8C5A18F59F3}"/>
              </a:ext>
            </a:extLst>
          </p:cNvPr>
          <p:cNvGrpSpPr/>
          <p:nvPr/>
        </p:nvGrpSpPr>
        <p:grpSpPr>
          <a:xfrm>
            <a:off x="6825994" y="3421450"/>
            <a:ext cx="5157217" cy="573202"/>
            <a:chOff x="6825994" y="3421450"/>
            <a:chExt cx="5157217" cy="573202"/>
          </a:xfrm>
        </p:grpSpPr>
        <p:sp>
          <p:nvSpPr>
            <p:cNvPr id="23" name="!!edge0">
              <a:extLst>
                <a:ext uri="{FF2B5EF4-FFF2-40B4-BE49-F238E27FC236}">
                  <a16:creationId xmlns:a16="http://schemas.microsoft.com/office/drawing/2014/main" id="{C9E59CD5-E641-62C1-EEBC-3EE47A6C95CB}"/>
                </a:ext>
              </a:extLst>
            </p:cNvPr>
            <p:cNvSpPr/>
            <p:nvPr/>
          </p:nvSpPr>
          <p:spPr>
            <a:xfrm>
              <a:off x="6825994" y="3421450"/>
              <a:ext cx="4442462" cy="573202"/>
            </a:xfrm>
            <a:prstGeom prst="roundRect">
              <a:avLst>
                <a:gd name="adj" fmla="val 3602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4" name="!!w8-0-head">
              <a:extLst>
                <a:ext uri="{FF2B5EF4-FFF2-40B4-BE49-F238E27FC236}">
                  <a16:creationId xmlns:a16="http://schemas.microsoft.com/office/drawing/2014/main" id="{811AFBE1-5553-AFF8-063E-88DC5695C189}"/>
                </a:ext>
              </a:extLst>
            </p:cNvPr>
            <p:cNvSpPr txBox="1"/>
            <p:nvPr/>
          </p:nvSpPr>
          <p:spPr>
            <a:xfrm>
              <a:off x="7045451" y="3554162"/>
              <a:ext cx="4937760" cy="307777"/>
            </a:xfrm>
            <a:prstGeom prst="rect">
              <a:avLst/>
            </a:prstGeom>
            <a:noFill/>
          </p:spPr>
          <p:txBody>
            <a:bodyPr wrap="square" lIns="0" tIns="0" rIns="0" bIns="0" anchor="t">
              <a:spAutoFit/>
            </a:bodyPr>
            <a:lstStyle/>
            <a:p>
              <a:pPr algn="l"/>
              <a:r>
                <a:rPr lang="en-GB" sz="2000" dirty="0">
                  <a:latin typeface="Google Sans Flex SemiBold"/>
                </a:rPr>
                <a:t>Defer</a:t>
              </a:r>
              <a:endParaRPr sz="2000" dirty="0">
                <a:latin typeface="Google Sans Flex SemiBold"/>
              </a:endParaRPr>
            </a:p>
          </p:txBody>
        </p:sp>
      </p:grpSp>
      <p:grpSp>
        <p:nvGrpSpPr>
          <p:cNvPr id="34" name="Group 33">
            <a:extLst>
              <a:ext uri="{FF2B5EF4-FFF2-40B4-BE49-F238E27FC236}">
                <a16:creationId xmlns:a16="http://schemas.microsoft.com/office/drawing/2014/main" id="{6001EC84-0061-95C1-8BDC-C9E72E2715C4}"/>
              </a:ext>
            </a:extLst>
          </p:cNvPr>
          <p:cNvGrpSpPr/>
          <p:nvPr/>
        </p:nvGrpSpPr>
        <p:grpSpPr>
          <a:xfrm>
            <a:off x="6825994" y="2729898"/>
            <a:ext cx="5157217" cy="573202"/>
            <a:chOff x="6825994" y="2729898"/>
            <a:chExt cx="5157217" cy="573202"/>
          </a:xfrm>
        </p:grpSpPr>
        <p:sp>
          <p:nvSpPr>
            <p:cNvPr id="25" name="!!edge0">
              <a:extLst>
                <a:ext uri="{FF2B5EF4-FFF2-40B4-BE49-F238E27FC236}">
                  <a16:creationId xmlns:a16="http://schemas.microsoft.com/office/drawing/2014/main" id="{1E463398-9206-1ACE-99D0-6DEE94735F6E}"/>
                </a:ext>
              </a:extLst>
            </p:cNvPr>
            <p:cNvSpPr/>
            <p:nvPr/>
          </p:nvSpPr>
          <p:spPr>
            <a:xfrm>
              <a:off x="6825994" y="2729898"/>
              <a:ext cx="4442462" cy="573202"/>
            </a:xfrm>
            <a:prstGeom prst="roundRect">
              <a:avLst>
                <a:gd name="adj" fmla="val 3602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6" name="!!w8-0-head">
              <a:extLst>
                <a:ext uri="{FF2B5EF4-FFF2-40B4-BE49-F238E27FC236}">
                  <a16:creationId xmlns:a16="http://schemas.microsoft.com/office/drawing/2014/main" id="{C8921320-165F-BF24-F536-2A8FFB6363A5}"/>
                </a:ext>
              </a:extLst>
            </p:cNvPr>
            <p:cNvSpPr txBox="1"/>
            <p:nvPr/>
          </p:nvSpPr>
          <p:spPr>
            <a:xfrm>
              <a:off x="7045451" y="2862610"/>
              <a:ext cx="4937760" cy="307777"/>
            </a:xfrm>
            <a:prstGeom prst="rect">
              <a:avLst/>
            </a:prstGeom>
            <a:noFill/>
          </p:spPr>
          <p:txBody>
            <a:bodyPr wrap="square" lIns="0" tIns="0" rIns="0" bIns="0" anchor="t">
              <a:spAutoFit/>
            </a:bodyPr>
            <a:lstStyle/>
            <a:p>
              <a:pPr algn="l"/>
              <a:r>
                <a:rPr lang="en-GB" sz="2000" dirty="0">
                  <a:latin typeface="Google Sans Flex SemiBold"/>
                </a:rPr>
                <a:t>Drag &amp; Drop</a:t>
              </a:r>
              <a:endParaRPr sz="2000" dirty="0">
                <a:latin typeface="Google Sans Flex SemiBold"/>
              </a:endParaRPr>
            </a:p>
          </p:txBody>
        </p:sp>
      </p:grpSp>
      <p:grpSp>
        <p:nvGrpSpPr>
          <p:cNvPr id="33" name="Group 32">
            <a:extLst>
              <a:ext uri="{FF2B5EF4-FFF2-40B4-BE49-F238E27FC236}">
                <a16:creationId xmlns:a16="http://schemas.microsoft.com/office/drawing/2014/main" id="{3B5B22E8-6470-587A-5D43-AF16ACAA2B3D}"/>
              </a:ext>
            </a:extLst>
          </p:cNvPr>
          <p:cNvGrpSpPr/>
          <p:nvPr/>
        </p:nvGrpSpPr>
        <p:grpSpPr>
          <a:xfrm>
            <a:off x="6825994" y="2038345"/>
            <a:ext cx="5157217" cy="573202"/>
            <a:chOff x="6825994" y="2038345"/>
            <a:chExt cx="5157217" cy="573202"/>
          </a:xfrm>
        </p:grpSpPr>
        <p:sp>
          <p:nvSpPr>
            <p:cNvPr id="27" name="!!edge0">
              <a:extLst>
                <a:ext uri="{FF2B5EF4-FFF2-40B4-BE49-F238E27FC236}">
                  <a16:creationId xmlns:a16="http://schemas.microsoft.com/office/drawing/2014/main" id="{02BF1667-4A36-B7EB-A547-7DF610DFBA30}"/>
                </a:ext>
              </a:extLst>
            </p:cNvPr>
            <p:cNvSpPr/>
            <p:nvPr/>
          </p:nvSpPr>
          <p:spPr>
            <a:xfrm>
              <a:off x="6825994" y="2038345"/>
              <a:ext cx="4442462" cy="573202"/>
            </a:xfrm>
            <a:prstGeom prst="roundRect">
              <a:avLst>
                <a:gd name="adj" fmla="val 3602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9" name="!!w8-0-head">
              <a:extLst>
                <a:ext uri="{FF2B5EF4-FFF2-40B4-BE49-F238E27FC236}">
                  <a16:creationId xmlns:a16="http://schemas.microsoft.com/office/drawing/2014/main" id="{337DDBB7-E5A2-0D77-B524-80D9A43E55BD}"/>
                </a:ext>
              </a:extLst>
            </p:cNvPr>
            <p:cNvSpPr txBox="1"/>
            <p:nvPr/>
          </p:nvSpPr>
          <p:spPr>
            <a:xfrm>
              <a:off x="7045451" y="2171057"/>
              <a:ext cx="4937760" cy="307777"/>
            </a:xfrm>
            <a:prstGeom prst="rect">
              <a:avLst/>
            </a:prstGeom>
            <a:noFill/>
          </p:spPr>
          <p:txBody>
            <a:bodyPr wrap="square" lIns="0" tIns="0" rIns="0" bIns="0" anchor="t">
              <a:spAutoFit/>
            </a:bodyPr>
            <a:lstStyle/>
            <a:p>
              <a:pPr algn="l"/>
              <a:r>
                <a:rPr lang="en-GB" sz="2000" dirty="0">
                  <a:latin typeface="Google Sans Flex SemiBold"/>
                </a:rPr>
                <a:t>Compare plans</a:t>
              </a:r>
              <a:endParaRPr sz="2000" dirty="0">
                <a:latin typeface="Google Sans Flex SemiBold"/>
              </a:endParaRPr>
            </a:p>
          </p:txBody>
        </p:sp>
      </p:grpSp>
      <p:grpSp>
        <p:nvGrpSpPr>
          <p:cNvPr id="36" name="Group 35">
            <a:extLst>
              <a:ext uri="{FF2B5EF4-FFF2-40B4-BE49-F238E27FC236}">
                <a16:creationId xmlns:a16="http://schemas.microsoft.com/office/drawing/2014/main" id="{8197838A-643B-1246-8932-98CE6034D4EB}"/>
              </a:ext>
            </a:extLst>
          </p:cNvPr>
          <p:cNvGrpSpPr/>
          <p:nvPr/>
        </p:nvGrpSpPr>
        <p:grpSpPr>
          <a:xfrm>
            <a:off x="6825994" y="3421450"/>
            <a:ext cx="5157217" cy="573202"/>
            <a:chOff x="6825994" y="3421450"/>
            <a:chExt cx="5157217" cy="573202"/>
          </a:xfrm>
        </p:grpSpPr>
        <p:sp>
          <p:nvSpPr>
            <p:cNvPr id="37" name="!!edge0">
              <a:extLst>
                <a:ext uri="{FF2B5EF4-FFF2-40B4-BE49-F238E27FC236}">
                  <a16:creationId xmlns:a16="http://schemas.microsoft.com/office/drawing/2014/main" id="{38007342-CCDC-00B5-90B9-B23C7BC9D748}"/>
                </a:ext>
              </a:extLst>
            </p:cNvPr>
            <p:cNvSpPr/>
            <p:nvPr/>
          </p:nvSpPr>
          <p:spPr>
            <a:xfrm>
              <a:off x="6825994" y="3421450"/>
              <a:ext cx="4442462" cy="573202"/>
            </a:xfrm>
            <a:prstGeom prst="roundRect">
              <a:avLst>
                <a:gd name="adj" fmla="val 36022"/>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solidFill>
                  <a:schemeClr val="bg1"/>
                </a:solidFill>
              </a:endParaRPr>
            </a:p>
          </p:txBody>
        </p:sp>
        <p:sp>
          <p:nvSpPr>
            <p:cNvPr id="38" name="!!w8-0-head">
              <a:extLst>
                <a:ext uri="{FF2B5EF4-FFF2-40B4-BE49-F238E27FC236}">
                  <a16:creationId xmlns:a16="http://schemas.microsoft.com/office/drawing/2014/main" id="{2166C96B-0900-BA60-571F-4264ABF92226}"/>
                </a:ext>
              </a:extLst>
            </p:cNvPr>
            <p:cNvSpPr txBox="1"/>
            <p:nvPr/>
          </p:nvSpPr>
          <p:spPr>
            <a:xfrm>
              <a:off x="7045451" y="3554162"/>
              <a:ext cx="4937760" cy="307777"/>
            </a:xfrm>
            <a:prstGeom prst="rect">
              <a:avLst/>
            </a:prstGeom>
            <a:noFill/>
          </p:spPr>
          <p:txBody>
            <a:bodyPr wrap="square" lIns="0" tIns="0" rIns="0" bIns="0" anchor="t">
              <a:spAutoFit/>
            </a:bodyPr>
            <a:lstStyle/>
            <a:p>
              <a:pPr algn="l"/>
              <a:r>
                <a:rPr lang="en-GB" sz="2000" dirty="0">
                  <a:solidFill>
                    <a:schemeClr val="bg1"/>
                  </a:solidFill>
                  <a:latin typeface="Google Sans Flex SemiBold"/>
                </a:rPr>
                <a:t>Defer</a:t>
              </a:r>
              <a:endParaRPr sz="2000" dirty="0">
                <a:solidFill>
                  <a:schemeClr val="bg1"/>
                </a:solidFill>
                <a:latin typeface="Google Sans Flex SemiBold"/>
              </a:endParaRPr>
            </a:p>
          </p:txBody>
        </p:sp>
      </p:grpSp>
      <p:grpSp>
        <p:nvGrpSpPr>
          <p:cNvPr id="39" name="Group 38">
            <a:extLst>
              <a:ext uri="{FF2B5EF4-FFF2-40B4-BE49-F238E27FC236}">
                <a16:creationId xmlns:a16="http://schemas.microsoft.com/office/drawing/2014/main" id="{68A89CF3-6F2A-6E46-488A-2A723D09FEEC}"/>
              </a:ext>
            </a:extLst>
          </p:cNvPr>
          <p:cNvGrpSpPr/>
          <p:nvPr/>
        </p:nvGrpSpPr>
        <p:grpSpPr>
          <a:xfrm>
            <a:off x="6825994" y="2729898"/>
            <a:ext cx="5157217" cy="573202"/>
            <a:chOff x="6825994" y="2729898"/>
            <a:chExt cx="5157217" cy="573202"/>
          </a:xfrm>
        </p:grpSpPr>
        <p:sp>
          <p:nvSpPr>
            <p:cNvPr id="40" name="!!edge0">
              <a:extLst>
                <a:ext uri="{FF2B5EF4-FFF2-40B4-BE49-F238E27FC236}">
                  <a16:creationId xmlns:a16="http://schemas.microsoft.com/office/drawing/2014/main" id="{1833EF67-B654-06D9-3A9E-47475BA7B18D}"/>
                </a:ext>
              </a:extLst>
            </p:cNvPr>
            <p:cNvSpPr/>
            <p:nvPr/>
          </p:nvSpPr>
          <p:spPr>
            <a:xfrm>
              <a:off x="6825994" y="2729898"/>
              <a:ext cx="4442462" cy="573202"/>
            </a:xfrm>
            <a:prstGeom prst="roundRect">
              <a:avLst>
                <a:gd name="adj" fmla="val 36022"/>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solidFill>
                  <a:schemeClr val="bg1"/>
                </a:solidFill>
              </a:endParaRPr>
            </a:p>
          </p:txBody>
        </p:sp>
        <p:sp>
          <p:nvSpPr>
            <p:cNvPr id="41" name="!!w8-0-head">
              <a:extLst>
                <a:ext uri="{FF2B5EF4-FFF2-40B4-BE49-F238E27FC236}">
                  <a16:creationId xmlns:a16="http://schemas.microsoft.com/office/drawing/2014/main" id="{5854FFF6-924F-9CD9-31F5-8AE828FF503F}"/>
                </a:ext>
              </a:extLst>
            </p:cNvPr>
            <p:cNvSpPr txBox="1"/>
            <p:nvPr/>
          </p:nvSpPr>
          <p:spPr>
            <a:xfrm>
              <a:off x="7045451" y="2862610"/>
              <a:ext cx="4937760" cy="307777"/>
            </a:xfrm>
            <a:prstGeom prst="rect">
              <a:avLst/>
            </a:prstGeom>
            <a:noFill/>
          </p:spPr>
          <p:txBody>
            <a:bodyPr wrap="square" lIns="0" tIns="0" rIns="0" bIns="0" anchor="t">
              <a:spAutoFit/>
            </a:bodyPr>
            <a:lstStyle/>
            <a:p>
              <a:pPr algn="l"/>
              <a:r>
                <a:rPr lang="en-GB" sz="2000" dirty="0">
                  <a:solidFill>
                    <a:schemeClr val="bg1"/>
                  </a:solidFill>
                  <a:latin typeface="Google Sans Flex SemiBold"/>
                </a:rPr>
                <a:t>Drag &amp; Drop</a:t>
              </a:r>
              <a:endParaRPr sz="2000" dirty="0">
                <a:solidFill>
                  <a:schemeClr val="bg1"/>
                </a:solidFill>
                <a:latin typeface="Google Sans Flex SemiBold"/>
              </a:endParaRPr>
            </a:p>
          </p:txBody>
        </p:sp>
      </p:grpSp>
      <p:grpSp>
        <p:nvGrpSpPr>
          <p:cNvPr id="42" name="Group 41">
            <a:extLst>
              <a:ext uri="{FF2B5EF4-FFF2-40B4-BE49-F238E27FC236}">
                <a16:creationId xmlns:a16="http://schemas.microsoft.com/office/drawing/2014/main" id="{3054B30C-2440-F12E-1DFC-A835BD78C6D1}"/>
              </a:ext>
            </a:extLst>
          </p:cNvPr>
          <p:cNvGrpSpPr/>
          <p:nvPr/>
        </p:nvGrpSpPr>
        <p:grpSpPr>
          <a:xfrm>
            <a:off x="6825994" y="2038345"/>
            <a:ext cx="5157217" cy="573202"/>
            <a:chOff x="6825994" y="2038345"/>
            <a:chExt cx="5157217" cy="573202"/>
          </a:xfrm>
        </p:grpSpPr>
        <p:sp>
          <p:nvSpPr>
            <p:cNvPr id="43" name="!!edge0">
              <a:extLst>
                <a:ext uri="{FF2B5EF4-FFF2-40B4-BE49-F238E27FC236}">
                  <a16:creationId xmlns:a16="http://schemas.microsoft.com/office/drawing/2014/main" id="{9B4E4DEC-1AB1-6162-79C3-98EAEA0F2EEA}"/>
                </a:ext>
              </a:extLst>
            </p:cNvPr>
            <p:cNvSpPr/>
            <p:nvPr/>
          </p:nvSpPr>
          <p:spPr>
            <a:xfrm>
              <a:off x="6825994" y="2038345"/>
              <a:ext cx="4442462" cy="573202"/>
            </a:xfrm>
            <a:prstGeom prst="roundRect">
              <a:avLst>
                <a:gd name="adj" fmla="val 36022"/>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solidFill>
                  <a:schemeClr val="bg1"/>
                </a:solidFill>
              </a:endParaRPr>
            </a:p>
          </p:txBody>
        </p:sp>
        <p:sp>
          <p:nvSpPr>
            <p:cNvPr id="44" name="!!w8-0-head">
              <a:extLst>
                <a:ext uri="{FF2B5EF4-FFF2-40B4-BE49-F238E27FC236}">
                  <a16:creationId xmlns:a16="http://schemas.microsoft.com/office/drawing/2014/main" id="{1BF67B7E-CE8C-63E6-B70F-E9FF219C7B85}"/>
                </a:ext>
              </a:extLst>
            </p:cNvPr>
            <p:cNvSpPr txBox="1"/>
            <p:nvPr/>
          </p:nvSpPr>
          <p:spPr>
            <a:xfrm>
              <a:off x="7045451" y="2171057"/>
              <a:ext cx="4937760" cy="307777"/>
            </a:xfrm>
            <a:prstGeom prst="rect">
              <a:avLst/>
            </a:prstGeom>
            <a:noFill/>
          </p:spPr>
          <p:txBody>
            <a:bodyPr wrap="square" lIns="0" tIns="0" rIns="0" bIns="0" anchor="t">
              <a:spAutoFit/>
            </a:bodyPr>
            <a:lstStyle/>
            <a:p>
              <a:pPr algn="l"/>
              <a:r>
                <a:rPr lang="en-GB" sz="2000" dirty="0">
                  <a:solidFill>
                    <a:schemeClr val="bg1"/>
                  </a:solidFill>
                  <a:latin typeface="Google Sans Flex SemiBold"/>
                </a:rPr>
                <a:t>Compare plans</a:t>
              </a:r>
              <a:endParaRPr sz="2000" dirty="0">
                <a:solidFill>
                  <a:schemeClr val="bg1"/>
                </a:solidFill>
                <a:latin typeface="Google Sans Flex SemiBold"/>
              </a:endParaRPr>
            </a:p>
          </p:txBody>
        </p:sp>
      </p:grpSp>
      <p:grpSp>
        <p:nvGrpSpPr>
          <p:cNvPr id="63" name="Group 62">
            <a:extLst>
              <a:ext uri="{FF2B5EF4-FFF2-40B4-BE49-F238E27FC236}">
                <a16:creationId xmlns:a16="http://schemas.microsoft.com/office/drawing/2014/main" id="{51EC0206-3D8C-1233-9A31-9E2E4A35A288}"/>
              </a:ext>
            </a:extLst>
          </p:cNvPr>
          <p:cNvGrpSpPr/>
          <p:nvPr/>
        </p:nvGrpSpPr>
        <p:grpSpPr>
          <a:xfrm>
            <a:off x="923544" y="640080"/>
            <a:ext cx="7516368" cy="506975"/>
            <a:chOff x="923544" y="640080"/>
            <a:chExt cx="7516368" cy="506975"/>
          </a:xfrm>
        </p:grpSpPr>
        <p:sp>
          <p:nvSpPr>
            <p:cNvPr id="3" name="!!edge0">
              <a:extLst>
                <a:ext uri="{FF2B5EF4-FFF2-40B4-BE49-F238E27FC236}">
                  <a16:creationId xmlns:a16="http://schemas.microsoft.com/office/drawing/2014/main" id="{66830717-3754-96D3-C6C7-E48600EBE446}"/>
                </a:ext>
              </a:extLst>
            </p:cNvPr>
            <p:cNvSpPr/>
            <p:nvPr/>
          </p:nvSpPr>
          <p:spPr>
            <a:xfrm>
              <a:off x="923544" y="640080"/>
              <a:ext cx="3474720"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7" name="!!section">
              <a:extLst>
                <a:ext uri="{FF2B5EF4-FFF2-40B4-BE49-F238E27FC236}">
                  <a16:creationId xmlns:a16="http://schemas.microsoft.com/office/drawing/2014/main" id="{F523018C-E680-A810-B671-0F43848F0BA4}"/>
                </a:ext>
              </a:extLst>
            </p:cNvPr>
            <p:cNvSpPr txBox="1"/>
            <p:nvPr/>
          </p:nvSpPr>
          <p:spPr>
            <a:xfrm>
              <a:off x="1124712" y="777723"/>
              <a:ext cx="7315200" cy="369332"/>
            </a:xfrm>
            <a:prstGeom prst="rect">
              <a:avLst/>
            </a:prstGeom>
            <a:noFill/>
          </p:spPr>
          <p:txBody>
            <a:bodyPr wrap="square" lIns="0" tIns="0" rIns="0" bIns="0" anchor="t">
              <a:spAutoFit/>
            </a:bodyPr>
            <a:lstStyle/>
            <a:p>
              <a:r>
                <a:rPr lang="en-US" sz="1200" dirty="0">
                  <a:solidFill>
                    <a:srgbClr val="006A62"/>
                  </a:solidFill>
                  <a:latin typeface="Google Sans Flex SemiBold"/>
                </a:rPr>
                <a:t>Problem 2 · Dispatcher Stress </a:t>
              </a:r>
            </a:p>
            <a:p>
              <a:endParaRPr lang="en-US" sz="1200" dirty="0">
                <a:solidFill>
                  <a:srgbClr val="006A62"/>
                </a:solidFill>
                <a:latin typeface="Google Sans Flex SemiBold"/>
              </a:endParaRPr>
            </a:p>
          </p:txBody>
        </p:sp>
      </p:grpSp>
      <p:sp>
        <p:nvSpPr>
          <p:cNvPr id="10" name="!!title">
            <a:extLst>
              <a:ext uri="{FF2B5EF4-FFF2-40B4-BE49-F238E27FC236}">
                <a16:creationId xmlns:a16="http://schemas.microsoft.com/office/drawing/2014/main" id="{DF22AB16-E3D1-8A61-FF15-37F125207798}"/>
              </a:ext>
            </a:extLst>
          </p:cNvPr>
          <p:cNvSpPr txBox="1"/>
          <p:nvPr/>
        </p:nvSpPr>
        <p:spPr>
          <a:xfrm>
            <a:off x="-8197596" y="1147055"/>
            <a:ext cx="7863840" cy="553998"/>
          </a:xfrm>
          <a:prstGeom prst="rect">
            <a:avLst/>
          </a:prstGeom>
          <a:noFill/>
        </p:spPr>
        <p:txBody>
          <a:bodyPr wrap="square" lIns="0" tIns="0" rIns="0" bIns="0" anchor="t">
            <a:spAutoFit/>
          </a:bodyPr>
          <a:lstStyle/>
          <a:p>
            <a:r>
              <a:rPr lang="en-US" sz="3600" dirty="0">
                <a:solidFill>
                  <a:srgbClr val="00B050"/>
                </a:solidFill>
                <a:latin typeface="Google Sans Flex SemiBold"/>
              </a:rPr>
              <a:t>GO watches</a:t>
            </a:r>
            <a:r>
              <a:rPr lang="en-US" sz="3600" dirty="0">
                <a:latin typeface="Google Sans Flex Light"/>
              </a:rPr>
              <a:t> with them</a:t>
            </a:r>
          </a:p>
        </p:txBody>
      </p:sp>
      <p:grpSp>
        <p:nvGrpSpPr>
          <p:cNvPr id="12" name="Group 11">
            <a:extLst>
              <a:ext uri="{FF2B5EF4-FFF2-40B4-BE49-F238E27FC236}">
                <a16:creationId xmlns:a16="http://schemas.microsoft.com/office/drawing/2014/main" id="{60C93488-2969-9E7A-0A1D-9F8A2A08F39E}"/>
              </a:ext>
            </a:extLst>
          </p:cNvPr>
          <p:cNvGrpSpPr/>
          <p:nvPr/>
        </p:nvGrpSpPr>
        <p:grpSpPr>
          <a:xfrm>
            <a:off x="6825994" y="-6737293"/>
            <a:ext cx="5169409" cy="1167780"/>
            <a:chOff x="6825994" y="1857367"/>
            <a:chExt cx="5169409" cy="1167780"/>
          </a:xfrm>
        </p:grpSpPr>
        <p:sp>
          <p:nvSpPr>
            <p:cNvPr id="13" name="!!edge0">
              <a:extLst>
                <a:ext uri="{FF2B5EF4-FFF2-40B4-BE49-F238E27FC236}">
                  <a16:creationId xmlns:a16="http://schemas.microsoft.com/office/drawing/2014/main" id="{DF370FE9-6624-BD58-3069-135948F54A8D}"/>
                </a:ext>
              </a:extLst>
            </p:cNvPr>
            <p:cNvSpPr/>
            <p:nvPr/>
          </p:nvSpPr>
          <p:spPr>
            <a:xfrm>
              <a:off x="6825994" y="1857367"/>
              <a:ext cx="4741166" cy="1058434"/>
            </a:xfrm>
            <a:prstGeom prst="roundRect">
              <a:avLst>
                <a:gd name="adj" fmla="val 2451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4" name="!!w8-0-head">
              <a:extLst>
                <a:ext uri="{FF2B5EF4-FFF2-40B4-BE49-F238E27FC236}">
                  <a16:creationId xmlns:a16="http://schemas.microsoft.com/office/drawing/2014/main" id="{E59DED4E-EBD7-AAE1-9589-90970B94CC83}"/>
                </a:ext>
              </a:extLst>
            </p:cNvPr>
            <p:cNvSpPr txBox="1"/>
            <p:nvPr/>
          </p:nvSpPr>
          <p:spPr>
            <a:xfrm>
              <a:off x="7057643" y="2065027"/>
              <a:ext cx="4937760" cy="457200"/>
            </a:xfrm>
            <a:prstGeom prst="rect">
              <a:avLst/>
            </a:prstGeom>
            <a:noFill/>
          </p:spPr>
          <p:txBody>
            <a:bodyPr wrap="square" lIns="0" tIns="0" rIns="0" bIns="0" anchor="t">
              <a:spAutoFit/>
            </a:bodyPr>
            <a:lstStyle/>
            <a:p>
              <a:pPr algn="l"/>
              <a:r>
                <a:rPr sz="2200" dirty="0">
                  <a:latin typeface="Google Sans Flex SemiBold"/>
                </a:rPr>
                <a:t>Watcher</a:t>
              </a:r>
            </a:p>
          </p:txBody>
        </p:sp>
        <p:sp>
          <p:nvSpPr>
            <p:cNvPr id="15" name="!!w8-0-sub">
              <a:extLst>
                <a:ext uri="{FF2B5EF4-FFF2-40B4-BE49-F238E27FC236}">
                  <a16:creationId xmlns:a16="http://schemas.microsoft.com/office/drawing/2014/main" id="{51769F0D-EFB2-B6A1-1ECB-BD1E132E7979}"/>
                </a:ext>
              </a:extLst>
            </p:cNvPr>
            <p:cNvSpPr txBox="1"/>
            <p:nvPr/>
          </p:nvSpPr>
          <p:spPr>
            <a:xfrm>
              <a:off x="7057643" y="2476507"/>
              <a:ext cx="4937760" cy="548640"/>
            </a:xfrm>
            <a:prstGeom prst="rect">
              <a:avLst/>
            </a:prstGeom>
            <a:noFill/>
          </p:spPr>
          <p:txBody>
            <a:bodyPr wrap="square" lIns="0" tIns="0" rIns="0" bIns="0" anchor="t">
              <a:spAutoFit/>
            </a:bodyPr>
            <a:lstStyle/>
            <a:p>
              <a:pPr algn="l"/>
              <a:r>
                <a:rPr sz="1500" dirty="0">
                  <a:solidFill>
                    <a:srgbClr val="6B7A72"/>
                  </a:solidFill>
                  <a:latin typeface="Google Sans Flex Light"/>
                </a:rPr>
                <a:t>alerts only when a decision is needed</a:t>
              </a:r>
            </a:p>
          </p:txBody>
        </p:sp>
      </p:grpSp>
      <p:grpSp>
        <p:nvGrpSpPr>
          <p:cNvPr id="16" name="Group 15">
            <a:extLst>
              <a:ext uri="{FF2B5EF4-FFF2-40B4-BE49-F238E27FC236}">
                <a16:creationId xmlns:a16="http://schemas.microsoft.com/office/drawing/2014/main" id="{51732CF0-642A-CDB3-7B45-64D27F8BAF5B}"/>
              </a:ext>
            </a:extLst>
          </p:cNvPr>
          <p:cNvGrpSpPr/>
          <p:nvPr/>
        </p:nvGrpSpPr>
        <p:grpSpPr>
          <a:xfrm>
            <a:off x="6825994" y="-4067778"/>
            <a:ext cx="5169409" cy="1194077"/>
            <a:chOff x="6825994" y="3111230"/>
            <a:chExt cx="5169409" cy="1194077"/>
          </a:xfrm>
        </p:grpSpPr>
        <p:sp>
          <p:nvSpPr>
            <p:cNvPr id="17" name="!!edge0">
              <a:extLst>
                <a:ext uri="{FF2B5EF4-FFF2-40B4-BE49-F238E27FC236}">
                  <a16:creationId xmlns:a16="http://schemas.microsoft.com/office/drawing/2014/main" id="{01B2E5A7-D702-BC2D-BDA3-91874FDE6C21}"/>
                </a:ext>
              </a:extLst>
            </p:cNvPr>
            <p:cNvSpPr/>
            <p:nvPr/>
          </p:nvSpPr>
          <p:spPr>
            <a:xfrm>
              <a:off x="6825994" y="3111230"/>
              <a:ext cx="4741166" cy="1058434"/>
            </a:xfrm>
            <a:prstGeom prst="roundRect">
              <a:avLst>
                <a:gd name="adj" fmla="val 2451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9" name="!!w8-1-head">
              <a:extLst>
                <a:ext uri="{FF2B5EF4-FFF2-40B4-BE49-F238E27FC236}">
                  <a16:creationId xmlns:a16="http://schemas.microsoft.com/office/drawing/2014/main" id="{201CF899-E963-26E4-6507-288DDE2E7A35}"/>
                </a:ext>
              </a:extLst>
            </p:cNvPr>
            <p:cNvSpPr txBox="1"/>
            <p:nvPr/>
          </p:nvSpPr>
          <p:spPr>
            <a:xfrm>
              <a:off x="7057643" y="3345187"/>
              <a:ext cx="4937760" cy="457200"/>
            </a:xfrm>
            <a:prstGeom prst="rect">
              <a:avLst/>
            </a:prstGeom>
            <a:noFill/>
          </p:spPr>
          <p:txBody>
            <a:bodyPr wrap="square" lIns="0" tIns="0" rIns="0" bIns="0" anchor="t">
              <a:spAutoFit/>
            </a:bodyPr>
            <a:lstStyle/>
            <a:p>
              <a:pPr algn="l"/>
              <a:r>
                <a:rPr sz="2200">
                  <a:latin typeface="Google Sans Flex SemiBold"/>
                </a:rPr>
                <a:t>Focus page</a:t>
              </a:r>
            </a:p>
          </p:txBody>
        </p:sp>
        <p:sp>
          <p:nvSpPr>
            <p:cNvPr id="20" name="!!w8-1-sub">
              <a:extLst>
                <a:ext uri="{FF2B5EF4-FFF2-40B4-BE49-F238E27FC236}">
                  <a16:creationId xmlns:a16="http://schemas.microsoft.com/office/drawing/2014/main" id="{0ED75AD5-936C-F286-701A-B91F10DF0205}"/>
                </a:ext>
              </a:extLst>
            </p:cNvPr>
            <p:cNvSpPr txBox="1"/>
            <p:nvPr/>
          </p:nvSpPr>
          <p:spPr>
            <a:xfrm>
              <a:off x="7057643" y="3756667"/>
              <a:ext cx="4937760" cy="548640"/>
            </a:xfrm>
            <a:prstGeom prst="rect">
              <a:avLst/>
            </a:prstGeom>
            <a:noFill/>
          </p:spPr>
          <p:txBody>
            <a:bodyPr wrap="square" lIns="0" tIns="0" rIns="0" bIns="0" anchor="t">
              <a:spAutoFit/>
            </a:bodyPr>
            <a:lstStyle/>
            <a:p>
              <a:pPr algn="l"/>
              <a:r>
                <a:rPr sz="1500">
                  <a:solidFill>
                    <a:srgbClr val="6B7A72"/>
                  </a:solidFill>
                  <a:latin typeface="Google Sans Flex Light"/>
                </a:rPr>
                <a:t>everything that needs you, in one place</a:t>
              </a:r>
            </a:p>
          </p:txBody>
        </p:sp>
      </p:grpSp>
      <p:grpSp>
        <p:nvGrpSpPr>
          <p:cNvPr id="46" name="Group 45">
            <a:extLst>
              <a:ext uri="{FF2B5EF4-FFF2-40B4-BE49-F238E27FC236}">
                <a16:creationId xmlns:a16="http://schemas.microsoft.com/office/drawing/2014/main" id="{0617C529-77CE-7289-9942-CC5391AA414A}"/>
              </a:ext>
            </a:extLst>
          </p:cNvPr>
          <p:cNvGrpSpPr/>
          <p:nvPr/>
        </p:nvGrpSpPr>
        <p:grpSpPr>
          <a:xfrm>
            <a:off x="6825994" y="-4067778"/>
            <a:ext cx="5169409" cy="1058434"/>
            <a:chOff x="6825994" y="3111230"/>
            <a:chExt cx="5169409" cy="1058434"/>
          </a:xfrm>
        </p:grpSpPr>
        <p:sp>
          <p:nvSpPr>
            <p:cNvPr id="47" name="!!edge0">
              <a:extLst>
                <a:ext uri="{FF2B5EF4-FFF2-40B4-BE49-F238E27FC236}">
                  <a16:creationId xmlns:a16="http://schemas.microsoft.com/office/drawing/2014/main" id="{05371DB2-B7D8-1EE8-5232-18CF1BC8F149}"/>
                </a:ext>
              </a:extLst>
            </p:cNvPr>
            <p:cNvSpPr/>
            <p:nvPr/>
          </p:nvSpPr>
          <p:spPr>
            <a:xfrm>
              <a:off x="6825994" y="3111230"/>
              <a:ext cx="4741166" cy="1058434"/>
            </a:xfrm>
            <a:prstGeom prst="roundRect">
              <a:avLst>
                <a:gd name="adj" fmla="val 24511"/>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solidFill>
                  <a:schemeClr val="bg1"/>
                </a:solidFill>
              </a:endParaRPr>
            </a:p>
          </p:txBody>
        </p:sp>
        <p:sp>
          <p:nvSpPr>
            <p:cNvPr id="48" name="!!w8-1-head">
              <a:extLst>
                <a:ext uri="{FF2B5EF4-FFF2-40B4-BE49-F238E27FC236}">
                  <a16:creationId xmlns:a16="http://schemas.microsoft.com/office/drawing/2014/main" id="{C946E77D-6B51-70ED-C0D6-B03AD49B2B3A}"/>
                </a:ext>
              </a:extLst>
            </p:cNvPr>
            <p:cNvSpPr txBox="1"/>
            <p:nvPr/>
          </p:nvSpPr>
          <p:spPr>
            <a:xfrm>
              <a:off x="7057643" y="3345187"/>
              <a:ext cx="4937760" cy="338554"/>
            </a:xfrm>
            <a:prstGeom prst="rect">
              <a:avLst/>
            </a:prstGeom>
            <a:noFill/>
          </p:spPr>
          <p:txBody>
            <a:bodyPr wrap="square" lIns="0" tIns="0" rIns="0" bIns="0" anchor="t">
              <a:spAutoFit/>
            </a:bodyPr>
            <a:lstStyle/>
            <a:p>
              <a:pPr algn="l"/>
              <a:r>
                <a:rPr sz="2200">
                  <a:solidFill>
                    <a:schemeClr val="bg1"/>
                  </a:solidFill>
                  <a:latin typeface="Google Sans Flex SemiBold"/>
                </a:rPr>
                <a:t>Focus page</a:t>
              </a:r>
            </a:p>
          </p:txBody>
        </p:sp>
        <p:sp>
          <p:nvSpPr>
            <p:cNvPr id="49" name="!!w8-1-sub">
              <a:extLst>
                <a:ext uri="{FF2B5EF4-FFF2-40B4-BE49-F238E27FC236}">
                  <a16:creationId xmlns:a16="http://schemas.microsoft.com/office/drawing/2014/main" id="{915A9B83-FF7A-21AF-209F-B708F7FD0629}"/>
                </a:ext>
              </a:extLst>
            </p:cNvPr>
            <p:cNvSpPr txBox="1"/>
            <p:nvPr/>
          </p:nvSpPr>
          <p:spPr>
            <a:xfrm>
              <a:off x="7057643" y="3756667"/>
              <a:ext cx="4937760" cy="230832"/>
            </a:xfrm>
            <a:prstGeom prst="rect">
              <a:avLst/>
            </a:prstGeom>
            <a:noFill/>
          </p:spPr>
          <p:txBody>
            <a:bodyPr wrap="square" lIns="0" tIns="0" rIns="0" bIns="0" anchor="t">
              <a:spAutoFit/>
            </a:bodyPr>
            <a:lstStyle/>
            <a:p>
              <a:pPr algn="l"/>
              <a:r>
                <a:rPr sz="1500">
                  <a:solidFill>
                    <a:schemeClr val="bg1"/>
                  </a:solidFill>
                  <a:latin typeface="Google Sans Flex Light"/>
                </a:rPr>
                <a:t>everything that needs you, in one place</a:t>
              </a:r>
            </a:p>
          </p:txBody>
        </p:sp>
      </p:grpSp>
      <p:grpSp>
        <p:nvGrpSpPr>
          <p:cNvPr id="62" name="Group 61">
            <a:extLst>
              <a:ext uri="{FF2B5EF4-FFF2-40B4-BE49-F238E27FC236}">
                <a16:creationId xmlns:a16="http://schemas.microsoft.com/office/drawing/2014/main" id="{F57F3161-1A53-8B89-D5DA-625281A6827E}"/>
              </a:ext>
            </a:extLst>
          </p:cNvPr>
          <p:cNvGrpSpPr/>
          <p:nvPr/>
        </p:nvGrpSpPr>
        <p:grpSpPr>
          <a:xfrm>
            <a:off x="-9203436" y="640080"/>
            <a:ext cx="7516368" cy="506975"/>
            <a:chOff x="-9203436" y="640080"/>
            <a:chExt cx="7516368" cy="506975"/>
          </a:xfrm>
        </p:grpSpPr>
        <p:sp>
          <p:nvSpPr>
            <p:cNvPr id="57" name="!!edge0">
              <a:extLst>
                <a:ext uri="{FF2B5EF4-FFF2-40B4-BE49-F238E27FC236}">
                  <a16:creationId xmlns:a16="http://schemas.microsoft.com/office/drawing/2014/main" id="{7E0FB11E-613C-7111-258E-44C0A4EC0FD4}"/>
                </a:ext>
              </a:extLst>
            </p:cNvPr>
            <p:cNvSpPr/>
            <p:nvPr/>
          </p:nvSpPr>
          <p:spPr>
            <a:xfrm>
              <a:off x="-9203436" y="640080"/>
              <a:ext cx="2569051"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9" name="!!section">
              <a:extLst>
                <a:ext uri="{FF2B5EF4-FFF2-40B4-BE49-F238E27FC236}">
                  <a16:creationId xmlns:a16="http://schemas.microsoft.com/office/drawing/2014/main" id="{BB8C3B22-112B-0ADB-E536-13F8766C65C8}"/>
                </a:ext>
              </a:extLst>
            </p:cNvPr>
            <p:cNvSpPr txBox="1"/>
            <p:nvPr/>
          </p:nvSpPr>
          <p:spPr>
            <a:xfrm>
              <a:off x="-9002268" y="777723"/>
              <a:ext cx="7315200" cy="369332"/>
            </a:xfrm>
            <a:prstGeom prst="rect">
              <a:avLst/>
            </a:prstGeom>
            <a:noFill/>
          </p:spPr>
          <p:txBody>
            <a:bodyPr wrap="square" lIns="0" tIns="0" rIns="0" bIns="0" anchor="t">
              <a:spAutoFit/>
            </a:bodyPr>
            <a:lstStyle/>
            <a:p>
              <a:r>
                <a:rPr lang="en-US" sz="1200" dirty="0">
                  <a:solidFill>
                    <a:srgbClr val="006A62"/>
                  </a:solidFill>
                  <a:latin typeface="Google Sans Flex SemiBold"/>
                </a:rPr>
                <a:t>Problem 3 · Poor Coordination</a:t>
              </a:r>
            </a:p>
            <a:p>
              <a:endParaRPr lang="en-US" sz="1200" dirty="0">
                <a:solidFill>
                  <a:srgbClr val="006A62"/>
                </a:solidFill>
                <a:latin typeface="Google Sans Flex SemiBold"/>
              </a:endParaRPr>
            </a:p>
          </p:txBody>
        </p:sp>
      </p:grpSp>
      <p:sp>
        <p:nvSpPr>
          <p:cNvPr id="61" name="!!title">
            <a:extLst>
              <a:ext uri="{FF2B5EF4-FFF2-40B4-BE49-F238E27FC236}">
                <a16:creationId xmlns:a16="http://schemas.microsoft.com/office/drawing/2014/main" id="{71AB2898-4121-E39F-50D0-8838BC06A674}"/>
              </a:ext>
            </a:extLst>
          </p:cNvPr>
          <p:cNvSpPr txBox="1"/>
          <p:nvPr/>
        </p:nvSpPr>
        <p:spPr>
          <a:xfrm>
            <a:off x="-7397496" y="1386046"/>
            <a:ext cx="10625328" cy="553998"/>
          </a:xfrm>
          <a:prstGeom prst="rect">
            <a:avLst/>
          </a:prstGeom>
          <a:noFill/>
        </p:spPr>
        <p:txBody>
          <a:bodyPr wrap="square" lIns="0" tIns="0" rIns="0" bIns="0" anchor="t">
            <a:spAutoFit/>
          </a:bodyPr>
          <a:lstStyle/>
          <a:p>
            <a:r>
              <a:rPr lang="en-US" sz="3600" dirty="0">
                <a:solidFill>
                  <a:srgbClr val="00B050"/>
                </a:solidFill>
                <a:latin typeface="Google Sans Flex SemiBold"/>
              </a:rPr>
              <a:t>Now, a trip</a:t>
            </a:r>
            <a:r>
              <a:rPr lang="en-US" sz="3600" dirty="0">
                <a:latin typeface="Google Sans Flex Light"/>
              </a:rPr>
              <a:t> on the road</a:t>
            </a:r>
          </a:p>
        </p:txBody>
      </p:sp>
      <p:pic>
        <p:nvPicPr>
          <p:cNvPr id="64" name="Picture 63">
            <a:extLst>
              <a:ext uri="{FF2B5EF4-FFF2-40B4-BE49-F238E27FC236}">
                <a16:creationId xmlns:a16="http://schemas.microsoft.com/office/drawing/2014/main" id="{2F497F65-5D53-4C32-9055-B2361401C86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12006021" y="3340591"/>
            <a:ext cx="10743272" cy="3493008"/>
          </a:xfrm>
          <a:prstGeom prst="rect">
            <a:avLst/>
          </a:prstGeom>
        </p:spPr>
      </p:pic>
      <p:sp>
        <p:nvSpPr>
          <p:cNvPr id="67" name="!!edge0">
            <a:extLst>
              <a:ext uri="{FF2B5EF4-FFF2-40B4-BE49-F238E27FC236}">
                <a16:creationId xmlns:a16="http://schemas.microsoft.com/office/drawing/2014/main" id="{DD5BF86F-E8DD-2C32-10EE-45E8D5882FAD}"/>
              </a:ext>
            </a:extLst>
          </p:cNvPr>
          <p:cNvSpPr/>
          <p:nvPr/>
        </p:nvSpPr>
        <p:spPr>
          <a:xfrm>
            <a:off x="-8390014" y="3728877"/>
            <a:ext cx="1359129" cy="1842849"/>
          </a:xfrm>
          <a:prstGeom prst="roundRect">
            <a:avLst>
              <a:gd name="adj" fmla="val 17396"/>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sp>
        <p:nvSpPr>
          <p:cNvPr id="68" name="!!tool0-head">
            <a:extLst>
              <a:ext uri="{FF2B5EF4-FFF2-40B4-BE49-F238E27FC236}">
                <a16:creationId xmlns:a16="http://schemas.microsoft.com/office/drawing/2014/main" id="{18154889-9F71-57BE-3C5C-020415363896}"/>
              </a:ext>
            </a:extLst>
          </p:cNvPr>
          <p:cNvSpPr txBox="1"/>
          <p:nvPr/>
        </p:nvSpPr>
        <p:spPr>
          <a:xfrm>
            <a:off x="-8240543" y="4478221"/>
            <a:ext cx="1013234" cy="307777"/>
          </a:xfrm>
          <a:prstGeom prst="rect">
            <a:avLst/>
          </a:prstGeom>
          <a:noFill/>
        </p:spPr>
        <p:txBody>
          <a:bodyPr wrap="square" lIns="0" tIns="0" rIns="0" bIns="0" anchor="t">
            <a:spAutoFit/>
          </a:bodyPr>
          <a:lstStyle/>
          <a:p>
            <a:pPr algn="ctr"/>
            <a:r>
              <a:rPr lang="en-GB" sz="2000" dirty="0">
                <a:solidFill>
                  <a:schemeClr val="bg1"/>
                </a:solidFill>
                <a:latin typeface="Google Sans Flex SemiBold"/>
              </a:rPr>
              <a:t>Store 3</a:t>
            </a:r>
            <a:endParaRPr sz="2000" dirty="0">
              <a:solidFill>
                <a:schemeClr val="bg1"/>
              </a:solidFill>
              <a:latin typeface="Google Sans Flex SemiBold"/>
            </a:endParaRPr>
          </a:p>
        </p:txBody>
      </p:sp>
      <p:grpSp>
        <p:nvGrpSpPr>
          <p:cNvPr id="76" name="Group 75">
            <a:extLst>
              <a:ext uri="{FF2B5EF4-FFF2-40B4-BE49-F238E27FC236}">
                <a16:creationId xmlns:a16="http://schemas.microsoft.com/office/drawing/2014/main" id="{B4EAA6A2-DDA0-4253-B93D-70726E903EE9}"/>
              </a:ext>
            </a:extLst>
          </p:cNvPr>
          <p:cNvGrpSpPr/>
          <p:nvPr/>
        </p:nvGrpSpPr>
        <p:grpSpPr>
          <a:xfrm>
            <a:off x="-6858865" y="3728877"/>
            <a:ext cx="1359129" cy="1842849"/>
            <a:chOff x="-6858865" y="3728877"/>
            <a:chExt cx="1359129" cy="1842849"/>
          </a:xfrm>
        </p:grpSpPr>
        <p:sp>
          <p:nvSpPr>
            <p:cNvPr id="66" name="!!edge0">
              <a:extLst>
                <a:ext uri="{FF2B5EF4-FFF2-40B4-BE49-F238E27FC236}">
                  <a16:creationId xmlns:a16="http://schemas.microsoft.com/office/drawing/2014/main" id="{A0510AB9-5E05-F6CD-5BCF-39E615805787}"/>
                </a:ext>
              </a:extLst>
            </p:cNvPr>
            <p:cNvSpPr/>
            <p:nvPr/>
          </p:nvSpPr>
          <p:spPr>
            <a:xfrm>
              <a:off x="-6858865" y="3728877"/>
              <a:ext cx="1359129" cy="1842849"/>
            </a:xfrm>
            <a:prstGeom prst="roundRect">
              <a:avLst>
                <a:gd name="adj" fmla="val 1739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sp>
          <p:nvSpPr>
            <p:cNvPr id="69" name="!!tool0-head">
              <a:extLst>
                <a:ext uri="{FF2B5EF4-FFF2-40B4-BE49-F238E27FC236}">
                  <a16:creationId xmlns:a16="http://schemas.microsoft.com/office/drawing/2014/main" id="{B8892EF2-B322-5F71-09C5-9F2D65D89311}"/>
                </a:ext>
              </a:extLst>
            </p:cNvPr>
            <p:cNvSpPr txBox="1"/>
            <p:nvPr/>
          </p:nvSpPr>
          <p:spPr>
            <a:xfrm>
              <a:off x="-6705686" y="4478221"/>
              <a:ext cx="1013234" cy="307777"/>
            </a:xfrm>
            <a:prstGeom prst="rect">
              <a:avLst/>
            </a:prstGeom>
            <a:noFill/>
          </p:spPr>
          <p:txBody>
            <a:bodyPr wrap="square" lIns="0" tIns="0" rIns="0" bIns="0" anchor="t">
              <a:spAutoFit/>
            </a:bodyPr>
            <a:lstStyle/>
            <a:p>
              <a:pPr algn="ctr"/>
              <a:r>
                <a:rPr lang="en-GB" sz="2000" dirty="0">
                  <a:latin typeface="Google Sans Flex SemiBold"/>
                </a:rPr>
                <a:t>Store 4</a:t>
              </a:r>
              <a:endParaRPr sz="2000" dirty="0">
                <a:latin typeface="Google Sans Flex SemiBold"/>
              </a:endParaRPr>
            </a:p>
          </p:txBody>
        </p:sp>
      </p:grpSp>
      <p:grpSp>
        <p:nvGrpSpPr>
          <p:cNvPr id="75" name="Group 74">
            <a:extLst>
              <a:ext uri="{FF2B5EF4-FFF2-40B4-BE49-F238E27FC236}">
                <a16:creationId xmlns:a16="http://schemas.microsoft.com/office/drawing/2014/main" id="{1EB36FCE-E377-90A6-D99C-57CBE072F10B}"/>
              </a:ext>
            </a:extLst>
          </p:cNvPr>
          <p:cNvGrpSpPr/>
          <p:nvPr/>
        </p:nvGrpSpPr>
        <p:grpSpPr>
          <a:xfrm>
            <a:off x="-5338324" y="3728877"/>
            <a:ext cx="1359129" cy="1842849"/>
            <a:chOff x="-5338324" y="3728877"/>
            <a:chExt cx="1359129" cy="1842849"/>
          </a:xfrm>
        </p:grpSpPr>
        <p:sp>
          <p:nvSpPr>
            <p:cNvPr id="65" name="!!edge0">
              <a:extLst>
                <a:ext uri="{FF2B5EF4-FFF2-40B4-BE49-F238E27FC236}">
                  <a16:creationId xmlns:a16="http://schemas.microsoft.com/office/drawing/2014/main" id="{11FD07F7-F670-E304-6105-1A264697E708}"/>
                </a:ext>
              </a:extLst>
            </p:cNvPr>
            <p:cNvSpPr/>
            <p:nvPr/>
          </p:nvSpPr>
          <p:spPr>
            <a:xfrm>
              <a:off x="-5338324" y="3728877"/>
              <a:ext cx="1359129" cy="1842849"/>
            </a:xfrm>
            <a:prstGeom prst="roundRect">
              <a:avLst>
                <a:gd name="adj" fmla="val 1739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sp>
          <p:nvSpPr>
            <p:cNvPr id="70" name="!!tool0-head">
              <a:extLst>
                <a:ext uri="{FF2B5EF4-FFF2-40B4-BE49-F238E27FC236}">
                  <a16:creationId xmlns:a16="http://schemas.microsoft.com/office/drawing/2014/main" id="{A2DD3C84-7383-B51D-C6CB-B465C2AA3966}"/>
                </a:ext>
              </a:extLst>
            </p:cNvPr>
            <p:cNvSpPr txBox="1"/>
            <p:nvPr/>
          </p:nvSpPr>
          <p:spPr>
            <a:xfrm>
              <a:off x="-5174543" y="4478221"/>
              <a:ext cx="1013234" cy="307777"/>
            </a:xfrm>
            <a:prstGeom prst="rect">
              <a:avLst/>
            </a:prstGeom>
            <a:noFill/>
          </p:spPr>
          <p:txBody>
            <a:bodyPr wrap="square" lIns="0" tIns="0" rIns="0" bIns="0" anchor="t">
              <a:spAutoFit/>
            </a:bodyPr>
            <a:lstStyle/>
            <a:p>
              <a:pPr algn="ctr"/>
              <a:r>
                <a:rPr lang="en-GB" sz="2000" dirty="0">
                  <a:latin typeface="Google Sans Flex SemiBold"/>
                </a:rPr>
                <a:t>Store 5</a:t>
              </a:r>
              <a:endParaRPr sz="2000" dirty="0">
                <a:latin typeface="Google Sans Flex SemiBold"/>
              </a:endParaRPr>
            </a:p>
          </p:txBody>
        </p:sp>
      </p:grpSp>
      <p:sp>
        <p:nvSpPr>
          <p:cNvPr id="71" name="!!edge0">
            <a:extLst>
              <a:ext uri="{FF2B5EF4-FFF2-40B4-BE49-F238E27FC236}">
                <a16:creationId xmlns:a16="http://schemas.microsoft.com/office/drawing/2014/main" id="{9EB1F99C-B14E-C8AE-A147-0949D79D32C8}"/>
              </a:ext>
            </a:extLst>
          </p:cNvPr>
          <p:cNvSpPr/>
          <p:nvPr/>
        </p:nvSpPr>
        <p:spPr>
          <a:xfrm>
            <a:off x="-9944661" y="3728877"/>
            <a:ext cx="1359129" cy="1842849"/>
          </a:xfrm>
          <a:prstGeom prst="roundRect">
            <a:avLst>
              <a:gd name="adj" fmla="val 1739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sp>
        <p:nvSpPr>
          <p:cNvPr id="72" name="!!tool0-head">
            <a:extLst>
              <a:ext uri="{FF2B5EF4-FFF2-40B4-BE49-F238E27FC236}">
                <a16:creationId xmlns:a16="http://schemas.microsoft.com/office/drawing/2014/main" id="{1F54D817-5B45-86E5-C0AC-4AA3769C8BDA}"/>
              </a:ext>
            </a:extLst>
          </p:cNvPr>
          <p:cNvSpPr txBox="1"/>
          <p:nvPr/>
        </p:nvSpPr>
        <p:spPr>
          <a:xfrm>
            <a:off x="-9791482" y="4478221"/>
            <a:ext cx="1013234" cy="307777"/>
          </a:xfrm>
          <a:prstGeom prst="rect">
            <a:avLst/>
          </a:prstGeom>
          <a:noFill/>
        </p:spPr>
        <p:txBody>
          <a:bodyPr wrap="square" lIns="0" tIns="0" rIns="0" bIns="0" anchor="t">
            <a:spAutoFit/>
          </a:bodyPr>
          <a:lstStyle/>
          <a:p>
            <a:pPr algn="ctr"/>
            <a:r>
              <a:rPr lang="en-GB" sz="2000" dirty="0">
                <a:latin typeface="Google Sans Flex SemiBold"/>
              </a:rPr>
              <a:t>Store 2</a:t>
            </a:r>
            <a:endParaRPr sz="2000" dirty="0">
              <a:latin typeface="Google Sans Flex SemiBold"/>
            </a:endParaRPr>
          </a:p>
        </p:txBody>
      </p:sp>
      <p:sp>
        <p:nvSpPr>
          <p:cNvPr id="73" name="!!edge0">
            <a:extLst>
              <a:ext uri="{FF2B5EF4-FFF2-40B4-BE49-F238E27FC236}">
                <a16:creationId xmlns:a16="http://schemas.microsoft.com/office/drawing/2014/main" id="{195929E2-8A1F-5AC1-9831-F28AE408F928}"/>
              </a:ext>
            </a:extLst>
          </p:cNvPr>
          <p:cNvSpPr/>
          <p:nvPr/>
        </p:nvSpPr>
        <p:spPr>
          <a:xfrm>
            <a:off x="-11487585" y="3728877"/>
            <a:ext cx="1359129" cy="1842849"/>
          </a:xfrm>
          <a:prstGeom prst="roundRect">
            <a:avLst>
              <a:gd name="adj" fmla="val 1739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sp>
        <p:nvSpPr>
          <p:cNvPr id="74" name="!!tool0-head">
            <a:extLst>
              <a:ext uri="{FF2B5EF4-FFF2-40B4-BE49-F238E27FC236}">
                <a16:creationId xmlns:a16="http://schemas.microsoft.com/office/drawing/2014/main" id="{8BFE8CF1-FF08-558D-E722-A8BE185C3827}"/>
              </a:ext>
            </a:extLst>
          </p:cNvPr>
          <p:cNvSpPr txBox="1"/>
          <p:nvPr/>
        </p:nvSpPr>
        <p:spPr>
          <a:xfrm>
            <a:off x="-11334406" y="4478221"/>
            <a:ext cx="1013234" cy="307777"/>
          </a:xfrm>
          <a:prstGeom prst="rect">
            <a:avLst/>
          </a:prstGeom>
          <a:noFill/>
        </p:spPr>
        <p:txBody>
          <a:bodyPr wrap="square" lIns="0" tIns="0" rIns="0" bIns="0" anchor="t">
            <a:spAutoFit/>
          </a:bodyPr>
          <a:lstStyle/>
          <a:p>
            <a:pPr algn="ctr"/>
            <a:r>
              <a:rPr lang="en-GB" sz="2000" dirty="0">
                <a:latin typeface="Google Sans Flex SemiBold"/>
              </a:rPr>
              <a:t>Store 1</a:t>
            </a:r>
            <a:endParaRPr sz="2000" dirty="0">
              <a:latin typeface="Google Sans Flex SemiBold"/>
            </a:endParaRPr>
          </a:p>
        </p:txBody>
      </p:sp>
    </p:spTree>
    <p:extLst>
      <p:ext uri="{BB962C8B-B14F-4D97-AF65-F5344CB8AC3E}">
        <p14:creationId xmlns:p14="http://schemas.microsoft.com/office/powerpoint/2010/main" val="3607055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4154" fill="hold"/>
                                        <p:tgtEl>
                                          <p:spTgt spid="31"/>
                                        </p:tgtEl>
                                      </p:cBhvr>
                                    </p:cmd>
                                  </p:childTnLst>
                                </p:cTn>
                              </p:par>
                              <p:par>
                                <p:cTn id="7" presetID="10" presetClass="exit" presetSubtype="0" fill="hold" nodeType="withEffect">
                                  <p:stCondLst>
                                    <p:cond delay="13000"/>
                                  </p:stCondLst>
                                  <p:childTnLst>
                                    <p:animEffect transition="out" filter="fade">
                                      <p:cBhvr>
                                        <p:cTn id="8" dur="750"/>
                                        <p:tgtEl>
                                          <p:spTgt spid="42"/>
                                        </p:tgtEl>
                                      </p:cBhvr>
                                    </p:animEffect>
                                    <p:set>
                                      <p:cBhvr>
                                        <p:cTn id="9" dur="1" fill="hold">
                                          <p:stCondLst>
                                            <p:cond delay="749"/>
                                          </p:stCondLst>
                                        </p:cTn>
                                        <p:tgtEl>
                                          <p:spTgt spid="42"/>
                                        </p:tgtEl>
                                        <p:attrNameLst>
                                          <p:attrName>style.visibility</p:attrName>
                                        </p:attrNameLst>
                                      </p:cBhvr>
                                      <p:to>
                                        <p:strVal val="hidden"/>
                                      </p:to>
                                    </p:set>
                                  </p:childTnLst>
                                </p:cTn>
                              </p:par>
                              <p:par>
                                <p:cTn id="10" presetID="10" presetClass="entr" presetSubtype="0" fill="hold" nodeType="withEffect">
                                  <p:stCondLst>
                                    <p:cond delay="1300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750"/>
                                        <p:tgtEl>
                                          <p:spTgt spid="39"/>
                                        </p:tgtEl>
                                      </p:cBhvr>
                                    </p:animEffect>
                                  </p:childTnLst>
                                </p:cTn>
                              </p:par>
                              <p:par>
                                <p:cTn id="13" presetID="10" presetClass="exit" presetSubtype="0" fill="hold" nodeType="withEffect">
                                  <p:stCondLst>
                                    <p:cond delay="22000"/>
                                  </p:stCondLst>
                                  <p:childTnLst>
                                    <p:animEffect transition="out" filter="fade">
                                      <p:cBhvr>
                                        <p:cTn id="14" dur="750"/>
                                        <p:tgtEl>
                                          <p:spTgt spid="39"/>
                                        </p:tgtEl>
                                      </p:cBhvr>
                                    </p:animEffect>
                                    <p:set>
                                      <p:cBhvr>
                                        <p:cTn id="15" dur="1" fill="hold">
                                          <p:stCondLst>
                                            <p:cond delay="749"/>
                                          </p:stCondLst>
                                        </p:cTn>
                                        <p:tgtEl>
                                          <p:spTgt spid="39"/>
                                        </p:tgtEl>
                                        <p:attrNameLst>
                                          <p:attrName>style.visibility</p:attrName>
                                        </p:attrNameLst>
                                      </p:cBhvr>
                                      <p:to>
                                        <p:strVal val="hidden"/>
                                      </p:to>
                                    </p:set>
                                  </p:childTnLst>
                                </p:cTn>
                              </p:par>
                              <p:par>
                                <p:cTn id="16" presetID="10" presetClass="entr" presetSubtype="0" fill="hold" nodeType="withEffect">
                                  <p:stCondLst>
                                    <p:cond delay="2200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7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31"/>
                </p:tgtEl>
              </p:cMediaNode>
            </p:video>
            <p:seq concurrent="1" nextAc="seek">
              <p:cTn id="20" restart="whenNotActive" fill="hold" evtFilter="cancelBubble" nodeType="interactiveSeq">
                <p:stCondLst>
                  <p:cond evt="onClick" delay="0">
                    <p:tgtEl>
                      <p:spTgt spid="31"/>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31"/>
                                        </p:tgtEl>
                                      </p:cBhvr>
                                    </p:cmd>
                                  </p:childTnLst>
                                </p:cTn>
                              </p:par>
                            </p:childTnLst>
                          </p:cTn>
                        </p:par>
                      </p:childTnLst>
                    </p:cTn>
                  </p:par>
                </p:childTnLst>
              </p:cTn>
              <p:nextCondLst>
                <p:cond evt="onClick" delay="0">
                  <p:tgtEl>
                    <p:spTgt spid="31"/>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F31CD-A74F-0E74-9783-D718D8A45F9D}"/>
            </a:ext>
          </a:extLst>
        </p:cNvPr>
        <p:cNvGrpSpPr/>
        <p:nvPr/>
      </p:nvGrpSpPr>
      <p:grpSpPr>
        <a:xfrm>
          <a:off x="0" y="0"/>
          <a:ext cx="0" cy="0"/>
          <a:chOff x="0" y="0"/>
          <a:chExt cx="0" cy="0"/>
        </a:xfrm>
      </p:grpSpPr>
      <p:cxnSp>
        <p:nvCxnSpPr>
          <p:cNvPr id="89" name="!!route-line">
            <a:extLst>
              <a:ext uri="{FF2B5EF4-FFF2-40B4-BE49-F238E27FC236}">
                <a16:creationId xmlns:a16="http://schemas.microsoft.com/office/drawing/2014/main" id="{6803315D-4ADD-0308-0FC3-E71DFF8BE084}"/>
              </a:ext>
            </a:extLst>
          </p:cNvPr>
          <p:cNvCxnSpPr>
            <a:cxnSpLocks/>
          </p:cNvCxnSpPr>
          <p:nvPr/>
        </p:nvCxnSpPr>
        <p:spPr>
          <a:xfrm flipV="1">
            <a:off x="1970531" y="2531061"/>
            <a:ext cx="7840980" cy="11018"/>
          </a:xfrm>
          <a:prstGeom prst="line">
            <a:avLst/>
          </a:prstGeom>
          <a:ln w="38100">
            <a:solidFill>
              <a:srgbClr val="C9D1CC"/>
            </a:solidFill>
          </a:ln>
        </p:spPr>
        <p:style>
          <a:lnRef idx="2">
            <a:schemeClr val="accent1"/>
          </a:lnRef>
          <a:fillRef idx="0">
            <a:schemeClr val="accent1"/>
          </a:fillRef>
          <a:effectRef idx="1">
            <a:schemeClr val="accent1"/>
          </a:effectRef>
          <a:fontRef idx="minor">
            <a:schemeClr val="tx1"/>
          </a:fontRef>
        </p:style>
      </p:cxnSp>
      <p:grpSp>
        <p:nvGrpSpPr>
          <p:cNvPr id="47" name="Group 46">
            <a:extLst>
              <a:ext uri="{FF2B5EF4-FFF2-40B4-BE49-F238E27FC236}">
                <a16:creationId xmlns:a16="http://schemas.microsoft.com/office/drawing/2014/main" id="{5536B98F-9789-E6AD-462B-D1004686FDEB}"/>
              </a:ext>
            </a:extLst>
          </p:cNvPr>
          <p:cNvGrpSpPr/>
          <p:nvPr/>
        </p:nvGrpSpPr>
        <p:grpSpPr>
          <a:xfrm>
            <a:off x="923544" y="640080"/>
            <a:ext cx="7516368" cy="506975"/>
            <a:chOff x="923544" y="640080"/>
            <a:chExt cx="7516368" cy="506975"/>
          </a:xfrm>
        </p:grpSpPr>
        <p:sp>
          <p:nvSpPr>
            <p:cNvPr id="32" name="!!edge0">
              <a:extLst>
                <a:ext uri="{FF2B5EF4-FFF2-40B4-BE49-F238E27FC236}">
                  <a16:creationId xmlns:a16="http://schemas.microsoft.com/office/drawing/2014/main" id="{0D6AA47B-D7E9-E9DA-663A-896AB4160715}"/>
                </a:ext>
              </a:extLst>
            </p:cNvPr>
            <p:cNvSpPr/>
            <p:nvPr/>
          </p:nvSpPr>
          <p:spPr>
            <a:xfrm>
              <a:off x="923544" y="640080"/>
              <a:ext cx="2569051"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 name="!!section">
              <a:extLst>
                <a:ext uri="{FF2B5EF4-FFF2-40B4-BE49-F238E27FC236}">
                  <a16:creationId xmlns:a16="http://schemas.microsoft.com/office/drawing/2014/main" id="{B249A24C-8BE5-5CD0-F1EE-56CD355A7FDE}"/>
                </a:ext>
              </a:extLst>
            </p:cNvPr>
            <p:cNvSpPr txBox="1"/>
            <p:nvPr/>
          </p:nvSpPr>
          <p:spPr>
            <a:xfrm>
              <a:off x="1124712" y="777723"/>
              <a:ext cx="7315200" cy="369332"/>
            </a:xfrm>
            <a:prstGeom prst="rect">
              <a:avLst/>
            </a:prstGeom>
            <a:noFill/>
          </p:spPr>
          <p:txBody>
            <a:bodyPr wrap="square" lIns="0" tIns="0" rIns="0" bIns="0" anchor="t">
              <a:spAutoFit/>
            </a:bodyPr>
            <a:lstStyle/>
            <a:p>
              <a:r>
                <a:rPr lang="en-US" sz="1200" dirty="0">
                  <a:solidFill>
                    <a:srgbClr val="006A62"/>
                  </a:solidFill>
                  <a:latin typeface="Google Sans Flex SemiBold"/>
                </a:rPr>
                <a:t>Problem 3 · Poor Coordination</a:t>
              </a:r>
            </a:p>
            <a:p>
              <a:endParaRPr lang="en-US" sz="1200" dirty="0">
                <a:solidFill>
                  <a:srgbClr val="006A62"/>
                </a:solidFill>
                <a:latin typeface="Google Sans Flex SemiBold"/>
              </a:endParaRPr>
            </a:p>
          </p:txBody>
        </p:sp>
      </p:grpSp>
      <p:sp>
        <p:nvSpPr>
          <p:cNvPr id="6" name="!!title">
            <a:extLst>
              <a:ext uri="{FF2B5EF4-FFF2-40B4-BE49-F238E27FC236}">
                <a16:creationId xmlns:a16="http://schemas.microsoft.com/office/drawing/2014/main" id="{09F5AFB6-F776-2381-4FC9-46AE3741C788}"/>
              </a:ext>
            </a:extLst>
          </p:cNvPr>
          <p:cNvSpPr txBox="1"/>
          <p:nvPr/>
        </p:nvSpPr>
        <p:spPr>
          <a:xfrm>
            <a:off x="923544" y="1386046"/>
            <a:ext cx="10625328" cy="553998"/>
          </a:xfrm>
          <a:prstGeom prst="rect">
            <a:avLst/>
          </a:prstGeom>
          <a:noFill/>
        </p:spPr>
        <p:txBody>
          <a:bodyPr wrap="square" lIns="0" tIns="0" rIns="0" bIns="0" anchor="t">
            <a:spAutoFit/>
          </a:bodyPr>
          <a:lstStyle/>
          <a:p>
            <a:r>
              <a:rPr lang="en-US" sz="3600" dirty="0">
                <a:solidFill>
                  <a:srgbClr val="00B050"/>
                </a:solidFill>
                <a:latin typeface="Google Sans Flex SemiBold"/>
              </a:rPr>
              <a:t>Now, a trip</a:t>
            </a:r>
            <a:r>
              <a:rPr lang="en-US" sz="3600" dirty="0">
                <a:latin typeface="Google Sans Flex Light"/>
              </a:rPr>
              <a:t> on the road</a:t>
            </a:r>
          </a:p>
        </p:txBody>
      </p:sp>
      <p:pic>
        <p:nvPicPr>
          <p:cNvPr id="3" name="Picture 2">
            <a:extLst>
              <a:ext uri="{FF2B5EF4-FFF2-40B4-BE49-F238E27FC236}">
                <a16:creationId xmlns:a16="http://schemas.microsoft.com/office/drawing/2014/main" id="{B2E94C09-2516-4BB4-861D-946A520EF8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747985" y="3340591"/>
            <a:ext cx="10743272" cy="3493008"/>
          </a:xfrm>
          <a:prstGeom prst="rect">
            <a:avLst/>
          </a:prstGeom>
        </p:spPr>
      </p:pic>
      <p:grpSp>
        <p:nvGrpSpPr>
          <p:cNvPr id="49" name="Group 48">
            <a:extLst>
              <a:ext uri="{FF2B5EF4-FFF2-40B4-BE49-F238E27FC236}">
                <a16:creationId xmlns:a16="http://schemas.microsoft.com/office/drawing/2014/main" id="{B0F2787C-46B9-11C8-303B-928386629A1C}"/>
              </a:ext>
            </a:extLst>
          </p:cNvPr>
          <p:cNvGrpSpPr/>
          <p:nvPr/>
        </p:nvGrpSpPr>
        <p:grpSpPr>
          <a:xfrm>
            <a:off x="923544" y="2247098"/>
            <a:ext cx="1636776" cy="553998"/>
            <a:chOff x="923544" y="2247098"/>
            <a:chExt cx="1636776" cy="553998"/>
          </a:xfrm>
        </p:grpSpPr>
        <p:sp>
          <p:nvSpPr>
            <p:cNvPr id="9" name="!!edge0">
              <a:extLst>
                <a:ext uri="{FF2B5EF4-FFF2-40B4-BE49-F238E27FC236}">
                  <a16:creationId xmlns:a16="http://schemas.microsoft.com/office/drawing/2014/main" id="{0F884C83-6503-D6B2-76F3-0AF01768F5DD}"/>
                </a:ext>
              </a:extLst>
            </p:cNvPr>
            <p:cNvSpPr/>
            <p:nvPr/>
          </p:nvSpPr>
          <p:spPr>
            <a:xfrm>
              <a:off x="923544" y="2247098"/>
              <a:ext cx="1636776" cy="553998"/>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8" name="!!tool0-head">
              <a:extLst>
                <a:ext uri="{FF2B5EF4-FFF2-40B4-BE49-F238E27FC236}">
                  <a16:creationId xmlns:a16="http://schemas.microsoft.com/office/drawing/2014/main" id="{3531FFAA-0E37-7F11-3F2C-4B1899C2F0ED}"/>
                </a:ext>
              </a:extLst>
            </p:cNvPr>
            <p:cNvSpPr txBox="1"/>
            <p:nvPr/>
          </p:nvSpPr>
          <p:spPr>
            <a:xfrm>
              <a:off x="1177409" y="2370208"/>
              <a:ext cx="1129045" cy="307777"/>
            </a:xfrm>
            <a:prstGeom prst="rect">
              <a:avLst/>
            </a:prstGeom>
            <a:noFill/>
          </p:spPr>
          <p:txBody>
            <a:bodyPr wrap="square" lIns="0" tIns="0" rIns="0" bIns="0" anchor="t">
              <a:spAutoFit/>
            </a:bodyPr>
            <a:lstStyle/>
            <a:p>
              <a:pPr algn="ctr"/>
              <a:r>
                <a:rPr lang="en-GB" sz="2000" dirty="0">
                  <a:latin typeface="Google Sans Flex SemiBold"/>
                </a:rPr>
                <a:t>Store 1</a:t>
              </a:r>
              <a:endParaRPr sz="2000" dirty="0">
                <a:latin typeface="Google Sans Flex SemiBold"/>
              </a:endParaRPr>
            </a:p>
          </p:txBody>
        </p:sp>
      </p:grpSp>
      <p:grpSp>
        <p:nvGrpSpPr>
          <p:cNvPr id="50" name="Group 49">
            <a:extLst>
              <a:ext uri="{FF2B5EF4-FFF2-40B4-BE49-F238E27FC236}">
                <a16:creationId xmlns:a16="http://schemas.microsoft.com/office/drawing/2014/main" id="{952D4A72-4F54-4AAB-990F-10944AAD4798}"/>
              </a:ext>
            </a:extLst>
          </p:cNvPr>
          <p:cNvGrpSpPr/>
          <p:nvPr/>
        </p:nvGrpSpPr>
        <p:grpSpPr>
          <a:xfrm>
            <a:off x="2998089" y="2247098"/>
            <a:ext cx="1636776" cy="553998"/>
            <a:chOff x="2998089" y="2247098"/>
            <a:chExt cx="1636776" cy="553998"/>
          </a:xfrm>
        </p:grpSpPr>
        <p:sp>
          <p:nvSpPr>
            <p:cNvPr id="10" name="!!edge0">
              <a:extLst>
                <a:ext uri="{FF2B5EF4-FFF2-40B4-BE49-F238E27FC236}">
                  <a16:creationId xmlns:a16="http://schemas.microsoft.com/office/drawing/2014/main" id="{4E8BD699-4720-3BDB-82DB-F436F1748FF8}"/>
                </a:ext>
              </a:extLst>
            </p:cNvPr>
            <p:cNvSpPr/>
            <p:nvPr/>
          </p:nvSpPr>
          <p:spPr>
            <a:xfrm>
              <a:off x="2998089" y="2247098"/>
              <a:ext cx="1636776" cy="553998"/>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0" name="!!tool0-head">
              <a:extLst>
                <a:ext uri="{FF2B5EF4-FFF2-40B4-BE49-F238E27FC236}">
                  <a16:creationId xmlns:a16="http://schemas.microsoft.com/office/drawing/2014/main" id="{01410660-14A1-9686-B5F8-22C5D02A0E62}"/>
                </a:ext>
              </a:extLst>
            </p:cNvPr>
            <p:cNvSpPr txBox="1"/>
            <p:nvPr/>
          </p:nvSpPr>
          <p:spPr>
            <a:xfrm>
              <a:off x="3251954" y="2370208"/>
              <a:ext cx="1129045" cy="307777"/>
            </a:xfrm>
            <a:prstGeom prst="rect">
              <a:avLst/>
            </a:prstGeom>
            <a:noFill/>
          </p:spPr>
          <p:txBody>
            <a:bodyPr wrap="square" lIns="0" tIns="0" rIns="0" bIns="0" anchor="t">
              <a:spAutoFit/>
            </a:bodyPr>
            <a:lstStyle/>
            <a:p>
              <a:pPr algn="ctr"/>
              <a:r>
                <a:rPr lang="en-GB" sz="2000" dirty="0">
                  <a:latin typeface="Google Sans Flex SemiBold"/>
                </a:rPr>
                <a:t>Store 2</a:t>
              </a:r>
              <a:endParaRPr sz="2000" dirty="0">
                <a:latin typeface="Google Sans Flex SemiBold"/>
              </a:endParaRPr>
            </a:p>
          </p:txBody>
        </p:sp>
      </p:grpSp>
      <p:grpSp>
        <p:nvGrpSpPr>
          <p:cNvPr id="51" name="Group 50">
            <a:extLst>
              <a:ext uri="{FF2B5EF4-FFF2-40B4-BE49-F238E27FC236}">
                <a16:creationId xmlns:a16="http://schemas.microsoft.com/office/drawing/2014/main" id="{004A6C8C-6F18-10AF-3197-DB021101AB2D}"/>
              </a:ext>
            </a:extLst>
          </p:cNvPr>
          <p:cNvGrpSpPr/>
          <p:nvPr/>
        </p:nvGrpSpPr>
        <p:grpSpPr>
          <a:xfrm>
            <a:off x="5072634" y="2247098"/>
            <a:ext cx="1636776" cy="553998"/>
            <a:chOff x="5072634" y="2247098"/>
            <a:chExt cx="1636776" cy="553998"/>
          </a:xfrm>
        </p:grpSpPr>
        <p:sp>
          <p:nvSpPr>
            <p:cNvPr id="11" name="!!edge0">
              <a:extLst>
                <a:ext uri="{FF2B5EF4-FFF2-40B4-BE49-F238E27FC236}">
                  <a16:creationId xmlns:a16="http://schemas.microsoft.com/office/drawing/2014/main" id="{8BA6E8FE-43E0-672B-1A0E-BCDA58A9DF6B}"/>
                </a:ext>
              </a:extLst>
            </p:cNvPr>
            <p:cNvSpPr/>
            <p:nvPr/>
          </p:nvSpPr>
          <p:spPr>
            <a:xfrm>
              <a:off x="5072634" y="2247098"/>
              <a:ext cx="1636776" cy="553998"/>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4" name="!!tool0-head">
              <a:extLst>
                <a:ext uri="{FF2B5EF4-FFF2-40B4-BE49-F238E27FC236}">
                  <a16:creationId xmlns:a16="http://schemas.microsoft.com/office/drawing/2014/main" id="{C3EF8191-92BC-2B4A-B321-E89256568F68}"/>
                </a:ext>
              </a:extLst>
            </p:cNvPr>
            <p:cNvSpPr txBox="1"/>
            <p:nvPr/>
          </p:nvSpPr>
          <p:spPr>
            <a:xfrm>
              <a:off x="5326499" y="2370208"/>
              <a:ext cx="1129045" cy="307777"/>
            </a:xfrm>
            <a:prstGeom prst="rect">
              <a:avLst/>
            </a:prstGeom>
            <a:noFill/>
          </p:spPr>
          <p:txBody>
            <a:bodyPr wrap="square" lIns="0" tIns="0" rIns="0" bIns="0" anchor="t">
              <a:spAutoFit/>
            </a:bodyPr>
            <a:lstStyle/>
            <a:p>
              <a:pPr algn="ctr"/>
              <a:r>
                <a:rPr lang="en-GB" sz="2000" dirty="0">
                  <a:latin typeface="Google Sans Flex SemiBold"/>
                </a:rPr>
                <a:t>Store 3</a:t>
              </a:r>
              <a:endParaRPr sz="2000" dirty="0">
                <a:latin typeface="Google Sans Flex SemiBold"/>
              </a:endParaRPr>
            </a:p>
          </p:txBody>
        </p:sp>
      </p:grpSp>
      <p:grpSp>
        <p:nvGrpSpPr>
          <p:cNvPr id="52" name="Group 51">
            <a:extLst>
              <a:ext uri="{FF2B5EF4-FFF2-40B4-BE49-F238E27FC236}">
                <a16:creationId xmlns:a16="http://schemas.microsoft.com/office/drawing/2014/main" id="{AAC9AF10-2724-9E2F-FDBD-AFE57970D969}"/>
              </a:ext>
            </a:extLst>
          </p:cNvPr>
          <p:cNvGrpSpPr/>
          <p:nvPr/>
        </p:nvGrpSpPr>
        <p:grpSpPr>
          <a:xfrm>
            <a:off x="7147179" y="2247098"/>
            <a:ext cx="1636776" cy="553998"/>
            <a:chOff x="7147179" y="2247098"/>
            <a:chExt cx="1636776" cy="553998"/>
          </a:xfrm>
        </p:grpSpPr>
        <p:sp>
          <p:nvSpPr>
            <p:cNvPr id="13" name="!!edge0">
              <a:extLst>
                <a:ext uri="{FF2B5EF4-FFF2-40B4-BE49-F238E27FC236}">
                  <a16:creationId xmlns:a16="http://schemas.microsoft.com/office/drawing/2014/main" id="{6B340610-12C7-9F6C-59A3-253E568B1415}"/>
                </a:ext>
              </a:extLst>
            </p:cNvPr>
            <p:cNvSpPr/>
            <p:nvPr/>
          </p:nvSpPr>
          <p:spPr>
            <a:xfrm>
              <a:off x="7147179" y="2247098"/>
              <a:ext cx="1636776" cy="553998"/>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6" name="!!tool0-head">
              <a:extLst>
                <a:ext uri="{FF2B5EF4-FFF2-40B4-BE49-F238E27FC236}">
                  <a16:creationId xmlns:a16="http://schemas.microsoft.com/office/drawing/2014/main" id="{DE13DC99-2D2F-DBEE-2766-DAB52F9086D5}"/>
                </a:ext>
              </a:extLst>
            </p:cNvPr>
            <p:cNvSpPr txBox="1"/>
            <p:nvPr/>
          </p:nvSpPr>
          <p:spPr>
            <a:xfrm>
              <a:off x="7401044" y="2370208"/>
              <a:ext cx="1129045" cy="307777"/>
            </a:xfrm>
            <a:prstGeom prst="rect">
              <a:avLst/>
            </a:prstGeom>
            <a:noFill/>
          </p:spPr>
          <p:txBody>
            <a:bodyPr wrap="square" lIns="0" tIns="0" rIns="0" bIns="0" anchor="t">
              <a:spAutoFit/>
            </a:bodyPr>
            <a:lstStyle/>
            <a:p>
              <a:pPr algn="ctr"/>
              <a:r>
                <a:rPr lang="en-GB" sz="2000" dirty="0">
                  <a:latin typeface="Google Sans Flex SemiBold"/>
                </a:rPr>
                <a:t>Store 4</a:t>
              </a:r>
              <a:endParaRPr sz="2000" dirty="0">
                <a:latin typeface="Google Sans Flex SemiBold"/>
              </a:endParaRPr>
            </a:p>
          </p:txBody>
        </p:sp>
      </p:grpSp>
      <p:grpSp>
        <p:nvGrpSpPr>
          <p:cNvPr id="53" name="Group 52">
            <a:extLst>
              <a:ext uri="{FF2B5EF4-FFF2-40B4-BE49-F238E27FC236}">
                <a16:creationId xmlns:a16="http://schemas.microsoft.com/office/drawing/2014/main" id="{85A0F5B3-F4E4-394F-9E8C-0134D210A427}"/>
              </a:ext>
            </a:extLst>
          </p:cNvPr>
          <p:cNvGrpSpPr/>
          <p:nvPr/>
        </p:nvGrpSpPr>
        <p:grpSpPr>
          <a:xfrm>
            <a:off x="9221724" y="2247098"/>
            <a:ext cx="1636776" cy="553998"/>
            <a:chOff x="9221724" y="2247098"/>
            <a:chExt cx="1636776" cy="553998"/>
          </a:xfrm>
        </p:grpSpPr>
        <p:sp>
          <p:nvSpPr>
            <p:cNvPr id="15" name="!!edge0">
              <a:extLst>
                <a:ext uri="{FF2B5EF4-FFF2-40B4-BE49-F238E27FC236}">
                  <a16:creationId xmlns:a16="http://schemas.microsoft.com/office/drawing/2014/main" id="{5790EB47-9693-CB69-0EAE-C6DF6EFEF0F7}"/>
                </a:ext>
              </a:extLst>
            </p:cNvPr>
            <p:cNvSpPr/>
            <p:nvPr/>
          </p:nvSpPr>
          <p:spPr>
            <a:xfrm>
              <a:off x="9221724" y="2247098"/>
              <a:ext cx="1636776" cy="553998"/>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9" name="!!tool0-head">
              <a:extLst>
                <a:ext uri="{FF2B5EF4-FFF2-40B4-BE49-F238E27FC236}">
                  <a16:creationId xmlns:a16="http://schemas.microsoft.com/office/drawing/2014/main" id="{B05335A5-DA89-0BBC-FAF6-95FB9AE3207E}"/>
                </a:ext>
              </a:extLst>
            </p:cNvPr>
            <p:cNvSpPr txBox="1"/>
            <p:nvPr/>
          </p:nvSpPr>
          <p:spPr>
            <a:xfrm>
              <a:off x="9475589" y="2370208"/>
              <a:ext cx="1129045" cy="307777"/>
            </a:xfrm>
            <a:prstGeom prst="rect">
              <a:avLst/>
            </a:prstGeom>
            <a:noFill/>
          </p:spPr>
          <p:txBody>
            <a:bodyPr wrap="square" lIns="0" tIns="0" rIns="0" bIns="0" anchor="t">
              <a:spAutoFit/>
            </a:bodyPr>
            <a:lstStyle/>
            <a:p>
              <a:pPr algn="ctr"/>
              <a:r>
                <a:rPr lang="en-GB" sz="2000" dirty="0">
                  <a:latin typeface="Google Sans Flex SemiBold"/>
                </a:rPr>
                <a:t>Store 5</a:t>
              </a:r>
              <a:endParaRPr sz="2000" dirty="0">
                <a:latin typeface="Google Sans Flex SemiBold"/>
              </a:endParaRPr>
            </a:p>
          </p:txBody>
        </p:sp>
      </p:grpSp>
      <p:grpSp>
        <p:nvGrpSpPr>
          <p:cNvPr id="54" name="Group 53">
            <a:extLst>
              <a:ext uri="{FF2B5EF4-FFF2-40B4-BE49-F238E27FC236}">
                <a16:creationId xmlns:a16="http://schemas.microsoft.com/office/drawing/2014/main" id="{9DDF2452-65E7-2AD5-30FB-0B0F9899FF8F}"/>
              </a:ext>
            </a:extLst>
          </p:cNvPr>
          <p:cNvGrpSpPr/>
          <p:nvPr/>
        </p:nvGrpSpPr>
        <p:grpSpPr>
          <a:xfrm>
            <a:off x="1513331" y="2695606"/>
            <a:ext cx="457200" cy="457200"/>
            <a:chOff x="1513331" y="2695606"/>
            <a:chExt cx="457200" cy="457200"/>
          </a:xfrm>
        </p:grpSpPr>
        <p:sp>
          <p:nvSpPr>
            <p:cNvPr id="31" name="!!edge0">
              <a:extLst>
                <a:ext uri="{FF2B5EF4-FFF2-40B4-BE49-F238E27FC236}">
                  <a16:creationId xmlns:a16="http://schemas.microsoft.com/office/drawing/2014/main" id="{8F98F90B-1606-67C6-584C-8C716F3F713E}"/>
                </a:ext>
              </a:extLst>
            </p:cNvPr>
            <p:cNvSpPr/>
            <p:nvPr/>
          </p:nvSpPr>
          <p:spPr>
            <a:xfrm>
              <a:off x="1513331" y="2695606"/>
              <a:ext cx="457200" cy="457200"/>
            </a:xfrm>
            <a:prstGeom prst="roundRect">
              <a:avLst>
                <a:gd name="adj" fmla="val 50000"/>
              </a:avLst>
            </a:prstGeom>
            <a:solidFill>
              <a:srgbClr val="00DE7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pic>
          <p:nvPicPr>
            <p:cNvPr id="44" name="Picture 43">
              <a:extLst>
                <a:ext uri="{FF2B5EF4-FFF2-40B4-BE49-F238E27FC236}">
                  <a16:creationId xmlns:a16="http://schemas.microsoft.com/office/drawing/2014/main" id="{AD72BC64-209F-05BD-A7F0-9AB30E0C2182}"/>
                </a:ext>
              </a:extLst>
            </p:cNvPr>
            <p:cNvPicPr>
              <a:picLocks noChangeAspect="1"/>
            </p:cNvPicPr>
            <p:nvPr/>
          </p:nvPicPr>
          <p:blipFill>
            <a:blip r:embed="rId6">
              <a:clrChange>
                <a:clrFrom>
                  <a:srgbClr val="133152"/>
                </a:clrFrom>
                <a:clrTo>
                  <a:srgbClr val="133152">
                    <a:alpha val="0"/>
                  </a:srgbClr>
                </a:clrTo>
              </a:clrChange>
            </a:blip>
            <a:stretch>
              <a:fillRect/>
            </a:stretch>
          </p:blipFill>
          <p:spPr>
            <a:xfrm>
              <a:off x="1602804" y="2801095"/>
              <a:ext cx="259966" cy="254189"/>
            </a:xfrm>
            <a:prstGeom prst="rect">
              <a:avLst/>
            </a:prstGeom>
          </p:spPr>
        </p:pic>
      </p:grpSp>
      <p:grpSp>
        <p:nvGrpSpPr>
          <p:cNvPr id="55" name="Group 54">
            <a:extLst>
              <a:ext uri="{FF2B5EF4-FFF2-40B4-BE49-F238E27FC236}">
                <a16:creationId xmlns:a16="http://schemas.microsoft.com/office/drawing/2014/main" id="{3704144E-D493-797A-BEF1-BD880D687992}"/>
              </a:ext>
            </a:extLst>
          </p:cNvPr>
          <p:cNvGrpSpPr/>
          <p:nvPr/>
        </p:nvGrpSpPr>
        <p:grpSpPr>
          <a:xfrm>
            <a:off x="3587876" y="2695606"/>
            <a:ext cx="457200" cy="457200"/>
            <a:chOff x="3587876" y="2695606"/>
            <a:chExt cx="457200" cy="457200"/>
          </a:xfrm>
        </p:grpSpPr>
        <p:sp>
          <p:nvSpPr>
            <p:cNvPr id="34" name="!!edge0">
              <a:extLst>
                <a:ext uri="{FF2B5EF4-FFF2-40B4-BE49-F238E27FC236}">
                  <a16:creationId xmlns:a16="http://schemas.microsoft.com/office/drawing/2014/main" id="{D1DBC955-994D-022A-70A1-2455AF7AFC71}"/>
                </a:ext>
              </a:extLst>
            </p:cNvPr>
            <p:cNvSpPr/>
            <p:nvPr/>
          </p:nvSpPr>
          <p:spPr>
            <a:xfrm>
              <a:off x="3587876" y="2695606"/>
              <a:ext cx="457200" cy="457200"/>
            </a:xfrm>
            <a:prstGeom prst="roundRect">
              <a:avLst>
                <a:gd name="adj" fmla="val 50000"/>
              </a:avLst>
            </a:prstGeom>
            <a:solidFill>
              <a:srgbClr val="00DE7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pic>
          <p:nvPicPr>
            <p:cNvPr id="46" name="Picture 45">
              <a:extLst>
                <a:ext uri="{FF2B5EF4-FFF2-40B4-BE49-F238E27FC236}">
                  <a16:creationId xmlns:a16="http://schemas.microsoft.com/office/drawing/2014/main" id="{96EE432B-DD15-2928-89D4-896F10B4CB01}"/>
                </a:ext>
              </a:extLst>
            </p:cNvPr>
            <p:cNvPicPr>
              <a:picLocks noChangeAspect="1"/>
            </p:cNvPicPr>
            <p:nvPr/>
          </p:nvPicPr>
          <p:blipFill>
            <a:blip r:embed="rId6">
              <a:clrChange>
                <a:clrFrom>
                  <a:srgbClr val="133152"/>
                </a:clrFrom>
                <a:clrTo>
                  <a:srgbClr val="133152">
                    <a:alpha val="0"/>
                  </a:srgbClr>
                </a:clrTo>
              </a:clrChange>
            </a:blip>
            <a:stretch>
              <a:fillRect/>
            </a:stretch>
          </p:blipFill>
          <p:spPr>
            <a:xfrm>
              <a:off x="3673600" y="2801095"/>
              <a:ext cx="259966" cy="254189"/>
            </a:xfrm>
            <a:prstGeom prst="rect">
              <a:avLst/>
            </a:prstGeom>
          </p:spPr>
        </p:pic>
      </p:grpSp>
      <p:grpSp>
        <p:nvGrpSpPr>
          <p:cNvPr id="57" name="Group 56">
            <a:extLst>
              <a:ext uri="{FF2B5EF4-FFF2-40B4-BE49-F238E27FC236}">
                <a16:creationId xmlns:a16="http://schemas.microsoft.com/office/drawing/2014/main" id="{F9743DA9-2877-9B84-65F0-7A64F638A5C7}"/>
              </a:ext>
            </a:extLst>
          </p:cNvPr>
          <p:cNvGrpSpPr/>
          <p:nvPr/>
        </p:nvGrpSpPr>
        <p:grpSpPr>
          <a:xfrm>
            <a:off x="7736966" y="2695606"/>
            <a:ext cx="457200" cy="457200"/>
            <a:chOff x="7736966" y="2695606"/>
            <a:chExt cx="457200" cy="457200"/>
          </a:xfrm>
        </p:grpSpPr>
        <p:sp>
          <p:nvSpPr>
            <p:cNvPr id="38" name="!!edge0">
              <a:extLst>
                <a:ext uri="{FF2B5EF4-FFF2-40B4-BE49-F238E27FC236}">
                  <a16:creationId xmlns:a16="http://schemas.microsoft.com/office/drawing/2014/main" id="{F5E2E847-3A33-7C1D-813C-C75CB06657E6}"/>
                </a:ext>
              </a:extLst>
            </p:cNvPr>
            <p:cNvSpPr/>
            <p:nvPr/>
          </p:nvSpPr>
          <p:spPr>
            <a:xfrm>
              <a:off x="7736966" y="2695606"/>
              <a:ext cx="457200"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pic>
          <p:nvPicPr>
            <p:cNvPr id="58" name="Picture 57">
              <a:extLst>
                <a:ext uri="{FF2B5EF4-FFF2-40B4-BE49-F238E27FC236}">
                  <a16:creationId xmlns:a16="http://schemas.microsoft.com/office/drawing/2014/main" id="{FEB58978-02F3-A5E3-297B-C12855E87BF3}"/>
                </a:ext>
              </a:extLst>
            </p:cNvPr>
            <p:cNvPicPr>
              <a:picLocks noChangeAspect="1"/>
            </p:cNvPicPr>
            <p:nvPr/>
          </p:nvPicPr>
          <p:blipFill>
            <a:blip r:embed="rId7"/>
            <a:stretch>
              <a:fillRect/>
            </a:stretch>
          </p:blipFill>
          <p:spPr>
            <a:xfrm>
              <a:off x="7866426" y="2818717"/>
              <a:ext cx="198279" cy="257065"/>
            </a:xfrm>
            <a:prstGeom prst="rect">
              <a:avLst/>
            </a:prstGeom>
          </p:spPr>
        </p:pic>
      </p:grpSp>
      <p:grpSp>
        <p:nvGrpSpPr>
          <p:cNvPr id="59" name="Group 58">
            <a:extLst>
              <a:ext uri="{FF2B5EF4-FFF2-40B4-BE49-F238E27FC236}">
                <a16:creationId xmlns:a16="http://schemas.microsoft.com/office/drawing/2014/main" id="{50553B35-D043-6107-D3F0-7ED8D68A19BF}"/>
              </a:ext>
            </a:extLst>
          </p:cNvPr>
          <p:cNvGrpSpPr/>
          <p:nvPr/>
        </p:nvGrpSpPr>
        <p:grpSpPr>
          <a:xfrm>
            <a:off x="9811511" y="2695606"/>
            <a:ext cx="457200" cy="457200"/>
            <a:chOff x="9811511" y="2695606"/>
            <a:chExt cx="457200" cy="457200"/>
          </a:xfrm>
        </p:grpSpPr>
        <p:sp>
          <p:nvSpPr>
            <p:cNvPr id="40" name="!!edge0">
              <a:extLst>
                <a:ext uri="{FF2B5EF4-FFF2-40B4-BE49-F238E27FC236}">
                  <a16:creationId xmlns:a16="http://schemas.microsoft.com/office/drawing/2014/main" id="{51CC5190-1B91-CD1F-55B2-A5CE50813087}"/>
                </a:ext>
              </a:extLst>
            </p:cNvPr>
            <p:cNvSpPr/>
            <p:nvPr/>
          </p:nvSpPr>
          <p:spPr>
            <a:xfrm>
              <a:off x="9811511" y="2695606"/>
              <a:ext cx="457200"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pic>
          <p:nvPicPr>
            <p:cNvPr id="64" name="Picture 63">
              <a:extLst>
                <a:ext uri="{FF2B5EF4-FFF2-40B4-BE49-F238E27FC236}">
                  <a16:creationId xmlns:a16="http://schemas.microsoft.com/office/drawing/2014/main" id="{ABB3F267-8B12-3C70-A4AA-AB0E06B23AFB}"/>
                </a:ext>
              </a:extLst>
            </p:cNvPr>
            <p:cNvPicPr>
              <a:picLocks noChangeAspect="1"/>
            </p:cNvPicPr>
            <p:nvPr/>
          </p:nvPicPr>
          <p:blipFill>
            <a:blip r:embed="rId7"/>
            <a:stretch>
              <a:fillRect/>
            </a:stretch>
          </p:blipFill>
          <p:spPr>
            <a:xfrm>
              <a:off x="9940971" y="2818717"/>
              <a:ext cx="198279" cy="257065"/>
            </a:xfrm>
            <a:prstGeom prst="rect">
              <a:avLst/>
            </a:prstGeom>
          </p:spPr>
        </p:pic>
      </p:grpSp>
      <p:grpSp>
        <p:nvGrpSpPr>
          <p:cNvPr id="56" name="Group 55">
            <a:extLst>
              <a:ext uri="{FF2B5EF4-FFF2-40B4-BE49-F238E27FC236}">
                <a16:creationId xmlns:a16="http://schemas.microsoft.com/office/drawing/2014/main" id="{E7B46CF1-EE0A-C6ED-1C84-28F08D35D77E}"/>
              </a:ext>
            </a:extLst>
          </p:cNvPr>
          <p:cNvGrpSpPr/>
          <p:nvPr/>
        </p:nvGrpSpPr>
        <p:grpSpPr>
          <a:xfrm>
            <a:off x="5662421" y="2695606"/>
            <a:ext cx="457200" cy="457200"/>
            <a:chOff x="5662421" y="2695606"/>
            <a:chExt cx="457200" cy="457200"/>
          </a:xfrm>
        </p:grpSpPr>
        <p:sp>
          <p:nvSpPr>
            <p:cNvPr id="36" name="!!edge0">
              <a:extLst>
                <a:ext uri="{FF2B5EF4-FFF2-40B4-BE49-F238E27FC236}">
                  <a16:creationId xmlns:a16="http://schemas.microsoft.com/office/drawing/2014/main" id="{A0D7402C-D9BC-6E8A-A0F9-9BF6AA02B91E}"/>
                </a:ext>
              </a:extLst>
            </p:cNvPr>
            <p:cNvSpPr/>
            <p:nvPr/>
          </p:nvSpPr>
          <p:spPr>
            <a:xfrm>
              <a:off x="5662421" y="2695606"/>
              <a:ext cx="457200" cy="457200"/>
            </a:xfrm>
            <a:prstGeom prst="roundRect">
              <a:avLst>
                <a:gd name="adj" fmla="val 50000"/>
              </a:avLst>
            </a:prstGeom>
            <a:solidFill>
              <a:srgbClr val="FF7979"/>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pic>
          <p:nvPicPr>
            <p:cNvPr id="68" name="Picture 67">
              <a:extLst>
                <a:ext uri="{FF2B5EF4-FFF2-40B4-BE49-F238E27FC236}">
                  <a16:creationId xmlns:a16="http://schemas.microsoft.com/office/drawing/2014/main" id="{6BBF03D2-E022-EE92-1302-C18B92180BF1}"/>
                </a:ext>
              </a:extLst>
            </p:cNvPr>
            <p:cNvPicPr>
              <a:picLocks noChangeAspect="1"/>
            </p:cNvPicPr>
            <p:nvPr/>
          </p:nvPicPr>
          <p:blipFill>
            <a:blip r:embed="rId8">
              <a:clrChange>
                <a:clrFrom>
                  <a:srgbClr val="133152"/>
                </a:clrFrom>
                <a:clrTo>
                  <a:srgbClr val="133152">
                    <a:alpha val="0"/>
                  </a:srgbClr>
                </a:clrTo>
              </a:clrChange>
            </a:blip>
            <a:stretch>
              <a:fillRect/>
            </a:stretch>
          </p:blipFill>
          <p:spPr>
            <a:xfrm>
              <a:off x="5713855" y="2747040"/>
              <a:ext cx="354331" cy="354331"/>
            </a:xfrm>
            <a:prstGeom prst="rect">
              <a:avLst/>
            </a:prstGeom>
          </p:spPr>
        </p:pic>
      </p:grpSp>
      <p:sp>
        <p:nvSpPr>
          <p:cNvPr id="82" name="!!edge0">
            <a:extLst>
              <a:ext uri="{FF2B5EF4-FFF2-40B4-BE49-F238E27FC236}">
                <a16:creationId xmlns:a16="http://schemas.microsoft.com/office/drawing/2014/main" id="{1ED10E5E-1568-E754-D8BF-DC10208091C9}"/>
              </a:ext>
            </a:extLst>
          </p:cNvPr>
          <p:cNvSpPr/>
          <p:nvPr/>
        </p:nvSpPr>
        <p:spPr>
          <a:xfrm>
            <a:off x="4363992" y="3728877"/>
            <a:ext cx="1359129" cy="1842849"/>
          </a:xfrm>
          <a:prstGeom prst="roundRect">
            <a:avLst>
              <a:gd name="adj" fmla="val 17396"/>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sp>
        <p:nvSpPr>
          <p:cNvPr id="84" name="!!tool0-head">
            <a:extLst>
              <a:ext uri="{FF2B5EF4-FFF2-40B4-BE49-F238E27FC236}">
                <a16:creationId xmlns:a16="http://schemas.microsoft.com/office/drawing/2014/main" id="{F00FF1D0-268A-BC6A-ECD7-6261FE17A2B6}"/>
              </a:ext>
            </a:extLst>
          </p:cNvPr>
          <p:cNvSpPr txBox="1"/>
          <p:nvPr/>
        </p:nvSpPr>
        <p:spPr>
          <a:xfrm>
            <a:off x="4513463" y="4478221"/>
            <a:ext cx="1013234" cy="307777"/>
          </a:xfrm>
          <a:prstGeom prst="rect">
            <a:avLst/>
          </a:prstGeom>
          <a:noFill/>
        </p:spPr>
        <p:txBody>
          <a:bodyPr wrap="square" lIns="0" tIns="0" rIns="0" bIns="0" anchor="t">
            <a:spAutoFit/>
          </a:bodyPr>
          <a:lstStyle/>
          <a:p>
            <a:pPr algn="ctr"/>
            <a:r>
              <a:rPr lang="en-GB" sz="2000" dirty="0">
                <a:solidFill>
                  <a:schemeClr val="bg1"/>
                </a:solidFill>
                <a:latin typeface="Google Sans Flex SemiBold"/>
              </a:rPr>
              <a:t>Store 3</a:t>
            </a:r>
            <a:endParaRPr sz="2000" dirty="0">
              <a:solidFill>
                <a:schemeClr val="bg1"/>
              </a:solidFill>
              <a:latin typeface="Google Sans Flex SemiBold"/>
            </a:endParaRPr>
          </a:p>
        </p:txBody>
      </p:sp>
      <p:grpSp>
        <p:nvGrpSpPr>
          <p:cNvPr id="113" name="Group 112">
            <a:extLst>
              <a:ext uri="{FF2B5EF4-FFF2-40B4-BE49-F238E27FC236}">
                <a16:creationId xmlns:a16="http://schemas.microsoft.com/office/drawing/2014/main" id="{F123F3FD-5476-53A8-D5C1-E009922958D8}"/>
              </a:ext>
            </a:extLst>
          </p:cNvPr>
          <p:cNvGrpSpPr/>
          <p:nvPr/>
        </p:nvGrpSpPr>
        <p:grpSpPr>
          <a:xfrm>
            <a:off x="5895141" y="3728877"/>
            <a:ext cx="1359129" cy="1842849"/>
            <a:chOff x="5895141" y="3728877"/>
            <a:chExt cx="1359129" cy="1842849"/>
          </a:xfrm>
        </p:grpSpPr>
        <p:sp>
          <p:nvSpPr>
            <p:cNvPr id="81" name="!!edge0">
              <a:extLst>
                <a:ext uri="{FF2B5EF4-FFF2-40B4-BE49-F238E27FC236}">
                  <a16:creationId xmlns:a16="http://schemas.microsoft.com/office/drawing/2014/main" id="{8D03E963-448F-144C-5AE0-7099BAD0E6D7}"/>
                </a:ext>
              </a:extLst>
            </p:cNvPr>
            <p:cNvSpPr/>
            <p:nvPr/>
          </p:nvSpPr>
          <p:spPr>
            <a:xfrm>
              <a:off x="5895141" y="3728877"/>
              <a:ext cx="1359129" cy="1842849"/>
            </a:xfrm>
            <a:prstGeom prst="roundRect">
              <a:avLst>
                <a:gd name="adj" fmla="val 1739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sp>
          <p:nvSpPr>
            <p:cNvPr id="85" name="!!tool0-head">
              <a:extLst>
                <a:ext uri="{FF2B5EF4-FFF2-40B4-BE49-F238E27FC236}">
                  <a16:creationId xmlns:a16="http://schemas.microsoft.com/office/drawing/2014/main" id="{ECE62FBE-E620-1D8D-0B32-267CF397EE36}"/>
                </a:ext>
              </a:extLst>
            </p:cNvPr>
            <p:cNvSpPr txBox="1"/>
            <p:nvPr/>
          </p:nvSpPr>
          <p:spPr>
            <a:xfrm>
              <a:off x="6048320" y="4478221"/>
              <a:ext cx="1013234" cy="307777"/>
            </a:xfrm>
            <a:prstGeom prst="rect">
              <a:avLst/>
            </a:prstGeom>
            <a:noFill/>
          </p:spPr>
          <p:txBody>
            <a:bodyPr wrap="square" lIns="0" tIns="0" rIns="0" bIns="0" anchor="t">
              <a:spAutoFit/>
            </a:bodyPr>
            <a:lstStyle/>
            <a:p>
              <a:pPr algn="ctr"/>
              <a:r>
                <a:rPr lang="en-GB" sz="2000" dirty="0">
                  <a:latin typeface="Google Sans Flex SemiBold"/>
                </a:rPr>
                <a:t>Store 4</a:t>
              </a:r>
              <a:endParaRPr sz="2000" dirty="0">
                <a:latin typeface="Google Sans Flex SemiBold"/>
              </a:endParaRPr>
            </a:p>
          </p:txBody>
        </p:sp>
      </p:grpSp>
      <p:grpSp>
        <p:nvGrpSpPr>
          <p:cNvPr id="114" name="Group 113">
            <a:extLst>
              <a:ext uri="{FF2B5EF4-FFF2-40B4-BE49-F238E27FC236}">
                <a16:creationId xmlns:a16="http://schemas.microsoft.com/office/drawing/2014/main" id="{0D9D489C-5421-CCBC-AC43-15CA20F7FF81}"/>
              </a:ext>
            </a:extLst>
          </p:cNvPr>
          <p:cNvGrpSpPr/>
          <p:nvPr/>
        </p:nvGrpSpPr>
        <p:grpSpPr>
          <a:xfrm>
            <a:off x="7415682" y="3728877"/>
            <a:ext cx="1359129" cy="1842849"/>
            <a:chOff x="7415682" y="3728877"/>
            <a:chExt cx="1359129" cy="1842849"/>
          </a:xfrm>
        </p:grpSpPr>
        <p:sp>
          <p:nvSpPr>
            <p:cNvPr id="79" name="!!edge0">
              <a:extLst>
                <a:ext uri="{FF2B5EF4-FFF2-40B4-BE49-F238E27FC236}">
                  <a16:creationId xmlns:a16="http://schemas.microsoft.com/office/drawing/2014/main" id="{189C6D1E-C46A-2FEE-7503-80F9701BFBC6}"/>
                </a:ext>
              </a:extLst>
            </p:cNvPr>
            <p:cNvSpPr/>
            <p:nvPr/>
          </p:nvSpPr>
          <p:spPr>
            <a:xfrm>
              <a:off x="7415682" y="3728877"/>
              <a:ext cx="1359129" cy="1842849"/>
            </a:xfrm>
            <a:prstGeom prst="roundRect">
              <a:avLst>
                <a:gd name="adj" fmla="val 1739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sp>
          <p:nvSpPr>
            <p:cNvPr id="88" name="!!tool0-head">
              <a:extLst>
                <a:ext uri="{FF2B5EF4-FFF2-40B4-BE49-F238E27FC236}">
                  <a16:creationId xmlns:a16="http://schemas.microsoft.com/office/drawing/2014/main" id="{1A69EA51-D656-3EE3-C2EB-EF23D7685673}"/>
                </a:ext>
              </a:extLst>
            </p:cNvPr>
            <p:cNvSpPr txBox="1"/>
            <p:nvPr/>
          </p:nvSpPr>
          <p:spPr>
            <a:xfrm>
              <a:off x="7579463" y="4478221"/>
              <a:ext cx="1013234" cy="307777"/>
            </a:xfrm>
            <a:prstGeom prst="rect">
              <a:avLst/>
            </a:prstGeom>
            <a:noFill/>
          </p:spPr>
          <p:txBody>
            <a:bodyPr wrap="square" lIns="0" tIns="0" rIns="0" bIns="0" anchor="t">
              <a:spAutoFit/>
            </a:bodyPr>
            <a:lstStyle/>
            <a:p>
              <a:pPr algn="ctr"/>
              <a:r>
                <a:rPr lang="en-GB" sz="2000" dirty="0">
                  <a:latin typeface="Google Sans Flex SemiBold"/>
                </a:rPr>
                <a:t>Store 5</a:t>
              </a:r>
              <a:endParaRPr sz="2000" dirty="0">
                <a:latin typeface="Google Sans Flex SemiBold"/>
              </a:endParaRPr>
            </a:p>
          </p:txBody>
        </p:sp>
      </p:grpSp>
      <p:pic>
        <p:nvPicPr>
          <p:cNvPr id="2" name="03-p2-compare-drag-defer-laptop-light">
            <a:hlinkClick r:id="" action="ppaction://media"/>
            <a:extLst>
              <a:ext uri="{FF2B5EF4-FFF2-40B4-BE49-F238E27FC236}">
                <a16:creationId xmlns:a16="http://schemas.microsoft.com/office/drawing/2014/main" id="{48DB9B83-E28D-0CC0-81D4-84E713196B42}"/>
              </a:ext>
            </a:extLst>
          </p:cNvPr>
          <p:cNvPicPr>
            <a:picLocks noChangeAspect="1"/>
          </p:cNvPicPr>
          <p:nvPr>
            <a:videoFile r:link="rId1"/>
            <p:extLst>
              <p:ext uri="{DAA4B4D4-6D71-4841-9C94-3DE7FCFB9230}">
                <p14:media xmlns:p14="http://schemas.microsoft.com/office/powerpoint/2010/main" r:embed="rId2">
                  <p14:trim st="2633" end="2613"/>
                </p14:media>
              </p:ext>
            </p:extLst>
          </p:nvPr>
        </p:nvPicPr>
        <p:blipFill>
          <a:blip r:embed="rId9"/>
          <a:stretch>
            <a:fillRect/>
          </a:stretch>
        </p:blipFill>
        <p:spPr>
          <a:xfrm>
            <a:off x="15989210" y="2057753"/>
            <a:ext cx="5453939" cy="3534479"/>
          </a:xfrm>
          <a:prstGeom prst="rect">
            <a:avLst/>
          </a:prstGeom>
        </p:spPr>
      </p:pic>
      <p:sp>
        <p:nvSpPr>
          <p:cNvPr id="4" name="!!title">
            <a:extLst>
              <a:ext uri="{FF2B5EF4-FFF2-40B4-BE49-F238E27FC236}">
                <a16:creationId xmlns:a16="http://schemas.microsoft.com/office/drawing/2014/main" id="{AC8BF10C-FBEF-BC90-F3A2-67EF97E9279D}"/>
              </a:ext>
            </a:extLst>
          </p:cNvPr>
          <p:cNvSpPr txBox="1"/>
          <p:nvPr/>
        </p:nvSpPr>
        <p:spPr>
          <a:xfrm>
            <a:off x="14569734" y="1223122"/>
            <a:ext cx="7863840" cy="553998"/>
          </a:xfrm>
          <a:prstGeom prst="rect">
            <a:avLst/>
          </a:prstGeom>
          <a:noFill/>
        </p:spPr>
        <p:txBody>
          <a:bodyPr wrap="square" lIns="0" tIns="0" rIns="0" bIns="0" anchor="t">
            <a:spAutoFit/>
          </a:bodyPr>
          <a:lstStyle/>
          <a:p>
            <a:r>
              <a:rPr lang="en-US" sz="3600" dirty="0">
                <a:solidFill>
                  <a:srgbClr val="00B050"/>
                </a:solidFill>
                <a:latin typeface="Google Sans Flex SemiBold"/>
              </a:rPr>
              <a:t>More flexibility</a:t>
            </a:r>
            <a:r>
              <a:rPr lang="en-US" sz="3600" dirty="0">
                <a:latin typeface="Google Sans Flex Light"/>
              </a:rPr>
              <a:t> across tools</a:t>
            </a:r>
          </a:p>
        </p:txBody>
      </p:sp>
      <p:pic>
        <p:nvPicPr>
          <p:cNvPr id="7" name="Picture 6" descr="MockUPhone">
            <a:extLst>
              <a:ext uri="{FF2B5EF4-FFF2-40B4-BE49-F238E27FC236}">
                <a16:creationId xmlns:a16="http://schemas.microsoft.com/office/drawing/2014/main" id="{271CAB0F-2745-5546-8839-2F85BD082C58}"/>
              </a:ext>
            </a:extLst>
          </p:cNvPr>
          <p:cNvPicPr>
            <a:picLocks noChangeAspect="1"/>
          </p:cNvPicPr>
          <p:nvPr/>
        </p:nvPicPr>
        <p:blipFill>
          <a:blip r:embed="rId10"/>
          <a:stretch>
            <a:fillRect/>
          </a:stretch>
        </p:blipFill>
        <p:spPr>
          <a:xfrm>
            <a:off x="15198383" y="1549129"/>
            <a:ext cx="7028514" cy="4569248"/>
          </a:xfrm>
          <a:prstGeom prst="rect">
            <a:avLst/>
          </a:prstGeom>
        </p:spPr>
      </p:pic>
      <p:sp>
        <p:nvSpPr>
          <p:cNvPr id="8" name="!!t9-line">
            <a:extLst>
              <a:ext uri="{FF2B5EF4-FFF2-40B4-BE49-F238E27FC236}">
                <a16:creationId xmlns:a16="http://schemas.microsoft.com/office/drawing/2014/main" id="{4F1536C5-C538-4593-490C-4D8A8AE8FBD2}"/>
              </a:ext>
            </a:extLst>
          </p:cNvPr>
          <p:cNvSpPr txBox="1"/>
          <p:nvPr/>
        </p:nvSpPr>
        <p:spPr>
          <a:xfrm>
            <a:off x="25706061" y="4389764"/>
            <a:ext cx="4564381" cy="457200"/>
          </a:xfrm>
          <a:prstGeom prst="rect">
            <a:avLst/>
          </a:prstGeom>
          <a:noFill/>
        </p:spPr>
        <p:txBody>
          <a:bodyPr wrap="square" lIns="0" tIns="0" rIns="0" bIns="0" anchor="t">
            <a:spAutoFit/>
          </a:bodyPr>
          <a:lstStyle/>
          <a:p>
            <a:pPr algn="l"/>
            <a:r>
              <a:rPr sz="1500" dirty="0">
                <a:latin typeface="Google Sans Flex Light"/>
              </a:rPr>
              <a:t>GO brings the tools. </a:t>
            </a:r>
            <a:r>
              <a:rPr sz="1500" dirty="0">
                <a:solidFill>
                  <a:srgbClr val="00B050"/>
                </a:solidFill>
                <a:latin typeface="Google Sans Flex SemiBold"/>
              </a:rPr>
              <a:t>The dispatcher brings the know-how.</a:t>
            </a:r>
          </a:p>
        </p:txBody>
      </p:sp>
      <p:grpSp>
        <p:nvGrpSpPr>
          <p:cNvPr id="12" name="Group 11">
            <a:extLst>
              <a:ext uri="{FF2B5EF4-FFF2-40B4-BE49-F238E27FC236}">
                <a16:creationId xmlns:a16="http://schemas.microsoft.com/office/drawing/2014/main" id="{AED571DB-C527-7460-4204-7CEC9C98ADD6}"/>
              </a:ext>
            </a:extLst>
          </p:cNvPr>
          <p:cNvGrpSpPr/>
          <p:nvPr/>
        </p:nvGrpSpPr>
        <p:grpSpPr>
          <a:xfrm>
            <a:off x="24235820" y="3459550"/>
            <a:ext cx="5157217" cy="573202"/>
            <a:chOff x="6825994" y="3421450"/>
            <a:chExt cx="5157217" cy="573202"/>
          </a:xfrm>
        </p:grpSpPr>
        <p:sp>
          <p:nvSpPr>
            <p:cNvPr id="14" name="!!edge0">
              <a:extLst>
                <a:ext uri="{FF2B5EF4-FFF2-40B4-BE49-F238E27FC236}">
                  <a16:creationId xmlns:a16="http://schemas.microsoft.com/office/drawing/2014/main" id="{017BF90F-C02D-E4B5-16AB-07B3677DE39A}"/>
                </a:ext>
              </a:extLst>
            </p:cNvPr>
            <p:cNvSpPr/>
            <p:nvPr/>
          </p:nvSpPr>
          <p:spPr>
            <a:xfrm>
              <a:off x="6825994" y="3421450"/>
              <a:ext cx="4442462" cy="573202"/>
            </a:xfrm>
            <a:prstGeom prst="roundRect">
              <a:avLst>
                <a:gd name="adj" fmla="val 3602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6" name="!!w8-0-head">
              <a:extLst>
                <a:ext uri="{FF2B5EF4-FFF2-40B4-BE49-F238E27FC236}">
                  <a16:creationId xmlns:a16="http://schemas.microsoft.com/office/drawing/2014/main" id="{7517238B-38EC-0930-D474-5B6EF868C9FB}"/>
                </a:ext>
              </a:extLst>
            </p:cNvPr>
            <p:cNvSpPr txBox="1"/>
            <p:nvPr/>
          </p:nvSpPr>
          <p:spPr>
            <a:xfrm>
              <a:off x="7045451" y="3554162"/>
              <a:ext cx="4937760" cy="307777"/>
            </a:xfrm>
            <a:prstGeom prst="rect">
              <a:avLst/>
            </a:prstGeom>
            <a:noFill/>
          </p:spPr>
          <p:txBody>
            <a:bodyPr wrap="square" lIns="0" tIns="0" rIns="0" bIns="0" anchor="t">
              <a:spAutoFit/>
            </a:bodyPr>
            <a:lstStyle/>
            <a:p>
              <a:pPr algn="l"/>
              <a:r>
                <a:rPr lang="en-GB" sz="2000" dirty="0">
                  <a:latin typeface="Google Sans Flex SemiBold"/>
                </a:rPr>
                <a:t>Defer</a:t>
              </a:r>
              <a:endParaRPr sz="2000" dirty="0">
                <a:latin typeface="Google Sans Flex SemiBold"/>
              </a:endParaRPr>
            </a:p>
          </p:txBody>
        </p:sp>
      </p:grpSp>
      <p:grpSp>
        <p:nvGrpSpPr>
          <p:cNvPr id="17" name="Group 16">
            <a:extLst>
              <a:ext uri="{FF2B5EF4-FFF2-40B4-BE49-F238E27FC236}">
                <a16:creationId xmlns:a16="http://schemas.microsoft.com/office/drawing/2014/main" id="{D230ED71-57FD-9C76-F6B6-D4D0D593F9A9}"/>
              </a:ext>
            </a:extLst>
          </p:cNvPr>
          <p:cNvGrpSpPr/>
          <p:nvPr/>
        </p:nvGrpSpPr>
        <p:grpSpPr>
          <a:xfrm>
            <a:off x="23017724" y="2767998"/>
            <a:ext cx="5157217" cy="573202"/>
            <a:chOff x="6825994" y="2729898"/>
            <a:chExt cx="5157217" cy="573202"/>
          </a:xfrm>
        </p:grpSpPr>
        <p:sp>
          <p:nvSpPr>
            <p:cNvPr id="19" name="!!edge0">
              <a:extLst>
                <a:ext uri="{FF2B5EF4-FFF2-40B4-BE49-F238E27FC236}">
                  <a16:creationId xmlns:a16="http://schemas.microsoft.com/office/drawing/2014/main" id="{A33D6DBD-CDDB-9073-F1C1-760E1FBF5703}"/>
                </a:ext>
              </a:extLst>
            </p:cNvPr>
            <p:cNvSpPr/>
            <p:nvPr/>
          </p:nvSpPr>
          <p:spPr>
            <a:xfrm>
              <a:off x="6825994" y="2729898"/>
              <a:ext cx="4442462" cy="573202"/>
            </a:xfrm>
            <a:prstGeom prst="roundRect">
              <a:avLst>
                <a:gd name="adj" fmla="val 3602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1" name="!!w8-0-head">
              <a:extLst>
                <a:ext uri="{FF2B5EF4-FFF2-40B4-BE49-F238E27FC236}">
                  <a16:creationId xmlns:a16="http://schemas.microsoft.com/office/drawing/2014/main" id="{27831A15-7456-DB62-82FB-98B42E7C8029}"/>
                </a:ext>
              </a:extLst>
            </p:cNvPr>
            <p:cNvSpPr txBox="1"/>
            <p:nvPr/>
          </p:nvSpPr>
          <p:spPr>
            <a:xfrm>
              <a:off x="7045451" y="2862610"/>
              <a:ext cx="4937760" cy="307777"/>
            </a:xfrm>
            <a:prstGeom prst="rect">
              <a:avLst/>
            </a:prstGeom>
            <a:noFill/>
          </p:spPr>
          <p:txBody>
            <a:bodyPr wrap="square" lIns="0" tIns="0" rIns="0" bIns="0" anchor="t">
              <a:spAutoFit/>
            </a:bodyPr>
            <a:lstStyle/>
            <a:p>
              <a:pPr algn="l"/>
              <a:r>
                <a:rPr lang="en-GB" sz="2000" dirty="0">
                  <a:latin typeface="Google Sans Flex SemiBold"/>
                </a:rPr>
                <a:t>Drag &amp; Drop</a:t>
              </a:r>
              <a:endParaRPr sz="2000" dirty="0">
                <a:latin typeface="Google Sans Flex SemiBold"/>
              </a:endParaRPr>
            </a:p>
          </p:txBody>
        </p:sp>
      </p:grpSp>
      <p:grpSp>
        <p:nvGrpSpPr>
          <p:cNvPr id="22" name="Group 21">
            <a:extLst>
              <a:ext uri="{FF2B5EF4-FFF2-40B4-BE49-F238E27FC236}">
                <a16:creationId xmlns:a16="http://schemas.microsoft.com/office/drawing/2014/main" id="{391B1DEA-A927-5F3A-FAAA-954163C1022B}"/>
              </a:ext>
            </a:extLst>
          </p:cNvPr>
          <p:cNvGrpSpPr/>
          <p:nvPr/>
        </p:nvGrpSpPr>
        <p:grpSpPr>
          <a:xfrm>
            <a:off x="21827780" y="2076445"/>
            <a:ext cx="5157217" cy="573202"/>
            <a:chOff x="6825994" y="2038345"/>
            <a:chExt cx="5157217" cy="573202"/>
          </a:xfrm>
        </p:grpSpPr>
        <p:sp>
          <p:nvSpPr>
            <p:cNvPr id="23" name="!!edge0">
              <a:extLst>
                <a:ext uri="{FF2B5EF4-FFF2-40B4-BE49-F238E27FC236}">
                  <a16:creationId xmlns:a16="http://schemas.microsoft.com/office/drawing/2014/main" id="{DDB9E6B7-3EAD-C758-369F-BE67CFBA96D2}"/>
                </a:ext>
              </a:extLst>
            </p:cNvPr>
            <p:cNvSpPr/>
            <p:nvPr/>
          </p:nvSpPr>
          <p:spPr>
            <a:xfrm>
              <a:off x="6825994" y="2038345"/>
              <a:ext cx="4442462" cy="573202"/>
            </a:xfrm>
            <a:prstGeom prst="roundRect">
              <a:avLst>
                <a:gd name="adj" fmla="val 3602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5" name="!!w8-0-head">
              <a:extLst>
                <a:ext uri="{FF2B5EF4-FFF2-40B4-BE49-F238E27FC236}">
                  <a16:creationId xmlns:a16="http://schemas.microsoft.com/office/drawing/2014/main" id="{FAF3BE05-54AD-7A3D-DACD-687FC148696A}"/>
                </a:ext>
              </a:extLst>
            </p:cNvPr>
            <p:cNvSpPr txBox="1"/>
            <p:nvPr/>
          </p:nvSpPr>
          <p:spPr>
            <a:xfrm>
              <a:off x="7045451" y="2171057"/>
              <a:ext cx="4937760" cy="307777"/>
            </a:xfrm>
            <a:prstGeom prst="rect">
              <a:avLst/>
            </a:prstGeom>
            <a:noFill/>
          </p:spPr>
          <p:txBody>
            <a:bodyPr wrap="square" lIns="0" tIns="0" rIns="0" bIns="0" anchor="t">
              <a:spAutoFit/>
            </a:bodyPr>
            <a:lstStyle/>
            <a:p>
              <a:pPr algn="l"/>
              <a:r>
                <a:rPr lang="en-GB" sz="2000" dirty="0">
                  <a:latin typeface="Google Sans Flex SemiBold"/>
                </a:rPr>
                <a:t>Compare plans</a:t>
              </a:r>
              <a:endParaRPr sz="2000" dirty="0">
                <a:latin typeface="Google Sans Flex SemiBold"/>
              </a:endParaRPr>
            </a:p>
          </p:txBody>
        </p:sp>
      </p:grpSp>
      <p:grpSp>
        <p:nvGrpSpPr>
          <p:cNvPr id="27" name="Group 26">
            <a:extLst>
              <a:ext uri="{FF2B5EF4-FFF2-40B4-BE49-F238E27FC236}">
                <a16:creationId xmlns:a16="http://schemas.microsoft.com/office/drawing/2014/main" id="{ADA38DDA-8DE0-9037-3FC1-09274103D0BC}"/>
              </a:ext>
            </a:extLst>
          </p:cNvPr>
          <p:cNvGrpSpPr/>
          <p:nvPr/>
        </p:nvGrpSpPr>
        <p:grpSpPr>
          <a:xfrm>
            <a:off x="24235820" y="3459550"/>
            <a:ext cx="5157217" cy="573202"/>
            <a:chOff x="6825994" y="3421450"/>
            <a:chExt cx="5157217" cy="573202"/>
          </a:xfrm>
        </p:grpSpPr>
        <p:sp>
          <p:nvSpPr>
            <p:cNvPr id="28" name="!!edge0">
              <a:extLst>
                <a:ext uri="{FF2B5EF4-FFF2-40B4-BE49-F238E27FC236}">
                  <a16:creationId xmlns:a16="http://schemas.microsoft.com/office/drawing/2014/main" id="{7C396B4A-0941-3A32-59FA-0F6265439DC0}"/>
                </a:ext>
              </a:extLst>
            </p:cNvPr>
            <p:cNvSpPr/>
            <p:nvPr/>
          </p:nvSpPr>
          <p:spPr>
            <a:xfrm>
              <a:off x="6825994" y="3421450"/>
              <a:ext cx="4442462" cy="573202"/>
            </a:xfrm>
            <a:prstGeom prst="roundRect">
              <a:avLst>
                <a:gd name="adj" fmla="val 36022"/>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solidFill>
                  <a:schemeClr val="bg1"/>
                </a:solidFill>
              </a:endParaRPr>
            </a:p>
          </p:txBody>
        </p:sp>
        <p:sp>
          <p:nvSpPr>
            <p:cNvPr id="30" name="!!w8-0-head">
              <a:extLst>
                <a:ext uri="{FF2B5EF4-FFF2-40B4-BE49-F238E27FC236}">
                  <a16:creationId xmlns:a16="http://schemas.microsoft.com/office/drawing/2014/main" id="{E00CEFB9-A2B4-C9E0-896A-7A1704597C5C}"/>
                </a:ext>
              </a:extLst>
            </p:cNvPr>
            <p:cNvSpPr txBox="1"/>
            <p:nvPr/>
          </p:nvSpPr>
          <p:spPr>
            <a:xfrm>
              <a:off x="7045451" y="3554162"/>
              <a:ext cx="4937760" cy="307777"/>
            </a:xfrm>
            <a:prstGeom prst="rect">
              <a:avLst/>
            </a:prstGeom>
            <a:noFill/>
          </p:spPr>
          <p:txBody>
            <a:bodyPr wrap="square" lIns="0" tIns="0" rIns="0" bIns="0" anchor="t">
              <a:spAutoFit/>
            </a:bodyPr>
            <a:lstStyle/>
            <a:p>
              <a:pPr algn="l"/>
              <a:r>
                <a:rPr lang="en-GB" sz="2000" dirty="0">
                  <a:solidFill>
                    <a:schemeClr val="bg1"/>
                  </a:solidFill>
                  <a:latin typeface="Google Sans Flex SemiBold"/>
                </a:rPr>
                <a:t>Defer</a:t>
              </a:r>
              <a:endParaRPr sz="2000" dirty="0">
                <a:solidFill>
                  <a:schemeClr val="bg1"/>
                </a:solidFill>
                <a:latin typeface="Google Sans Flex SemiBold"/>
              </a:endParaRPr>
            </a:p>
          </p:txBody>
        </p:sp>
      </p:grpSp>
      <p:grpSp>
        <p:nvGrpSpPr>
          <p:cNvPr id="48" name="Group 47">
            <a:extLst>
              <a:ext uri="{FF2B5EF4-FFF2-40B4-BE49-F238E27FC236}">
                <a16:creationId xmlns:a16="http://schemas.microsoft.com/office/drawing/2014/main" id="{2DC31449-62D7-D6F3-3C8E-E1BDF2D7D42F}"/>
              </a:ext>
            </a:extLst>
          </p:cNvPr>
          <p:cNvGrpSpPr/>
          <p:nvPr/>
        </p:nvGrpSpPr>
        <p:grpSpPr>
          <a:xfrm>
            <a:off x="13586754" y="678180"/>
            <a:ext cx="7516368" cy="506975"/>
            <a:chOff x="13586754" y="678180"/>
            <a:chExt cx="7516368" cy="506975"/>
          </a:xfrm>
        </p:grpSpPr>
        <p:sp>
          <p:nvSpPr>
            <p:cNvPr id="43" name="!!edge0">
              <a:extLst>
                <a:ext uri="{FF2B5EF4-FFF2-40B4-BE49-F238E27FC236}">
                  <a16:creationId xmlns:a16="http://schemas.microsoft.com/office/drawing/2014/main" id="{DF4BD20D-8EA0-DC5A-2CCA-0849E5AC1457}"/>
                </a:ext>
              </a:extLst>
            </p:cNvPr>
            <p:cNvSpPr/>
            <p:nvPr/>
          </p:nvSpPr>
          <p:spPr>
            <a:xfrm>
              <a:off x="13586754" y="678180"/>
              <a:ext cx="3474720"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45" name="!!section">
              <a:extLst>
                <a:ext uri="{FF2B5EF4-FFF2-40B4-BE49-F238E27FC236}">
                  <a16:creationId xmlns:a16="http://schemas.microsoft.com/office/drawing/2014/main" id="{ECC5DCE5-F30A-6EC9-3768-4315812C1FF9}"/>
                </a:ext>
              </a:extLst>
            </p:cNvPr>
            <p:cNvSpPr txBox="1"/>
            <p:nvPr/>
          </p:nvSpPr>
          <p:spPr>
            <a:xfrm>
              <a:off x="13787922" y="815823"/>
              <a:ext cx="7315200" cy="369332"/>
            </a:xfrm>
            <a:prstGeom prst="rect">
              <a:avLst/>
            </a:prstGeom>
            <a:noFill/>
          </p:spPr>
          <p:txBody>
            <a:bodyPr wrap="square" lIns="0" tIns="0" rIns="0" bIns="0" anchor="t">
              <a:spAutoFit/>
            </a:bodyPr>
            <a:lstStyle/>
            <a:p>
              <a:r>
                <a:rPr lang="en-US" sz="1200" dirty="0">
                  <a:solidFill>
                    <a:srgbClr val="006A62"/>
                  </a:solidFill>
                  <a:latin typeface="Google Sans Flex SemiBold"/>
                </a:rPr>
                <a:t>Problem 2 · Dispatcher Stress </a:t>
              </a:r>
            </a:p>
            <a:p>
              <a:endParaRPr lang="en-US" sz="1200" dirty="0">
                <a:solidFill>
                  <a:srgbClr val="006A62"/>
                </a:solidFill>
                <a:latin typeface="Google Sans Flex SemiBold"/>
              </a:endParaRPr>
            </a:p>
          </p:txBody>
        </p:sp>
      </p:grpSp>
      <p:sp>
        <p:nvSpPr>
          <p:cNvPr id="60" name="!!edge0">
            <a:extLst>
              <a:ext uri="{FF2B5EF4-FFF2-40B4-BE49-F238E27FC236}">
                <a16:creationId xmlns:a16="http://schemas.microsoft.com/office/drawing/2014/main" id="{2D87540B-483D-CEE0-DA7C-3C7E16D04AD5}"/>
              </a:ext>
            </a:extLst>
          </p:cNvPr>
          <p:cNvSpPr/>
          <p:nvPr/>
        </p:nvSpPr>
        <p:spPr>
          <a:xfrm>
            <a:off x="2809345" y="3728877"/>
            <a:ext cx="1359129" cy="1842849"/>
          </a:xfrm>
          <a:prstGeom prst="roundRect">
            <a:avLst>
              <a:gd name="adj" fmla="val 1739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sp>
        <p:nvSpPr>
          <p:cNvPr id="61" name="!!tool0-head">
            <a:extLst>
              <a:ext uri="{FF2B5EF4-FFF2-40B4-BE49-F238E27FC236}">
                <a16:creationId xmlns:a16="http://schemas.microsoft.com/office/drawing/2014/main" id="{6BF3926C-D953-4089-9B40-1440D9C9C3E2}"/>
              </a:ext>
            </a:extLst>
          </p:cNvPr>
          <p:cNvSpPr txBox="1"/>
          <p:nvPr/>
        </p:nvSpPr>
        <p:spPr>
          <a:xfrm>
            <a:off x="2962524" y="4478221"/>
            <a:ext cx="1013234" cy="307777"/>
          </a:xfrm>
          <a:prstGeom prst="rect">
            <a:avLst/>
          </a:prstGeom>
          <a:noFill/>
        </p:spPr>
        <p:txBody>
          <a:bodyPr wrap="square" lIns="0" tIns="0" rIns="0" bIns="0" anchor="t">
            <a:spAutoFit/>
          </a:bodyPr>
          <a:lstStyle/>
          <a:p>
            <a:pPr algn="ctr"/>
            <a:r>
              <a:rPr lang="en-GB" sz="2000" dirty="0">
                <a:latin typeface="Google Sans Flex SemiBold"/>
              </a:rPr>
              <a:t>Store 2</a:t>
            </a:r>
            <a:endParaRPr sz="2000" dirty="0">
              <a:latin typeface="Google Sans Flex SemiBold"/>
            </a:endParaRPr>
          </a:p>
        </p:txBody>
      </p:sp>
      <p:sp>
        <p:nvSpPr>
          <p:cNvPr id="62" name="!!edge0">
            <a:extLst>
              <a:ext uri="{FF2B5EF4-FFF2-40B4-BE49-F238E27FC236}">
                <a16:creationId xmlns:a16="http://schemas.microsoft.com/office/drawing/2014/main" id="{6D132D48-3AD6-2608-CCE7-CA4EA73BC81A}"/>
              </a:ext>
            </a:extLst>
          </p:cNvPr>
          <p:cNvSpPr/>
          <p:nvPr/>
        </p:nvSpPr>
        <p:spPr>
          <a:xfrm>
            <a:off x="1266421" y="3728877"/>
            <a:ext cx="1359129" cy="1842849"/>
          </a:xfrm>
          <a:prstGeom prst="roundRect">
            <a:avLst>
              <a:gd name="adj" fmla="val 1739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sp>
        <p:nvSpPr>
          <p:cNvPr id="63" name="!!tool0-head">
            <a:extLst>
              <a:ext uri="{FF2B5EF4-FFF2-40B4-BE49-F238E27FC236}">
                <a16:creationId xmlns:a16="http://schemas.microsoft.com/office/drawing/2014/main" id="{E7B1C76A-413B-2757-92DE-1BE786D4FAEC}"/>
              </a:ext>
            </a:extLst>
          </p:cNvPr>
          <p:cNvSpPr txBox="1"/>
          <p:nvPr/>
        </p:nvSpPr>
        <p:spPr>
          <a:xfrm>
            <a:off x="1419600" y="4478221"/>
            <a:ext cx="1013234" cy="307777"/>
          </a:xfrm>
          <a:prstGeom prst="rect">
            <a:avLst/>
          </a:prstGeom>
          <a:noFill/>
        </p:spPr>
        <p:txBody>
          <a:bodyPr wrap="square" lIns="0" tIns="0" rIns="0" bIns="0" anchor="t">
            <a:spAutoFit/>
          </a:bodyPr>
          <a:lstStyle/>
          <a:p>
            <a:pPr algn="ctr"/>
            <a:r>
              <a:rPr lang="en-GB" sz="2000" dirty="0">
                <a:latin typeface="Google Sans Flex SemiBold"/>
              </a:rPr>
              <a:t>Store 1</a:t>
            </a:r>
            <a:endParaRPr sz="2000" dirty="0">
              <a:latin typeface="Google Sans Flex SemiBold"/>
            </a:endParaRPr>
          </a:p>
        </p:txBody>
      </p:sp>
      <p:sp>
        <p:nvSpPr>
          <p:cNvPr id="76" name="!!skip-q">
            <a:extLst>
              <a:ext uri="{FF2B5EF4-FFF2-40B4-BE49-F238E27FC236}">
                <a16:creationId xmlns:a16="http://schemas.microsoft.com/office/drawing/2014/main" id="{678161BB-266F-295C-A96C-369D3E32891B}"/>
              </a:ext>
            </a:extLst>
          </p:cNvPr>
          <p:cNvSpPr txBox="1"/>
          <p:nvPr/>
        </p:nvSpPr>
        <p:spPr>
          <a:xfrm>
            <a:off x="1359918" y="4024945"/>
            <a:ext cx="3657600" cy="338554"/>
          </a:xfrm>
          <a:prstGeom prst="rect">
            <a:avLst/>
          </a:prstGeom>
          <a:noFill/>
        </p:spPr>
        <p:txBody>
          <a:bodyPr wrap="square" lIns="0" tIns="0" rIns="0" bIns="0" anchor="t">
            <a:spAutoFit/>
          </a:bodyPr>
          <a:lstStyle/>
          <a:p>
            <a:pPr algn="l"/>
            <a:r>
              <a:rPr sz="2200" dirty="0">
                <a:latin typeface="Google Sans Flex SemiBold"/>
              </a:rPr>
              <a:t>Skip store 3?</a:t>
            </a:r>
          </a:p>
        </p:txBody>
      </p:sp>
      <p:sp>
        <p:nvSpPr>
          <p:cNvPr id="78" name="TextBox 77">
            <a:extLst>
              <a:ext uri="{FF2B5EF4-FFF2-40B4-BE49-F238E27FC236}">
                <a16:creationId xmlns:a16="http://schemas.microsoft.com/office/drawing/2014/main" id="{DFB55E53-7E2D-F6AA-18FA-B1DE45E34661}"/>
              </a:ext>
            </a:extLst>
          </p:cNvPr>
          <p:cNvSpPr txBox="1"/>
          <p:nvPr/>
        </p:nvSpPr>
        <p:spPr>
          <a:xfrm>
            <a:off x="1261500" y="4547442"/>
            <a:ext cx="2709029" cy="769441"/>
          </a:xfrm>
          <a:prstGeom prst="rect">
            <a:avLst/>
          </a:prstGeom>
          <a:noFill/>
        </p:spPr>
        <p:txBody>
          <a:bodyPr wrap="square">
            <a:spAutoFit/>
          </a:bodyPr>
          <a:lstStyle/>
          <a:p>
            <a:pPr algn="l"/>
            <a:r>
              <a:rPr lang="en-US" sz="2200" dirty="0">
                <a:latin typeface="Google Sans Flex Light"/>
              </a:rPr>
              <a:t>Its goods are in front of store 4's.</a:t>
            </a:r>
          </a:p>
        </p:txBody>
      </p:sp>
      <p:sp>
        <p:nvSpPr>
          <p:cNvPr id="96" name="!!title">
            <a:extLst>
              <a:ext uri="{FF2B5EF4-FFF2-40B4-BE49-F238E27FC236}">
                <a16:creationId xmlns:a16="http://schemas.microsoft.com/office/drawing/2014/main" id="{87D60D38-522A-08BB-19F7-6901C701728A}"/>
              </a:ext>
            </a:extLst>
          </p:cNvPr>
          <p:cNvSpPr txBox="1"/>
          <p:nvPr/>
        </p:nvSpPr>
        <p:spPr>
          <a:xfrm>
            <a:off x="-11292400" y="1386046"/>
            <a:ext cx="10625328" cy="553998"/>
          </a:xfrm>
          <a:prstGeom prst="rect">
            <a:avLst/>
          </a:prstGeom>
          <a:noFill/>
        </p:spPr>
        <p:txBody>
          <a:bodyPr wrap="square" lIns="0" tIns="0" rIns="0" bIns="0" anchor="t">
            <a:spAutoFit/>
          </a:bodyPr>
          <a:lstStyle/>
          <a:p>
            <a:r>
              <a:rPr lang="en-US" sz="3600" dirty="0">
                <a:solidFill>
                  <a:srgbClr val="00B050"/>
                </a:solidFill>
                <a:latin typeface="Google Sans Flex SemiBold"/>
              </a:rPr>
              <a:t>Ground operations</a:t>
            </a:r>
            <a:r>
              <a:rPr lang="en-US" sz="3600" dirty="0">
                <a:latin typeface="Google Sans Flex Light"/>
              </a:rPr>
              <a:t> break in ways no plan expects</a:t>
            </a:r>
          </a:p>
        </p:txBody>
      </p:sp>
      <p:grpSp>
        <p:nvGrpSpPr>
          <p:cNvPr id="112" name="Group 111">
            <a:extLst>
              <a:ext uri="{FF2B5EF4-FFF2-40B4-BE49-F238E27FC236}">
                <a16:creationId xmlns:a16="http://schemas.microsoft.com/office/drawing/2014/main" id="{BAD2F148-6322-12A7-D482-B625D1BD380E}"/>
              </a:ext>
            </a:extLst>
          </p:cNvPr>
          <p:cNvGrpSpPr/>
          <p:nvPr/>
        </p:nvGrpSpPr>
        <p:grpSpPr>
          <a:xfrm>
            <a:off x="-11292400" y="2253972"/>
            <a:ext cx="3246120" cy="1738439"/>
            <a:chOff x="-11292400" y="2253972"/>
            <a:chExt cx="3246120" cy="1738439"/>
          </a:xfrm>
        </p:grpSpPr>
        <p:sp>
          <p:nvSpPr>
            <p:cNvPr id="97" name="!!edge0">
              <a:extLst>
                <a:ext uri="{FF2B5EF4-FFF2-40B4-BE49-F238E27FC236}">
                  <a16:creationId xmlns:a16="http://schemas.microsoft.com/office/drawing/2014/main" id="{66E9D169-C507-72CC-B57E-C4CF43489B85}"/>
                </a:ext>
              </a:extLst>
            </p:cNvPr>
            <p:cNvSpPr/>
            <p:nvPr/>
          </p:nvSpPr>
          <p:spPr>
            <a:xfrm>
              <a:off x="-11292400" y="2253972"/>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98" name="!!edge0-text">
              <a:extLst>
                <a:ext uri="{FF2B5EF4-FFF2-40B4-BE49-F238E27FC236}">
                  <a16:creationId xmlns:a16="http://schemas.microsoft.com/office/drawing/2014/main" id="{722A1B59-C6EF-3BD7-83D0-8AE3720DA075}"/>
                </a:ext>
              </a:extLst>
            </p:cNvPr>
            <p:cNvSpPr txBox="1"/>
            <p:nvPr/>
          </p:nvSpPr>
          <p:spPr>
            <a:xfrm>
              <a:off x="-10999792" y="2482574"/>
              <a:ext cx="2779776" cy="615553"/>
            </a:xfrm>
            <a:prstGeom prst="rect">
              <a:avLst/>
            </a:prstGeom>
            <a:noFill/>
          </p:spPr>
          <p:txBody>
            <a:bodyPr wrap="square" lIns="0" tIns="0" rIns="0" bIns="0" anchor="t">
              <a:spAutoFit/>
            </a:bodyPr>
            <a:lstStyle/>
            <a:p>
              <a:pPr algn="l"/>
              <a:r>
                <a:rPr sz="2000" dirty="0">
                  <a:latin typeface="Google Sans Flex SemiBold"/>
                </a:rPr>
                <a:t>On time, but the store closed early today</a:t>
              </a:r>
            </a:p>
          </p:txBody>
        </p:sp>
      </p:grpSp>
      <p:grpSp>
        <p:nvGrpSpPr>
          <p:cNvPr id="110" name="Group 109">
            <a:extLst>
              <a:ext uri="{FF2B5EF4-FFF2-40B4-BE49-F238E27FC236}">
                <a16:creationId xmlns:a16="http://schemas.microsoft.com/office/drawing/2014/main" id="{DF4244E9-1D3A-C5B7-662C-50B4584A1294}"/>
              </a:ext>
            </a:extLst>
          </p:cNvPr>
          <p:cNvGrpSpPr/>
          <p:nvPr/>
        </p:nvGrpSpPr>
        <p:grpSpPr>
          <a:xfrm>
            <a:off x="-7771960" y="2253972"/>
            <a:ext cx="3246120" cy="1738439"/>
            <a:chOff x="-7771960" y="2253972"/>
            <a:chExt cx="3246120" cy="1738439"/>
          </a:xfrm>
        </p:grpSpPr>
        <p:sp>
          <p:nvSpPr>
            <p:cNvPr id="91" name="!!edge0">
              <a:extLst>
                <a:ext uri="{FF2B5EF4-FFF2-40B4-BE49-F238E27FC236}">
                  <a16:creationId xmlns:a16="http://schemas.microsoft.com/office/drawing/2014/main" id="{343222EC-2C99-FD05-D68D-EAB51604344C}"/>
                </a:ext>
              </a:extLst>
            </p:cNvPr>
            <p:cNvSpPr/>
            <p:nvPr/>
          </p:nvSpPr>
          <p:spPr>
            <a:xfrm>
              <a:off x="-7771960" y="2253972"/>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99" name="!!edge1-text">
              <a:extLst>
                <a:ext uri="{FF2B5EF4-FFF2-40B4-BE49-F238E27FC236}">
                  <a16:creationId xmlns:a16="http://schemas.microsoft.com/office/drawing/2014/main" id="{7074A042-B31A-2D7F-0385-DA6A844E0339}"/>
                </a:ext>
              </a:extLst>
            </p:cNvPr>
            <p:cNvSpPr txBox="1"/>
            <p:nvPr/>
          </p:nvSpPr>
          <p:spPr>
            <a:xfrm>
              <a:off x="-7479352" y="2482574"/>
              <a:ext cx="2779776" cy="923330"/>
            </a:xfrm>
            <a:prstGeom prst="rect">
              <a:avLst/>
            </a:prstGeom>
            <a:noFill/>
          </p:spPr>
          <p:txBody>
            <a:bodyPr wrap="square" lIns="0" tIns="0" rIns="0" bIns="0" anchor="t">
              <a:spAutoFit/>
            </a:bodyPr>
            <a:lstStyle/>
            <a:p>
              <a:pPr algn="l"/>
              <a:r>
                <a:rPr sz="2000" dirty="0">
                  <a:latin typeface="Google Sans Flex SemiBold"/>
                </a:rPr>
                <a:t>The store is open, the mall's loading bay is not</a:t>
              </a:r>
            </a:p>
          </p:txBody>
        </p:sp>
      </p:grpSp>
      <p:grpSp>
        <p:nvGrpSpPr>
          <p:cNvPr id="108" name="Group 107">
            <a:extLst>
              <a:ext uri="{FF2B5EF4-FFF2-40B4-BE49-F238E27FC236}">
                <a16:creationId xmlns:a16="http://schemas.microsoft.com/office/drawing/2014/main" id="{8F54FC04-7792-6699-663F-31F09824E710}"/>
              </a:ext>
            </a:extLst>
          </p:cNvPr>
          <p:cNvGrpSpPr/>
          <p:nvPr/>
        </p:nvGrpSpPr>
        <p:grpSpPr>
          <a:xfrm>
            <a:off x="-4251520" y="2253972"/>
            <a:ext cx="3246120" cy="1738439"/>
            <a:chOff x="-4251520" y="2253972"/>
            <a:chExt cx="3246120" cy="1738439"/>
          </a:xfrm>
        </p:grpSpPr>
        <p:sp>
          <p:nvSpPr>
            <p:cNvPr id="92" name="!!edge0">
              <a:extLst>
                <a:ext uri="{FF2B5EF4-FFF2-40B4-BE49-F238E27FC236}">
                  <a16:creationId xmlns:a16="http://schemas.microsoft.com/office/drawing/2014/main" id="{8F0F604F-45BC-05BA-A9C5-3A090EE6C611}"/>
                </a:ext>
              </a:extLst>
            </p:cNvPr>
            <p:cNvSpPr/>
            <p:nvPr/>
          </p:nvSpPr>
          <p:spPr>
            <a:xfrm>
              <a:off x="-4251520" y="2253972"/>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00" name="!!edge2-text">
              <a:extLst>
                <a:ext uri="{FF2B5EF4-FFF2-40B4-BE49-F238E27FC236}">
                  <a16:creationId xmlns:a16="http://schemas.microsoft.com/office/drawing/2014/main" id="{9D8F794A-5E8F-3E4A-3755-DCF4179294F9}"/>
                </a:ext>
              </a:extLst>
            </p:cNvPr>
            <p:cNvSpPr txBox="1"/>
            <p:nvPr/>
          </p:nvSpPr>
          <p:spPr>
            <a:xfrm>
              <a:off x="-3958912" y="2482574"/>
              <a:ext cx="2779776" cy="923330"/>
            </a:xfrm>
            <a:prstGeom prst="rect">
              <a:avLst/>
            </a:prstGeom>
            <a:noFill/>
          </p:spPr>
          <p:txBody>
            <a:bodyPr wrap="square" lIns="0" tIns="0" rIns="0" bIns="0" anchor="t">
              <a:spAutoFit/>
            </a:bodyPr>
            <a:lstStyle/>
            <a:p>
              <a:pPr algn="l"/>
              <a:r>
                <a:rPr sz="2000">
                  <a:latin typeface="Google Sans Flex SemiBold"/>
                </a:rPr>
                <a:t>A van breaks down with chilled goods inside</a:t>
              </a:r>
            </a:p>
          </p:txBody>
        </p:sp>
      </p:grpSp>
      <p:grpSp>
        <p:nvGrpSpPr>
          <p:cNvPr id="111" name="Group 110">
            <a:extLst>
              <a:ext uri="{FF2B5EF4-FFF2-40B4-BE49-F238E27FC236}">
                <a16:creationId xmlns:a16="http://schemas.microsoft.com/office/drawing/2014/main" id="{616849F1-4B54-BDC3-5603-8DFF511C58EE}"/>
              </a:ext>
            </a:extLst>
          </p:cNvPr>
          <p:cNvGrpSpPr/>
          <p:nvPr/>
        </p:nvGrpSpPr>
        <p:grpSpPr>
          <a:xfrm>
            <a:off x="-11292400" y="4232109"/>
            <a:ext cx="3246120" cy="1738439"/>
            <a:chOff x="-11292400" y="4232109"/>
            <a:chExt cx="3246120" cy="1738439"/>
          </a:xfrm>
        </p:grpSpPr>
        <p:sp>
          <p:nvSpPr>
            <p:cNvPr id="93" name="!!edge0">
              <a:extLst>
                <a:ext uri="{FF2B5EF4-FFF2-40B4-BE49-F238E27FC236}">
                  <a16:creationId xmlns:a16="http://schemas.microsoft.com/office/drawing/2014/main" id="{5D2F1FF6-20B5-1909-9551-E9B4D0D4C819}"/>
                </a:ext>
              </a:extLst>
            </p:cNvPr>
            <p:cNvSpPr/>
            <p:nvPr/>
          </p:nvSpPr>
          <p:spPr>
            <a:xfrm>
              <a:off x="-11292400" y="4232109"/>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01" name="!!edge3-text">
              <a:extLst>
                <a:ext uri="{FF2B5EF4-FFF2-40B4-BE49-F238E27FC236}">
                  <a16:creationId xmlns:a16="http://schemas.microsoft.com/office/drawing/2014/main" id="{32C33164-2BF7-D44A-C471-CF6E15CF3C4D}"/>
                </a:ext>
              </a:extLst>
            </p:cNvPr>
            <p:cNvSpPr txBox="1"/>
            <p:nvPr/>
          </p:nvSpPr>
          <p:spPr>
            <a:xfrm>
              <a:off x="-10999792" y="4460710"/>
              <a:ext cx="2779776" cy="615553"/>
            </a:xfrm>
            <a:prstGeom prst="rect">
              <a:avLst/>
            </a:prstGeom>
            <a:noFill/>
          </p:spPr>
          <p:txBody>
            <a:bodyPr wrap="square" lIns="0" tIns="0" rIns="0" bIns="0" anchor="t">
              <a:spAutoFit/>
            </a:bodyPr>
            <a:lstStyle/>
            <a:p>
              <a:pPr algn="l"/>
              <a:r>
                <a:rPr sz="2000">
                  <a:latin typeface="Google Sans Flex SemiBold"/>
                </a:rPr>
                <a:t>Nobody at the store to receive</a:t>
              </a:r>
            </a:p>
          </p:txBody>
        </p:sp>
      </p:grpSp>
      <p:grpSp>
        <p:nvGrpSpPr>
          <p:cNvPr id="109" name="Group 108">
            <a:extLst>
              <a:ext uri="{FF2B5EF4-FFF2-40B4-BE49-F238E27FC236}">
                <a16:creationId xmlns:a16="http://schemas.microsoft.com/office/drawing/2014/main" id="{2D15D898-977C-F48D-FF8E-1668530A2008}"/>
              </a:ext>
            </a:extLst>
          </p:cNvPr>
          <p:cNvGrpSpPr/>
          <p:nvPr/>
        </p:nvGrpSpPr>
        <p:grpSpPr>
          <a:xfrm>
            <a:off x="-7771960" y="4232109"/>
            <a:ext cx="3246120" cy="1738439"/>
            <a:chOff x="-7771960" y="4232109"/>
            <a:chExt cx="3246120" cy="1738439"/>
          </a:xfrm>
        </p:grpSpPr>
        <p:sp>
          <p:nvSpPr>
            <p:cNvPr id="94" name="!!edge0">
              <a:extLst>
                <a:ext uri="{FF2B5EF4-FFF2-40B4-BE49-F238E27FC236}">
                  <a16:creationId xmlns:a16="http://schemas.microsoft.com/office/drawing/2014/main" id="{F27D44E5-8028-9DE8-D730-3D8344210A3D}"/>
                </a:ext>
              </a:extLst>
            </p:cNvPr>
            <p:cNvSpPr/>
            <p:nvPr/>
          </p:nvSpPr>
          <p:spPr>
            <a:xfrm>
              <a:off x="-7771960" y="4232109"/>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02" name="!!edge4-text">
              <a:extLst>
                <a:ext uri="{FF2B5EF4-FFF2-40B4-BE49-F238E27FC236}">
                  <a16:creationId xmlns:a16="http://schemas.microsoft.com/office/drawing/2014/main" id="{DAEB113F-5402-9C9A-F7D3-5219327B87BF}"/>
                </a:ext>
              </a:extLst>
            </p:cNvPr>
            <p:cNvSpPr txBox="1"/>
            <p:nvPr/>
          </p:nvSpPr>
          <p:spPr>
            <a:xfrm>
              <a:off x="-7479352" y="4460710"/>
              <a:ext cx="2779776" cy="923330"/>
            </a:xfrm>
            <a:prstGeom prst="rect">
              <a:avLst/>
            </a:prstGeom>
            <a:noFill/>
          </p:spPr>
          <p:txBody>
            <a:bodyPr wrap="square" lIns="0" tIns="0" rIns="0" bIns="0" anchor="t">
              <a:spAutoFit/>
            </a:bodyPr>
            <a:lstStyle/>
            <a:p>
              <a:pPr algn="l"/>
              <a:r>
                <a:rPr sz="2000">
                  <a:latin typeface="Google Sans Flex SemiBold"/>
                </a:rPr>
                <a:t>Loader: “all loaded.” Store: “three cartons missing.”</a:t>
              </a:r>
            </a:p>
          </p:txBody>
        </p:sp>
      </p:grpSp>
      <p:grpSp>
        <p:nvGrpSpPr>
          <p:cNvPr id="107" name="Group 106">
            <a:extLst>
              <a:ext uri="{FF2B5EF4-FFF2-40B4-BE49-F238E27FC236}">
                <a16:creationId xmlns:a16="http://schemas.microsoft.com/office/drawing/2014/main" id="{F51FF5F3-7B44-D14E-469B-1CB2B875EE2C}"/>
              </a:ext>
            </a:extLst>
          </p:cNvPr>
          <p:cNvGrpSpPr/>
          <p:nvPr/>
        </p:nvGrpSpPr>
        <p:grpSpPr>
          <a:xfrm>
            <a:off x="-4251520" y="4232109"/>
            <a:ext cx="3246120" cy="1738439"/>
            <a:chOff x="-4251520" y="4232109"/>
            <a:chExt cx="3246120" cy="1738439"/>
          </a:xfrm>
        </p:grpSpPr>
        <p:sp>
          <p:nvSpPr>
            <p:cNvPr id="95" name="!!edge0">
              <a:extLst>
                <a:ext uri="{FF2B5EF4-FFF2-40B4-BE49-F238E27FC236}">
                  <a16:creationId xmlns:a16="http://schemas.microsoft.com/office/drawing/2014/main" id="{2034BB3E-5115-3754-D4A5-C1EDC83BBEBF}"/>
                </a:ext>
              </a:extLst>
            </p:cNvPr>
            <p:cNvSpPr/>
            <p:nvPr/>
          </p:nvSpPr>
          <p:spPr>
            <a:xfrm>
              <a:off x="-4251520" y="4232109"/>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03" name="!!edge5-text">
              <a:extLst>
                <a:ext uri="{FF2B5EF4-FFF2-40B4-BE49-F238E27FC236}">
                  <a16:creationId xmlns:a16="http://schemas.microsoft.com/office/drawing/2014/main" id="{E3370BA7-75B4-0088-B68E-86EC5EBD9DDB}"/>
                </a:ext>
              </a:extLst>
            </p:cNvPr>
            <p:cNvSpPr txBox="1"/>
            <p:nvPr/>
          </p:nvSpPr>
          <p:spPr>
            <a:xfrm>
              <a:off x="-3958912" y="4460710"/>
              <a:ext cx="2779776" cy="1231106"/>
            </a:xfrm>
            <a:prstGeom prst="rect">
              <a:avLst/>
            </a:prstGeom>
            <a:noFill/>
          </p:spPr>
          <p:txBody>
            <a:bodyPr wrap="square" lIns="0" tIns="0" rIns="0" bIns="0" anchor="t">
              <a:spAutoFit/>
            </a:bodyPr>
            <a:lstStyle/>
            <a:p>
              <a:pPr algn="l"/>
              <a:r>
                <a:rPr sz="2000">
                  <a:latin typeface="Google Sans Flex SemiBold"/>
                </a:rPr>
                <a:t>Delivered with no signal, while the dispatcher skipped that store</a:t>
              </a:r>
            </a:p>
          </p:txBody>
        </p:sp>
      </p:grpSp>
      <p:grpSp>
        <p:nvGrpSpPr>
          <p:cNvPr id="104" name="Group 103">
            <a:extLst>
              <a:ext uri="{FF2B5EF4-FFF2-40B4-BE49-F238E27FC236}">
                <a16:creationId xmlns:a16="http://schemas.microsoft.com/office/drawing/2014/main" id="{7674780E-591F-5414-AE6B-8C5E87B0E5F4}"/>
              </a:ext>
            </a:extLst>
          </p:cNvPr>
          <p:cNvGrpSpPr/>
          <p:nvPr/>
        </p:nvGrpSpPr>
        <p:grpSpPr>
          <a:xfrm>
            <a:off x="-11292400" y="640080"/>
            <a:ext cx="7516368" cy="506975"/>
            <a:chOff x="923544" y="640080"/>
            <a:chExt cx="7516368" cy="506975"/>
          </a:xfrm>
        </p:grpSpPr>
        <p:sp>
          <p:nvSpPr>
            <p:cNvPr id="105" name="!!edge0">
              <a:extLst>
                <a:ext uri="{FF2B5EF4-FFF2-40B4-BE49-F238E27FC236}">
                  <a16:creationId xmlns:a16="http://schemas.microsoft.com/office/drawing/2014/main" id="{79F12E13-7483-6E1F-B5F2-7DC12678A298}"/>
                </a:ext>
              </a:extLst>
            </p:cNvPr>
            <p:cNvSpPr/>
            <p:nvPr/>
          </p:nvSpPr>
          <p:spPr>
            <a:xfrm>
              <a:off x="923544" y="640080"/>
              <a:ext cx="2569051"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06" name="!!section">
              <a:extLst>
                <a:ext uri="{FF2B5EF4-FFF2-40B4-BE49-F238E27FC236}">
                  <a16:creationId xmlns:a16="http://schemas.microsoft.com/office/drawing/2014/main" id="{C4D5ADD1-56CA-5522-8FCF-A01AFCF898C4}"/>
                </a:ext>
              </a:extLst>
            </p:cNvPr>
            <p:cNvSpPr txBox="1"/>
            <p:nvPr/>
          </p:nvSpPr>
          <p:spPr>
            <a:xfrm>
              <a:off x="1124712" y="777723"/>
              <a:ext cx="7315200" cy="369332"/>
            </a:xfrm>
            <a:prstGeom prst="rect">
              <a:avLst/>
            </a:prstGeom>
            <a:noFill/>
          </p:spPr>
          <p:txBody>
            <a:bodyPr wrap="square" lIns="0" tIns="0" rIns="0" bIns="0" anchor="t">
              <a:spAutoFit/>
            </a:bodyPr>
            <a:lstStyle/>
            <a:p>
              <a:r>
                <a:rPr lang="en-US" sz="1200" dirty="0">
                  <a:solidFill>
                    <a:srgbClr val="006A62"/>
                  </a:solidFill>
                  <a:latin typeface="Google Sans Flex SemiBold"/>
                </a:rPr>
                <a:t>Problem 3 · Poor Coordination</a:t>
              </a:r>
            </a:p>
            <a:p>
              <a:endParaRPr lang="en-US" sz="1200" dirty="0">
                <a:solidFill>
                  <a:srgbClr val="006A62"/>
                </a:solidFill>
                <a:latin typeface="Google Sans Flex SemiBold"/>
              </a:endParaRPr>
            </a:p>
          </p:txBody>
        </p:sp>
      </p:grpSp>
    </p:spTree>
    <p:extLst>
      <p:ext uri="{BB962C8B-B14F-4D97-AF65-F5344CB8AC3E}">
        <p14:creationId xmlns:p14="http://schemas.microsoft.com/office/powerpoint/2010/main" val="11891053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wipe(left)">
                                      <p:cBhvr>
                                        <p:cTn id="7" dur="1750"/>
                                        <p:tgtEl>
                                          <p:spTgt spid="89"/>
                                        </p:tgtEl>
                                      </p:cBhvr>
                                    </p:animEffect>
                                  </p:childTnLst>
                                </p:cTn>
                              </p:par>
                              <p:par>
                                <p:cTn id="8" presetID="53" presetClass="entr" presetSubtype="16"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 calcmode="lin" valueType="num">
                                      <p:cBhvr>
                                        <p:cTn id="10" dur="500" fill="hold"/>
                                        <p:tgtEl>
                                          <p:spTgt spid="49"/>
                                        </p:tgtEl>
                                        <p:attrNameLst>
                                          <p:attrName>ppt_w</p:attrName>
                                        </p:attrNameLst>
                                      </p:cBhvr>
                                      <p:tavLst>
                                        <p:tav tm="0">
                                          <p:val>
                                            <p:fltVal val="0"/>
                                          </p:val>
                                        </p:tav>
                                        <p:tav tm="100000">
                                          <p:val>
                                            <p:strVal val="#ppt_w"/>
                                          </p:val>
                                        </p:tav>
                                      </p:tavLst>
                                    </p:anim>
                                    <p:anim calcmode="lin" valueType="num">
                                      <p:cBhvr>
                                        <p:cTn id="11" dur="500" fill="hold"/>
                                        <p:tgtEl>
                                          <p:spTgt spid="49"/>
                                        </p:tgtEl>
                                        <p:attrNameLst>
                                          <p:attrName>ppt_h</p:attrName>
                                        </p:attrNameLst>
                                      </p:cBhvr>
                                      <p:tavLst>
                                        <p:tav tm="0">
                                          <p:val>
                                            <p:fltVal val="0"/>
                                          </p:val>
                                        </p:tav>
                                        <p:tav tm="100000">
                                          <p:val>
                                            <p:strVal val="#ppt_h"/>
                                          </p:val>
                                        </p:tav>
                                      </p:tavLst>
                                    </p:anim>
                                    <p:animEffect transition="in" filter="fade">
                                      <p:cBhvr>
                                        <p:cTn id="12" dur="500"/>
                                        <p:tgtEl>
                                          <p:spTgt spid="49"/>
                                        </p:tgtEl>
                                      </p:cBhvr>
                                    </p:animEffect>
                                  </p:childTnLst>
                                </p:cTn>
                              </p:par>
                              <p:par>
                                <p:cTn id="13" presetID="53" presetClass="entr" presetSubtype="16" fill="hold" nodeType="withEffect">
                                  <p:stCondLst>
                                    <p:cond delay="250"/>
                                  </p:stCondLst>
                                  <p:childTnLst>
                                    <p:set>
                                      <p:cBhvr>
                                        <p:cTn id="14" dur="1" fill="hold">
                                          <p:stCondLst>
                                            <p:cond delay="0"/>
                                          </p:stCondLst>
                                        </p:cTn>
                                        <p:tgtEl>
                                          <p:spTgt spid="50"/>
                                        </p:tgtEl>
                                        <p:attrNameLst>
                                          <p:attrName>style.visibility</p:attrName>
                                        </p:attrNameLst>
                                      </p:cBhvr>
                                      <p:to>
                                        <p:strVal val="visible"/>
                                      </p:to>
                                    </p:set>
                                    <p:anim calcmode="lin" valueType="num">
                                      <p:cBhvr>
                                        <p:cTn id="15" dur="500" fill="hold"/>
                                        <p:tgtEl>
                                          <p:spTgt spid="50"/>
                                        </p:tgtEl>
                                        <p:attrNameLst>
                                          <p:attrName>ppt_w</p:attrName>
                                        </p:attrNameLst>
                                      </p:cBhvr>
                                      <p:tavLst>
                                        <p:tav tm="0">
                                          <p:val>
                                            <p:fltVal val="0"/>
                                          </p:val>
                                        </p:tav>
                                        <p:tav tm="100000">
                                          <p:val>
                                            <p:strVal val="#ppt_w"/>
                                          </p:val>
                                        </p:tav>
                                      </p:tavLst>
                                    </p:anim>
                                    <p:anim calcmode="lin" valueType="num">
                                      <p:cBhvr>
                                        <p:cTn id="16" dur="500" fill="hold"/>
                                        <p:tgtEl>
                                          <p:spTgt spid="50"/>
                                        </p:tgtEl>
                                        <p:attrNameLst>
                                          <p:attrName>ppt_h</p:attrName>
                                        </p:attrNameLst>
                                      </p:cBhvr>
                                      <p:tavLst>
                                        <p:tav tm="0">
                                          <p:val>
                                            <p:fltVal val="0"/>
                                          </p:val>
                                        </p:tav>
                                        <p:tav tm="100000">
                                          <p:val>
                                            <p:strVal val="#ppt_h"/>
                                          </p:val>
                                        </p:tav>
                                      </p:tavLst>
                                    </p:anim>
                                    <p:animEffect transition="in" filter="fade">
                                      <p:cBhvr>
                                        <p:cTn id="17" dur="500"/>
                                        <p:tgtEl>
                                          <p:spTgt spid="50"/>
                                        </p:tgtEl>
                                      </p:cBhvr>
                                    </p:animEffect>
                                  </p:childTnLst>
                                </p:cTn>
                              </p:par>
                              <p:par>
                                <p:cTn id="18" presetID="53" presetClass="entr" presetSubtype="16" fill="hold" nodeType="withEffect">
                                  <p:stCondLst>
                                    <p:cond delay="500"/>
                                  </p:stCondLst>
                                  <p:childTnLst>
                                    <p:set>
                                      <p:cBhvr>
                                        <p:cTn id="19" dur="1" fill="hold">
                                          <p:stCondLst>
                                            <p:cond delay="0"/>
                                          </p:stCondLst>
                                        </p:cTn>
                                        <p:tgtEl>
                                          <p:spTgt spid="51"/>
                                        </p:tgtEl>
                                        <p:attrNameLst>
                                          <p:attrName>style.visibility</p:attrName>
                                        </p:attrNameLst>
                                      </p:cBhvr>
                                      <p:to>
                                        <p:strVal val="visible"/>
                                      </p:to>
                                    </p:set>
                                    <p:anim calcmode="lin" valueType="num">
                                      <p:cBhvr>
                                        <p:cTn id="20" dur="500" fill="hold"/>
                                        <p:tgtEl>
                                          <p:spTgt spid="51"/>
                                        </p:tgtEl>
                                        <p:attrNameLst>
                                          <p:attrName>ppt_w</p:attrName>
                                        </p:attrNameLst>
                                      </p:cBhvr>
                                      <p:tavLst>
                                        <p:tav tm="0">
                                          <p:val>
                                            <p:fltVal val="0"/>
                                          </p:val>
                                        </p:tav>
                                        <p:tav tm="100000">
                                          <p:val>
                                            <p:strVal val="#ppt_w"/>
                                          </p:val>
                                        </p:tav>
                                      </p:tavLst>
                                    </p:anim>
                                    <p:anim calcmode="lin" valueType="num">
                                      <p:cBhvr>
                                        <p:cTn id="21" dur="500" fill="hold"/>
                                        <p:tgtEl>
                                          <p:spTgt spid="51"/>
                                        </p:tgtEl>
                                        <p:attrNameLst>
                                          <p:attrName>ppt_h</p:attrName>
                                        </p:attrNameLst>
                                      </p:cBhvr>
                                      <p:tavLst>
                                        <p:tav tm="0">
                                          <p:val>
                                            <p:fltVal val="0"/>
                                          </p:val>
                                        </p:tav>
                                        <p:tav tm="100000">
                                          <p:val>
                                            <p:strVal val="#ppt_h"/>
                                          </p:val>
                                        </p:tav>
                                      </p:tavLst>
                                    </p:anim>
                                    <p:animEffect transition="in" filter="fade">
                                      <p:cBhvr>
                                        <p:cTn id="22" dur="500"/>
                                        <p:tgtEl>
                                          <p:spTgt spid="51"/>
                                        </p:tgtEl>
                                      </p:cBhvr>
                                    </p:animEffect>
                                  </p:childTnLst>
                                </p:cTn>
                              </p:par>
                              <p:par>
                                <p:cTn id="23" presetID="53" presetClass="entr" presetSubtype="16" fill="hold" nodeType="withEffect">
                                  <p:stCondLst>
                                    <p:cond delay="750"/>
                                  </p:stCondLst>
                                  <p:childTnLst>
                                    <p:set>
                                      <p:cBhvr>
                                        <p:cTn id="24" dur="1" fill="hold">
                                          <p:stCondLst>
                                            <p:cond delay="0"/>
                                          </p:stCondLst>
                                        </p:cTn>
                                        <p:tgtEl>
                                          <p:spTgt spid="52"/>
                                        </p:tgtEl>
                                        <p:attrNameLst>
                                          <p:attrName>style.visibility</p:attrName>
                                        </p:attrNameLst>
                                      </p:cBhvr>
                                      <p:to>
                                        <p:strVal val="visible"/>
                                      </p:to>
                                    </p:set>
                                    <p:anim calcmode="lin" valueType="num">
                                      <p:cBhvr>
                                        <p:cTn id="25" dur="500" fill="hold"/>
                                        <p:tgtEl>
                                          <p:spTgt spid="52"/>
                                        </p:tgtEl>
                                        <p:attrNameLst>
                                          <p:attrName>ppt_w</p:attrName>
                                        </p:attrNameLst>
                                      </p:cBhvr>
                                      <p:tavLst>
                                        <p:tav tm="0">
                                          <p:val>
                                            <p:fltVal val="0"/>
                                          </p:val>
                                        </p:tav>
                                        <p:tav tm="100000">
                                          <p:val>
                                            <p:strVal val="#ppt_w"/>
                                          </p:val>
                                        </p:tav>
                                      </p:tavLst>
                                    </p:anim>
                                    <p:anim calcmode="lin" valueType="num">
                                      <p:cBhvr>
                                        <p:cTn id="26" dur="500" fill="hold"/>
                                        <p:tgtEl>
                                          <p:spTgt spid="52"/>
                                        </p:tgtEl>
                                        <p:attrNameLst>
                                          <p:attrName>ppt_h</p:attrName>
                                        </p:attrNameLst>
                                      </p:cBhvr>
                                      <p:tavLst>
                                        <p:tav tm="0">
                                          <p:val>
                                            <p:fltVal val="0"/>
                                          </p:val>
                                        </p:tav>
                                        <p:tav tm="100000">
                                          <p:val>
                                            <p:strVal val="#ppt_h"/>
                                          </p:val>
                                        </p:tav>
                                      </p:tavLst>
                                    </p:anim>
                                    <p:animEffect transition="in" filter="fade">
                                      <p:cBhvr>
                                        <p:cTn id="27" dur="500"/>
                                        <p:tgtEl>
                                          <p:spTgt spid="52"/>
                                        </p:tgtEl>
                                      </p:cBhvr>
                                    </p:animEffect>
                                  </p:childTnLst>
                                </p:cTn>
                              </p:par>
                              <p:par>
                                <p:cTn id="28" presetID="53" presetClass="entr" presetSubtype="16" fill="hold" nodeType="withEffect">
                                  <p:stCondLst>
                                    <p:cond delay="1000"/>
                                  </p:stCondLst>
                                  <p:childTnLst>
                                    <p:set>
                                      <p:cBhvr>
                                        <p:cTn id="29" dur="1" fill="hold">
                                          <p:stCondLst>
                                            <p:cond delay="0"/>
                                          </p:stCondLst>
                                        </p:cTn>
                                        <p:tgtEl>
                                          <p:spTgt spid="53"/>
                                        </p:tgtEl>
                                        <p:attrNameLst>
                                          <p:attrName>style.visibility</p:attrName>
                                        </p:attrNameLst>
                                      </p:cBhvr>
                                      <p:to>
                                        <p:strVal val="visible"/>
                                      </p:to>
                                    </p:set>
                                    <p:anim calcmode="lin" valueType="num">
                                      <p:cBhvr>
                                        <p:cTn id="30" dur="500" fill="hold"/>
                                        <p:tgtEl>
                                          <p:spTgt spid="53"/>
                                        </p:tgtEl>
                                        <p:attrNameLst>
                                          <p:attrName>ppt_w</p:attrName>
                                        </p:attrNameLst>
                                      </p:cBhvr>
                                      <p:tavLst>
                                        <p:tav tm="0">
                                          <p:val>
                                            <p:fltVal val="0"/>
                                          </p:val>
                                        </p:tav>
                                        <p:tav tm="100000">
                                          <p:val>
                                            <p:strVal val="#ppt_w"/>
                                          </p:val>
                                        </p:tav>
                                      </p:tavLst>
                                    </p:anim>
                                    <p:anim calcmode="lin" valueType="num">
                                      <p:cBhvr>
                                        <p:cTn id="31" dur="500" fill="hold"/>
                                        <p:tgtEl>
                                          <p:spTgt spid="53"/>
                                        </p:tgtEl>
                                        <p:attrNameLst>
                                          <p:attrName>ppt_h</p:attrName>
                                        </p:attrNameLst>
                                      </p:cBhvr>
                                      <p:tavLst>
                                        <p:tav tm="0">
                                          <p:val>
                                            <p:fltVal val="0"/>
                                          </p:val>
                                        </p:tav>
                                        <p:tav tm="100000">
                                          <p:val>
                                            <p:strVal val="#ppt_h"/>
                                          </p:val>
                                        </p:tav>
                                      </p:tavLst>
                                    </p:anim>
                                    <p:animEffect transition="in" filter="fade">
                                      <p:cBhvr>
                                        <p:cTn id="32" dur="500"/>
                                        <p:tgtEl>
                                          <p:spTgt spid="53"/>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54"/>
                                        </p:tgtEl>
                                        <p:attrNameLst>
                                          <p:attrName>style.visibility</p:attrName>
                                        </p:attrNameLst>
                                      </p:cBhvr>
                                      <p:to>
                                        <p:strVal val="visible"/>
                                      </p:to>
                                    </p:set>
                                    <p:anim calcmode="lin" valueType="num">
                                      <p:cBhvr>
                                        <p:cTn id="37" dur="500" fill="hold"/>
                                        <p:tgtEl>
                                          <p:spTgt spid="54"/>
                                        </p:tgtEl>
                                        <p:attrNameLst>
                                          <p:attrName>ppt_w</p:attrName>
                                        </p:attrNameLst>
                                      </p:cBhvr>
                                      <p:tavLst>
                                        <p:tav tm="0">
                                          <p:val>
                                            <p:fltVal val="0"/>
                                          </p:val>
                                        </p:tav>
                                        <p:tav tm="100000">
                                          <p:val>
                                            <p:strVal val="#ppt_w"/>
                                          </p:val>
                                        </p:tav>
                                      </p:tavLst>
                                    </p:anim>
                                    <p:anim calcmode="lin" valueType="num">
                                      <p:cBhvr>
                                        <p:cTn id="38" dur="500" fill="hold"/>
                                        <p:tgtEl>
                                          <p:spTgt spid="54"/>
                                        </p:tgtEl>
                                        <p:attrNameLst>
                                          <p:attrName>ppt_h</p:attrName>
                                        </p:attrNameLst>
                                      </p:cBhvr>
                                      <p:tavLst>
                                        <p:tav tm="0">
                                          <p:val>
                                            <p:fltVal val="0"/>
                                          </p:val>
                                        </p:tav>
                                        <p:tav tm="100000">
                                          <p:val>
                                            <p:strVal val="#ppt_h"/>
                                          </p:val>
                                        </p:tav>
                                      </p:tavLst>
                                    </p:anim>
                                    <p:animEffect transition="in" filter="fade">
                                      <p:cBhvr>
                                        <p:cTn id="39" dur="500"/>
                                        <p:tgtEl>
                                          <p:spTgt spid="54"/>
                                        </p:tgtEl>
                                      </p:cBhvr>
                                    </p:animEffect>
                                  </p:childTnLst>
                                </p:cTn>
                              </p:par>
                              <p:par>
                                <p:cTn id="40" presetID="10" presetClass="exit" presetSubtype="0" fill="hold" grpId="0" nodeType="withEffect">
                                  <p:stCondLst>
                                    <p:cond delay="0"/>
                                  </p:stCondLst>
                                  <p:childTnLst>
                                    <p:animEffect transition="out" filter="fade">
                                      <p:cBhvr>
                                        <p:cTn id="41" dur="500"/>
                                        <p:tgtEl>
                                          <p:spTgt spid="62"/>
                                        </p:tgtEl>
                                      </p:cBhvr>
                                    </p:animEffect>
                                    <p:set>
                                      <p:cBhvr>
                                        <p:cTn id="42" dur="1" fill="hold">
                                          <p:stCondLst>
                                            <p:cond delay="499"/>
                                          </p:stCondLst>
                                        </p:cTn>
                                        <p:tgtEl>
                                          <p:spTgt spid="62"/>
                                        </p:tgtEl>
                                        <p:attrNameLst>
                                          <p:attrName>style.visibility</p:attrName>
                                        </p:attrNameLst>
                                      </p:cBhvr>
                                      <p:to>
                                        <p:strVal val="hidden"/>
                                      </p:to>
                                    </p:set>
                                  </p:childTnLst>
                                </p:cTn>
                              </p:par>
                              <p:par>
                                <p:cTn id="43" presetID="10" presetClass="exit" presetSubtype="0" fill="hold" grpId="0" nodeType="withEffect">
                                  <p:stCondLst>
                                    <p:cond delay="0"/>
                                  </p:stCondLst>
                                  <p:childTnLst>
                                    <p:animEffect transition="out" filter="fade">
                                      <p:cBhvr>
                                        <p:cTn id="44" dur="500"/>
                                        <p:tgtEl>
                                          <p:spTgt spid="63"/>
                                        </p:tgtEl>
                                      </p:cBhvr>
                                    </p:animEffect>
                                    <p:set>
                                      <p:cBhvr>
                                        <p:cTn id="45" dur="1" fill="hold">
                                          <p:stCondLst>
                                            <p:cond delay="499"/>
                                          </p:stCondLst>
                                        </p:cTn>
                                        <p:tgtEl>
                                          <p:spTgt spid="63"/>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55"/>
                                        </p:tgtEl>
                                        <p:attrNameLst>
                                          <p:attrName>style.visibility</p:attrName>
                                        </p:attrNameLst>
                                      </p:cBhvr>
                                      <p:to>
                                        <p:strVal val="visible"/>
                                      </p:to>
                                    </p:set>
                                    <p:anim calcmode="lin" valueType="num">
                                      <p:cBhvr>
                                        <p:cTn id="50" dur="500" fill="hold"/>
                                        <p:tgtEl>
                                          <p:spTgt spid="55"/>
                                        </p:tgtEl>
                                        <p:attrNameLst>
                                          <p:attrName>ppt_w</p:attrName>
                                        </p:attrNameLst>
                                      </p:cBhvr>
                                      <p:tavLst>
                                        <p:tav tm="0">
                                          <p:val>
                                            <p:fltVal val="0"/>
                                          </p:val>
                                        </p:tav>
                                        <p:tav tm="100000">
                                          <p:val>
                                            <p:strVal val="#ppt_w"/>
                                          </p:val>
                                        </p:tav>
                                      </p:tavLst>
                                    </p:anim>
                                    <p:anim calcmode="lin" valueType="num">
                                      <p:cBhvr>
                                        <p:cTn id="51" dur="500" fill="hold"/>
                                        <p:tgtEl>
                                          <p:spTgt spid="55"/>
                                        </p:tgtEl>
                                        <p:attrNameLst>
                                          <p:attrName>ppt_h</p:attrName>
                                        </p:attrNameLst>
                                      </p:cBhvr>
                                      <p:tavLst>
                                        <p:tav tm="0">
                                          <p:val>
                                            <p:fltVal val="0"/>
                                          </p:val>
                                        </p:tav>
                                        <p:tav tm="100000">
                                          <p:val>
                                            <p:strVal val="#ppt_h"/>
                                          </p:val>
                                        </p:tav>
                                      </p:tavLst>
                                    </p:anim>
                                    <p:animEffect transition="in" filter="fade">
                                      <p:cBhvr>
                                        <p:cTn id="52" dur="500"/>
                                        <p:tgtEl>
                                          <p:spTgt spid="55"/>
                                        </p:tgtEl>
                                      </p:cBhvr>
                                    </p:animEffect>
                                  </p:childTnLst>
                                </p:cTn>
                              </p:par>
                              <p:par>
                                <p:cTn id="53" presetID="10" presetClass="exit" presetSubtype="0" fill="hold" grpId="0" nodeType="withEffect">
                                  <p:stCondLst>
                                    <p:cond delay="0"/>
                                  </p:stCondLst>
                                  <p:childTnLst>
                                    <p:animEffect transition="out" filter="fade">
                                      <p:cBhvr>
                                        <p:cTn id="54" dur="500"/>
                                        <p:tgtEl>
                                          <p:spTgt spid="60"/>
                                        </p:tgtEl>
                                      </p:cBhvr>
                                    </p:animEffect>
                                    <p:set>
                                      <p:cBhvr>
                                        <p:cTn id="55" dur="1" fill="hold">
                                          <p:stCondLst>
                                            <p:cond delay="499"/>
                                          </p:stCondLst>
                                        </p:cTn>
                                        <p:tgtEl>
                                          <p:spTgt spid="60"/>
                                        </p:tgtEl>
                                        <p:attrNameLst>
                                          <p:attrName>style.visibility</p:attrName>
                                        </p:attrNameLst>
                                      </p:cBhvr>
                                      <p:to>
                                        <p:strVal val="hidden"/>
                                      </p:to>
                                    </p:set>
                                  </p:childTnLst>
                                </p:cTn>
                              </p:par>
                              <p:par>
                                <p:cTn id="56" presetID="10" presetClass="exit" presetSubtype="0" fill="hold" grpId="0" nodeType="withEffect">
                                  <p:stCondLst>
                                    <p:cond delay="0"/>
                                  </p:stCondLst>
                                  <p:childTnLst>
                                    <p:animEffect transition="out" filter="fade">
                                      <p:cBhvr>
                                        <p:cTn id="57" dur="500"/>
                                        <p:tgtEl>
                                          <p:spTgt spid="61"/>
                                        </p:tgtEl>
                                      </p:cBhvr>
                                    </p:animEffect>
                                    <p:set>
                                      <p:cBhvr>
                                        <p:cTn id="58" dur="1" fill="hold">
                                          <p:stCondLst>
                                            <p:cond delay="499"/>
                                          </p:stCondLst>
                                        </p:cTn>
                                        <p:tgtEl>
                                          <p:spTgt spid="61"/>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56"/>
                                        </p:tgtEl>
                                        <p:attrNameLst>
                                          <p:attrName>style.visibility</p:attrName>
                                        </p:attrNameLst>
                                      </p:cBhvr>
                                      <p:to>
                                        <p:strVal val="visible"/>
                                      </p:to>
                                    </p:set>
                                    <p:anim calcmode="lin" valueType="num">
                                      <p:cBhvr>
                                        <p:cTn id="63" dur="500" fill="hold"/>
                                        <p:tgtEl>
                                          <p:spTgt spid="56"/>
                                        </p:tgtEl>
                                        <p:attrNameLst>
                                          <p:attrName>ppt_w</p:attrName>
                                        </p:attrNameLst>
                                      </p:cBhvr>
                                      <p:tavLst>
                                        <p:tav tm="0">
                                          <p:val>
                                            <p:fltVal val="0"/>
                                          </p:val>
                                        </p:tav>
                                        <p:tav tm="100000">
                                          <p:val>
                                            <p:strVal val="#ppt_w"/>
                                          </p:val>
                                        </p:tav>
                                      </p:tavLst>
                                    </p:anim>
                                    <p:anim calcmode="lin" valueType="num">
                                      <p:cBhvr>
                                        <p:cTn id="64" dur="500" fill="hold"/>
                                        <p:tgtEl>
                                          <p:spTgt spid="56"/>
                                        </p:tgtEl>
                                        <p:attrNameLst>
                                          <p:attrName>ppt_h</p:attrName>
                                        </p:attrNameLst>
                                      </p:cBhvr>
                                      <p:tavLst>
                                        <p:tav tm="0">
                                          <p:val>
                                            <p:fltVal val="0"/>
                                          </p:val>
                                        </p:tav>
                                        <p:tav tm="100000">
                                          <p:val>
                                            <p:strVal val="#ppt_h"/>
                                          </p:val>
                                        </p:tav>
                                      </p:tavLst>
                                    </p:anim>
                                    <p:animEffect transition="in" filter="fade">
                                      <p:cBhvr>
                                        <p:cTn id="65" dur="500"/>
                                        <p:tgtEl>
                                          <p:spTgt spid="56"/>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500"/>
                                  </p:stCondLst>
                                  <p:childTnLst>
                                    <p:set>
                                      <p:cBhvr>
                                        <p:cTn id="69" dur="1" fill="hold">
                                          <p:stCondLst>
                                            <p:cond delay="0"/>
                                          </p:stCondLst>
                                        </p:cTn>
                                        <p:tgtEl>
                                          <p:spTgt spid="59"/>
                                        </p:tgtEl>
                                        <p:attrNameLst>
                                          <p:attrName>style.visibility</p:attrName>
                                        </p:attrNameLst>
                                      </p:cBhvr>
                                      <p:to>
                                        <p:strVal val="visible"/>
                                      </p:to>
                                    </p:set>
                                    <p:anim calcmode="lin" valueType="num">
                                      <p:cBhvr>
                                        <p:cTn id="70" dur="500" fill="hold"/>
                                        <p:tgtEl>
                                          <p:spTgt spid="59"/>
                                        </p:tgtEl>
                                        <p:attrNameLst>
                                          <p:attrName>ppt_w</p:attrName>
                                        </p:attrNameLst>
                                      </p:cBhvr>
                                      <p:tavLst>
                                        <p:tav tm="0">
                                          <p:val>
                                            <p:fltVal val="0"/>
                                          </p:val>
                                        </p:tav>
                                        <p:tav tm="100000">
                                          <p:val>
                                            <p:strVal val="#ppt_w"/>
                                          </p:val>
                                        </p:tav>
                                      </p:tavLst>
                                    </p:anim>
                                    <p:anim calcmode="lin" valueType="num">
                                      <p:cBhvr>
                                        <p:cTn id="71" dur="500" fill="hold"/>
                                        <p:tgtEl>
                                          <p:spTgt spid="59"/>
                                        </p:tgtEl>
                                        <p:attrNameLst>
                                          <p:attrName>ppt_h</p:attrName>
                                        </p:attrNameLst>
                                      </p:cBhvr>
                                      <p:tavLst>
                                        <p:tav tm="0">
                                          <p:val>
                                            <p:fltVal val="0"/>
                                          </p:val>
                                        </p:tav>
                                        <p:tav tm="100000">
                                          <p:val>
                                            <p:strVal val="#ppt_h"/>
                                          </p:val>
                                        </p:tav>
                                      </p:tavLst>
                                    </p:anim>
                                    <p:animEffect transition="in" filter="fade">
                                      <p:cBhvr>
                                        <p:cTn id="72" dur="500"/>
                                        <p:tgtEl>
                                          <p:spTgt spid="59"/>
                                        </p:tgtEl>
                                      </p:cBhvr>
                                    </p:animEffect>
                                  </p:childTnLst>
                                </p:cTn>
                              </p:par>
                              <p:par>
                                <p:cTn id="73" presetID="53" presetClass="entr" presetSubtype="16" fill="hold" nodeType="withEffect">
                                  <p:stCondLst>
                                    <p:cond delay="500"/>
                                  </p:stCondLst>
                                  <p:childTnLst>
                                    <p:set>
                                      <p:cBhvr>
                                        <p:cTn id="74" dur="1" fill="hold">
                                          <p:stCondLst>
                                            <p:cond delay="0"/>
                                          </p:stCondLst>
                                        </p:cTn>
                                        <p:tgtEl>
                                          <p:spTgt spid="57"/>
                                        </p:tgtEl>
                                        <p:attrNameLst>
                                          <p:attrName>style.visibility</p:attrName>
                                        </p:attrNameLst>
                                      </p:cBhvr>
                                      <p:to>
                                        <p:strVal val="visible"/>
                                      </p:to>
                                    </p:set>
                                    <p:anim calcmode="lin" valueType="num">
                                      <p:cBhvr>
                                        <p:cTn id="75" dur="500" fill="hold"/>
                                        <p:tgtEl>
                                          <p:spTgt spid="57"/>
                                        </p:tgtEl>
                                        <p:attrNameLst>
                                          <p:attrName>ppt_w</p:attrName>
                                        </p:attrNameLst>
                                      </p:cBhvr>
                                      <p:tavLst>
                                        <p:tav tm="0">
                                          <p:val>
                                            <p:fltVal val="0"/>
                                          </p:val>
                                        </p:tav>
                                        <p:tav tm="100000">
                                          <p:val>
                                            <p:strVal val="#ppt_w"/>
                                          </p:val>
                                        </p:tav>
                                      </p:tavLst>
                                    </p:anim>
                                    <p:anim calcmode="lin" valueType="num">
                                      <p:cBhvr>
                                        <p:cTn id="76" dur="500" fill="hold"/>
                                        <p:tgtEl>
                                          <p:spTgt spid="57"/>
                                        </p:tgtEl>
                                        <p:attrNameLst>
                                          <p:attrName>ppt_h</p:attrName>
                                        </p:attrNameLst>
                                      </p:cBhvr>
                                      <p:tavLst>
                                        <p:tav tm="0">
                                          <p:val>
                                            <p:fltVal val="0"/>
                                          </p:val>
                                        </p:tav>
                                        <p:tav tm="100000">
                                          <p:val>
                                            <p:strVal val="#ppt_h"/>
                                          </p:val>
                                        </p:tav>
                                      </p:tavLst>
                                    </p:anim>
                                    <p:animEffect transition="in" filter="fade">
                                      <p:cBhvr>
                                        <p:cTn id="77" dur="500"/>
                                        <p:tgtEl>
                                          <p:spTgt spid="5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76"/>
                                        </p:tgtEl>
                                        <p:attrNameLst>
                                          <p:attrName>style.visibility</p:attrName>
                                        </p:attrNameLst>
                                      </p:cBhvr>
                                      <p:to>
                                        <p:strVal val="visible"/>
                                      </p:to>
                                    </p:set>
                                    <p:animEffect transition="in" filter="fade">
                                      <p:cBhvr>
                                        <p:cTn id="80" dur="500"/>
                                        <p:tgtEl>
                                          <p:spTgt spid="7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78"/>
                                        </p:tgtEl>
                                        <p:attrNameLst>
                                          <p:attrName>style.visibility</p:attrName>
                                        </p:attrNameLst>
                                      </p:cBhvr>
                                      <p:to>
                                        <p:strVal val="visible"/>
                                      </p:to>
                                    </p:set>
                                    <p:animEffect transition="in" filter="fade">
                                      <p:cBhvr>
                                        <p:cTn id="83"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84" fill="hold" display="0">
                  <p:stCondLst>
                    <p:cond delay="indefinite"/>
                  </p:stCondLst>
                </p:cTn>
                <p:tgtEl>
                  <p:spTgt spid="2"/>
                </p:tgtEl>
              </p:cMediaNode>
            </p:video>
          </p:childTnLst>
        </p:cTn>
      </p:par>
    </p:tnLst>
    <p:bldLst>
      <p:bldP spid="60" grpId="0" animBg="1"/>
      <p:bldP spid="61" grpId="0"/>
      <p:bldP spid="62" grpId="0" animBg="1"/>
      <p:bldP spid="63" grpId="0"/>
      <p:bldP spid="76" grpId="0"/>
      <p:bldP spid="7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A4371-7F3A-229C-7471-D25A7A2FF076}"/>
            </a:ext>
          </a:extLst>
        </p:cNvPr>
        <p:cNvGrpSpPr/>
        <p:nvPr/>
      </p:nvGrpSpPr>
      <p:grpSpPr>
        <a:xfrm>
          <a:off x="0" y="0"/>
          <a:ext cx="0" cy="0"/>
          <a:chOff x="0" y="0"/>
          <a:chExt cx="0" cy="0"/>
        </a:xfrm>
      </p:grpSpPr>
      <p:sp>
        <p:nvSpPr>
          <p:cNvPr id="6" name="!!title">
            <a:extLst>
              <a:ext uri="{FF2B5EF4-FFF2-40B4-BE49-F238E27FC236}">
                <a16:creationId xmlns:a16="http://schemas.microsoft.com/office/drawing/2014/main" id="{473E1774-C124-E5EE-C95A-DF9489703012}"/>
              </a:ext>
            </a:extLst>
          </p:cNvPr>
          <p:cNvSpPr txBox="1"/>
          <p:nvPr/>
        </p:nvSpPr>
        <p:spPr>
          <a:xfrm>
            <a:off x="923544" y="1386046"/>
            <a:ext cx="10625328" cy="553998"/>
          </a:xfrm>
          <a:prstGeom prst="rect">
            <a:avLst/>
          </a:prstGeom>
          <a:noFill/>
        </p:spPr>
        <p:txBody>
          <a:bodyPr wrap="square" lIns="0" tIns="0" rIns="0" bIns="0" anchor="t">
            <a:spAutoFit/>
          </a:bodyPr>
          <a:lstStyle/>
          <a:p>
            <a:r>
              <a:rPr lang="en-US" sz="3600" dirty="0">
                <a:solidFill>
                  <a:srgbClr val="00B050"/>
                </a:solidFill>
                <a:latin typeface="Google Sans Flex SemiBold"/>
              </a:rPr>
              <a:t>Ground operations</a:t>
            </a:r>
            <a:r>
              <a:rPr lang="en-US" sz="3600" dirty="0">
                <a:latin typeface="Google Sans Flex Light"/>
              </a:rPr>
              <a:t> break in ways no plan expects</a:t>
            </a:r>
          </a:p>
        </p:txBody>
      </p:sp>
      <p:grpSp>
        <p:nvGrpSpPr>
          <p:cNvPr id="75" name="Group 74">
            <a:extLst>
              <a:ext uri="{FF2B5EF4-FFF2-40B4-BE49-F238E27FC236}">
                <a16:creationId xmlns:a16="http://schemas.microsoft.com/office/drawing/2014/main" id="{08B37DB6-6145-84C1-FB05-A4563E982A87}"/>
              </a:ext>
            </a:extLst>
          </p:cNvPr>
          <p:cNvGrpSpPr/>
          <p:nvPr/>
        </p:nvGrpSpPr>
        <p:grpSpPr>
          <a:xfrm>
            <a:off x="923544" y="2253972"/>
            <a:ext cx="3246120" cy="1738439"/>
            <a:chOff x="923544" y="2253972"/>
            <a:chExt cx="3246120" cy="1738439"/>
          </a:xfrm>
        </p:grpSpPr>
        <p:sp>
          <p:nvSpPr>
            <p:cNvPr id="21" name="!!edge0">
              <a:extLst>
                <a:ext uri="{FF2B5EF4-FFF2-40B4-BE49-F238E27FC236}">
                  <a16:creationId xmlns:a16="http://schemas.microsoft.com/office/drawing/2014/main" id="{DABDAE74-4F2E-D984-854D-54E8D074074D}"/>
                </a:ext>
              </a:extLst>
            </p:cNvPr>
            <p:cNvSpPr/>
            <p:nvPr/>
          </p:nvSpPr>
          <p:spPr>
            <a:xfrm>
              <a:off x="923544" y="2253972"/>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34" name="!!edge0-text">
              <a:extLst>
                <a:ext uri="{FF2B5EF4-FFF2-40B4-BE49-F238E27FC236}">
                  <a16:creationId xmlns:a16="http://schemas.microsoft.com/office/drawing/2014/main" id="{3889C42B-EDD8-99EC-4A2D-8294739D4D23}"/>
                </a:ext>
              </a:extLst>
            </p:cNvPr>
            <p:cNvSpPr txBox="1"/>
            <p:nvPr/>
          </p:nvSpPr>
          <p:spPr>
            <a:xfrm>
              <a:off x="1216152" y="2482574"/>
              <a:ext cx="2779776" cy="615553"/>
            </a:xfrm>
            <a:prstGeom prst="rect">
              <a:avLst/>
            </a:prstGeom>
            <a:noFill/>
          </p:spPr>
          <p:txBody>
            <a:bodyPr wrap="square" lIns="0" tIns="0" rIns="0" bIns="0" anchor="t">
              <a:spAutoFit/>
            </a:bodyPr>
            <a:lstStyle/>
            <a:p>
              <a:pPr algn="l"/>
              <a:r>
                <a:rPr sz="2000" dirty="0">
                  <a:latin typeface="Google Sans Flex SemiBold"/>
                </a:rPr>
                <a:t>On time, but the store closed early today</a:t>
              </a:r>
            </a:p>
          </p:txBody>
        </p:sp>
      </p:grpSp>
      <p:grpSp>
        <p:nvGrpSpPr>
          <p:cNvPr id="73" name="Group 72">
            <a:extLst>
              <a:ext uri="{FF2B5EF4-FFF2-40B4-BE49-F238E27FC236}">
                <a16:creationId xmlns:a16="http://schemas.microsoft.com/office/drawing/2014/main" id="{531D74F8-DA0B-53E3-90BD-491FD9F520B5}"/>
              </a:ext>
            </a:extLst>
          </p:cNvPr>
          <p:cNvGrpSpPr/>
          <p:nvPr/>
        </p:nvGrpSpPr>
        <p:grpSpPr>
          <a:xfrm>
            <a:off x="4443984" y="2253972"/>
            <a:ext cx="3246120" cy="1738439"/>
            <a:chOff x="4443984" y="2253972"/>
            <a:chExt cx="3246120" cy="1738439"/>
          </a:xfrm>
        </p:grpSpPr>
        <p:sp>
          <p:nvSpPr>
            <p:cNvPr id="65" name="!!edge0">
              <a:extLst>
                <a:ext uri="{FF2B5EF4-FFF2-40B4-BE49-F238E27FC236}">
                  <a16:creationId xmlns:a16="http://schemas.microsoft.com/office/drawing/2014/main" id="{CCC3FF67-0A84-B34D-95B8-728F10D6AF0F}"/>
                </a:ext>
              </a:extLst>
            </p:cNvPr>
            <p:cNvSpPr/>
            <p:nvPr/>
          </p:nvSpPr>
          <p:spPr>
            <a:xfrm>
              <a:off x="4443984" y="2253972"/>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40" name="!!edge1-text">
              <a:extLst>
                <a:ext uri="{FF2B5EF4-FFF2-40B4-BE49-F238E27FC236}">
                  <a16:creationId xmlns:a16="http://schemas.microsoft.com/office/drawing/2014/main" id="{5E06CB9A-126F-198B-51E3-6220469AEDD6}"/>
                </a:ext>
              </a:extLst>
            </p:cNvPr>
            <p:cNvSpPr txBox="1"/>
            <p:nvPr/>
          </p:nvSpPr>
          <p:spPr>
            <a:xfrm>
              <a:off x="4736592" y="2482574"/>
              <a:ext cx="2779776" cy="923330"/>
            </a:xfrm>
            <a:prstGeom prst="rect">
              <a:avLst/>
            </a:prstGeom>
            <a:noFill/>
          </p:spPr>
          <p:txBody>
            <a:bodyPr wrap="square" lIns="0" tIns="0" rIns="0" bIns="0" anchor="t">
              <a:spAutoFit/>
            </a:bodyPr>
            <a:lstStyle/>
            <a:p>
              <a:pPr algn="l"/>
              <a:r>
                <a:rPr sz="2000" dirty="0">
                  <a:latin typeface="Google Sans Flex SemiBold"/>
                </a:rPr>
                <a:t>The store is open, the mall's loading bay is not</a:t>
              </a:r>
            </a:p>
          </p:txBody>
        </p:sp>
      </p:grpSp>
      <p:grpSp>
        <p:nvGrpSpPr>
          <p:cNvPr id="71" name="Group 70">
            <a:extLst>
              <a:ext uri="{FF2B5EF4-FFF2-40B4-BE49-F238E27FC236}">
                <a16:creationId xmlns:a16="http://schemas.microsoft.com/office/drawing/2014/main" id="{967C17FA-EDE1-658F-A93E-A55A4F44B9D0}"/>
              </a:ext>
            </a:extLst>
          </p:cNvPr>
          <p:cNvGrpSpPr/>
          <p:nvPr/>
        </p:nvGrpSpPr>
        <p:grpSpPr>
          <a:xfrm>
            <a:off x="7964424" y="2253972"/>
            <a:ext cx="3246120" cy="1738439"/>
            <a:chOff x="7964424" y="2253972"/>
            <a:chExt cx="3246120" cy="1738439"/>
          </a:xfrm>
        </p:grpSpPr>
        <p:sp>
          <p:nvSpPr>
            <p:cNvPr id="66" name="!!edge0">
              <a:extLst>
                <a:ext uri="{FF2B5EF4-FFF2-40B4-BE49-F238E27FC236}">
                  <a16:creationId xmlns:a16="http://schemas.microsoft.com/office/drawing/2014/main" id="{61029B7B-8BF7-9830-8AE9-35D3CCF9EC7A}"/>
                </a:ext>
              </a:extLst>
            </p:cNvPr>
            <p:cNvSpPr/>
            <p:nvPr/>
          </p:nvSpPr>
          <p:spPr>
            <a:xfrm>
              <a:off x="7964424" y="2253972"/>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46" name="!!edge2-text">
              <a:extLst>
                <a:ext uri="{FF2B5EF4-FFF2-40B4-BE49-F238E27FC236}">
                  <a16:creationId xmlns:a16="http://schemas.microsoft.com/office/drawing/2014/main" id="{81D82FAF-2809-5DE0-98C3-15ECC4590A41}"/>
                </a:ext>
              </a:extLst>
            </p:cNvPr>
            <p:cNvSpPr txBox="1"/>
            <p:nvPr/>
          </p:nvSpPr>
          <p:spPr>
            <a:xfrm>
              <a:off x="8257032" y="2482574"/>
              <a:ext cx="2779776" cy="923330"/>
            </a:xfrm>
            <a:prstGeom prst="rect">
              <a:avLst/>
            </a:prstGeom>
            <a:noFill/>
          </p:spPr>
          <p:txBody>
            <a:bodyPr wrap="square" lIns="0" tIns="0" rIns="0" bIns="0" anchor="t">
              <a:spAutoFit/>
            </a:bodyPr>
            <a:lstStyle/>
            <a:p>
              <a:pPr algn="l"/>
              <a:r>
                <a:rPr sz="2000">
                  <a:latin typeface="Google Sans Flex SemiBold"/>
                </a:rPr>
                <a:t>A van breaks down with chilled goods inside</a:t>
              </a:r>
            </a:p>
          </p:txBody>
        </p:sp>
      </p:grpSp>
      <p:grpSp>
        <p:nvGrpSpPr>
          <p:cNvPr id="74" name="Group 73">
            <a:extLst>
              <a:ext uri="{FF2B5EF4-FFF2-40B4-BE49-F238E27FC236}">
                <a16:creationId xmlns:a16="http://schemas.microsoft.com/office/drawing/2014/main" id="{02DC4140-BDF4-31BE-F088-26596BC77CBD}"/>
              </a:ext>
            </a:extLst>
          </p:cNvPr>
          <p:cNvGrpSpPr/>
          <p:nvPr/>
        </p:nvGrpSpPr>
        <p:grpSpPr>
          <a:xfrm>
            <a:off x="923544" y="4232109"/>
            <a:ext cx="3246120" cy="1738439"/>
            <a:chOff x="923544" y="4232109"/>
            <a:chExt cx="3246120" cy="1738439"/>
          </a:xfrm>
        </p:grpSpPr>
        <p:sp>
          <p:nvSpPr>
            <p:cNvPr id="67" name="!!edge0">
              <a:extLst>
                <a:ext uri="{FF2B5EF4-FFF2-40B4-BE49-F238E27FC236}">
                  <a16:creationId xmlns:a16="http://schemas.microsoft.com/office/drawing/2014/main" id="{31C3AFC3-3FF1-00DA-2A8B-186A47C9C138}"/>
                </a:ext>
              </a:extLst>
            </p:cNvPr>
            <p:cNvSpPr/>
            <p:nvPr/>
          </p:nvSpPr>
          <p:spPr>
            <a:xfrm>
              <a:off x="923544" y="4232109"/>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2" name="!!edge3-text">
              <a:extLst>
                <a:ext uri="{FF2B5EF4-FFF2-40B4-BE49-F238E27FC236}">
                  <a16:creationId xmlns:a16="http://schemas.microsoft.com/office/drawing/2014/main" id="{A72D823C-8531-18DF-09AB-FFFB92DBA73E}"/>
                </a:ext>
              </a:extLst>
            </p:cNvPr>
            <p:cNvSpPr txBox="1"/>
            <p:nvPr/>
          </p:nvSpPr>
          <p:spPr>
            <a:xfrm>
              <a:off x="1216152" y="4460710"/>
              <a:ext cx="2779776" cy="615553"/>
            </a:xfrm>
            <a:prstGeom prst="rect">
              <a:avLst/>
            </a:prstGeom>
            <a:noFill/>
          </p:spPr>
          <p:txBody>
            <a:bodyPr wrap="square" lIns="0" tIns="0" rIns="0" bIns="0" anchor="t">
              <a:spAutoFit/>
            </a:bodyPr>
            <a:lstStyle/>
            <a:p>
              <a:pPr algn="l"/>
              <a:r>
                <a:rPr sz="2000">
                  <a:latin typeface="Google Sans Flex SemiBold"/>
                </a:rPr>
                <a:t>Nobody at the store to receive</a:t>
              </a:r>
            </a:p>
          </p:txBody>
        </p:sp>
      </p:grpSp>
      <p:grpSp>
        <p:nvGrpSpPr>
          <p:cNvPr id="72" name="Group 71">
            <a:extLst>
              <a:ext uri="{FF2B5EF4-FFF2-40B4-BE49-F238E27FC236}">
                <a16:creationId xmlns:a16="http://schemas.microsoft.com/office/drawing/2014/main" id="{2A8D7AAD-2675-0032-E8C9-B571B24B9A87}"/>
              </a:ext>
            </a:extLst>
          </p:cNvPr>
          <p:cNvGrpSpPr/>
          <p:nvPr/>
        </p:nvGrpSpPr>
        <p:grpSpPr>
          <a:xfrm>
            <a:off x="4443984" y="4232109"/>
            <a:ext cx="3246120" cy="1738439"/>
            <a:chOff x="4443984" y="4232109"/>
            <a:chExt cx="3246120" cy="1738439"/>
          </a:xfrm>
        </p:grpSpPr>
        <p:sp>
          <p:nvSpPr>
            <p:cNvPr id="68" name="!!edge0">
              <a:extLst>
                <a:ext uri="{FF2B5EF4-FFF2-40B4-BE49-F238E27FC236}">
                  <a16:creationId xmlns:a16="http://schemas.microsoft.com/office/drawing/2014/main" id="{7F8251C4-453E-FF81-8945-D4CC8A8D8F26}"/>
                </a:ext>
              </a:extLst>
            </p:cNvPr>
            <p:cNvSpPr/>
            <p:nvPr/>
          </p:nvSpPr>
          <p:spPr>
            <a:xfrm>
              <a:off x="4443984" y="4232109"/>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8" name="!!edge4-text">
              <a:extLst>
                <a:ext uri="{FF2B5EF4-FFF2-40B4-BE49-F238E27FC236}">
                  <a16:creationId xmlns:a16="http://schemas.microsoft.com/office/drawing/2014/main" id="{0D7177BD-3936-35AA-E05B-9056962322C2}"/>
                </a:ext>
              </a:extLst>
            </p:cNvPr>
            <p:cNvSpPr txBox="1"/>
            <p:nvPr/>
          </p:nvSpPr>
          <p:spPr>
            <a:xfrm>
              <a:off x="4736592" y="4460710"/>
              <a:ext cx="2779776" cy="923330"/>
            </a:xfrm>
            <a:prstGeom prst="rect">
              <a:avLst/>
            </a:prstGeom>
            <a:noFill/>
          </p:spPr>
          <p:txBody>
            <a:bodyPr wrap="square" lIns="0" tIns="0" rIns="0" bIns="0" anchor="t">
              <a:spAutoFit/>
            </a:bodyPr>
            <a:lstStyle/>
            <a:p>
              <a:pPr algn="l"/>
              <a:r>
                <a:rPr sz="2000">
                  <a:latin typeface="Google Sans Flex SemiBold"/>
                </a:rPr>
                <a:t>Loader: “all loaded.” Store: “three cartons missing.”</a:t>
              </a:r>
            </a:p>
          </p:txBody>
        </p:sp>
      </p:grpSp>
      <p:grpSp>
        <p:nvGrpSpPr>
          <p:cNvPr id="70" name="Group 69">
            <a:extLst>
              <a:ext uri="{FF2B5EF4-FFF2-40B4-BE49-F238E27FC236}">
                <a16:creationId xmlns:a16="http://schemas.microsoft.com/office/drawing/2014/main" id="{1A605A9E-EE90-00C9-0CF7-BB7BE131F148}"/>
              </a:ext>
            </a:extLst>
          </p:cNvPr>
          <p:cNvGrpSpPr/>
          <p:nvPr/>
        </p:nvGrpSpPr>
        <p:grpSpPr>
          <a:xfrm>
            <a:off x="7964424" y="4232109"/>
            <a:ext cx="3246120" cy="1738439"/>
            <a:chOff x="7964424" y="4232109"/>
            <a:chExt cx="3246120" cy="1738439"/>
          </a:xfrm>
        </p:grpSpPr>
        <p:sp>
          <p:nvSpPr>
            <p:cNvPr id="69" name="!!edge0">
              <a:extLst>
                <a:ext uri="{FF2B5EF4-FFF2-40B4-BE49-F238E27FC236}">
                  <a16:creationId xmlns:a16="http://schemas.microsoft.com/office/drawing/2014/main" id="{F2009A24-884C-E348-E49D-E85BF5DC5E28}"/>
                </a:ext>
              </a:extLst>
            </p:cNvPr>
            <p:cNvSpPr/>
            <p:nvPr/>
          </p:nvSpPr>
          <p:spPr>
            <a:xfrm>
              <a:off x="7964424" y="4232109"/>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64" name="!!edge5-text">
              <a:extLst>
                <a:ext uri="{FF2B5EF4-FFF2-40B4-BE49-F238E27FC236}">
                  <a16:creationId xmlns:a16="http://schemas.microsoft.com/office/drawing/2014/main" id="{57715A22-DB78-591E-5236-665F26A2CA67}"/>
                </a:ext>
              </a:extLst>
            </p:cNvPr>
            <p:cNvSpPr txBox="1"/>
            <p:nvPr/>
          </p:nvSpPr>
          <p:spPr>
            <a:xfrm>
              <a:off x="8257032" y="4460710"/>
              <a:ext cx="2779776" cy="1231106"/>
            </a:xfrm>
            <a:prstGeom prst="rect">
              <a:avLst/>
            </a:prstGeom>
            <a:noFill/>
          </p:spPr>
          <p:txBody>
            <a:bodyPr wrap="square" lIns="0" tIns="0" rIns="0" bIns="0" anchor="t">
              <a:spAutoFit/>
            </a:bodyPr>
            <a:lstStyle/>
            <a:p>
              <a:pPr algn="l"/>
              <a:r>
                <a:rPr sz="2000">
                  <a:latin typeface="Google Sans Flex SemiBold"/>
                </a:rPr>
                <a:t>Delivered with no signal, while the dispatcher skipped that store</a:t>
              </a:r>
            </a:p>
          </p:txBody>
        </p:sp>
      </p:grpSp>
      <p:grpSp>
        <p:nvGrpSpPr>
          <p:cNvPr id="8" name="Group 7">
            <a:extLst>
              <a:ext uri="{FF2B5EF4-FFF2-40B4-BE49-F238E27FC236}">
                <a16:creationId xmlns:a16="http://schemas.microsoft.com/office/drawing/2014/main" id="{96E522D4-5F12-BF11-90D8-D50DEEDB6C6C}"/>
              </a:ext>
            </a:extLst>
          </p:cNvPr>
          <p:cNvGrpSpPr/>
          <p:nvPr/>
        </p:nvGrpSpPr>
        <p:grpSpPr>
          <a:xfrm>
            <a:off x="923544" y="640080"/>
            <a:ext cx="7516368" cy="506975"/>
            <a:chOff x="923544" y="640080"/>
            <a:chExt cx="7516368" cy="506975"/>
          </a:xfrm>
        </p:grpSpPr>
        <p:sp>
          <p:nvSpPr>
            <p:cNvPr id="3" name="!!edge0">
              <a:extLst>
                <a:ext uri="{FF2B5EF4-FFF2-40B4-BE49-F238E27FC236}">
                  <a16:creationId xmlns:a16="http://schemas.microsoft.com/office/drawing/2014/main" id="{9B9B2A68-633B-D266-4A9A-64C9C3175DB9}"/>
                </a:ext>
              </a:extLst>
            </p:cNvPr>
            <p:cNvSpPr/>
            <p:nvPr/>
          </p:nvSpPr>
          <p:spPr>
            <a:xfrm>
              <a:off x="923544" y="640080"/>
              <a:ext cx="2569051"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7" name="!!section">
              <a:extLst>
                <a:ext uri="{FF2B5EF4-FFF2-40B4-BE49-F238E27FC236}">
                  <a16:creationId xmlns:a16="http://schemas.microsoft.com/office/drawing/2014/main" id="{213EEDA9-8FFE-7957-B716-24B7DF847771}"/>
                </a:ext>
              </a:extLst>
            </p:cNvPr>
            <p:cNvSpPr txBox="1"/>
            <p:nvPr/>
          </p:nvSpPr>
          <p:spPr>
            <a:xfrm>
              <a:off x="1124712" y="777723"/>
              <a:ext cx="7315200" cy="369332"/>
            </a:xfrm>
            <a:prstGeom prst="rect">
              <a:avLst/>
            </a:prstGeom>
            <a:noFill/>
          </p:spPr>
          <p:txBody>
            <a:bodyPr wrap="square" lIns="0" tIns="0" rIns="0" bIns="0" anchor="t">
              <a:spAutoFit/>
            </a:bodyPr>
            <a:lstStyle/>
            <a:p>
              <a:r>
                <a:rPr lang="en-US" sz="1200" dirty="0">
                  <a:solidFill>
                    <a:srgbClr val="006A62"/>
                  </a:solidFill>
                  <a:latin typeface="Google Sans Flex SemiBold"/>
                </a:rPr>
                <a:t>Problem 3 · Poor Coordination</a:t>
              </a:r>
            </a:p>
            <a:p>
              <a:endParaRPr lang="en-US" sz="1200" dirty="0">
                <a:solidFill>
                  <a:srgbClr val="006A62"/>
                </a:solidFill>
                <a:latin typeface="Google Sans Flex SemiBold"/>
              </a:endParaRPr>
            </a:p>
          </p:txBody>
        </p:sp>
      </p:grpSp>
      <p:cxnSp>
        <p:nvCxnSpPr>
          <p:cNvPr id="9" name="!!route-line">
            <a:extLst>
              <a:ext uri="{FF2B5EF4-FFF2-40B4-BE49-F238E27FC236}">
                <a16:creationId xmlns:a16="http://schemas.microsoft.com/office/drawing/2014/main" id="{6B58A03B-BA19-A4F7-91FD-2E5CB4AB24CF}"/>
              </a:ext>
            </a:extLst>
          </p:cNvPr>
          <p:cNvCxnSpPr>
            <a:cxnSpLocks/>
          </p:cNvCxnSpPr>
          <p:nvPr/>
        </p:nvCxnSpPr>
        <p:spPr>
          <a:xfrm flipV="1">
            <a:off x="14333981" y="2531061"/>
            <a:ext cx="7840980" cy="11018"/>
          </a:xfrm>
          <a:prstGeom prst="line">
            <a:avLst/>
          </a:prstGeom>
          <a:ln w="38100">
            <a:solidFill>
              <a:srgbClr val="C9D1CC"/>
            </a:solidFill>
          </a:ln>
        </p:spPr>
        <p:style>
          <a:lnRef idx="2">
            <a:schemeClr val="accent1"/>
          </a:lnRef>
          <a:fillRef idx="0">
            <a:schemeClr val="accent1"/>
          </a:fillRef>
          <a:effectRef idx="1">
            <a:schemeClr val="accent1"/>
          </a:effectRef>
          <a:fontRef idx="minor">
            <a:schemeClr val="tx1"/>
          </a:fontRef>
        </p:style>
      </p:cxnSp>
      <p:grpSp>
        <p:nvGrpSpPr>
          <p:cNvPr id="10" name="Group 9">
            <a:extLst>
              <a:ext uri="{FF2B5EF4-FFF2-40B4-BE49-F238E27FC236}">
                <a16:creationId xmlns:a16="http://schemas.microsoft.com/office/drawing/2014/main" id="{024BA3A8-2C72-2AB2-03E1-4D5D94EFBD40}"/>
              </a:ext>
            </a:extLst>
          </p:cNvPr>
          <p:cNvGrpSpPr/>
          <p:nvPr/>
        </p:nvGrpSpPr>
        <p:grpSpPr>
          <a:xfrm>
            <a:off x="13286994" y="640080"/>
            <a:ext cx="7516368" cy="506975"/>
            <a:chOff x="923544" y="640080"/>
            <a:chExt cx="7516368" cy="506975"/>
          </a:xfrm>
        </p:grpSpPr>
        <p:sp>
          <p:nvSpPr>
            <p:cNvPr id="11" name="!!edge0">
              <a:extLst>
                <a:ext uri="{FF2B5EF4-FFF2-40B4-BE49-F238E27FC236}">
                  <a16:creationId xmlns:a16="http://schemas.microsoft.com/office/drawing/2014/main" id="{632DC136-2165-F62B-8053-C99F1D079F42}"/>
                </a:ext>
              </a:extLst>
            </p:cNvPr>
            <p:cNvSpPr/>
            <p:nvPr/>
          </p:nvSpPr>
          <p:spPr>
            <a:xfrm>
              <a:off x="923544" y="640080"/>
              <a:ext cx="2569051"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2" name="!!section">
              <a:extLst>
                <a:ext uri="{FF2B5EF4-FFF2-40B4-BE49-F238E27FC236}">
                  <a16:creationId xmlns:a16="http://schemas.microsoft.com/office/drawing/2014/main" id="{4F0E9681-2CED-9A9E-FA11-1FF99A921D8B}"/>
                </a:ext>
              </a:extLst>
            </p:cNvPr>
            <p:cNvSpPr txBox="1"/>
            <p:nvPr/>
          </p:nvSpPr>
          <p:spPr>
            <a:xfrm>
              <a:off x="1124712" y="777723"/>
              <a:ext cx="7315200" cy="369332"/>
            </a:xfrm>
            <a:prstGeom prst="rect">
              <a:avLst/>
            </a:prstGeom>
            <a:noFill/>
          </p:spPr>
          <p:txBody>
            <a:bodyPr wrap="square" lIns="0" tIns="0" rIns="0" bIns="0" anchor="t">
              <a:spAutoFit/>
            </a:bodyPr>
            <a:lstStyle/>
            <a:p>
              <a:r>
                <a:rPr lang="en-US" sz="1200" dirty="0">
                  <a:solidFill>
                    <a:srgbClr val="006A62"/>
                  </a:solidFill>
                  <a:latin typeface="Google Sans Flex SemiBold"/>
                </a:rPr>
                <a:t>Problem 3 · Poor Coordination</a:t>
              </a:r>
            </a:p>
            <a:p>
              <a:endParaRPr lang="en-US" sz="1200" dirty="0">
                <a:solidFill>
                  <a:srgbClr val="006A62"/>
                </a:solidFill>
                <a:latin typeface="Google Sans Flex SemiBold"/>
              </a:endParaRPr>
            </a:p>
          </p:txBody>
        </p:sp>
      </p:grpSp>
      <p:sp>
        <p:nvSpPr>
          <p:cNvPr id="13" name="!!title">
            <a:extLst>
              <a:ext uri="{FF2B5EF4-FFF2-40B4-BE49-F238E27FC236}">
                <a16:creationId xmlns:a16="http://schemas.microsoft.com/office/drawing/2014/main" id="{DC416473-56EA-4384-8BA7-53500D199BFF}"/>
              </a:ext>
            </a:extLst>
          </p:cNvPr>
          <p:cNvSpPr txBox="1"/>
          <p:nvPr/>
        </p:nvSpPr>
        <p:spPr>
          <a:xfrm>
            <a:off x="13286994" y="1386046"/>
            <a:ext cx="10625328" cy="553998"/>
          </a:xfrm>
          <a:prstGeom prst="rect">
            <a:avLst/>
          </a:prstGeom>
          <a:noFill/>
        </p:spPr>
        <p:txBody>
          <a:bodyPr wrap="square" lIns="0" tIns="0" rIns="0" bIns="0" anchor="t">
            <a:spAutoFit/>
          </a:bodyPr>
          <a:lstStyle/>
          <a:p>
            <a:r>
              <a:rPr lang="en-US" sz="3600" dirty="0">
                <a:solidFill>
                  <a:srgbClr val="00B050"/>
                </a:solidFill>
                <a:latin typeface="Google Sans Flex SemiBold"/>
              </a:rPr>
              <a:t>Now, a trip</a:t>
            </a:r>
            <a:r>
              <a:rPr lang="en-US" sz="3600" dirty="0">
                <a:latin typeface="Google Sans Flex Light"/>
              </a:rPr>
              <a:t> on the road</a:t>
            </a:r>
          </a:p>
        </p:txBody>
      </p:sp>
      <p:pic>
        <p:nvPicPr>
          <p:cNvPr id="14" name="Picture 13">
            <a:extLst>
              <a:ext uri="{FF2B5EF4-FFF2-40B4-BE49-F238E27FC236}">
                <a16:creationId xmlns:a16="http://schemas.microsoft.com/office/drawing/2014/main" id="{848BD355-E52F-6BF6-789C-86563030D2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3111435" y="3340591"/>
            <a:ext cx="10743272" cy="3493008"/>
          </a:xfrm>
          <a:prstGeom prst="rect">
            <a:avLst/>
          </a:prstGeom>
        </p:spPr>
      </p:pic>
      <p:grpSp>
        <p:nvGrpSpPr>
          <p:cNvPr id="15" name="Group 14">
            <a:extLst>
              <a:ext uri="{FF2B5EF4-FFF2-40B4-BE49-F238E27FC236}">
                <a16:creationId xmlns:a16="http://schemas.microsoft.com/office/drawing/2014/main" id="{98249DB3-7421-BB02-B0C7-2B7EB4B7F168}"/>
              </a:ext>
            </a:extLst>
          </p:cNvPr>
          <p:cNvGrpSpPr/>
          <p:nvPr/>
        </p:nvGrpSpPr>
        <p:grpSpPr>
          <a:xfrm>
            <a:off x="13286994" y="2247098"/>
            <a:ext cx="1636776" cy="553998"/>
            <a:chOff x="923544" y="2247098"/>
            <a:chExt cx="1636776" cy="553998"/>
          </a:xfrm>
        </p:grpSpPr>
        <p:sp>
          <p:nvSpPr>
            <p:cNvPr id="16" name="!!edge0">
              <a:extLst>
                <a:ext uri="{FF2B5EF4-FFF2-40B4-BE49-F238E27FC236}">
                  <a16:creationId xmlns:a16="http://schemas.microsoft.com/office/drawing/2014/main" id="{4B704676-BEBF-31A7-78B3-C9DD08CB284E}"/>
                </a:ext>
              </a:extLst>
            </p:cNvPr>
            <p:cNvSpPr/>
            <p:nvPr/>
          </p:nvSpPr>
          <p:spPr>
            <a:xfrm>
              <a:off x="923544" y="2247098"/>
              <a:ext cx="1636776" cy="553998"/>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7" name="!!tool0-head">
              <a:extLst>
                <a:ext uri="{FF2B5EF4-FFF2-40B4-BE49-F238E27FC236}">
                  <a16:creationId xmlns:a16="http://schemas.microsoft.com/office/drawing/2014/main" id="{765F2E37-FCD3-20D2-41E0-D672E4623AAE}"/>
                </a:ext>
              </a:extLst>
            </p:cNvPr>
            <p:cNvSpPr txBox="1"/>
            <p:nvPr/>
          </p:nvSpPr>
          <p:spPr>
            <a:xfrm>
              <a:off x="1177409" y="2370208"/>
              <a:ext cx="1129045" cy="307777"/>
            </a:xfrm>
            <a:prstGeom prst="rect">
              <a:avLst/>
            </a:prstGeom>
            <a:noFill/>
          </p:spPr>
          <p:txBody>
            <a:bodyPr wrap="square" lIns="0" tIns="0" rIns="0" bIns="0" anchor="t">
              <a:spAutoFit/>
            </a:bodyPr>
            <a:lstStyle/>
            <a:p>
              <a:pPr algn="ctr"/>
              <a:r>
                <a:rPr lang="en-GB" sz="2000" dirty="0">
                  <a:latin typeface="Google Sans Flex SemiBold"/>
                </a:rPr>
                <a:t>Store 1</a:t>
              </a:r>
              <a:endParaRPr sz="2000" dirty="0">
                <a:latin typeface="Google Sans Flex SemiBold"/>
              </a:endParaRPr>
            </a:p>
          </p:txBody>
        </p:sp>
      </p:grpSp>
      <p:grpSp>
        <p:nvGrpSpPr>
          <p:cNvPr id="18" name="Group 17">
            <a:extLst>
              <a:ext uri="{FF2B5EF4-FFF2-40B4-BE49-F238E27FC236}">
                <a16:creationId xmlns:a16="http://schemas.microsoft.com/office/drawing/2014/main" id="{EF53C410-F20D-FC93-2ADD-236A014F318F}"/>
              </a:ext>
            </a:extLst>
          </p:cNvPr>
          <p:cNvGrpSpPr/>
          <p:nvPr/>
        </p:nvGrpSpPr>
        <p:grpSpPr>
          <a:xfrm>
            <a:off x="15361539" y="2247098"/>
            <a:ext cx="1636776" cy="553998"/>
            <a:chOff x="2998089" y="2247098"/>
            <a:chExt cx="1636776" cy="553998"/>
          </a:xfrm>
        </p:grpSpPr>
        <p:sp>
          <p:nvSpPr>
            <p:cNvPr id="19" name="!!edge0">
              <a:extLst>
                <a:ext uri="{FF2B5EF4-FFF2-40B4-BE49-F238E27FC236}">
                  <a16:creationId xmlns:a16="http://schemas.microsoft.com/office/drawing/2014/main" id="{F2670078-2588-3F27-CBB6-E8A181E18A1A}"/>
                </a:ext>
              </a:extLst>
            </p:cNvPr>
            <p:cNvSpPr/>
            <p:nvPr/>
          </p:nvSpPr>
          <p:spPr>
            <a:xfrm>
              <a:off x="2998089" y="2247098"/>
              <a:ext cx="1636776" cy="553998"/>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0" name="!!tool0-head">
              <a:extLst>
                <a:ext uri="{FF2B5EF4-FFF2-40B4-BE49-F238E27FC236}">
                  <a16:creationId xmlns:a16="http://schemas.microsoft.com/office/drawing/2014/main" id="{30746834-CE01-C554-9E0E-015565C4998A}"/>
                </a:ext>
              </a:extLst>
            </p:cNvPr>
            <p:cNvSpPr txBox="1"/>
            <p:nvPr/>
          </p:nvSpPr>
          <p:spPr>
            <a:xfrm>
              <a:off x="3251954" y="2370208"/>
              <a:ext cx="1129045" cy="307777"/>
            </a:xfrm>
            <a:prstGeom prst="rect">
              <a:avLst/>
            </a:prstGeom>
            <a:noFill/>
          </p:spPr>
          <p:txBody>
            <a:bodyPr wrap="square" lIns="0" tIns="0" rIns="0" bIns="0" anchor="t">
              <a:spAutoFit/>
            </a:bodyPr>
            <a:lstStyle/>
            <a:p>
              <a:pPr algn="ctr"/>
              <a:r>
                <a:rPr lang="en-GB" sz="2000" dirty="0">
                  <a:latin typeface="Google Sans Flex SemiBold"/>
                </a:rPr>
                <a:t>Store 2</a:t>
              </a:r>
              <a:endParaRPr sz="2000" dirty="0">
                <a:latin typeface="Google Sans Flex SemiBold"/>
              </a:endParaRPr>
            </a:p>
          </p:txBody>
        </p:sp>
      </p:grpSp>
      <p:grpSp>
        <p:nvGrpSpPr>
          <p:cNvPr id="22" name="Group 21">
            <a:extLst>
              <a:ext uri="{FF2B5EF4-FFF2-40B4-BE49-F238E27FC236}">
                <a16:creationId xmlns:a16="http://schemas.microsoft.com/office/drawing/2014/main" id="{5B7D84E9-4408-CD5A-FF6B-C6AE52098097}"/>
              </a:ext>
            </a:extLst>
          </p:cNvPr>
          <p:cNvGrpSpPr/>
          <p:nvPr/>
        </p:nvGrpSpPr>
        <p:grpSpPr>
          <a:xfrm>
            <a:off x="17436084" y="2247098"/>
            <a:ext cx="1636776" cy="553998"/>
            <a:chOff x="5072634" y="2247098"/>
            <a:chExt cx="1636776" cy="553998"/>
          </a:xfrm>
        </p:grpSpPr>
        <p:sp>
          <p:nvSpPr>
            <p:cNvPr id="23" name="!!edge0">
              <a:extLst>
                <a:ext uri="{FF2B5EF4-FFF2-40B4-BE49-F238E27FC236}">
                  <a16:creationId xmlns:a16="http://schemas.microsoft.com/office/drawing/2014/main" id="{23260B11-EBFE-0FF9-DAE6-66C591EEF37F}"/>
                </a:ext>
              </a:extLst>
            </p:cNvPr>
            <p:cNvSpPr/>
            <p:nvPr/>
          </p:nvSpPr>
          <p:spPr>
            <a:xfrm>
              <a:off x="5072634" y="2247098"/>
              <a:ext cx="1636776" cy="553998"/>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4" name="!!tool0-head">
              <a:extLst>
                <a:ext uri="{FF2B5EF4-FFF2-40B4-BE49-F238E27FC236}">
                  <a16:creationId xmlns:a16="http://schemas.microsoft.com/office/drawing/2014/main" id="{F27949D3-8C17-D9A4-5821-CA67FD493E57}"/>
                </a:ext>
              </a:extLst>
            </p:cNvPr>
            <p:cNvSpPr txBox="1"/>
            <p:nvPr/>
          </p:nvSpPr>
          <p:spPr>
            <a:xfrm>
              <a:off x="5326499" y="2370208"/>
              <a:ext cx="1129045" cy="307777"/>
            </a:xfrm>
            <a:prstGeom prst="rect">
              <a:avLst/>
            </a:prstGeom>
            <a:noFill/>
          </p:spPr>
          <p:txBody>
            <a:bodyPr wrap="square" lIns="0" tIns="0" rIns="0" bIns="0" anchor="t">
              <a:spAutoFit/>
            </a:bodyPr>
            <a:lstStyle/>
            <a:p>
              <a:pPr algn="ctr"/>
              <a:r>
                <a:rPr lang="en-GB" sz="2000" dirty="0">
                  <a:latin typeface="Google Sans Flex SemiBold"/>
                </a:rPr>
                <a:t>Store 3</a:t>
              </a:r>
              <a:endParaRPr sz="2000" dirty="0">
                <a:latin typeface="Google Sans Flex SemiBold"/>
              </a:endParaRPr>
            </a:p>
          </p:txBody>
        </p:sp>
      </p:grpSp>
      <p:grpSp>
        <p:nvGrpSpPr>
          <p:cNvPr id="25" name="Group 24">
            <a:extLst>
              <a:ext uri="{FF2B5EF4-FFF2-40B4-BE49-F238E27FC236}">
                <a16:creationId xmlns:a16="http://schemas.microsoft.com/office/drawing/2014/main" id="{0210BAA8-129F-7D83-C284-1017F712E3A2}"/>
              </a:ext>
            </a:extLst>
          </p:cNvPr>
          <p:cNvGrpSpPr/>
          <p:nvPr/>
        </p:nvGrpSpPr>
        <p:grpSpPr>
          <a:xfrm>
            <a:off x="19510629" y="2247098"/>
            <a:ext cx="1636776" cy="553998"/>
            <a:chOff x="7147179" y="2247098"/>
            <a:chExt cx="1636776" cy="553998"/>
          </a:xfrm>
        </p:grpSpPr>
        <p:sp>
          <p:nvSpPr>
            <p:cNvPr id="26" name="!!edge0">
              <a:extLst>
                <a:ext uri="{FF2B5EF4-FFF2-40B4-BE49-F238E27FC236}">
                  <a16:creationId xmlns:a16="http://schemas.microsoft.com/office/drawing/2014/main" id="{AF33D87E-99EE-1C08-5E12-C5A89C008C5A}"/>
                </a:ext>
              </a:extLst>
            </p:cNvPr>
            <p:cNvSpPr/>
            <p:nvPr/>
          </p:nvSpPr>
          <p:spPr>
            <a:xfrm>
              <a:off x="7147179" y="2247098"/>
              <a:ext cx="1636776" cy="553998"/>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7" name="!!tool0-head">
              <a:extLst>
                <a:ext uri="{FF2B5EF4-FFF2-40B4-BE49-F238E27FC236}">
                  <a16:creationId xmlns:a16="http://schemas.microsoft.com/office/drawing/2014/main" id="{D341FEDB-6166-12A1-801B-BFC26ABCFE9E}"/>
                </a:ext>
              </a:extLst>
            </p:cNvPr>
            <p:cNvSpPr txBox="1"/>
            <p:nvPr/>
          </p:nvSpPr>
          <p:spPr>
            <a:xfrm>
              <a:off x="7401044" y="2370208"/>
              <a:ext cx="1129045" cy="307777"/>
            </a:xfrm>
            <a:prstGeom prst="rect">
              <a:avLst/>
            </a:prstGeom>
            <a:noFill/>
          </p:spPr>
          <p:txBody>
            <a:bodyPr wrap="square" lIns="0" tIns="0" rIns="0" bIns="0" anchor="t">
              <a:spAutoFit/>
            </a:bodyPr>
            <a:lstStyle/>
            <a:p>
              <a:pPr algn="ctr"/>
              <a:r>
                <a:rPr lang="en-GB" sz="2000" dirty="0">
                  <a:latin typeface="Google Sans Flex SemiBold"/>
                </a:rPr>
                <a:t>Store 4</a:t>
              </a:r>
              <a:endParaRPr sz="2000" dirty="0">
                <a:latin typeface="Google Sans Flex SemiBold"/>
              </a:endParaRPr>
            </a:p>
          </p:txBody>
        </p:sp>
      </p:grpSp>
      <p:grpSp>
        <p:nvGrpSpPr>
          <p:cNvPr id="28" name="Group 27">
            <a:extLst>
              <a:ext uri="{FF2B5EF4-FFF2-40B4-BE49-F238E27FC236}">
                <a16:creationId xmlns:a16="http://schemas.microsoft.com/office/drawing/2014/main" id="{DE3FFC82-2456-0E19-A339-D8DD1218D8AD}"/>
              </a:ext>
            </a:extLst>
          </p:cNvPr>
          <p:cNvGrpSpPr/>
          <p:nvPr/>
        </p:nvGrpSpPr>
        <p:grpSpPr>
          <a:xfrm>
            <a:off x="21585174" y="2247098"/>
            <a:ext cx="1636776" cy="553998"/>
            <a:chOff x="9221724" y="2247098"/>
            <a:chExt cx="1636776" cy="553998"/>
          </a:xfrm>
        </p:grpSpPr>
        <p:sp>
          <p:nvSpPr>
            <p:cNvPr id="29" name="!!edge0">
              <a:extLst>
                <a:ext uri="{FF2B5EF4-FFF2-40B4-BE49-F238E27FC236}">
                  <a16:creationId xmlns:a16="http://schemas.microsoft.com/office/drawing/2014/main" id="{3A17DC64-BB7B-C65A-48CF-44D5C4BF6062}"/>
                </a:ext>
              </a:extLst>
            </p:cNvPr>
            <p:cNvSpPr/>
            <p:nvPr/>
          </p:nvSpPr>
          <p:spPr>
            <a:xfrm>
              <a:off x="9221724" y="2247098"/>
              <a:ext cx="1636776" cy="553998"/>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30" name="!!tool0-head">
              <a:extLst>
                <a:ext uri="{FF2B5EF4-FFF2-40B4-BE49-F238E27FC236}">
                  <a16:creationId xmlns:a16="http://schemas.microsoft.com/office/drawing/2014/main" id="{AFB82521-AD94-FD3D-9B6A-115CD8D24854}"/>
                </a:ext>
              </a:extLst>
            </p:cNvPr>
            <p:cNvSpPr txBox="1"/>
            <p:nvPr/>
          </p:nvSpPr>
          <p:spPr>
            <a:xfrm>
              <a:off x="9475589" y="2370208"/>
              <a:ext cx="1129045" cy="307777"/>
            </a:xfrm>
            <a:prstGeom prst="rect">
              <a:avLst/>
            </a:prstGeom>
            <a:noFill/>
          </p:spPr>
          <p:txBody>
            <a:bodyPr wrap="square" lIns="0" tIns="0" rIns="0" bIns="0" anchor="t">
              <a:spAutoFit/>
            </a:bodyPr>
            <a:lstStyle/>
            <a:p>
              <a:pPr algn="ctr"/>
              <a:r>
                <a:rPr lang="en-GB" sz="2000" dirty="0">
                  <a:latin typeface="Google Sans Flex SemiBold"/>
                </a:rPr>
                <a:t>Store 5</a:t>
              </a:r>
              <a:endParaRPr sz="2000" dirty="0">
                <a:latin typeface="Google Sans Flex SemiBold"/>
              </a:endParaRPr>
            </a:p>
          </p:txBody>
        </p:sp>
      </p:grpSp>
      <p:grpSp>
        <p:nvGrpSpPr>
          <p:cNvPr id="31" name="Group 30">
            <a:extLst>
              <a:ext uri="{FF2B5EF4-FFF2-40B4-BE49-F238E27FC236}">
                <a16:creationId xmlns:a16="http://schemas.microsoft.com/office/drawing/2014/main" id="{C61FB7B3-2084-3FCE-8663-55A42460C0FD}"/>
              </a:ext>
            </a:extLst>
          </p:cNvPr>
          <p:cNvGrpSpPr/>
          <p:nvPr/>
        </p:nvGrpSpPr>
        <p:grpSpPr>
          <a:xfrm>
            <a:off x="13876781" y="2695606"/>
            <a:ext cx="457200" cy="457200"/>
            <a:chOff x="1513331" y="2695606"/>
            <a:chExt cx="457200" cy="457200"/>
          </a:xfrm>
        </p:grpSpPr>
        <p:sp>
          <p:nvSpPr>
            <p:cNvPr id="33" name="!!edge0">
              <a:extLst>
                <a:ext uri="{FF2B5EF4-FFF2-40B4-BE49-F238E27FC236}">
                  <a16:creationId xmlns:a16="http://schemas.microsoft.com/office/drawing/2014/main" id="{7D829B72-955C-04FC-306A-6165B22846AC}"/>
                </a:ext>
              </a:extLst>
            </p:cNvPr>
            <p:cNvSpPr/>
            <p:nvPr/>
          </p:nvSpPr>
          <p:spPr>
            <a:xfrm>
              <a:off x="1513331" y="2695606"/>
              <a:ext cx="457200" cy="457200"/>
            </a:xfrm>
            <a:prstGeom prst="roundRect">
              <a:avLst>
                <a:gd name="adj" fmla="val 50000"/>
              </a:avLst>
            </a:prstGeom>
            <a:solidFill>
              <a:srgbClr val="00DE7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pic>
          <p:nvPicPr>
            <p:cNvPr id="35" name="Picture 34">
              <a:extLst>
                <a:ext uri="{FF2B5EF4-FFF2-40B4-BE49-F238E27FC236}">
                  <a16:creationId xmlns:a16="http://schemas.microsoft.com/office/drawing/2014/main" id="{E503A678-ACE2-A7A1-121A-BE00916E14A3}"/>
                </a:ext>
              </a:extLst>
            </p:cNvPr>
            <p:cNvPicPr>
              <a:picLocks noChangeAspect="1"/>
            </p:cNvPicPr>
            <p:nvPr/>
          </p:nvPicPr>
          <p:blipFill>
            <a:blip r:embed="rId4">
              <a:clrChange>
                <a:clrFrom>
                  <a:srgbClr val="133152"/>
                </a:clrFrom>
                <a:clrTo>
                  <a:srgbClr val="133152">
                    <a:alpha val="0"/>
                  </a:srgbClr>
                </a:clrTo>
              </a:clrChange>
            </a:blip>
            <a:stretch>
              <a:fillRect/>
            </a:stretch>
          </p:blipFill>
          <p:spPr>
            <a:xfrm>
              <a:off x="1602804" y="2801095"/>
              <a:ext cx="259966" cy="254189"/>
            </a:xfrm>
            <a:prstGeom prst="rect">
              <a:avLst/>
            </a:prstGeom>
          </p:spPr>
        </p:pic>
      </p:grpSp>
      <p:grpSp>
        <p:nvGrpSpPr>
          <p:cNvPr id="36" name="Group 35">
            <a:extLst>
              <a:ext uri="{FF2B5EF4-FFF2-40B4-BE49-F238E27FC236}">
                <a16:creationId xmlns:a16="http://schemas.microsoft.com/office/drawing/2014/main" id="{6B1C0335-A4AD-6E83-3147-40747B50E956}"/>
              </a:ext>
            </a:extLst>
          </p:cNvPr>
          <p:cNvGrpSpPr/>
          <p:nvPr/>
        </p:nvGrpSpPr>
        <p:grpSpPr>
          <a:xfrm>
            <a:off x="15951326" y="2695606"/>
            <a:ext cx="457200" cy="457200"/>
            <a:chOff x="3587876" y="2695606"/>
            <a:chExt cx="457200" cy="457200"/>
          </a:xfrm>
        </p:grpSpPr>
        <p:sp>
          <p:nvSpPr>
            <p:cNvPr id="37" name="!!edge0">
              <a:extLst>
                <a:ext uri="{FF2B5EF4-FFF2-40B4-BE49-F238E27FC236}">
                  <a16:creationId xmlns:a16="http://schemas.microsoft.com/office/drawing/2014/main" id="{0A6B71C9-7FCA-1A5E-CABF-9CB9136E0977}"/>
                </a:ext>
              </a:extLst>
            </p:cNvPr>
            <p:cNvSpPr/>
            <p:nvPr/>
          </p:nvSpPr>
          <p:spPr>
            <a:xfrm>
              <a:off x="3587876" y="2695606"/>
              <a:ext cx="457200" cy="457200"/>
            </a:xfrm>
            <a:prstGeom prst="roundRect">
              <a:avLst>
                <a:gd name="adj" fmla="val 50000"/>
              </a:avLst>
            </a:prstGeom>
            <a:solidFill>
              <a:srgbClr val="00DE7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pic>
          <p:nvPicPr>
            <p:cNvPr id="38" name="Picture 37">
              <a:extLst>
                <a:ext uri="{FF2B5EF4-FFF2-40B4-BE49-F238E27FC236}">
                  <a16:creationId xmlns:a16="http://schemas.microsoft.com/office/drawing/2014/main" id="{606256C6-30D8-352E-2CB0-35ACFFC69ADA}"/>
                </a:ext>
              </a:extLst>
            </p:cNvPr>
            <p:cNvPicPr>
              <a:picLocks noChangeAspect="1"/>
            </p:cNvPicPr>
            <p:nvPr/>
          </p:nvPicPr>
          <p:blipFill>
            <a:blip r:embed="rId4">
              <a:clrChange>
                <a:clrFrom>
                  <a:srgbClr val="133152"/>
                </a:clrFrom>
                <a:clrTo>
                  <a:srgbClr val="133152">
                    <a:alpha val="0"/>
                  </a:srgbClr>
                </a:clrTo>
              </a:clrChange>
            </a:blip>
            <a:stretch>
              <a:fillRect/>
            </a:stretch>
          </p:blipFill>
          <p:spPr>
            <a:xfrm>
              <a:off x="3673600" y="2801095"/>
              <a:ext cx="259966" cy="254189"/>
            </a:xfrm>
            <a:prstGeom prst="rect">
              <a:avLst/>
            </a:prstGeom>
          </p:spPr>
        </p:pic>
      </p:grpSp>
      <p:grpSp>
        <p:nvGrpSpPr>
          <p:cNvPr id="39" name="Group 38">
            <a:extLst>
              <a:ext uri="{FF2B5EF4-FFF2-40B4-BE49-F238E27FC236}">
                <a16:creationId xmlns:a16="http://schemas.microsoft.com/office/drawing/2014/main" id="{3F6EC5AE-E107-9F65-F21D-0698C5FC5C76}"/>
              </a:ext>
            </a:extLst>
          </p:cNvPr>
          <p:cNvGrpSpPr/>
          <p:nvPr/>
        </p:nvGrpSpPr>
        <p:grpSpPr>
          <a:xfrm>
            <a:off x="20100416" y="2695606"/>
            <a:ext cx="457200" cy="457200"/>
            <a:chOff x="7736966" y="2695606"/>
            <a:chExt cx="457200" cy="457200"/>
          </a:xfrm>
        </p:grpSpPr>
        <p:sp>
          <p:nvSpPr>
            <p:cNvPr id="41" name="!!edge0">
              <a:extLst>
                <a:ext uri="{FF2B5EF4-FFF2-40B4-BE49-F238E27FC236}">
                  <a16:creationId xmlns:a16="http://schemas.microsoft.com/office/drawing/2014/main" id="{A9A5F311-9DD3-A1E9-B73C-BF86C09D8125}"/>
                </a:ext>
              </a:extLst>
            </p:cNvPr>
            <p:cNvSpPr/>
            <p:nvPr/>
          </p:nvSpPr>
          <p:spPr>
            <a:xfrm>
              <a:off x="7736966" y="2695606"/>
              <a:ext cx="457200"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pic>
          <p:nvPicPr>
            <p:cNvPr id="42" name="Picture 41">
              <a:extLst>
                <a:ext uri="{FF2B5EF4-FFF2-40B4-BE49-F238E27FC236}">
                  <a16:creationId xmlns:a16="http://schemas.microsoft.com/office/drawing/2014/main" id="{6B0A76D2-0D13-F484-46D2-5920009DCD05}"/>
                </a:ext>
              </a:extLst>
            </p:cNvPr>
            <p:cNvPicPr>
              <a:picLocks noChangeAspect="1"/>
            </p:cNvPicPr>
            <p:nvPr/>
          </p:nvPicPr>
          <p:blipFill>
            <a:blip r:embed="rId5"/>
            <a:stretch>
              <a:fillRect/>
            </a:stretch>
          </p:blipFill>
          <p:spPr>
            <a:xfrm>
              <a:off x="7866426" y="2818717"/>
              <a:ext cx="198279" cy="257065"/>
            </a:xfrm>
            <a:prstGeom prst="rect">
              <a:avLst/>
            </a:prstGeom>
          </p:spPr>
        </p:pic>
      </p:grpSp>
      <p:grpSp>
        <p:nvGrpSpPr>
          <p:cNvPr id="43" name="Group 42">
            <a:extLst>
              <a:ext uri="{FF2B5EF4-FFF2-40B4-BE49-F238E27FC236}">
                <a16:creationId xmlns:a16="http://schemas.microsoft.com/office/drawing/2014/main" id="{713B6CE4-FE8E-F779-6128-E47836214320}"/>
              </a:ext>
            </a:extLst>
          </p:cNvPr>
          <p:cNvGrpSpPr/>
          <p:nvPr/>
        </p:nvGrpSpPr>
        <p:grpSpPr>
          <a:xfrm>
            <a:off x="22174961" y="2695606"/>
            <a:ext cx="457200" cy="457200"/>
            <a:chOff x="9811511" y="2695606"/>
            <a:chExt cx="457200" cy="457200"/>
          </a:xfrm>
        </p:grpSpPr>
        <p:sp>
          <p:nvSpPr>
            <p:cNvPr id="44" name="!!edge0">
              <a:extLst>
                <a:ext uri="{FF2B5EF4-FFF2-40B4-BE49-F238E27FC236}">
                  <a16:creationId xmlns:a16="http://schemas.microsoft.com/office/drawing/2014/main" id="{2A621F4B-29B8-B476-537F-B985D747CBB2}"/>
                </a:ext>
              </a:extLst>
            </p:cNvPr>
            <p:cNvSpPr/>
            <p:nvPr/>
          </p:nvSpPr>
          <p:spPr>
            <a:xfrm>
              <a:off x="9811511" y="2695606"/>
              <a:ext cx="457200"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pic>
          <p:nvPicPr>
            <p:cNvPr id="45" name="Picture 44">
              <a:extLst>
                <a:ext uri="{FF2B5EF4-FFF2-40B4-BE49-F238E27FC236}">
                  <a16:creationId xmlns:a16="http://schemas.microsoft.com/office/drawing/2014/main" id="{28623002-3CDD-353C-1290-6D91D3BC72BC}"/>
                </a:ext>
              </a:extLst>
            </p:cNvPr>
            <p:cNvPicPr>
              <a:picLocks noChangeAspect="1"/>
            </p:cNvPicPr>
            <p:nvPr/>
          </p:nvPicPr>
          <p:blipFill>
            <a:blip r:embed="rId5"/>
            <a:stretch>
              <a:fillRect/>
            </a:stretch>
          </p:blipFill>
          <p:spPr>
            <a:xfrm>
              <a:off x="9940971" y="2818717"/>
              <a:ext cx="198279" cy="257065"/>
            </a:xfrm>
            <a:prstGeom prst="rect">
              <a:avLst/>
            </a:prstGeom>
          </p:spPr>
        </p:pic>
      </p:grpSp>
      <p:grpSp>
        <p:nvGrpSpPr>
          <p:cNvPr id="47" name="Group 46">
            <a:extLst>
              <a:ext uri="{FF2B5EF4-FFF2-40B4-BE49-F238E27FC236}">
                <a16:creationId xmlns:a16="http://schemas.microsoft.com/office/drawing/2014/main" id="{B97DC1BE-6A2A-0E78-C8E6-F3C8F06DDA83}"/>
              </a:ext>
            </a:extLst>
          </p:cNvPr>
          <p:cNvGrpSpPr/>
          <p:nvPr/>
        </p:nvGrpSpPr>
        <p:grpSpPr>
          <a:xfrm>
            <a:off x="18025871" y="2695606"/>
            <a:ext cx="457200" cy="457200"/>
            <a:chOff x="5662421" y="2695606"/>
            <a:chExt cx="457200" cy="457200"/>
          </a:xfrm>
        </p:grpSpPr>
        <p:sp>
          <p:nvSpPr>
            <p:cNvPr id="48" name="!!edge0">
              <a:extLst>
                <a:ext uri="{FF2B5EF4-FFF2-40B4-BE49-F238E27FC236}">
                  <a16:creationId xmlns:a16="http://schemas.microsoft.com/office/drawing/2014/main" id="{2C1E7669-5889-1833-6A4C-B9EAD22D75EC}"/>
                </a:ext>
              </a:extLst>
            </p:cNvPr>
            <p:cNvSpPr/>
            <p:nvPr/>
          </p:nvSpPr>
          <p:spPr>
            <a:xfrm>
              <a:off x="5662421" y="2695606"/>
              <a:ext cx="457200" cy="457200"/>
            </a:xfrm>
            <a:prstGeom prst="roundRect">
              <a:avLst>
                <a:gd name="adj" fmla="val 50000"/>
              </a:avLst>
            </a:prstGeom>
            <a:solidFill>
              <a:srgbClr val="FF7979"/>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pic>
          <p:nvPicPr>
            <p:cNvPr id="49" name="Picture 48">
              <a:extLst>
                <a:ext uri="{FF2B5EF4-FFF2-40B4-BE49-F238E27FC236}">
                  <a16:creationId xmlns:a16="http://schemas.microsoft.com/office/drawing/2014/main" id="{04E455D7-9EF4-33BA-0FC2-EC35F64FF784}"/>
                </a:ext>
              </a:extLst>
            </p:cNvPr>
            <p:cNvPicPr>
              <a:picLocks noChangeAspect="1"/>
            </p:cNvPicPr>
            <p:nvPr/>
          </p:nvPicPr>
          <p:blipFill>
            <a:blip r:embed="rId6">
              <a:clrChange>
                <a:clrFrom>
                  <a:srgbClr val="133152"/>
                </a:clrFrom>
                <a:clrTo>
                  <a:srgbClr val="133152">
                    <a:alpha val="0"/>
                  </a:srgbClr>
                </a:clrTo>
              </a:clrChange>
            </a:blip>
            <a:stretch>
              <a:fillRect/>
            </a:stretch>
          </p:blipFill>
          <p:spPr>
            <a:xfrm>
              <a:off x="5713855" y="2747040"/>
              <a:ext cx="354331" cy="354331"/>
            </a:xfrm>
            <a:prstGeom prst="rect">
              <a:avLst/>
            </a:prstGeom>
          </p:spPr>
        </p:pic>
      </p:grpSp>
      <p:sp>
        <p:nvSpPr>
          <p:cNvPr id="50" name="!!edge0">
            <a:extLst>
              <a:ext uri="{FF2B5EF4-FFF2-40B4-BE49-F238E27FC236}">
                <a16:creationId xmlns:a16="http://schemas.microsoft.com/office/drawing/2014/main" id="{24ED1157-4D97-E943-16FC-E617F921BD0B}"/>
              </a:ext>
            </a:extLst>
          </p:cNvPr>
          <p:cNvSpPr/>
          <p:nvPr/>
        </p:nvSpPr>
        <p:spPr>
          <a:xfrm>
            <a:off x="19779132" y="3728877"/>
            <a:ext cx="1359129" cy="1842849"/>
          </a:xfrm>
          <a:prstGeom prst="roundRect">
            <a:avLst>
              <a:gd name="adj" fmla="val 1739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sp>
        <p:nvSpPr>
          <p:cNvPr id="51" name="!!edge0">
            <a:extLst>
              <a:ext uri="{FF2B5EF4-FFF2-40B4-BE49-F238E27FC236}">
                <a16:creationId xmlns:a16="http://schemas.microsoft.com/office/drawing/2014/main" id="{9C9045D0-BA30-7403-C55C-129DB5460446}"/>
              </a:ext>
            </a:extLst>
          </p:cNvPr>
          <p:cNvSpPr/>
          <p:nvPr/>
        </p:nvSpPr>
        <p:spPr>
          <a:xfrm>
            <a:off x="18258591" y="3728877"/>
            <a:ext cx="1359129" cy="1842849"/>
          </a:xfrm>
          <a:prstGeom prst="roundRect">
            <a:avLst>
              <a:gd name="adj" fmla="val 1739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sp>
        <p:nvSpPr>
          <p:cNvPr id="53" name="!!edge0">
            <a:extLst>
              <a:ext uri="{FF2B5EF4-FFF2-40B4-BE49-F238E27FC236}">
                <a16:creationId xmlns:a16="http://schemas.microsoft.com/office/drawing/2014/main" id="{8D0FD0CE-741B-85EA-F3CD-0C748AEC85B8}"/>
              </a:ext>
            </a:extLst>
          </p:cNvPr>
          <p:cNvSpPr/>
          <p:nvPr/>
        </p:nvSpPr>
        <p:spPr>
          <a:xfrm>
            <a:off x="16727442" y="3728877"/>
            <a:ext cx="1359129" cy="1842849"/>
          </a:xfrm>
          <a:prstGeom prst="roundRect">
            <a:avLst>
              <a:gd name="adj" fmla="val 17396"/>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sp>
        <p:nvSpPr>
          <p:cNvPr id="54" name="!!tool0-head">
            <a:extLst>
              <a:ext uri="{FF2B5EF4-FFF2-40B4-BE49-F238E27FC236}">
                <a16:creationId xmlns:a16="http://schemas.microsoft.com/office/drawing/2014/main" id="{E447C28A-7E54-7350-FE7E-35B89EF8C982}"/>
              </a:ext>
            </a:extLst>
          </p:cNvPr>
          <p:cNvSpPr txBox="1"/>
          <p:nvPr/>
        </p:nvSpPr>
        <p:spPr>
          <a:xfrm>
            <a:off x="16876913" y="4478221"/>
            <a:ext cx="1013234" cy="307777"/>
          </a:xfrm>
          <a:prstGeom prst="rect">
            <a:avLst/>
          </a:prstGeom>
          <a:noFill/>
        </p:spPr>
        <p:txBody>
          <a:bodyPr wrap="square" lIns="0" tIns="0" rIns="0" bIns="0" anchor="t">
            <a:spAutoFit/>
          </a:bodyPr>
          <a:lstStyle/>
          <a:p>
            <a:pPr algn="ctr"/>
            <a:r>
              <a:rPr lang="en-GB" sz="2000" dirty="0">
                <a:solidFill>
                  <a:schemeClr val="bg1"/>
                </a:solidFill>
                <a:latin typeface="Google Sans Flex SemiBold"/>
              </a:rPr>
              <a:t>Store 3</a:t>
            </a:r>
            <a:endParaRPr sz="2000" dirty="0">
              <a:solidFill>
                <a:schemeClr val="bg1"/>
              </a:solidFill>
              <a:latin typeface="Google Sans Flex SemiBold"/>
            </a:endParaRPr>
          </a:p>
        </p:txBody>
      </p:sp>
      <p:sp>
        <p:nvSpPr>
          <p:cNvPr id="55" name="!!tool0-head">
            <a:extLst>
              <a:ext uri="{FF2B5EF4-FFF2-40B4-BE49-F238E27FC236}">
                <a16:creationId xmlns:a16="http://schemas.microsoft.com/office/drawing/2014/main" id="{C746D261-209E-C74A-7201-87859738F9C5}"/>
              </a:ext>
            </a:extLst>
          </p:cNvPr>
          <p:cNvSpPr txBox="1"/>
          <p:nvPr/>
        </p:nvSpPr>
        <p:spPr>
          <a:xfrm>
            <a:off x="18411770" y="4478221"/>
            <a:ext cx="1013234" cy="307777"/>
          </a:xfrm>
          <a:prstGeom prst="rect">
            <a:avLst/>
          </a:prstGeom>
          <a:noFill/>
        </p:spPr>
        <p:txBody>
          <a:bodyPr wrap="square" lIns="0" tIns="0" rIns="0" bIns="0" anchor="t">
            <a:spAutoFit/>
          </a:bodyPr>
          <a:lstStyle/>
          <a:p>
            <a:pPr algn="ctr"/>
            <a:r>
              <a:rPr lang="en-GB" sz="2000" dirty="0">
                <a:latin typeface="Google Sans Flex SemiBold"/>
              </a:rPr>
              <a:t>Store 4</a:t>
            </a:r>
            <a:endParaRPr sz="2000" dirty="0">
              <a:latin typeface="Google Sans Flex SemiBold"/>
            </a:endParaRPr>
          </a:p>
        </p:txBody>
      </p:sp>
      <p:sp>
        <p:nvSpPr>
          <p:cNvPr id="56" name="!!tool0-head">
            <a:extLst>
              <a:ext uri="{FF2B5EF4-FFF2-40B4-BE49-F238E27FC236}">
                <a16:creationId xmlns:a16="http://schemas.microsoft.com/office/drawing/2014/main" id="{7DC77416-EFF1-97D1-5D62-3B95A9C292F2}"/>
              </a:ext>
            </a:extLst>
          </p:cNvPr>
          <p:cNvSpPr txBox="1"/>
          <p:nvPr/>
        </p:nvSpPr>
        <p:spPr>
          <a:xfrm>
            <a:off x="19942913" y="4478221"/>
            <a:ext cx="1013234" cy="307777"/>
          </a:xfrm>
          <a:prstGeom prst="rect">
            <a:avLst/>
          </a:prstGeom>
          <a:noFill/>
        </p:spPr>
        <p:txBody>
          <a:bodyPr wrap="square" lIns="0" tIns="0" rIns="0" bIns="0" anchor="t">
            <a:spAutoFit/>
          </a:bodyPr>
          <a:lstStyle/>
          <a:p>
            <a:pPr algn="ctr"/>
            <a:r>
              <a:rPr lang="en-GB" sz="2000" dirty="0">
                <a:latin typeface="Google Sans Flex SemiBold"/>
              </a:rPr>
              <a:t>Store 5</a:t>
            </a:r>
            <a:endParaRPr sz="2000" dirty="0">
              <a:latin typeface="Google Sans Flex SemiBold"/>
            </a:endParaRPr>
          </a:p>
        </p:txBody>
      </p:sp>
      <p:sp>
        <p:nvSpPr>
          <p:cNvPr id="62" name="!!skip-q">
            <a:extLst>
              <a:ext uri="{FF2B5EF4-FFF2-40B4-BE49-F238E27FC236}">
                <a16:creationId xmlns:a16="http://schemas.microsoft.com/office/drawing/2014/main" id="{87AE2729-19B5-50D7-87E6-52ED0CF81EB6}"/>
              </a:ext>
            </a:extLst>
          </p:cNvPr>
          <p:cNvSpPr txBox="1"/>
          <p:nvPr/>
        </p:nvSpPr>
        <p:spPr>
          <a:xfrm>
            <a:off x="13723368" y="4024945"/>
            <a:ext cx="3657600" cy="338554"/>
          </a:xfrm>
          <a:prstGeom prst="rect">
            <a:avLst/>
          </a:prstGeom>
          <a:noFill/>
        </p:spPr>
        <p:txBody>
          <a:bodyPr wrap="square" lIns="0" tIns="0" rIns="0" bIns="0" anchor="t">
            <a:spAutoFit/>
          </a:bodyPr>
          <a:lstStyle/>
          <a:p>
            <a:pPr algn="l"/>
            <a:r>
              <a:rPr sz="2200" dirty="0">
                <a:latin typeface="Google Sans Flex SemiBold"/>
              </a:rPr>
              <a:t>Skip store 3?</a:t>
            </a:r>
          </a:p>
        </p:txBody>
      </p:sp>
      <p:sp>
        <p:nvSpPr>
          <p:cNvPr id="63" name="TextBox 62">
            <a:extLst>
              <a:ext uri="{FF2B5EF4-FFF2-40B4-BE49-F238E27FC236}">
                <a16:creationId xmlns:a16="http://schemas.microsoft.com/office/drawing/2014/main" id="{6B6CE10D-A93C-0987-D8F6-E486ACEB0BDB}"/>
              </a:ext>
            </a:extLst>
          </p:cNvPr>
          <p:cNvSpPr txBox="1"/>
          <p:nvPr/>
        </p:nvSpPr>
        <p:spPr>
          <a:xfrm>
            <a:off x="13624950" y="4547442"/>
            <a:ext cx="2709029" cy="769441"/>
          </a:xfrm>
          <a:prstGeom prst="rect">
            <a:avLst/>
          </a:prstGeom>
          <a:noFill/>
        </p:spPr>
        <p:txBody>
          <a:bodyPr wrap="square">
            <a:spAutoFit/>
          </a:bodyPr>
          <a:lstStyle/>
          <a:p>
            <a:pPr algn="l"/>
            <a:r>
              <a:rPr lang="en-US" sz="2200" dirty="0">
                <a:latin typeface="Google Sans Flex Light"/>
              </a:rPr>
              <a:t>Its goods are in front of store 4's.</a:t>
            </a:r>
          </a:p>
        </p:txBody>
      </p:sp>
      <p:grpSp>
        <p:nvGrpSpPr>
          <p:cNvPr id="76" name="Group 75">
            <a:extLst>
              <a:ext uri="{FF2B5EF4-FFF2-40B4-BE49-F238E27FC236}">
                <a16:creationId xmlns:a16="http://schemas.microsoft.com/office/drawing/2014/main" id="{6B49FCA5-178E-AAD3-446A-138107600B02}"/>
              </a:ext>
            </a:extLst>
          </p:cNvPr>
          <p:cNvGrpSpPr/>
          <p:nvPr/>
        </p:nvGrpSpPr>
        <p:grpSpPr>
          <a:xfrm>
            <a:off x="923544" y="7917180"/>
            <a:ext cx="10625328" cy="5575261"/>
            <a:chOff x="923544" y="640080"/>
            <a:chExt cx="10625328" cy="5575261"/>
          </a:xfrm>
        </p:grpSpPr>
        <p:sp>
          <p:nvSpPr>
            <p:cNvPr id="77" name="!!call-line">
              <a:extLst>
                <a:ext uri="{FF2B5EF4-FFF2-40B4-BE49-F238E27FC236}">
                  <a16:creationId xmlns:a16="http://schemas.microsoft.com/office/drawing/2014/main" id="{85FC6B54-9C17-B374-51CF-FF675557BB5E}"/>
                </a:ext>
              </a:extLst>
            </p:cNvPr>
            <p:cNvSpPr txBox="1"/>
            <p:nvPr/>
          </p:nvSpPr>
          <p:spPr>
            <a:xfrm>
              <a:off x="1001217" y="5107345"/>
              <a:ext cx="5332676" cy="1107996"/>
            </a:xfrm>
            <a:prstGeom prst="rect">
              <a:avLst/>
            </a:prstGeom>
            <a:noFill/>
          </p:spPr>
          <p:txBody>
            <a:bodyPr wrap="square" lIns="0" tIns="0" rIns="0" bIns="0" anchor="t">
              <a:spAutoFit/>
            </a:bodyPr>
            <a:lstStyle/>
            <a:p>
              <a:pPr algn="l"/>
              <a:r>
                <a:rPr sz="2400" dirty="0">
                  <a:latin typeface="Google Sans Flex Light"/>
                </a:rPr>
                <a:t>One call at a time.</a:t>
              </a:r>
            </a:p>
            <a:p>
              <a:pPr algn="l"/>
              <a:r>
                <a:rPr sz="2400" dirty="0">
                  <a:latin typeface="Google Sans Flex Light"/>
                </a:rPr>
                <a:t>Nobody sees the whole picture.</a:t>
              </a:r>
            </a:p>
            <a:p>
              <a:pPr algn="l"/>
              <a:r>
                <a:rPr sz="2400" dirty="0">
                  <a:solidFill>
                    <a:srgbClr val="00B050"/>
                  </a:solidFill>
                  <a:latin typeface="Google Sans Flex SemiBold"/>
                </a:rPr>
                <a:t>Nothing</a:t>
              </a:r>
              <a:r>
                <a:rPr sz="2400" dirty="0">
                  <a:solidFill>
                    <a:srgbClr val="00DE72"/>
                  </a:solidFill>
                  <a:latin typeface="Google Sans Flex SemiBold"/>
                </a:rPr>
                <a:t> </a:t>
              </a:r>
              <a:r>
                <a:rPr sz="2400" dirty="0">
                  <a:solidFill>
                    <a:srgbClr val="00B050"/>
                  </a:solidFill>
                  <a:latin typeface="Google Sans Flex SemiBold"/>
                </a:rPr>
                <a:t>on</a:t>
              </a:r>
              <a:r>
                <a:rPr sz="2400" dirty="0">
                  <a:solidFill>
                    <a:srgbClr val="00DE72"/>
                  </a:solidFill>
                  <a:latin typeface="Google Sans Flex SemiBold"/>
                </a:rPr>
                <a:t> </a:t>
              </a:r>
              <a:r>
                <a:rPr sz="2400" dirty="0">
                  <a:solidFill>
                    <a:srgbClr val="00B050"/>
                  </a:solidFill>
                  <a:latin typeface="Google Sans Flex SemiBold"/>
                </a:rPr>
                <a:t>record</a:t>
              </a:r>
              <a:r>
                <a:rPr sz="2400" dirty="0">
                  <a:solidFill>
                    <a:srgbClr val="00DE72"/>
                  </a:solidFill>
                  <a:latin typeface="Google Sans Flex SemiBold"/>
                </a:rPr>
                <a:t>.</a:t>
              </a:r>
            </a:p>
          </p:txBody>
        </p:sp>
        <p:grpSp>
          <p:nvGrpSpPr>
            <p:cNvPr id="78" name="Group 77">
              <a:extLst>
                <a:ext uri="{FF2B5EF4-FFF2-40B4-BE49-F238E27FC236}">
                  <a16:creationId xmlns:a16="http://schemas.microsoft.com/office/drawing/2014/main" id="{A8803B7E-FEDC-ED08-DA5C-F983C4E56D76}"/>
                </a:ext>
              </a:extLst>
            </p:cNvPr>
            <p:cNvGrpSpPr/>
            <p:nvPr/>
          </p:nvGrpSpPr>
          <p:grpSpPr>
            <a:xfrm>
              <a:off x="1032333" y="2385858"/>
              <a:ext cx="1587745" cy="2229790"/>
              <a:chOff x="1032333" y="2122206"/>
              <a:chExt cx="1587745" cy="2229790"/>
            </a:xfrm>
          </p:grpSpPr>
          <p:sp>
            <p:nvSpPr>
              <p:cNvPr id="129" name="!!edge0">
                <a:extLst>
                  <a:ext uri="{FF2B5EF4-FFF2-40B4-BE49-F238E27FC236}">
                    <a16:creationId xmlns:a16="http://schemas.microsoft.com/office/drawing/2014/main" id="{715B5DD0-3C8A-D194-1C61-7DCF41373096}"/>
                  </a:ext>
                </a:extLst>
              </p:cNvPr>
              <p:cNvSpPr/>
              <p:nvPr/>
            </p:nvSpPr>
            <p:spPr>
              <a:xfrm>
                <a:off x="1032333" y="2755261"/>
                <a:ext cx="1463040" cy="1463040"/>
              </a:xfrm>
              <a:prstGeom prst="roundRect">
                <a:avLst>
                  <a:gd name="adj" fmla="val 15899"/>
                </a:avLst>
              </a:prstGeom>
              <a:solidFill>
                <a:schemeClr val="bg1"/>
              </a:solidFill>
              <a:ln w="19050">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pic>
            <p:nvPicPr>
              <p:cNvPr id="130" name="Picture 129">
                <a:extLst>
                  <a:ext uri="{FF2B5EF4-FFF2-40B4-BE49-F238E27FC236}">
                    <a16:creationId xmlns:a16="http://schemas.microsoft.com/office/drawing/2014/main" id="{50183D21-4A22-3053-1B35-B66A07CD1BCA}"/>
                  </a:ext>
                </a:extLst>
              </p:cNvPr>
              <p:cNvPicPr>
                <a:picLocks noChangeAspect="1"/>
              </p:cNvPicPr>
              <p:nvPr/>
            </p:nvPicPr>
            <p:blipFill>
              <a:blip r:embed="rId7">
                <a:extLst>
                  <a:ext uri="{28A0092B-C50C-407E-A947-70E740481C1C}">
                    <a14:useLocalDpi xmlns:a14="http://schemas.microsoft.com/office/drawing/2010/main" val="0"/>
                  </a:ext>
                </a:extLst>
              </a:blip>
              <a:srcRect l="27033" t="-1409" r="46509" b="50640"/>
              <a:stretch>
                <a:fillRect/>
              </a:stretch>
            </p:blipFill>
            <p:spPr>
              <a:xfrm>
                <a:off x="1032333" y="2122206"/>
                <a:ext cx="1463040" cy="2096095"/>
              </a:xfrm>
              <a:prstGeom prst="roundRect">
                <a:avLst>
                  <a:gd name="adj" fmla="val 16933"/>
                </a:avLst>
              </a:prstGeom>
            </p:spPr>
          </p:pic>
          <p:sp>
            <p:nvSpPr>
              <p:cNvPr id="131" name="!!edge0">
                <a:extLst>
                  <a:ext uri="{FF2B5EF4-FFF2-40B4-BE49-F238E27FC236}">
                    <a16:creationId xmlns:a16="http://schemas.microsoft.com/office/drawing/2014/main" id="{19A8DA94-A64D-1CAD-8FBB-D79DC79268B8}"/>
                  </a:ext>
                </a:extLst>
              </p:cNvPr>
              <p:cNvSpPr/>
              <p:nvPr/>
            </p:nvSpPr>
            <p:spPr>
              <a:xfrm>
                <a:off x="1318082" y="3940516"/>
                <a:ext cx="1301996" cy="4114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32" name="!!tool0-head">
                <a:extLst>
                  <a:ext uri="{FF2B5EF4-FFF2-40B4-BE49-F238E27FC236}">
                    <a16:creationId xmlns:a16="http://schemas.microsoft.com/office/drawing/2014/main" id="{4A0D9BE3-BA41-03F2-7534-6A973E76257D}"/>
                  </a:ext>
                </a:extLst>
              </p:cNvPr>
              <p:cNvSpPr txBox="1"/>
              <p:nvPr/>
            </p:nvSpPr>
            <p:spPr>
              <a:xfrm>
                <a:off x="1428680" y="4038927"/>
                <a:ext cx="1129045" cy="246221"/>
              </a:xfrm>
              <a:prstGeom prst="rect">
                <a:avLst/>
              </a:prstGeom>
              <a:noFill/>
            </p:spPr>
            <p:txBody>
              <a:bodyPr wrap="square" lIns="0" tIns="0" rIns="0" bIns="0" anchor="t">
                <a:spAutoFit/>
              </a:bodyPr>
              <a:lstStyle/>
              <a:p>
                <a:pPr algn="ctr"/>
                <a:r>
                  <a:rPr lang="en-GB" sz="1600" dirty="0">
                    <a:latin typeface="Google Sans Flex SemiBold"/>
                  </a:rPr>
                  <a:t>Driver</a:t>
                </a:r>
                <a:endParaRPr sz="1600" dirty="0">
                  <a:latin typeface="Google Sans Flex SemiBold"/>
                </a:endParaRPr>
              </a:p>
            </p:txBody>
          </p:sp>
        </p:grpSp>
        <p:grpSp>
          <p:nvGrpSpPr>
            <p:cNvPr id="79" name="Group 78">
              <a:extLst>
                <a:ext uri="{FF2B5EF4-FFF2-40B4-BE49-F238E27FC236}">
                  <a16:creationId xmlns:a16="http://schemas.microsoft.com/office/drawing/2014/main" id="{B13DC8B1-3D2D-5D8D-A413-3C5C1092FF1F}"/>
                </a:ext>
              </a:extLst>
            </p:cNvPr>
            <p:cNvGrpSpPr/>
            <p:nvPr/>
          </p:nvGrpSpPr>
          <p:grpSpPr>
            <a:xfrm>
              <a:off x="3020192" y="2410288"/>
              <a:ext cx="1784812" cy="2138512"/>
              <a:chOff x="3295865" y="2146636"/>
              <a:chExt cx="1784812" cy="2138512"/>
            </a:xfrm>
          </p:grpSpPr>
          <p:sp>
            <p:nvSpPr>
              <p:cNvPr id="125" name="!!edge0">
                <a:extLst>
                  <a:ext uri="{FF2B5EF4-FFF2-40B4-BE49-F238E27FC236}">
                    <a16:creationId xmlns:a16="http://schemas.microsoft.com/office/drawing/2014/main" id="{4953258E-0874-B6E3-3D03-9A1B4AD478D9}"/>
                  </a:ext>
                </a:extLst>
              </p:cNvPr>
              <p:cNvSpPr/>
              <p:nvPr/>
            </p:nvSpPr>
            <p:spPr>
              <a:xfrm>
                <a:off x="3295866" y="2688413"/>
                <a:ext cx="1463040" cy="1463040"/>
              </a:xfrm>
              <a:prstGeom prst="roundRect">
                <a:avLst>
                  <a:gd name="adj" fmla="val 15899"/>
                </a:avLst>
              </a:prstGeom>
              <a:solidFill>
                <a:schemeClr val="bg1"/>
              </a:solidFill>
              <a:ln w="19050">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pic>
            <p:nvPicPr>
              <p:cNvPr id="126" name="Picture 125">
                <a:extLst>
                  <a:ext uri="{FF2B5EF4-FFF2-40B4-BE49-F238E27FC236}">
                    <a16:creationId xmlns:a16="http://schemas.microsoft.com/office/drawing/2014/main" id="{FDCB2F7A-AC79-2589-F120-5957B2590E7E}"/>
                  </a:ext>
                </a:extLst>
              </p:cNvPr>
              <p:cNvPicPr>
                <a:picLocks noChangeAspect="1"/>
              </p:cNvPicPr>
              <p:nvPr/>
            </p:nvPicPr>
            <p:blipFill>
              <a:blip r:embed="rId8">
                <a:extLst>
                  <a:ext uri="{28A0092B-C50C-407E-A947-70E740481C1C}">
                    <a14:useLocalDpi xmlns:a14="http://schemas.microsoft.com/office/drawing/2010/main" val="0"/>
                  </a:ext>
                </a:extLst>
              </a:blip>
              <a:srcRect l="42454" r="33670" b="51233"/>
              <a:stretch>
                <a:fillRect/>
              </a:stretch>
            </p:blipFill>
            <p:spPr>
              <a:xfrm>
                <a:off x="3295865" y="2146636"/>
                <a:ext cx="1463039" cy="2004817"/>
              </a:xfrm>
              <a:prstGeom prst="roundRect">
                <a:avLst/>
              </a:prstGeom>
            </p:spPr>
          </p:pic>
          <p:sp>
            <p:nvSpPr>
              <p:cNvPr id="127" name="!!edge0">
                <a:extLst>
                  <a:ext uri="{FF2B5EF4-FFF2-40B4-BE49-F238E27FC236}">
                    <a16:creationId xmlns:a16="http://schemas.microsoft.com/office/drawing/2014/main" id="{41852B34-99A6-CE3B-1BB4-FF7E0D46F75E}"/>
                  </a:ext>
                </a:extLst>
              </p:cNvPr>
              <p:cNvSpPr/>
              <p:nvPr/>
            </p:nvSpPr>
            <p:spPr>
              <a:xfrm>
                <a:off x="3699411" y="3873668"/>
                <a:ext cx="1381266" cy="4114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28" name="!!tool0-head">
                <a:extLst>
                  <a:ext uri="{FF2B5EF4-FFF2-40B4-BE49-F238E27FC236}">
                    <a16:creationId xmlns:a16="http://schemas.microsoft.com/office/drawing/2014/main" id="{5002728E-4950-4A51-F176-5F5D1A90D87E}"/>
                  </a:ext>
                </a:extLst>
              </p:cNvPr>
              <p:cNvSpPr txBox="1"/>
              <p:nvPr/>
            </p:nvSpPr>
            <p:spPr>
              <a:xfrm>
                <a:off x="3810009" y="3972079"/>
                <a:ext cx="1129045" cy="246221"/>
              </a:xfrm>
              <a:prstGeom prst="rect">
                <a:avLst/>
              </a:prstGeom>
              <a:noFill/>
            </p:spPr>
            <p:txBody>
              <a:bodyPr wrap="square" lIns="0" tIns="0" rIns="0" bIns="0" anchor="t">
                <a:spAutoFit/>
              </a:bodyPr>
              <a:lstStyle/>
              <a:p>
                <a:pPr algn="ctr"/>
                <a:r>
                  <a:rPr lang="en-GB" sz="1600" dirty="0">
                    <a:latin typeface="Google Sans Flex SemiBold"/>
                  </a:rPr>
                  <a:t>Dispatcher</a:t>
                </a:r>
                <a:endParaRPr sz="1600" dirty="0">
                  <a:latin typeface="Google Sans Flex SemiBold"/>
                </a:endParaRPr>
              </a:p>
            </p:txBody>
          </p:sp>
        </p:grpSp>
        <p:grpSp>
          <p:nvGrpSpPr>
            <p:cNvPr id="80" name="Group 79">
              <a:extLst>
                <a:ext uri="{FF2B5EF4-FFF2-40B4-BE49-F238E27FC236}">
                  <a16:creationId xmlns:a16="http://schemas.microsoft.com/office/drawing/2014/main" id="{DDE91584-4ADF-AC14-8CFF-EA9E0BBF5487}"/>
                </a:ext>
              </a:extLst>
            </p:cNvPr>
            <p:cNvGrpSpPr/>
            <p:nvPr/>
          </p:nvGrpSpPr>
          <p:grpSpPr>
            <a:xfrm>
              <a:off x="5205118" y="2306673"/>
              <a:ext cx="1705541" cy="2242127"/>
              <a:chOff x="9901383" y="2043022"/>
              <a:chExt cx="1705541" cy="2242127"/>
            </a:xfrm>
          </p:grpSpPr>
          <p:sp>
            <p:nvSpPr>
              <p:cNvPr id="121" name="!!edge0">
                <a:extLst>
                  <a:ext uri="{FF2B5EF4-FFF2-40B4-BE49-F238E27FC236}">
                    <a16:creationId xmlns:a16="http://schemas.microsoft.com/office/drawing/2014/main" id="{C67E51BB-B121-30BF-C536-498421C03057}"/>
                  </a:ext>
                </a:extLst>
              </p:cNvPr>
              <p:cNvSpPr/>
              <p:nvPr/>
            </p:nvSpPr>
            <p:spPr>
              <a:xfrm>
                <a:off x="9901383" y="2728627"/>
                <a:ext cx="1463040" cy="1463040"/>
              </a:xfrm>
              <a:prstGeom prst="roundRect">
                <a:avLst>
                  <a:gd name="adj" fmla="val 15899"/>
                </a:avLst>
              </a:prstGeom>
              <a:solidFill>
                <a:schemeClr val="bg1"/>
              </a:solidFill>
              <a:ln w="19050">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pic>
            <p:nvPicPr>
              <p:cNvPr id="122" name="Picture 121">
                <a:extLst>
                  <a:ext uri="{FF2B5EF4-FFF2-40B4-BE49-F238E27FC236}">
                    <a16:creationId xmlns:a16="http://schemas.microsoft.com/office/drawing/2014/main" id="{880092A5-F59D-65EC-8B32-5944F1C5D032}"/>
                  </a:ext>
                </a:extLst>
              </p:cNvPr>
              <p:cNvPicPr>
                <a:picLocks noChangeAspect="1"/>
              </p:cNvPicPr>
              <p:nvPr/>
            </p:nvPicPr>
            <p:blipFill>
              <a:blip r:embed="rId9">
                <a:extLst>
                  <a:ext uri="{28A0092B-C50C-407E-A947-70E740481C1C}">
                    <a14:useLocalDpi xmlns:a14="http://schemas.microsoft.com/office/drawing/2010/main" val="0"/>
                  </a:ext>
                </a:extLst>
              </a:blip>
              <a:srcRect l="24121" t="1" r="26312" b="59369"/>
              <a:stretch>
                <a:fillRect/>
              </a:stretch>
            </p:blipFill>
            <p:spPr>
              <a:xfrm>
                <a:off x="9901383" y="2043022"/>
                <a:ext cx="1463039" cy="2148645"/>
              </a:xfrm>
              <a:prstGeom prst="roundRect">
                <a:avLst/>
              </a:prstGeom>
            </p:spPr>
          </p:pic>
          <p:sp>
            <p:nvSpPr>
              <p:cNvPr id="123" name="!!edge0">
                <a:extLst>
                  <a:ext uri="{FF2B5EF4-FFF2-40B4-BE49-F238E27FC236}">
                    <a16:creationId xmlns:a16="http://schemas.microsoft.com/office/drawing/2014/main" id="{3E13ECC7-293D-4618-C1DA-3E1CCEA6F88A}"/>
                  </a:ext>
                </a:extLst>
              </p:cNvPr>
              <p:cNvSpPr/>
              <p:nvPr/>
            </p:nvSpPr>
            <p:spPr>
              <a:xfrm>
                <a:off x="10304928" y="3873669"/>
                <a:ext cx="1301996" cy="4114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24" name="!!tool0-head">
                <a:extLst>
                  <a:ext uri="{FF2B5EF4-FFF2-40B4-BE49-F238E27FC236}">
                    <a16:creationId xmlns:a16="http://schemas.microsoft.com/office/drawing/2014/main" id="{47ADD18D-C8DD-80F8-434E-BFF9F2A76891}"/>
                  </a:ext>
                </a:extLst>
              </p:cNvPr>
              <p:cNvSpPr txBox="1"/>
              <p:nvPr/>
            </p:nvSpPr>
            <p:spPr>
              <a:xfrm>
                <a:off x="10415526" y="3972080"/>
                <a:ext cx="1129045" cy="246221"/>
              </a:xfrm>
              <a:prstGeom prst="rect">
                <a:avLst/>
              </a:prstGeom>
              <a:noFill/>
            </p:spPr>
            <p:txBody>
              <a:bodyPr wrap="square" lIns="0" tIns="0" rIns="0" bIns="0" anchor="t">
                <a:spAutoFit/>
              </a:bodyPr>
              <a:lstStyle/>
              <a:p>
                <a:pPr algn="ctr"/>
                <a:r>
                  <a:rPr lang="en-GB" sz="1600" dirty="0">
                    <a:latin typeface="Google Sans Flex SemiBold"/>
                  </a:rPr>
                  <a:t>Store 01</a:t>
                </a:r>
                <a:endParaRPr sz="1600" dirty="0">
                  <a:latin typeface="Google Sans Flex SemiBold"/>
                </a:endParaRPr>
              </a:p>
            </p:txBody>
          </p:sp>
        </p:grpSp>
        <p:grpSp>
          <p:nvGrpSpPr>
            <p:cNvPr id="81" name="Group 80">
              <a:extLst>
                <a:ext uri="{FF2B5EF4-FFF2-40B4-BE49-F238E27FC236}">
                  <a16:creationId xmlns:a16="http://schemas.microsoft.com/office/drawing/2014/main" id="{5802F177-6F36-FAAA-4FCA-672B6E83E277}"/>
                </a:ext>
              </a:extLst>
            </p:cNvPr>
            <p:cNvGrpSpPr/>
            <p:nvPr/>
          </p:nvGrpSpPr>
          <p:grpSpPr>
            <a:xfrm>
              <a:off x="7310773" y="2283113"/>
              <a:ext cx="1705541" cy="2249870"/>
              <a:chOff x="9901383" y="4218301"/>
              <a:chExt cx="1705541" cy="2249870"/>
            </a:xfrm>
          </p:grpSpPr>
          <p:sp>
            <p:nvSpPr>
              <p:cNvPr id="117" name="!!edge0">
                <a:extLst>
                  <a:ext uri="{FF2B5EF4-FFF2-40B4-BE49-F238E27FC236}">
                    <a16:creationId xmlns:a16="http://schemas.microsoft.com/office/drawing/2014/main" id="{FF53CB20-F024-A111-927A-5042E382D3FB}"/>
                  </a:ext>
                </a:extLst>
              </p:cNvPr>
              <p:cNvSpPr/>
              <p:nvPr/>
            </p:nvSpPr>
            <p:spPr>
              <a:xfrm>
                <a:off x="9901383" y="4903906"/>
                <a:ext cx="1463040" cy="1463040"/>
              </a:xfrm>
              <a:prstGeom prst="roundRect">
                <a:avLst>
                  <a:gd name="adj" fmla="val 15899"/>
                </a:avLst>
              </a:prstGeom>
              <a:solidFill>
                <a:schemeClr val="bg1"/>
              </a:solidFill>
              <a:ln w="19050">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pic>
            <p:nvPicPr>
              <p:cNvPr id="118" name="Picture 117">
                <a:extLst>
                  <a:ext uri="{FF2B5EF4-FFF2-40B4-BE49-F238E27FC236}">
                    <a16:creationId xmlns:a16="http://schemas.microsoft.com/office/drawing/2014/main" id="{D5E31B24-F864-74CF-306F-AB47EA065C2B}"/>
                  </a:ext>
                </a:extLst>
              </p:cNvPr>
              <p:cNvPicPr>
                <a:picLocks noChangeAspect="1"/>
              </p:cNvPicPr>
              <p:nvPr/>
            </p:nvPicPr>
            <p:blipFill>
              <a:blip r:embed="rId9">
                <a:extLst>
                  <a:ext uri="{28A0092B-C50C-407E-A947-70E740481C1C}">
                    <a14:useLocalDpi xmlns:a14="http://schemas.microsoft.com/office/drawing/2010/main" val="0"/>
                  </a:ext>
                </a:extLst>
              </a:blip>
              <a:srcRect l="24121" t="1" r="26312" b="59369"/>
              <a:stretch>
                <a:fillRect/>
              </a:stretch>
            </p:blipFill>
            <p:spPr>
              <a:xfrm>
                <a:off x="9901383" y="4218301"/>
                <a:ext cx="1463039" cy="2148645"/>
              </a:xfrm>
              <a:prstGeom prst="roundRect">
                <a:avLst/>
              </a:prstGeom>
            </p:spPr>
          </p:pic>
          <p:sp>
            <p:nvSpPr>
              <p:cNvPr id="119" name="!!edge0">
                <a:extLst>
                  <a:ext uri="{FF2B5EF4-FFF2-40B4-BE49-F238E27FC236}">
                    <a16:creationId xmlns:a16="http://schemas.microsoft.com/office/drawing/2014/main" id="{9C1B9437-6F4F-18BE-D2A1-6380058AAA50}"/>
                  </a:ext>
                </a:extLst>
              </p:cNvPr>
              <p:cNvSpPr/>
              <p:nvPr/>
            </p:nvSpPr>
            <p:spPr>
              <a:xfrm>
                <a:off x="10304928" y="6056691"/>
                <a:ext cx="1301996" cy="4114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20" name="!!tool0-head">
                <a:extLst>
                  <a:ext uri="{FF2B5EF4-FFF2-40B4-BE49-F238E27FC236}">
                    <a16:creationId xmlns:a16="http://schemas.microsoft.com/office/drawing/2014/main" id="{E1253F03-7FE5-5DED-7D1A-AC1EE5CE566B}"/>
                  </a:ext>
                </a:extLst>
              </p:cNvPr>
              <p:cNvSpPr txBox="1"/>
              <p:nvPr/>
            </p:nvSpPr>
            <p:spPr>
              <a:xfrm>
                <a:off x="10415526" y="6155102"/>
                <a:ext cx="1129045" cy="246221"/>
              </a:xfrm>
              <a:prstGeom prst="rect">
                <a:avLst/>
              </a:prstGeom>
              <a:noFill/>
            </p:spPr>
            <p:txBody>
              <a:bodyPr wrap="square" lIns="0" tIns="0" rIns="0" bIns="0" anchor="t">
                <a:spAutoFit/>
              </a:bodyPr>
              <a:lstStyle/>
              <a:p>
                <a:pPr algn="ctr"/>
                <a:r>
                  <a:rPr lang="en-GB" sz="1600" dirty="0">
                    <a:latin typeface="Google Sans Flex SemiBold"/>
                  </a:rPr>
                  <a:t>Store 02</a:t>
                </a:r>
                <a:endParaRPr sz="1600" dirty="0">
                  <a:latin typeface="Google Sans Flex SemiBold"/>
                </a:endParaRPr>
              </a:p>
            </p:txBody>
          </p:sp>
        </p:grpSp>
        <p:sp>
          <p:nvSpPr>
            <p:cNvPr id="82" name="!!title">
              <a:extLst>
                <a:ext uri="{FF2B5EF4-FFF2-40B4-BE49-F238E27FC236}">
                  <a16:creationId xmlns:a16="http://schemas.microsoft.com/office/drawing/2014/main" id="{E11B226D-DF67-64E8-0AE0-4859F75566D5}"/>
                </a:ext>
              </a:extLst>
            </p:cNvPr>
            <p:cNvSpPr txBox="1"/>
            <p:nvPr/>
          </p:nvSpPr>
          <p:spPr>
            <a:xfrm>
              <a:off x="923544" y="1386046"/>
              <a:ext cx="10625328" cy="553998"/>
            </a:xfrm>
            <a:prstGeom prst="rect">
              <a:avLst/>
            </a:prstGeom>
            <a:noFill/>
          </p:spPr>
          <p:txBody>
            <a:bodyPr wrap="square" lIns="0" tIns="0" rIns="0" bIns="0" anchor="t">
              <a:spAutoFit/>
            </a:bodyPr>
            <a:lstStyle/>
            <a:p>
              <a:r>
                <a:rPr lang="en-US" sz="3600" dirty="0">
                  <a:solidFill>
                    <a:srgbClr val="00B050"/>
                  </a:solidFill>
                  <a:latin typeface="Google Sans Flex SemiBold"/>
                </a:rPr>
                <a:t>Today,</a:t>
              </a:r>
              <a:r>
                <a:rPr lang="en-US" sz="3600" dirty="0">
                  <a:latin typeface="Google Sans Flex Light"/>
                </a:rPr>
                <a:t> a chain of phone calls</a:t>
              </a:r>
            </a:p>
          </p:txBody>
        </p:sp>
        <p:grpSp>
          <p:nvGrpSpPr>
            <p:cNvPr id="83" name="Group 82">
              <a:extLst>
                <a:ext uri="{FF2B5EF4-FFF2-40B4-BE49-F238E27FC236}">
                  <a16:creationId xmlns:a16="http://schemas.microsoft.com/office/drawing/2014/main" id="{66D43A99-BDB9-2520-4F67-73996F673831}"/>
                </a:ext>
              </a:extLst>
            </p:cNvPr>
            <p:cNvGrpSpPr/>
            <p:nvPr/>
          </p:nvGrpSpPr>
          <p:grpSpPr>
            <a:xfrm>
              <a:off x="9416429" y="2283113"/>
              <a:ext cx="1705541" cy="2249870"/>
              <a:chOff x="9901383" y="4218301"/>
              <a:chExt cx="1705541" cy="2249870"/>
            </a:xfrm>
          </p:grpSpPr>
          <p:sp>
            <p:nvSpPr>
              <p:cNvPr id="113" name="!!edge0">
                <a:extLst>
                  <a:ext uri="{FF2B5EF4-FFF2-40B4-BE49-F238E27FC236}">
                    <a16:creationId xmlns:a16="http://schemas.microsoft.com/office/drawing/2014/main" id="{5E8F943A-7364-4A65-B7CD-4143BF4D66DE}"/>
                  </a:ext>
                </a:extLst>
              </p:cNvPr>
              <p:cNvSpPr/>
              <p:nvPr/>
            </p:nvSpPr>
            <p:spPr>
              <a:xfrm>
                <a:off x="9901383" y="4903906"/>
                <a:ext cx="1463040" cy="1463040"/>
              </a:xfrm>
              <a:prstGeom prst="roundRect">
                <a:avLst>
                  <a:gd name="adj" fmla="val 15899"/>
                </a:avLst>
              </a:prstGeom>
              <a:solidFill>
                <a:schemeClr val="bg1"/>
              </a:solidFill>
              <a:ln w="19050">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pic>
            <p:nvPicPr>
              <p:cNvPr id="114" name="Picture 113">
                <a:extLst>
                  <a:ext uri="{FF2B5EF4-FFF2-40B4-BE49-F238E27FC236}">
                    <a16:creationId xmlns:a16="http://schemas.microsoft.com/office/drawing/2014/main" id="{C28AA6F9-68B2-09B8-EF4A-60F099061183}"/>
                  </a:ext>
                </a:extLst>
              </p:cNvPr>
              <p:cNvPicPr>
                <a:picLocks noChangeAspect="1"/>
              </p:cNvPicPr>
              <p:nvPr/>
            </p:nvPicPr>
            <p:blipFill>
              <a:blip r:embed="rId9">
                <a:extLst>
                  <a:ext uri="{28A0092B-C50C-407E-A947-70E740481C1C}">
                    <a14:useLocalDpi xmlns:a14="http://schemas.microsoft.com/office/drawing/2010/main" val="0"/>
                  </a:ext>
                </a:extLst>
              </a:blip>
              <a:srcRect l="24121" t="1" r="26312" b="59369"/>
              <a:stretch>
                <a:fillRect/>
              </a:stretch>
            </p:blipFill>
            <p:spPr>
              <a:xfrm>
                <a:off x="9901383" y="4218301"/>
                <a:ext cx="1463039" cy="2148645"/>
              </a:xfrm>
              <a:prstGeom prst="roundRect">
                <a:avLst/>
              </a:prstGeom>
            </p:spPr>
          </p:pic>
          <p:sp>
            <p:nvSpPr>
              <p:cNvPr id="115" name="!!edge0">
                <a:extLst>
                  <a:ext uri="{FF2B5EF4-FFF2-40B4-BE49-F238E27FC236}">
                    <a16:creationId xmlns:a16="http://schemas.microsoft.com/office/drawing/2014/main" id="{9146DB4E-53A1-5E1A-0657-F41371939033}"/>
                  </a:ext>
                </a:extLst>
              </p:cNvPr>
              <p:cNvSpPr/>
              <p:nvPr/>
            </p:nvSpPr>
            <p:spPr>
              <a:xfrm>
                <a:off x="10304928" y="6056691"/>
                <a:ext cx="1301996" cy="4114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16" name="!!tool0-head">
                <a:extLst>
                  <a:ext uri="{FF2B5EF4-FFF2-40B4-BE49-F238E27FC236}">
                    <a16:creationId xmlns:a16="http://schemas.microsoft.com/office/drawing/2014/main" id="{B12AAE44-8991-AEE1-7D3B-4CE228F0EFEE}"/>
                  </a:ext>
                </a:extLst>
              </p:cNvPr>
              <p:cNvSpPr txBox="1"/>
              <p:nvPr/>
            </p:nvSpPr>
            <p:spPr>
              <a:xfrm>
                <a:off x="10415526" y="6155102"/>
                <a:ext cx="1129045" cy="246221"/>
              </a:xfrm>
              <a:prstGeom prst="rect">
                <a:avLst/>
              </a:prstGeom>
              <a:noFill/>
            </p:spPr>
            <p:txBody>
              <a:bodyPr wrap="square" lIns="0" tIns="0" rIns="0" bIns="0" anchor="t">
                <a:spAutoFit/>
              </a:bodyPr>
              <a:lstStyle/>
              <a:p>
                <a:pPr algn="ctr"/>
                <a:r>
                  <a:rPr lang="en-GB" sz="1600" dirty="0">
                    <a:latin typeface="Google Sans Flex SemiBold"/>
                  </a:rPr>
                  <a:t>Store 03</a:t>
                </a:r>
                <a:endParaRPr sz="1600" dirty="0">
                  <a:latin typeface="Google Sans Flex SemiBold"/>
                </a:endParaRPr>
              </a:p>
            </p:txBody>
          </p:sp>
        </p:grpSp>
        <p:sp>
          <p:nvSpPr>
            <p:cNvPr id="84" name="Arc 83">
              <a:extLst>
                <a:ext uri="{FF2B5EF4-FFF2-40B4-BE49-F238E27FC236}">
                  <a16:creationId xmlns:a16="http://schemas.microsoft.com/office/drawing/2014/main" id="{79D194F8-3E95-A11F-A871-CE6871E75E17}"/>
                </a:ext>
              </a:extLst>
            </p:cNvPr>
            <p:cNvSpPr/>
            <p:nvPr/>
          </p:nvSpPr>
          <p:spPr>
            <a:xfrm>
              <a:off x="1312292" y="2476434"/>
              <a:ext cx="3321772" cy="3321772"/>
            </a:xfrm>
            <a:prstGeom prst="arc">
              <a:avLst>
                <a:gd name="adj1" fmla="val 14084605"/>
                <a:gd name="adj2" fmla="val 18179450"/>
              </a:avLst>
            </a:prstGeom>
            <a:ln w="15875">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Arc 84">
              <a:extLst>
                <a:ext uri="{FF2B5EF4-FFF2-40B4-BE49-F238E27FC236}">
                  <a16:creationId xmlns:a16="http://schemas.microsoft.com/office/drawing/2014/main" id="{9CA499B5-CC04-9C58-6255-82F9CAD285D5}"/>
                </a:ext>
              </a:extLst>
            </p:cNvPr>
            <p:cNvSpPr/>
            <p:nvPr/>
          </p:nvSpPr>
          <p:spPr>
            <a:xfrm>
              <a:off x="3327787" y="2476434"/>
              <a:ext cx="3321772" cy="3321772"/>
            </a:xfrm>
            <a:prstGeom prst="arc">
              <a:avLst>
                <a:gd name="adj1" fmla="val 14254083"/>
                <a:gd name="adj2" fmla="val 17582241"/>
              </a:avLst>
            </a:prstGeom>
            <a:ln w="15875">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6" name="Arc 85">
              <a:extLst>
                <a:ext uri="{FF2B5EF4-FFF2-40B4-BE49-F238E27FC236}">
                  <a16:creationId xmlns:a16="http://schemas.microsoft.com/office/drawing/2014/main" id="{7E441CC4-F456-A0BA-BDAB-815B589E03BA}"/>
                </a:ext>
              </a:extLst>
            </p:cNvPr>
            <p:cNvSpPr/>
            <p:nvPr/>
          </p:nvSpPr>
          <p:spPr>
            <a:xfrm>
              <a:off x="5376058" y="2476434"/>
              <a:ext cx="3321772" cy="3321772"/>
            </a:xfrm>
            <a:prstGeom prst="arc">
              <a:avLst>
                <a:gd name="adj1" fmla="val 14295631"/>
                <a:gd name="adj2" fmla="val 17406212"/>
              </a:avLst>
            </a:prstGeom>
            <a:ln w="15875">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Arc 86">
              <a:extLst>
                <a:ext uri="{FF2B5EF4-FFF2-40B4-BE49-F238E27FC236}">
                  <a16:creationId xmlns:a16="http://schemas.microsoft.com/office/drawing/2014/main" id="{61002B9B-ABCC-6656-46A6-5CEF0C4EE951}"/>
                </a:ext>
              </a:extLst>
            </p:cNvPr>
            <p:cNvSpPr/>
            <p:nvPr/>
          </p:nvSpPr>
          <p:spPr>
            <a:xfrm>
              <a:off x="7530649" y="2476434"/>
              <a:ext cx="3321772" cy="3321772"/>
            </a:xfrm>
            <a:prstGeom prst="arc">
              <a:avLst>
                <a:gd name="adj1" fmla="val 14295631"/>
                <a:gd name="adj2" fmla="val 17406212"/>
              </a:avLst>
            </a:prstGeom>
            <a:ln w="15875">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8" name="Arc 87">
              <a:extLst>
                <a:ext uri="{FF2B5EF4-FFF2-40B4-BE49-F238E27FC236}">
                  <a16:creationId xmlns:a16="http://schemas.microsoft.com/office/drawing/2014/main" id="{EBE440C0-3842-57C5-2017-270B403EA2A4}"/>
                </a:ext>
              </a:extLst>
            </p:cNvPr>
            <p:cNvSpPr/>
            <p:nvPr/>
          </p:nvSpPr>
          <p:spPr>
            <a:xfrm>
              <a:off x="7857563" y="1428142"/>
              <a:ext cx="3321772" cy="3321772"/>
            </a:xfrm>
            <a:prstGeom prst="arc">
              <a:avLst>
                <a:gd name="adj1" fmla="val 3595097"/>
                <a:gd name="adj2" fmla="val 7197337"/>
              </a:avLst>
            </a:prstGeom>
            <a:ln w="15875">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9" name="Arc 88">
              <a:extLst>
                <a:ext uri="{FF2B5EF4-FFF2-40B4-BE49-F238E27FC236}">
                  <a16:creationId xmlns:a16="http://schemas.microsoft.com/office/drawing/2014/main" id="{3D29F9A9-93DF-6CBB-4AF3-A0332677A60D}"/>
                </a:ext>
              </a:extLst>
            </p:cNvPr>
            <p:cNvSpPr/>
            <p:nvPr/>
          </p:nvSpPr>
          <p:spPr>
            <a:xfrm>
              <a:off x="1477325" y="1457878"/>
              <a:ext cx="3321772" cy="3321772"/>
            </a:xfrm>
            <a:prstGeom prst="arc">
              <a:avLst>
                <a:gd name="adj1" fmla="val 3595097"/>
                <a:gd name="adj2" fmla="val 6878040"/>
              </a:avLst>
            </a:prstGeom>
            <a:ln w="15875">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90" name="Group 89">
              <a:extLst>
                <a:ext uri="{FF2B5EF4-FFF2-40B4-BE49-F238E27FC236}">
                  <a16:creationId xmlns:a16="http://schemas.microsoft.com/office/drawing/2014/main" id="{A97E9A80-D911-FAFE-B98B-D873E36843F3}"/>
                </a:ext>
              </a:extLst>
            </p:cNvPr>
            <p:cNvGrpSpPr/>
            <p:nvPr/>
          </p:nvGrpSpPr>
          <p:grpSpPr>
            <a:xfrm>
              <a:off x="2780463" y="2321539"/>
              <a:ext cx="374828" cy="374828"/>
              <a:chOff x="2594287" y="2215214"/>
              <a:chExt cx="603156" cy="603156"/>
            </a:xfrm>
          </p:grpSpPr>
          <p:sp>
            <p:nvSpPr>
              <p:cNvPr id="111" name="Oval 110">
                <a:extLst>
                  <a:ext uri="{FF2B5EF4-FFF2-40B4-BE49-F238E27FC236}">
                    <a16:creationId xmlns:a16="http://schemas.microsoft.com/office/drawing/2014/main" id="{5997BA70-7B67-155D-CC0D-41123CF9DF9C}"/>
                  </a:ext>
                </a:extLst>
              </p:cNvPr>
              <p:cNvSpPr/>
              <p:nvPr/>
            </p:nvSpPr>
            <p:spPr>
              <a:xfrm>
                <a:off x="2594287" y="2215214"/>
                <a:ext cx="603156" cy="603156"/>
              </a:xfrm>
              <a:prstGeom prst="ellipse">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 name="Picture 111">
                <a:extLst>
                  <a:ext uri="{FF2B5EF4-FFF2-40B4-BE49-F238E27FC236}">
                    <a16:creationId xmlns:a16="http://schemas.microsoft.com/office/drawing/2014/main" id="{21291084-0B84-DCDB-768F-FEFA2B2E90F1}"/>
                  </a:ext>
                </a:extLst>
              </p:cNvPr>
              <p:cNvPicPr>
                <a:picLocks noChangeAspect="1"/>
              </p:cNvPicPr>
              <p:nvPr/>
            </p:nvPicPr>
            <p:blipFill>
              <a:blip r:embed="rId10">
                <a:clrChange>
                  <a:clrFrom>
                    <a:srgbClr val="133152"/>
                  </a:clrFrom>
                  <a:clrTo>
                    <a:srgbClr val="133152">
                      <a:alpha val="0"/>
                    </a:srgbClr>
                  </a:clrTo>
                </a:clrChange>
              </a:blip>
              <a:stretch>
                <a:fillRect/>
              </a:stretch>
            </p:blipFill>
            <p:spPr>
              <a:xfrm>
                <a:off x="2679977" y="2302792"/>
                <a:ext cx="431019" cy="423689"/>
              </a:xfrm>
              <a:prstGeom prst="rect">
                <a:avLst/>
              </a:prstGeom>
            </p:spPr>
          </p:pic>
        </p:grpSp>
        <p:grpSp>
          <p:nvGrpSpPr>
            <p:cNvPr id="91" name="Group 90">
              <a:extLst>
                <a:ext uri="{FF2B5EF4-FFF2-40B4-BE49-F238E27FC236}">
                  <a16:creationId xmlns:a16="http://schemas.microsoft.com/office/drawing/2014/main" id="{D8108DF7-E3BF-653D-50B7-86D6838A761E}"/>
                </a:ext>
              </a:extLst>
            </p:cNvPr>
            <p:cNvGrpSpPr/>
            <p:nvPr/>
          </p:nvGrpSpPr>
          <p:grpSpPr>
            <a:xfrm>
              <a:off x="4751882" y="2321539"/>
              <a:ext cx="374828" cy="374828"/>
              <a:chOff x="2594287" y="2215214"/>
              <a:chExt cx="603156" cy="603156"/>
            </a:xfrm>
          </p:grpSpPr>
          <p:sp>
            <p:nvSpPr>
              <p:cNvPr id="109" name="Oval 108">
                <a:extLst>
                  <a:ext uri="{FF2B5EF4-FFF2-40B4-BE49-F238E27FC236}">
                    <a16:creationId xmlns:a16="http://schemas.microsoft.com/office/drawing/2014/main" id="{D886B943-C261-3A33-FCDE-4A079C0B156B}"/>
                  </a:ext>
                </a:extLst>
              </p:cNvPr>
              <p:cNvSpPr/>
              <p:nvPr/>
            </p:nvSpPr>
            <p:spPr>
              <a:xfrm>
                <a:off x="2594287" y="2215214"/>
                <a:ext cx="603156" cy="603156"/>
              </a:xfrm>
              <a:prstGeom prst="ellipse">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0" name="Picture 109">
                <a:extLst>
                  <a:ext uri="{FF2B5EF4-FFF2-40B4-BE49-F238E27FC236}">
                    <a16:creationId xmlns:a16="http://schemas.microsoft.com/office/drawing/2014/main" id="{6EB67943-FE90-0CC8-75F0-696D9B8F17E7}"/>
                  </a:ext>
                </a:extLst>
              </p:cNvPr>
              <p:cNvPicPr>
                <a:picLocks noChangeAspect="1"/>
              </p:cNvPicPr>
              <p:nvPr/>
            </p:nvPicPr>
            <p:blipFill>
              <a:blip r:embed="rId10">
                <a:clrChange>
                  <a:clrFrom>
                    <a:srgbClr val="133152"/>
                  </a:clrFrom>
                  <a:clrTo>
                    <a:srgbClr val="133152">
                      <a:alpha val="0"/>
                    </a:srgbClr>
                  </a:clrTo>
                </a:clrChange>
              </a:blip>
              <a:stretch>
                <a:fillRect/>
              </a:stretch>
            </p:blipFill>
            <p:spPr>
              <a:xfrm>
                <a:off x="2679977" y="2302792"/>
                <a:ext cx="431019" cy="423689"/>
              </a:xfrm>
              <a:prstGeom prst="rect">
                <a:avLst/>
              </a:prstGeom>
            </p:spPr>
          </p:pic>
        </p:grpSp>
        <p:grpSp>
          <p:nvGrpSpPr>
            <p:cNvPr id="92" name="Group 91">
              <a:extLst>
                <a:ext uri="{FF2B5EF4-FFF2-40B4-BE49-F238E27FC236}">
                  <a16:creationId xmlns:a16="http://schemas.microsoft.com/office/drawing/2014/main" id="{BF8C5F20-2F97-71B7-718B-D61D02D9A6DB}"/>
                </a:ext>
              </a:extLst>
            </p:cNvPr>
            <p:cNvGrpSpPr/>
            <p:nvPr/>
          </p:nvGrpSpPr>
          <p:grpSpPr>
            <a:xfrm>
              <a:off x="6796453" y="2321539"/>
              <a:ext cx="374828" cy="374828"/>
              <a:chOff x="2594287" y="2215214"/>
              <a:chExt cx="603156" cy="603156"/>
            </a:xfrm>
          </p:grpSpPr>
          <p:sp>
            <p:nvSpPr>
              <p:cNvPr id="107" name="Oval 106">
                <a:extLst>
                  <a:ext uri="{FF2B5EF4-FFF2-40B4-BE49-F238E27FC236}">
                    <a16:creationId xmlns:a16="http://schemas.microsoft.com/office/drawing/2014/main" id="{EB9D5574-83DB-B278-5D18-D198E6FC1F3A}"/>
                  </a:ext>
                </a:extLst>
              </p:cNvPr>
              <p:cNvSpPr/>
              <p:nvPr/>
            </p:nvSpPr>
            <p:spPr>
              <a:xfrm>
                <a:off x="2594287" y="2215214"/>
                <a:ext cx="603156" cy="603156"/>
              </a:xfrm>
              <a:prstGeom prst="ellipse">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8" name="Picture 107">
                <a:extLst>
                  <a:ext uri="{FF2B5EF4-FFF2-40B4-BE49-F238E27FC236}">
                    <a16:creationId xmlns:a16="http://schemas.microsoft.com/office/drawing/2014/main" id="{A117E2C0-1FB2-8D60-E22D-DF797495EE7F}"/>
                  </a:ext>
                </a:extLst>
              </p:cNvPr>
              <p:cNvPicPr>
                <a:picLocks noChangeAspect="1"/>
              </p:cNvPicPr>
              <p:nvPr/>
            </p:nvPicPr>
            <p:blipFill>
              <a:blip r:embed="rId10">
                <a:clrChange>
                  <a:clrFrom>
                    <a:srgbClr val="133152"/>
                  </a:clrFrom>
                  <a:clrTo>
                    <a:srgbClr val="133152">
                      <a:alpha val="0"/>
                    </a:srgbClr>
                  </a:clrTo>
                </a:clrChange>
              </a:blip>
              <a:stretch>
                <a:fillRect/>
              </a:stretch>
            </p:blipFill>
            <p:spPr>
              <a:xfrm>
                <a:off x="2679977" y="2302792"/>
                <a:ext cx="431019" cy="423689"/>
              </a:xfrm>
              <a:prstGeom prst="rect">
                <a:avLst/>
              </a:prstGeom>
            </p:spPr>
          </p:pic>
        </p:grpSp>
        <p:grpSp>
          <p:nvGrpSpPr>
            <p:cNvPr id="93" name="Group 92">
              <a:extLst>
                <a:ext uri="{FF2B5EF4-FFF2-40B4-BE49-F238E27FC236}">
                  <a16:creationId xmlns:a16="http://schemas.microsoft.com/office/drawing/2014/main" id="{AAE91E34-FE26-B673-A7C1-378CC616689C}"/>
                </a:ext>
              </a:extLst>
            </p:cNvPr>
            <p:cNvGrpSpPr/>
            <p:nvPr/>
          </p:nvGrpSpPr>
          <p:grpSpPr>
            <a:xfrm>
              <a:off x="8892372" y="2321539"/>
              <a:ext cx="374828" cy="374828"/>
              <a:chOff x="2594287" y="2215214"/>
              <a:chExt cx="603156" cy="603156"/>
            </a:xfrm>
          </p:grpSpPr>
          <p:sp>
            <p:nvSpPr>
              <p:cNvPr id="105" name="Oval 104">
                <a:extLst>
                  <a:ext uri="{FF2B5EF4-FFF2-40B4-BE49-F238E27FC236}">
                    <a16:creationId xmlns:a16="http://schemas.microsoft.com/office/drawing/2014/main" id="{58BCFE45-0C4A-BCB3-96EE-667ACD1EC700}"/>
                  </a:ext>
                </a:extLst>
              </p:cNvPr>
              <p:cNvSpPr/>
              <p:nvPr/>
            </p:nvSpPr>
            <p:spPr>
              <a:xfrm>
                <a:off x="2594287" y="2215214"/>
                <a:ext cx="603156" cy="603156"/>
              </a:xfrm>
              <a:prstGeom prst="ellipse">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6" name="Picture 105">
                <a:extLst>
                  <a:ext uri="{FF2B5EF4-FFF2-40B4-BE49-F238E27FC236}">
                    <a16:creationId xmlns:a16="http://schemas.microsoft.com/office/drawing/2014/main" id="{C0D50213-12D9-7482-59D0-BA24096E7F57}"/>
                  </a:ext>
                </a:extLst>
              </p:cNvPr>
              <p:cNvPicPr>
                <a:picLocks noChangeAspect="1"/>
              </p:cNvPicPr>
              <p:nvPr/>
            </p:nvPicPr>
            <p:blipFill>
              <a:blip r:embed="rId10">
                <a:clrChange>
                  <a:clrFrom>
                    <a:srgbClr val="133152"/>
                  </a:clrFrom>
                  <a:clrTo>
                    <a:srgbClr val="133152">
                      <a:alpha val="0"/>
                    </a:srgbClr>
                  </a:clrTo>
                </a:clrChange>
              </a:blip>
              <a:stretch>
                <a:fillRect/>
              </a:stretch>
            </p:blipFill>
            <p:spPr>
              <a:xfrm>
                <a:off x="2679977" y="2302792"/>
                <a:ext cx="431019" cy="423689"/>
              </a:xfrm>
              <a:prstGeom prst="rect">
                <a:avLst/>
              </a:prstGeom>
            </p:spPr>
          </p:pic>
        </p:grpSp>
        <p:grpSp>
          <p:nvGrpSpPr>
            <p:cNvPr id="94" name="Group 93">
              <a:extLst>
                <a:ext uri="{FF2B5EF4-FFF2-40B4-BE49-F238E27FC236}">
                  <a16:creationId xmlns:a16="http://schemas.microsoft.com/office/drawing/2014/main" id="{BDDC4E3D-BED0-1155-94E8-08D75D37DDDB}"/>
                </a:ext>
              </a:extLst>
            </p:cNvPr>
            <p:cNvGrpSpPr/>
            <p:nvPr/>
          </p:nvGrpSpPr>
          <p:grpSpPr>
            <a:xfrm>
              <a:off x="9262341" y="4532996"/>
              <a:ext cx="374828" cy="374828"/>
              <a:chOff x="2594287" y="2215214"/>
              <a:chExt cx="603156" cy="603156"/>
            </a:xfrm>
          </p:grpSpPr>
          <p:sp>
            <p:nvSpPr>
              <p:cNvPr id="103" name="Oval 102">
                <a:extLst>
                  <a:ext uri="{FF2B5EF4-FFF2-40B4-BE49-F238E27FC236}">
                    <a16:creationId xmlns:a16="http://schemas.microsoft.com/office/drawing/2014/main" id="{B0D0AC08-3E77-E5A0-3365-9EFCF3F8007A}"/>
                  </a:ext>
                </a:extLst>
              </p:cNvPr>
              <p:cNvSpPr/>
              <p:nvPr/>
            </p:nvSpPr>
            <p:spPr>
              <a:xfrm>
                <a:off x="2594287" y="2215214"/>
                <a:ext cx="603156" cy="603156"/>
              </a:xfrm>
              <a:prstGeom prst="ellipse">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4" name="Picture 103">
                <a:extLst>
                  <a:ext uri="{FF2B5EF4-FFF2-40B4-BE49-F238E27FC236}">
                    <a16:creationId xmlns:a16="http://schemas.microsoft.com/office/drawing/2014/main" id="{0702A424-76DD-2D79-3811-79935C4C9723}"/>
                  </a:ext>
                </a:extLst>
              </p:cNvPr>
              <p:cNvPicPr>
                <a:picLocks noChangeAspect="1"/>
              </p:cNvPicPr>
              <p:nvPr/>
            </p:nvPicPr>
            <p:blipFill>
              <a:blip r:embed="rId10">
                <a:clrChange>
                  <a:clrFrom>
                    <a:srgbClr val="133152"/>
                  </a:clrFrom>
                  <a:clrTo>
                    <a:srgbClr val="133152">
                      <a:alpha val="0"/>
                    </a:srgbClr>
                  </a:clrTo>
                </a:clrChange>
              </a:blip>
              <a:stretch>
                <a:fillRect/>
              </a:stretch>
            </p:blipFill>
            <p:spPr>
              <a:xfrm>
                <a:off x="2679977" y="2302792"/>
                <a:ext cx="431019" cy="423689"/>
              </a:xfrm>
              <a:prstGeom prst="rect">
                <a:avLst/>
              </a:prstGeom>
            </p:spPr>
          </p:pic>
        </p:grpSp>
        <p:grpSp>
          <p:nvGrpSpPr>
            <p:cNvPr id="95" name="Group 94">
              <a:extLst>
                <a:ext uri="{FF2B5EF4-FFF2-40B4-BE49-F238E27FC236}">
                  <a16:creationId xmlns:a16="http://schemas.microsoft.com/office/drawing/2014/main" id="{E224F019-531A-A895-BE3C-AA1FB8BBC60F}"/>
                </a:ext>
              </a:extLst>
            </p:cNvPr>
            <p:cNvGrpSpPr/>
            <p:nvPr/>
          </p:nvGrpSpPr>
          <p:grpSpPr>
            <a:xfrm>
              <a:off x="6079812" y="4740499"/>
              <a:ext cx="374828" cy="374828"/>
              <a:chOff x="2594287" y="2215214"/>
              <a:chExt cx="603156" cy="603156"/>
            </a:xfrm>
          </p:grpSpPr>
          <p:sp>
            <p:nvSpPr>
              <p:cNvPr id="101" name="Oval 100">
                <a:extLst>
                  <a:ext uri="{FF2B5EF4-FFF2-40B4-BE49-F238E27FC236}">
                    <a16:creationId xmlns:a16="http://schemas.microsoft.com/office/drawing/2014/main" id="{44A208F5-A466-1B5C-5BB9-2547E3199D43}"/>
                  </a:ext>
                </a:extLst>
              </p:cNvPr>
              <p:cNvSpPr/>
              <p:nvPr/>
            </p:nvSpPr>
            <p:spPr>
              <a:xfrm>
                <a:off x="2594287" y="2215214"/>
                <a:ext cx="603156" cy="603156"/>
              </a:xfrm>
              <a:prstGeom prst="ellipse">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 name="Picture 101">
                <a:extLst>
                  <a:ext uri="{FF2B5EF4-FFF2-40B4-BE49-F238E27FC236}">
                    <a16:creationId xmlns:a16="http://schemas.microsoft.com/office/drawing/2014/main" id="{451C33BB-1662-ABF3-768E-0C7EB1765812}"/>
                  </a:ext>
                </a:extLst>
              </p:cNvPr>
              <p:cNvPicPr>
                <a:picLocks noChangeAspect="1"/>
              </p:cNvPicPr>
              <p:nvPr/>
            </p:nvPicPr>
            <p:blipFill>
              <a:blip r:embed="rId10">
                <a:clrChange>
                  <a:clrFrom>
                    <a:srgbClr val="133152"/>
                  </a:clrFrom>
                  <a:clrTo>
                    <a:srgbClr val="133152">
                      <a:alpha val="0"/>
                    </a:srgbClr>
                  </a:clrTo>
                </a:clrChange>
              </a:blip>
              <a:stretch>
                <a:fillRect/>
              </a:stretch>
            </p:blipFill>
            <p:spPr>
              <a:xfrm>
                <a:off x="2679977" y="2302792"/>
                <a:ext cx="431019" cy="423689"/>
              </a:xfrm>
              <a:prstGeom prst="rect">
                <a:avLst/>
              </a:prstGeom>
            </p:spPr>
          </p:pic>
        </p:grpSp>
        <p:grpSp>
          <p:nvGrpSpPr>
            <p:cNvPr id="96" name="Group 95">
              <a:extLst>
                <a:ext uri="{FF2B5EF4-FFF2-40B4-BE49-F238E27FC236}">
                  <a16:creationId xmlns:a16="http://schemas.microsoft.com/office/drawing/2014/main" id="{8380418F-3296-6A74-0863-BBF938F95012}"/>
                </a:ext>
              </a:extLst>
            </p:cNvPr>
            <p:cNvGrpSpPr/>
            <p:nvPr/>
          </p:nvGrpSpPr>
          <p:grpSpPr>
            <a:xfrm>
              <a:off x="2867200" y="4485262"/>
              <a:ext cx="374828" cy="374828"/>
              <a:chOff x="2594287" y="2215214"/>
              <a:chExt cx="603156" cy="603156"/>
            </a:xfrm>
          </p:grpSpPr>
          <p:sp>
            <p:nvSpPr>
              <p:cNvPr id="99" name="Oval 98">
                <a:extLst>
                  <a:ext uri="{FF2B5EF4-FFF2-40B4-BE49-F238E27FC236}">
                    <a16:creationId xmlns:a16="http://schemas.microsoft.com/office/drawing/2014/main" id="{392F54F6-51AF-7BF3-345A-7DB87AEEBD86}"/>
                  </a:ext>
                </a:extLst>
              </p:cNvPr>
              <p:cNvSpPr/>
              <p:nvPr/>
            </p:nvSpPr>
            <p:spPr>
              <a:xfrm>
                <a:off x="2594287" y="2215214"/>
                <a:ext cx="603156" cy="603156"/>
              </a:xfrm>
              <a:prstGeom prst="ellipse">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0" name="Picture 99">
                <a:extLst>
                  <a:ext uri="{FF2B5EF4-FFF2-40B4-BE49-F238E27FC236}">
                    <a16:creationId xmlns:a16="http://schemas.microsoft.com/office/drawing/2014/main" id="{D8ABC44A-E3EC-215A-C0E7-47171EA14B77}"/>
                  </a:ext>
                </a:extLst>
              </p:cNvPr>
              <p:cNvPicPr>
                <a:picLocks noChangeAspect="1"/>
              </p:cNvPicPr>
              <p:nvPr/>
            </p:nvPicPr>
            <p:blipFill>
              <a:blip r:embed="rId10">
                <a:clrChange>
                  <a:clrFrom>
                    <a:srgbClr val="133152"/>
                  </a:clrFrom>
                  <a:clrTo>
                    <a:srgbClr val="133152">
                      <a:alpha val="0"/>
                    </a:srgbClr>
                  </a:clrTo>
                </a:clrChange>
              </a:blip>
              <a:stretch>
                <a:fillRect/>
              </a:stretch>
            </p:blipFill>
            <p:spPr>
              <a:xfrm>
                <a:off x="2679977" y="2302792"/>
                <a:ext cx="431019" cy="423689"/>
              </a:xfrm>
              <a:prstGeom prst="rect">
                <a:avLst/>
              </a:prstGeom>
            </p:spPr>
          </p:pic>
        </p:grpSp>
        <p:sp>
          <p:nvSpPr>
            <p:cNvPr id="97" name="!!edge0">
              <a:extLst>
                <a:ext uri="{FF2B5EF4-FFF2-40B4-BE49-F238E27FC236}">
                  <a16:creationId xmlns:a16="http://schemas.microsoft.com/office/drawing/2014/main" id="{A0E2C353-C1CC-04BC-673A-9FF3408818C4}"/>
                </a:ext>
              </a:extLst>
            </p:cNvPr>
            <p:cNvSpPr/>
            <p:nvPr/>
          </p:nvSpPr>
          <p:spPr>
            <a:xfrm>
              <a:off x="923544" y="640080"/>
              <a:ext cx="2569051"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98" name="!!section">
              <a:extLst>
                <a:ext uri="{FF2B5EF4-FFF2-40B4-BE49-F238E27FC236}">
                  <a16:creationId xmlns:a16="http://schemas.microsoft.com/office/drawing/2014/main" id="{5C329BA2-B56A-3493-702E-6D5AA9297F42}"/>
                </a:ext>
              </a:extLst>
            </p:cNvPr>
            <p:cNvSpPr txBox="1"/>
            <p:nvPr/>
          </p:nvSpPr>
          <p:spPr>
            <a:xfrm>
              <a:off x="1124712" y="777723"/>
              <a:ext cx="7315200" cy="369332"/>
            </a:xfrm>
            <a:prstGeom prst="rect">
              <a:avLst/>
            </a:prstGeom>
            <a:noFill/>
          </p:spPr>
          <p:txBody>
            <a:bodyPr wrap="square" lIns="0" tIns="0" rIns="0" bIns="0" anchor="t">
              <a:spAutoFit/>
            </a:bodyPr>
            <a:lstStyle/>
            <a:p>
              <a:r>
                <a:rPr lang="en-US" sz="1200" dirty="0">
                  <a:solidFill>
                    <a:srgbClr val="006A62"/>
                  </a:solidFill>
                  <a:latin typeface="Google Sans Flex SemiBold"/>
                </a:rPr>
                <a:t>Problem 3 · Poor Coordination</a:t>
              </a:r>
            </a:p>
            <a:p>
              <a:endParaRPr lang="en-US" sz="1200" dirty="0">
                <a:solidFill>
                  <a:srgbClr val="006A62"/>
                </a:solidFill>
                <a:latin typeface="Google Sans Flex SemiBold"/>
              </a:endParaRPr>
            </a:p>
          </p:txBody>
        </p:sp>
      </p:grpSp>
    </p:spTree>
    <p:extLst>
      <p:ext uri="{BB962C8B-B14F-4D97-AF65-F5344CB8AC3E}">
        <p14:creationId xmlns:p14="http://schemas.microsoft.com/office/powerpoint/2010/main" val="14315498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all-clock"/>
          <p:cNvSpPr txBox="1"/>
          <p:nvPr/>
        </p:nvSpPr>
        <p:spPr>
          <a:xfrm>
            <a:off x="8152230" y="1561988"/>
            <a:ext cx="10058400" cy="411480"/>
          </a:xfrm>
          <a:prstGeom prst="rect">
            <a:avLst/>
          </a:prstGeom>
          <a:noFill/>
        </p:spPr>
        <p:txBody>
          <a:bodyPr wrap="square" lIns="0" tIns="0" rIns="0" bIns="0" anchor="t">
            <a:spAutoFit/>
          </a:bodyPr>
          <a:lstStyle/>
          <a:p>
            <a:pPr algn="l"/>
            <a:r>
              <a:rPr sz="1500" dirty="0">
                <a:solidFill>
                  <a:srgbClr val="6B7A72"/>
                </a:solidFill>
                <a:latin typeface="Google Sans Flex"/>
              </a:rPr>
              <a:t>07:12 → 07:31, one call at a time</a:t>
            </a:r>
          </a:p>
        </p:txBody>
      </p:sp>
      <p:sp>
        <p:nvSpPr>
          <p:cNvPr id="86" name="Arc 85">
            <a:extLst>
              <a:ext uri="{FF2B5EF4-FFF2-40B4-BE49-F238E27FC236}">
                <a16:creationId xmlns:a16="http://schemas.microsoft.com/office/drawing/2014/main" id="{12E2173F-279F-C327-5283-9FCFAE255EE1}"/>
              </a:ext>
            </a:extLst>
          </p:cNvPr>
          <p:cNvSpPr/>
          <p:nvPr/>
        </p:nvSpPr>
        <p:spPr>
          <a:xfrm>
            <a:off x="2757270" y="-1859579"/>
            <a:ext cx="6860932" cy="6860932"/>
          </a:xfrm>
          <a:prstGeom prst="arc">
            <a:avLst>
              <a:gd name="adj1" fmla="val 3595097"/>
              <a:gd name="adj2" fmla="val 7197337"/>
            </a:avLst>
          </a:prstGeom>
          <a:ln w="15875">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39" name="Group 38">
            <a:extLst>
              <a:ext uri="{FF2B5EF4-FFF2-40B4-BE49-F238E27FC236}">
                <a16:creationId xmlns:a16="http://schemas.microsoft.com/office/drawing/2014/main" id="{8270522B-D96C-0931-3625-244EF81395F1}"/>
              </a:ext>
            </a:extLst>
          </p:cNvPr>
          <p:cNvGrpSpPr/>
          <p:nvPr/>
        </p:nvGrpSpPr>
        <p:grpSpPr>
          <a:xfrm>
            <a:off x="923544" y="640080"/>
            <a:ext cx="10625328" cy="5575261"/>
            <a:chOff x="923544" y="640080"/>
            <a:chExt cx="10625328" cy="5575261"/>
          </a:xfrm>
        </p:grpSpPr>
        <p:sp>
          <p:nvSpPr>
            <p:cNvPr id="17" name="!!call-line"/>
            <p:cNvSpPr txBox="1"/>
            <p:nvPr/>
          </p:nvSpPr>
          <p:spPr>
            <a:xfrm>
              <a:off x="1001217" y="5107345"/>
              <a:ext cx="5332676" cy="1107996"/>
            </a:xfrm>
            <a:prstGeom prst="rect">
              <a:avLst/>
            </a:prstGeom>
            <a:noFill/>
          </p:spPr>
          <p:txBody>
            <a:bodyPr wrap="square" lIns="0" tIns="0" rIns="0" bIns="0" anchor="t">
              <a:spAutoFit/>
            </a:bodyPr>
            <a:lstStyle/>
            <a:p>
              <a:pPr algn="l"/>
              <a:r>
                <a:rPr sz="2400" dirty="0">
                  <a:latin typeface="Google Sans Flex Light"/>
                </a:rPr>
                <a:t>One call at a time.</a:t>
              </a:r>
            </a:p>
            <a:p>
              <a:pPr algn="l"/>
              <a:r>
                <a:rPr sz="2400" dirty="0">
                  <a:latin typeface="Google Sans Flex Light"/>
                </a:rPr>
                <a:t>Nobody sees the whole picture.</a:t>
              </a:r>
            </a:p>
            <a:p>
              <a:pPr algn="l"/>
              <a:r>
                <a:rPr sz="2400" dirty="0">
                  <a:solidFill>
                    <a:srgbClr val="00B050"/>
                  </a:solidFill>
                  <a:latin typeface="Google Sans Flex SemiBold"/>
                </a:rPr>
                <a:t>Nothing</a:t>
              </a:r>
              <a:r>
                <a:rPr sz="2400" dirty="0">
                  <a:solidFill>
                    <a:srgbClr val="00DE72"/>
                  </a:solidFill>
                  <a:latin typeface="Google Sans Flex SemiBold"/>
                </a:rPr>
                <a:t> </a:t>
              </a:r>
              <a:r>
                <a:rPr sz="2400" dirty="0">
                  <a:solidFill>
                    <a:srgbClr val="00B050"/>
                  </a:solidFill>
                  <a:latin typeface="Google Sans Flex SemiBold"/>
                </a:rPr>
                <a:t>on</a:t>
              </a:r>
              <a:r>
                <a:rPr sz="2400" dirty="0">
                  <a:solidFill>
                    <a:srgbClr val="00DE72"/>
                  </a:solidFill>
                  <a:latin typeface="Google Sans Flex SemiBold"/>
                </a:rPr>
                <a:t> </a:t>
              </a:r>
              <a:r>
                <a:rPr sz="2400" dirty="0">
                  <a:solidFill>
                    <a:srgbClr val="00B050"/>
                  </a:solidFill>
                  <a:latin typeface="Google Sans Flex SemiBold"/>
                </a:rPr>
                <a:t>record</a:t>
              </a:r>
              <a:r>
                <a:rPr sz="2400" dirty="0">
                  <a:solidFill>
                    <a:srgbClr val="00DE72"/>
                  </a:solidFill>
                  <a:latin typeface="Google Sans Flex SemiBold"/>
                </a:rPr>
                <a:t>.</a:t>
              </a:r>
            </a:p>
          </p:txBody>
        </p:sp>
        <p:grpSp>
          <p:nvGrpSpPr>
            <p:cNvPr id="65" name="Group 64">
              <a:extLst>
                <a:ext uri="{FF2B5EF4-FFF2-40B4-BE49-F238E27FC236}">
                  <a16:creationId xmlns:a16="http://schemas.microsoft.com/office/drawing/2014/main" id="{FB5FA591-267E-138C-5D71-632363D580DB}"/>
                </a:ext>
              </a:extLst>
            </p:cNvPr>
            <p:cNvGrpSpPr/>
            <p:nvPr/>
          </p:nvGrpSpPr>
          <p:grpSpPr>
            <a:xfrm>
              <a:off x="1032333" y="2385858"/>
              <a:ext cx="1587745" cy="2229790"/>
              <a:chOff x="1032333" y="2122206"/>
              <a:chExt cx="1587745" cy="2229790"/>
            </a:xfrm>
          </p:grpSpPr>
          <p:sp>
            <p:nvSpPr>
              <p:cNvPr id="30" name="!!edge0">
                <a:extLst>
                  <a:ext uri="{FF2B5EF4-FFF2-40B4-BE49-F238E27FC236}">
                    <a16:creationId xmlns:a16="http://schemas.microsoft.com/office/drawing/2014/main" id="{CF8A24D2-A341-C93F-B58B-E96E6C219163}"/>
                  </a:ext>
                </a:extLst>
              </p:cNvPr>
              <p:cNvSpPr/>
              <p:nvPr/>
            </p:nvSpPr>
            <p:spPr>
              <a:xfrm>
                <a:off x="1032333" y="2755261"/>
                <a:ext cx="1463040" cy="1463040"/>
              </a:xfrm>
              <a:prstGeom prst="roundRect">
                <a:avLst>
                  <a:gd name="adj" fmla="val 15899"/>
                </a:avLst>
              </a:prstGeom>
              <a:solidFill>
                <a:schemeClr val="bg1"/>
              </a:solidFill>
              <a:ln w="19050">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pic>
            <p:nvPicPr>
              <p:cNvPr id="20" name="Picture 19">
                <a:extLst>
                  <a:ext uri="{FF2B5EF4-FFF2-40B4-BE49-F238E27FC236}">
                    <a16:creationId xmlns:a16="http://schemas.microsoft.com/office/drawing/2014/main" id="{A864E27F-AF85-60F0-0408-CCA849136B8E}"/>
                  </a:ext>
                </a:extLst>
              </p:cNvPr>
              <p:cNvPicPr>
                <a:picLocks noChangeAspect="1"/>
              </p:cNvPicPr>
              <p:nvPr/>
            </p:nvPicPr>
            <p:blipFill>
              <a:blip r:embed="rId3">
                <a:extLst>
                  <a:ext uri="{28A0092B-C50C-407E-A947-70E740481C1C}">
                    <a14:useLocalDpi xmlns:a14="http://schemas.microsoft.com/office/drawing/2010/main" val="0"/>
                  </a:ext>
                </a:extLst>
              </a:blip>
              <a:srcRect l="27033" t="-1409" r="46509" b="50640"/>
              <a:stretch>
                <a:fillRect/>
              </a:stretch>
            </p:blipFill>
            <p:spPr>
              <a:xfrm>
                <a:off x="1032333" y="2122206"/>
                <a:ext cx="1463040" cy="2096095"/>
              </a:xfrm>
              <a:prstGeom prst="roundRect">
                <a:avLst>
                  <a:gd name="adj" fmla="val 16933"/>
                </a:avLst>
              </a:prstGeom>
            </p:spPr>
          </p:pic>
          <p:sp>
            <p:nvSpPr>
              <p:cNvPr id="38" name="!!edge0">
                <a:extLst>
                  <a:ext uri="{FF2B5EF4-FFF2-40B4-BE49-F238E27FC236}">
                    <a16:creationId xmlns:a16="http://schemas.microsoft.com/office/drawing/2014/main" id="{52DBBED5-FFF9-9C17-3A56-AEB149DD1CB9}"/>
                  </a:ext>
                </a:extLst>
              </p:cNvPr>
              <p:cNvSpPr/>
              <p:nvPr/>
            </p:nvSpPr>
            <p:spPr>
              <a:xfrm>
                <a:off x="1318082" y="3940516"/>
                <a:ext cx="1301996" cy="4114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40" name="!!tool0-head">
                <a:extLst>
                  <a:ext uri="{FF2B5EF4-FFF2-40B4-BE49-F238E27FC236}">
                    <a16:creationId xmlns:a16="http://schemas.microsoft.com/office/drawing/2014/main" id="{FFB03F43-5D8B-6CC1-1183-DA8B294A1984}"/>
                  </a:ext>
                </a:extLst>
              </p:cNvPr>
              <p:cNvSpPr txBox="1"/>
              <p:nvPr/>
            </p:nvSpPr>
            <p:spPr>
              <a:xfrm>
                <a:off x="1428680" y="4038927"/>
                <a:ext cx="1129045" cy="246221"/>
              </a:xfrm>
              <a:prstGeom prst="rect">
                <a:avLst/>
              </a:prstGeom>
              <a:noFill/>
            </p:spPr>
            <p:txBody>
              <a:bodyPr wrap="square" lIns="0" tIns="0" rIns="0" bIns="0" anchor="t">
                <a:spAutoFit/>
              </a:bodyPr>
              <a:lstStyle/>
              <a:p>
                <a:pPr algn="ctr"/>
                <a:r>
                  <a:rPr lang="en-GB" sz="1600" dirty="0">
                    <a:latin typeface="Google Sans Flex SemiBold"/>
                  </a:rPr>
                  <a:t>Driver</a:t>
                </a:r>
                <a:endParaRPr sz="1600" dirty="0">
                  <a:latin typeface="Google Sans Flex SemiBold"/>
                </a:endParaRPr>
              </a:p>
            </p:txBody>
          </p:sp>
        </p:grpSp>
        <p:grpSp>
          <p:nvGrpSpPr>
            <p:cNvPr id="66" name="Group 65">
              <a:extLst>
                <a:ext uri="{FF2B5EF4-FFF2-40B4-BE49-F238E27FC236}">
                  <a16:creationId xmlns:a16="http://schemas.microsoft.com/office/drawing/2014/main" id="{D1168EC7-5167-CB58-5954-D49136999DD9}"/>
                </a:ext>
              </a:extLst>
            </p:cNvPr>
            <p:cNvGrpSpPr/>
            <p:nvPr/>
          </p:nvGrpSpPr>
          <p:grpSpPr>
            <a:xfrm>
              <a:off x="3020192" y="2410288"/>
              <a:ext cx="1784812" cy="2138512"/>
              <a:chOff x="3295865" y="2146636"/>
              <a:chExt cx="1784812" cy="2138512"/>
            </a:xfrm>
          </p:grpSpPr>
          <p:sp>
            <p:nvSpPr>
              <p:cNvPr id="31" name="!!edge0">
                <a:extLst>
                  <a:ext uri="{FF2B5EF4-FFF2-40B4-BE49-F238E27FC236}">
                    <a16:creationId xmlns:a16="http://schemas.microsoft.com/office/drawing/2014/main" id="{5A6A2BEF-9B76-437B-F223-007DD7C7AEC7}"/>
                  </a:ext>
                </a:extLst>
              </p:cNvPr>
              <p:cNvSpPr/>
              <p:nvPr/>
            </p:nvSpPr>
            <p:spPr>
              <a:xfrm>
                <a:off x="3295866" y="2688413"/>
                <a:ext cx="1463040" cy="1463040"/>
              </a:xfrm>
              <a:prstGeom prst="roundRect">
                <a:avLst>
                  <a:gd name="adj" fmla="val 15899"/>
                </a:avLst>
              </a:prstGeom>
              <a:solidFill>
                <a:schemeClr val="bg1"/>
              </a:solidFill>
              <a:ln w="19050">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pic>
            <p:nvPicPr>
              <p:cNvPr id="22" name="Picture 21">
                <a:extLst>
                  <a:ext uri="{FF2B5EF4-FFF2-40B4-BE49-F238E27FC236}">
                    <a16:creationId xmlns:a16="http://schemas.microsoft.com/office/drawing/2014/main" id="{63D518EE-1B6D-A93B-8551-97C16C24D278}"/>
                  </a:ext>
                </a:extLst>
              </p:cNvPr>
              <p:cNvPicPr>
                <a:picLocks noChangeAspect="1"/>
              </p:cNvPicPr>
              <p:nvPr/>
            </p:nvPicPr>
            <p:blipFill>
              <a:blip r:embed="rId4">
                <a:extLst>
                  <a:ext uri="{28A0092B-C50C-407E-A947-70E740481C1C}">
                    <a14:useLocalDpi xmlns:a14="http://schemas.microsoft.com/office/drawing/2010/main" val="0"/>
                  </a:ext>
                </a:extLst>
              </a:blip>
              <a:srcRect l="42454" r="33670" b="51233"/>
              <a:stretch>
                <a:fillRect/>
              </a:stretch>
            </p:blipFill>
            <p:spPr>
              <a:xfrm>
                <a:off x="3295865" y="2146636"/>
                <a:ext cx="1463039" cy="2004817"/>
              </a:xfrm>
              <a:prstGeom prst="roundRect">
                <a:avLst/>
              </a:prstGeom>
            </p:spPr>
          </p:pic>
          <p:sp>
            <p:nvSpPr>
              <p:cNvPr id="41" name="!!edge0">
                <a:extLst>
                  <a:ext uri="{FF2B5EF4-FFF2-40B4-BE49-F238E27FC236}">
                    <a16:creationId xmlns:a16="http://schemas.microsoft.com/office/drawing/2014/main" id="{7E6E4893-DCB3-FC3E-9EEB-4CC1FD3AFE17}"/>
                  </a:ext>
                </a:extLst>
              </p:cNvPr>
              <p:cNvSpPr/>
              <p:nvPr/>
            </p:nvSpPr>
            <p:spPr>
              <a:xfrm>
                <a:off x="3699411" y="3873668"/>
                <a:ext cx="1381266" cy="4114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42" name="!!tool0-head">
                <a:extLst>
                  <a:ext uri="{FF2B5EF4-FFF2-40B4-BE49-F238E27FC236}">
                    <a16:creationId xmlns:a16="http://schemas.microsoft.com/office/drawing/2014/main" id="{12AAD261-16C4-A0B3-2E01-B8631501BFBA}"/>
                  </a:ext>
                </a:extLst>
              </p:cNvPr>
              <p:cNvSpPr txBox="1"/>
              <p:nvPr/>
            </p:nvSpPr>
            <p:spPr>
              <a:xfrm>
                <a:off x="3810009" y="3972079"/>
                <a:ext cx="1129045" cy="246221"/>
              </a:xfrm>
              <a:prstGeom prst="rect">
                <a:avLst/>
              </a:prstGeom>
              <a:noFill/>
            </p:spPr>
            <p:txBody>
              <a:bodyPr wrap="square" lIns="0" tIns="0" rIns="0" bIns="0" anchor="t">
                <a:spAutoFit/>
              </a:bodyPr>
              <a:lstStyle/>
              <a:p>
                <a:pPr algn="ctr"/>
                <a:r>
                  <a:rPr lang="en-GB" sz="1600" dirty="0">
                    <a:latin typeface="Google Sans Flex SemiBold"/>
                  </a:rPr>
                  <a:t>Dispatcher</a:t>
                </a:r>
                <a:endParaRPr sz="1600" dirty="0">
                  <a:latin typeface="Google Sans Flex SemiBold"/>
                </a:endParaRPr>
              </a:p>
            </p:txBody>
          </p:sp>
        </p:grpSp>
        <p:grpSp>
          <p:nvGrpSpPr>
            <p:cNvPr id="67" name="Group 66">
              <a:extLst>
                <a:ext uri="{FF2B5EF4-FFF2-40B4-BE49-F238E27FC236}">
                  <a16:creationId xmlns:a16="http://schemas.microsoft.com/office/drawing/2014/main" id="{8A8B0CF5-D04C-F6DC-8DFD-6B911D4453E1}"/>
                </a:ext>
              </a:extLst>
            </p:cNvPr>
            <p:cNvGrpSpPr/>
            <p:nvPr/>
          </p:nvGrpSpPr>
          <p:grpSpPr>
            <a:xfrm>
              <a:off x="5205118" y="2306673"/>
              <a:ext cx="1705541" cy="2242127"/>
              <a:chOff x="9901383" y="2043022"/>
              <a:chExt cx="1705541" cy="2242127"/>
            </a:xfrm>
          </p:grpSpPr>
          <p:sp>
            <p:nvSpPr>
              <p:cNvPr id="33" name="!!edge0">
                <a:extLst>
                  <a:ext uri="{FF2B5EF4-FFF2-40B4-BE49-F238E27FC236}">
                    <a16:creationId xmlns:a16="http://schemas.microsoft.com/office/drawing/2014/main" id="{14108FBE-A6B5-0988-91E5-BCB0A5621E7C}"/>
                  </a:ext>
                </a:extLst>
              </p:cNvPr>
              <p:cNvSpPr/>
              <p:nvPr/>
            </p:nvSpPr>
            <p:spPr>
              <a:xfrm>
                <a:off x="9901383" y="2728627"/>
                <a:ext cx="1463040" cy="1463040"/>
              </a:xfrm>
              <a:prstGeom prst="roundRect">
                <a:avLst>
                  <a:gd name="adj" fmla="val 15899"/>
                </a:avLst>
              </a:prstGeom>
              <a:solidFill>
                <a:schemeClr val="bg1"/>
              </a:solidFill>
              <a:ln w="19050">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pic>
            <p:nvPicPr>
              <p:cNvPr id="26" name="Picture 25">
                <a:extLst>
                  <a:ext uri="{FF2B5EF4-FFF2-40B4-BE49-F238E27FC236}">
                    <a16:creationId xmlns:a16="http://schemas.microsoft.com/office/drawing/2014/main" id="{DAEDB6E4-8E64-08BA-35F3-C83550CBD239}"/>
                  </a:ext>
                </a:extLst>
              </p:cNvPr>
              <p:cNvPicPr>
                <a:picLocks noChangeAspect="1"/>
              </p:cNvPicPr>
              <p:nvPr/>
            </p:nvPicPr>
            <p:blipFill>
              <a:blip r:embed="rId5">
                <a:extLst>
                  <a:ext uri="{28A0092B-C50C-407E-A947-70E740481C1C}">
                    <a14:useLocalDpi xmlns:a14="http://schemas.microsoft.com/office/drawing/2010/main" val="0"/>
                  </a:ext>
                </a:extLst>
              </a:blip>
              <a:srcRect l="24121" t="1" r="26312" b="59369"/>
              <a:stretch>
                <a:fillRect/>
              </a:stretch>
            </p:blipFill>
            <p:spPr>
              <a:xfrm>
                <a:off x="9901383" y="2043022"/>
                <a:ext cx="1463039" cy="2148645"/>
              </a:xfrm>
              <a:prstGeom prst="roundRect">
                <a:avLst/>
              </a:prstGeom>
            </p:spPr>
          </p:pic>
          <p:sp>
            <p:nvSpPr>
              <p:cNvPr id="43" name="!!edge0">
                <a:extLst>
                  <a:ext uri="{FF2B5EF4-FFF2-40B4-BE49-F238E27FC236}">
                    <a16:creationId xmlns:a16="http://schemas.microsoft.com/office/drawing/2014/main" id="{83F5F8AF-91A5-F98F-CFDB-919D14C3F328}"/>
                  </a:ext>
                </a:extLst>
              </p:cNvPr>
              <p:cNvSpPr/>
              <p:nvPr/>
            </p:nvSpPr>
            <p:spPr>
              <a:xfrm>
                <a:off x="10304928" y="3873669"/>
                <a:ext cx="1301996" cy="4114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44" name="!!tool0-head">
                <a:extLst>
                  <a:ext uri="{FF2B5EF4-FFF2-40B4-BE49-F238E27FC236}">
                    <a16:creationId xmlns:a16="http://schemas.microsoft.com/office/drawing/2014/main" id="{37F7C4C8-769F-075D-3D3D-322AF9D6F4B5}"/>
                  </a:ext>
                </a:extLst>
              </p:cNvPr>
              <p:cNvSpPr txBox="1"/>
              <p:nvPr/>
            </p:nvSpPr>
            <p:spPr>
              <a:xfrm>
                <a:off x="10415526" y="3972080"/>
                <a:ext cx="1129045" cy="246221"/>
              </a:xfrm>
              <a:prstGeom prst="rect">
                <a:avLst/>
              </a:prstGeom>
              <a:noFill/>
            </p:spPr>
            <p:txBody>
              <a:bodyPr wrap="square" lIns="0" tIns="0" rIns="0" bIns="0" anchor="t">
                <a:spAutoFit/>
              </a:bodyPr>
              <a:lstStyle/>
              <a:p>
                <a:pPr algn="ctr"/>
                <a:r>
                  <a:rPr lang="en-GB" sz="1600" dirty="0">
                    <a:latin typeface="Google Sans Flex SemiBold"/>
                  </a:rPr>
                  <a:t>Store 01</a:t>
                </a:r>
                <a:endParaRPr sz="1600" dirty="0">
                  <a:latin typeface="Google Sans Flex SemiBold"/>
                </a:endParaRPr>
              </a:p>
            </p:txBody>
          </p:sp>
        </p:grpSp>
        <p:grpSp>
          <p:nvGrpSpPr>
            <p:cNvPr id="68" name="Group 67">
              <a:extLst>
                <a:ext uri="{FF2B5EF4-FFF2-40B4-BE49-F238E27FC236}">
                  <a16:creationId xmlns:a16="http://schemas.microsoft.com/office/drawing/2014/main" id="{32168AF6-E670-5764-8801-AD06D02167B1}"/>
                </a:ext>
              </a:extLst>
            </p:cNvPr>
            <p:cNvGrpSpPr/>
            <p:nvPr/>
          </p:nvGrpSpPr>
          <p:grpSpPr>
            <a:xfrm>
              <a:off x="7310773" y="2283113"/>
              <a:ext cx="1705541" cy="2249870"/>
              <a:chOff x="9901383" y="4218301"/>
              <a:chExt cx="1705541" cy="2249870"/>
            </a:xfrm>
          </p:grpSpPr>
          <p:sp>
            <p:nvSpPr>
              <p:cNvPr id="35" name="!!edge0">
                <a:extLst>
                  <a:ext uri="{FF2B5EF4-FFF2-40B4-BE49-F238E27FC236}">
                    <a16:creationId xmlns:a16="http://schemas.microsoft.com/office/drawing/2014/main" id="{5682C153-7C39-F8FF-0908-600226B1259E}"/>
                  </a:ext>
                </a:extLst>
              </p:cNvPr>
              <p:cNvSpPr/>
              <p:nvPr/>
            </p:nvSpPr>
            <p:spPr>
              <a:xfrm>
                <a:off x="9901383" y="4903906"/>
                <a:ext cx="1463040" cy="1463040"/>
              </a:xfrm>
              <a:prstGeom prst="roundRect">
                <a:avLst>
                  <a:gd name="adj" fmla="val 15899"/>
                </a:avLst>
              </a:prstGeom>
              <a:solidFill>
                <a:schemeClr val="bg1"/>
              </a:solidFill>
              <a:ln w="19050">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pic>
            <p:nvPicPr>
              <p:cNvPr id="36" name="Picture 35">
                <a:extLst>
                  <a:ext uri="{FF2B5EF4-FFF2-40B4-BE49-F238E27FC236}">
                    <a16:creationId xmlns:a16="http://schemas.microsoft.com/office/drawing/2014/main" id="{D36B6B7E-BC72-61D9-1D4A-B5A0FF992813}"/>
                  </a:ext>
                </a:extLst>
              </p:cNvPr>
              <p:cNvPicPr>
                <a:picLocks noChangeAspect="1"/>
              </p:cNvPicPr>
              <p:nvPr/>
            </p:nvPicPr>
            <p:blipFill>
              <a:blip r:embed="rId5">
                <a:extLst>
                  <a:ext uri="{28A0092B-C50C-407E-A947-70E740481C1C}">
                    <a14:useLocalDpi xmlns:a14="http://schemas.microsoft.com/office/drawing/2010/main" val="0"/>
                  </a:ext>
                </a:extLst>
              </a:blip>
              <a:srcRect l="24121" t="1" r="26312" b="59369"/>
              <a:stretch>
                <a:fillRect/>
              </a:stretch>
            </p:blipFill>
            <p:spPr>
              <a:xfrm>
                <a:off x="9901383" y="4218301"/>
                <a:ext cx="1463039" cy="2148645"/>
              </a:xfrm>
              <a:prstGeom prst="roundRect">
                <a:avLst/>
              </a:prstGeom>
            </p:spPr>
          </p:pic>
          <p:sp>
            <p:nvSpPr>
              <p:cNvPr id="45" name="!!edge0">
                <a:extLst>
                  <a:ext uri="{FF2B5EF4-FFF2-40B4-BE49-F238E27FC236}">
                    <a16:creationId xmlns:a16="http://schemas.microsoft.com/office/drawing/2014/main" id="{96178A5A-0709-FEE9-8F6A-51CFDB5C71D1}"/>
                  </a:ext>
                </a:extLst>
              </p:cNvPr>
              <p:cNvSpPr/>
              <p:nvPr/>
            </p:nvSpPr>
            <p:spPr>
              <a:xfrm>
                <a:off x="10304928" y="6056691"/>
                <a:ext cx="1301996" cy="4114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46" name="!!tool0-head">
                <a:extLst>
                  <a:ext uri="{FF2B5EF4-FFF2-40B4-BE49-F238E27FC236}">
                    <a16:creationId xmlns:a16="http://schemas.microsoft.com/office/drawing/2014/main" id="{ACEA7B80-6C7D-D086-3BCA-4E0889581AB9}"/>
                  </a:ext>
                </a:extLst>
              </p:cNvPr>
              <p:cNvSpPr txBox="1"/>
              <p:nvPr/>
            </p:nvSpPr>
            <p:spPr>
              <a:xfrm>
                <a:off x="10415526" y="6155102"/>
                <a:ext cx="1129045" cy="246221"/>
              </a:xfrm>
              <a:prstGeom prst="rect">
                <a:avLst/>
              </a:prstGeom>
              <a:noFill/>
            </p:spPr>
            <p:txBody>
              <a:bodyPr wrap="square" lIns="0" tIns="0" rIns="0" bIns="0" anchor="t">
                <a:spAutoFit/>
              </a:bodyPr>
              <a:lstStyle/>
              <a:p>
                <a:pPr algn="ctr"/>
                <a:r>
                  <a:rPr lang="en-GB" sz="1600" dirty="0">
                    <a:latin typeface="Google Sans Flex SemiBold"/>
                  </a:rPr>
                  <a:t>Store 02</a:t>
                </a:r>
                <a:endParaRPr sz="1600" dirty="0">
                  <a:latin typeface="Google Sans Flex SemiBold"/>
                </a:endParaRPr>
              </a:p>
            </p:txBody>
          </p:sp>
        </p:grpSp>
        <p:sp>
          <p:nvSpPr>
            <p:cNvPr id="63" name="!!title">
              <a:extLst>
                <a:ext uri="{FF2B5EF4-FFF2-40B4-BE49-F238E27FC236}">
                  <a16:creationId xmlns:a16="http://schemas.microsoft.com/office/drawing/2014/main" id="{1EA5C3DB-EC72-676C-2CA0-15A3983CAFE6}"/>
                </a:ext>
              </a:extLst>
            </p:cNvPr>
            <p:cNvSpPr txBox="1"/>
            <p:nvPr/>
          </p:nvSpPr>
          <p:spPr>
            <a:xfrm>
              <a:off x="923544" y="1386046"/>
              <a:ext cx="10625328" cy="553998"/>
            </a:xfrm>
            <a:prstGeom prst="rect">
              <a:avLst/>
            </a:prstGeom>
            <a:noFill/>
          </p:spPr>
          <p:txBody>
            <a:bodyPr wrap="square" lIns="0" tIns="0" rIns="0" bIns="0" anchor="t">
              <a:spAutoFit/>
            </a:bodyPr>
            <a:lstStyle/>
            <a:p>
              <a:r>
                <a:rPr lang="en-US" sz="3600" dirty="0">
                  <a:solidFill>
                    <a:srgbClr val="00B050"/>
                  </a:solidFill>
                  <a:latin typeface="Google Sans Flex SemiBold"/>
                </a:rPr>
                <a:t>Today,</a:t>
              </a:r>
              <a:r>
                <a:rPr lang="en-US" sz="3600" dirty="0">
                  <a:latin typeface="Google Sans Flex Light"/>
                </a:rPr>
                <a:t> a chain of phone calls</a:t>
              </a:r>
            </a:p>
          </p:txBody>
        </p:sp>
        <p:grpSp>
          <p:nvGrpSpPr>
            <p:cNvPr id="69" name="Group 68">
              <a:extLst>
                <a:ext uri="{FF2B5EF4-FFF2-40B4-BE49-F238E27FC236}">
                  <a16:creationId xmlns:a16="http://schemas.microsoft.com/office/drawing/2014/main" id="{3B3B8B53-EBE3-54E7-8DB0-26E0FCDBC8F1}"/>
                </a:ext>
              </a:extLst>
            </p:cNvPr>
            <p:cNvGrpSpPr/>
            <p:nvPr/>
          </p:nvGrpSpPr>
          <p:grpSpPr>
            <a:xfrm>
              <a:off x="9416429" y="2283113"/>
              <a:ext cx="1705541" cy="2249870"/>
              <a:chOff x="9901383" y="4218301"/>
              <a:chExt cx="1705541" cy="2249870"/>
            </a:xfrm>
          </p:grpSpPr>
          <p:sp>
            <p:nvSpPr>
              <p:cNvPr id="70" name="!!edge0">
                <a:extLst>
                  <a:ext uri="{FF2B5EF4-FFF2-40B4-BE49-F238E27FC236}">
                    <a16:creationId xmlns:a16="http://schemas.microsoft.com/office/drawing/2014/main" id="{94028A47-5FE8-AFB4-9BE5-2FD25482E41F}"/>
                  </a:ext>
                </a:extLst>
              </p:cNvPr>
              <p:cNvSpPr/>
              <p:nvPr/>
            </p:nvSpPr>
            <p:spPr>
              <a:xfrm>
                <a:off x="9901383" y="4903906"/>
                <a:ext cx="1463040" cy="1463040"/>
              </a:xfrm>
              <a:prstGeom prst="roundRect">
                <a:avLst>
                  <a:gd name="adj" fmla="val 15899"/>
                </a:avLst>
              </a:prstGeom>
              <a:solidFill>
                <a:schemeClr val="bg1"/>
              </a:solidFill>
              <a:ln w="19050">
                <a:gradFill>
                  <a:gsLst>
                    <a:gs pos="0">
                      <a:schemeClr val="accent1">
                        <a:lumMod val="5000"/>
                        <a:lumOff val="95000"/>
                      </a:schemeClr>
                    </a:gs>
                    <a:gs pos="74000">
                      <a:schemeClr val="tx1"/>
                    </a:gs>
                    <a:gs pos="83000">
                      <a:schemeClr val="tx1"/>
                    </a:gs>
                    <a:gs pos="100000">
                      <a:schemeClr val="bg1"/>
                    </a:gs>
                  </a:gsLst>
                  <a:lin ang="11400000" scaled="0"/>
                </a:gradFill>
              </a:ln>
              <a:effectLst/>
            </p:spPr>
            <p:txBody>
              <a:bodyPr rtlCol="0" anchor="ctr"/>
              <a:lstStyle/>
              <a:p>
                <a:pPr algn="ctr"/>
                <a:endParaRPr/>
              </a:p>
            </p:txBody>
          </p:sp>
          <p:pic>
            <p:nvPicPr>
              <p:cNvPr id="71" name="Picture 70">
                <a:extLst>
                  <a:ext uri="{FF2B5EF4-FFF2-40B4-BE49-F238E27FC236}">
                    <a16:creationId xmlns:a16="http://schemas.microsoft.com/office/drawing/2014/main" id="{988978AA-A82E-AB05-05BF-E47800127CBD}"/>
                  </a:ext>
                </a:extLst>
              </p:cNvPr>
              <p:cNvPicPr>
                <a:picLocks noChangeAspect="1"/>
              </p:cNvPicPr>
              <p:nvPr/>
            </p:nvPicPr>
            <p:blipFill>
              <a:blip r:embed="rId5">
                <a:extLst>
                  <a:ext uri="{28A0092B-C50C-407E-A947-70E740481C1C}">
                    <a14:useLocalDpi xmlns:a14="http://schemas.microsoft.com/office/drawing/2010/main" val="0"/>
                  </a:ext>
                </a:extLst>
              </a:blip>
              <a:srcRect l="24121" t="1" r="26312" b="59369"/>
              <a:stretch>
                <a:fillRect/>
              </a:stretch>
            </p:blipFill>
            <p:spPr>
              <a:xfrm>
                <a:off x="9901383" y="4218301"/>
                <a:ext cx="1463039" cy="2148645"/>
              </a:xfrm>
              <a:prstGeom prst="roundRect">
                <a:avLst/>
              </a:prstGeom>
            </p:spPr>
          </p:pic>
          <p:sp>
            <p:nvSpPr>
              <p:cNvPr id="72" name="!!edge0">
                <a:extLst>
                  <a:ext uri="{FF2B5EF4-FFF2-40B4-BE49-F238E27FC236}">
                    <a16:creationId xmlns:a16="http://schemas.microsoft.com/office/drawing/2014/main" id="{0AFCA3C9-ADB8-6D82-4582-4113D69894C2}"/>
                  </a:ext>
                </a:extLst>
              </p:cNvPr>
              <p:cNvSpPr/>
              <p:nvPr/>
            </p:nvSpPr>
            <p:spPr>
              <a:xfrm>
                <a:off x="10304928" y="6056691"/>
                <a:ext cx="1301996" cy="4114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73" name="!!tool0-head">
                <a:extLst>
                  <a:ext uri="{FF2B5EF4-FFF2-40B4-BE49-F238E27FC236}">
                    <a16:creationId xmlns:a16="http://schemas.microsoft.com/office/drawing/2014/main" id="{5F250B29-1E08-88F1-0276-17D1538CA8B4}"/>
                  </a:ext>
                </a:extLst>
              </p:cNvPr>
              <p:cNvSpPr txBox="1"/>
              <p:nvPr/>
            </p:nvSpPr>
            <p:spPr>
              <a:xfrm>
                <a:off x="10415526" y="6155102"/>
                <a:ext cx="1129045" cy="246221"/>
              </a:xfrm>
              <a:prstGeom prst="rect">
                <a:avLst/>
              </a:prstGeom>
              <a:noFill/>
            </p:spPr>
            <p:txBody>
              <a:bodyPr wrap="square" lIns="0" tIns="0" rIns="0" bIns="0" anchor="t">
                <a:spAutoFit/>
              </a:bodyPr>
              <a:lstStyle/>
              <a:p>
                <a:pPr algn="ctr"/>
                <a:r>
                  <a:rPr lang="en-GB" sz="1600" dirty="0">
                    <a:latin typeface="Google Sans Flex SemiBold"/>
                  </a:rPr>
                  <a:t>Store 03</a:t>
                </a:r>
                <a:endParaRPr sz="1600" dirty="0">
                  <a:latin typeface="Google Sans Flex SemiBold"/>
                </a:endParaRPr>
              </a:p>
            </p:txBody>
          </p:sp>
        </p:grpSp>
        <p:sp>
          <p:nvSpPr>
            <p:cNvPr id="74" name="Arc 73">
              <a:extLst>
                <a:ext uri="{FF2B5EF4-FFF2-40B4-BE49-F238E27FC236}">
                  <a16:creationId xmlns:a16="http://schemas.microsoft.com/office/drawing/2014/main" id="{3581C694-7D34-7F28-A27A-CC898FD783BF}"/>
                </a:ext>
              </a:extLst>
            </p:cNvPr>
            <p:cNvSpPr/>
            <p:nvPr/>
          </p:nvSpPr>
          <p:spPr>
            <a:xfrm>
              <a:off x="1312292" y="2476434"/>
              <a:ext cx="3321772" cy="3321772"/>
            </a:xfrm>
            <a:prstGeom prst="arc">
              <a:avLst>
                <a:gd name="adj1" fmla="val 14084605"/>
                <a:gd name="adj2" fmla="val 18179450"/>
              </a:avLst>
            </a:prstGeom>
            <a:ln w="15875">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1" name="Arc 80">
              <a:extLst>
                <a:ext uri="{FF2B5EF4-FFF2-40B4-BE49-F238E27FC236}">
                  <a16:creationId xmlns:a16="http://schemas.microsoft.com/office/drawing/2014/main" id="{A59F84A4-EE16-1ABD-4A07-CA76F57BB5D1}"/>
                </a:ext>
              </a:extLst>
            </p:cNvPr>
            <p:cNvSpPr/>
            <p:nvPr/>
          </p:nvSpPr>
          <p:spPr>
            <a:xfrm>
              <a:off x="3327787" y="2476434"/>
              <a:ext cx="3321772" cy="3321772"/>
            </a:xfrm>
            <a:prstGeom prst="arc">
              <a:avLst>
                <a:gd name="adj1" fmla="val 14254083"/>
                <a:gd name="adj2" fmla="val 17582241"/>
              </a:avLst>
            </a:prstGeom>
            <a:ln w="15875">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2" name="Arc 81">
              <a:extLst>
                <a:ext uri="{FF2B5EF4-FFF2-40B4-BE49-F238E27FC236}">
                  <a16:creationId xmlns:a16="http://schemas.microsoft.com/office/drawing/2014/main" id="{231B7416-E3A7-BA1A-F46C-6266C24933A7}"/>
                </a:ext>
              </a:extLst>
            </p:cNvPr>
            <p:cNvSpPr/>
            <p:nvPr/>
          </p:nvSpPr>
          <p:spPr>
            <a:xfrm>
              <a:off x="5376058" y="2476434"/>
              <a:ext cx="3321772" cy="3321772"/>
            </a:xfrm>
            <a:prstGeom prst="arc">
              <a:avLst>
                <a:gd name="adj1" fmla="val 14295631"/>
                <a:gd name="adj2" fmla="val 17406212"/>
              </a:avLst>
            </a:prstGeom>
            <a:ln w="15875">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3" name="Arc 82">
              <a:extLst>
                <a:ext uri="{FF2B5EF4-FFF2-40B4-BE49-F238E27FC236}">
                  <a16:creationId xmlns:a16="http://schemas.microsoft.com/office/drawing/2014/main" id="{F6D36DEF-92F9-D332-DF2E-82CD5F2DA958}"/>
                </a:ext>
              </a:extLst>
            </p:cNvPr>
            <p:cNvSpPr/>
            <p:nvPr/>
          </p:nvSpPr>
          <p:spPr>
            <a:xfrm>
              <a:off x="7530649" y="2476434"/>
              <a:ext cx="3321772" cy="3321772"/>
            </a:xfrm>
            <a:prstGeom prst="arc">
              <a:avLst>
                <a:gd name="adj1" fmla="val 14295631"/>
                <a:gd name="adj2" fmla="val 17406212"/>
              </a:avLst>
            </a:prstGeom>
            <a:ln w="15875">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Arc 84">
              <a:extLst>
                <a:ext uri="{FF2B5EF4-FFF2-40B4-BE49-F238E27FC236}">
                  <a16:creationId xmlns:a16="http://schemas.microsoft.com/office/drawing/2014/main" id="{065532C5-78EF-A233-1932-3A5B072F37D4}"/>
                </a:ext>
              </a:extLst>
            </p:cNvPr>
            <p:cNvSpPr/>
            <p:nvPr/>
          </p:nvSpPr>
          <p:spPr>
            <a:xfrm>
              <a:off x="7857563" y="1428142"/>
              <a:ext cx="3321772" cy="3321772"/>
            </a:xfrm>
            <a:prstGeom prst="arc">
              <a:avLst>
                <a:gd name="adj1" fmla="val 3595097"/>
                <a:gd name="adj2" fmla="val 7197337"/>
              </a:avLst>
            </a:prstGeom>
            <a:ln w="15875">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Arc 86">
              <a:extLst>
                <a:ext uri="{FF2B5EF4-FFF2-40B4-BE49-F238E27FC236}">
                  <a16:creationId xmlns:a16="http://schemas.microsoft.com/office/drawing/2014/main" id="{15B457F7-BAD8-CC4E-392D-8791435ADBFC}"/>
                </a:ext>
              </a:extLst>
            </p:cNvPr>
            <p:cNvSpPr/>
            <p:nvPr/>
          </p:nvSpPr>
          <p:spPr>
            <a:xfrm>
              <a:off x="1477325" y="1457878"/>
              <a:ext cx="3321772" cy="3321772"/>
            </a:xfrm>
            <a:prstGeom prst="arc">
              <a:avLst>
                <a:gd name="adj1" fmla="val 3595097"/>
                <a:gd name="adj2" fmla="val 6878040"/>
              </a:avLst>
            </a:prstGeom>
            <a:ln w="15875">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92" name="Group 91">
              <a:extLst>
                <a:ext uri="{FF2B5EF4-FFF2-40B4-BE49-F238E27FC236}">
                  <a16:creationId xmlns:a16="http://schemas.microsoft.com/office/drawing/2014/main" id="{C08BB83F-CD0B-B8CD-C73C-C53DC320CA2E}"/>
                </a:ext>
              </a:extLst>
            </p:cNvPr>
            <p:cNvGrpSpPr/>
            <p:nvPr/>
          </p:nvGrpSpPr>
          <p:grpSpPr>
            <a:xfrm>
              <a:off x="2780463" y="2321539"/>
              <a:ext cx="374828" cy="374828"/>
              <a:chOff x="2594287" y="2215214"/>
              <a:chExt cx="603156" cy="603156"/>
            </a:xfrm>
          </p:grpSpPr>
          <p:sp>
            <p:nvSpPr>
              <p:cNvPr id="90" name="Oval 89">
                <a:extLst>
                  <a:ext uri="{FF2B5EF4-FFF2-40B4-BE49-F238E27FC236}">
                    <a16:creationId xmlns:a16="http://schemas.microsoft.com/office/drawing/2014/main" id="{DA017889-1F22-27F5-4964-CD326CA4A3FD}"/>
                  </a:ext>
                </a:extLst>
              </p:cNvPr>
              <p:cNvSpPr/>
              <p:nvPr/>
            </p:nvSpPr>
            <p:spPr>
              <a:xfrm>
                <a:off x="2594287" y="2215214"/>
                <a:ext cx="603156" cy="603156"/>
              </a:xfrm>
              <a:prstGeom prst="ellipse">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9" name="Picture 88">
                <a:extLst>
                  <a:ext uri="{FF2B5EF4-FFF2-40B4-BE49-F238E27FC236}">
                    <a16:creationId xmlns:a16="http://schemas.microsoft.com/office/drawing/2014/main" id="{E3ABB317-5D8D-B2B5-F805-D90F4EC45E15}"/>
                  </a:ext>
                </a:extLst>
              </p:cNvPr>
              <p:cNvPicPr>
                <a:picLocks noChangeAspect="1"/>
              </p:cNvPicPr>
              <p:nvPr/>
            </p:nvPicPr>
            <p:blipFill>
              <a:blip r:embed="rId6">
                <a:clrChange>
                  <a:clrFrom>
                    <a:srgbClr val="133152"/>
                  </a:clrFrom>
                  <a:clrTo>
                    <a:srgbClr val="133152">
                      <a:alpha val="0"/>
                    </a:srgbClr>
                  </a:clrTo>
                </a:clrChange>
              </a:blip>
              <a:stretch>
                <a:fillRect/>
              </a:stretch>
            </p:blipFill>
            <p:spPr>
              <a:xfrm>
                <a:off x="2679977" y="2302792"/>
                <a:ext cx="431019" cy="423689"/>
              </a:xfrm>
              <a:prstGeom prst="rect">
                <a:avLst/>
              </a:prstGeom>
            </p:spPr>
          </p:pic>
        </p:grpSp>
        <p:grpSp>
          <p:nvGrpSpPr>
            <p:cNvPr id="93" name="Group 92">
              <a:extLst>
                <a:ext uri="{FF2B5EF4-FFF2-40B4-BE49-F238E27FC236}">
                  <a16:creationId xmlns:a16="http://schemas.microsoft.com/office/drawing/2014/main" id="{11679C44-CAFC-DB3E-8711-64AA01B30763}"/>
                </a:ext>
              </a:extLst>
            </p:cNvPr>
            <p:cNvGrpSpPr/>
            <p:nvPr/>
          </p:nvGrpSpPr>
          <p:grpSpPr>
            <a:xfrm>
              <a:off x="4751882" y="2321539"/>
              <a:ext cx="374828" cy="374828"/>
              <a:chOff x="2594287" y="2215214"/>
              <a:chExt cx="603156" cy="603156"/>
            </a:xfrm>
          </p:grpSpPr>
          <p:sp>
            <p:nvSpPr>
              <p:cNvPr id="94" name="Oval 93">
                <a:extLst>
                  <a:ext uri="{FF2B5EF4-FFF2-40B4-BE49-F238E27FC236}">
                    <a16:creationId xmlns:a16="http://schemas.microsoft.com/office/drawing/2014/main" id="{47C4C11F-032A-3EFC-CF29-2C29060A565E}"/>
                  </a:ext>
                </a:extLst>
              </p:cNvPr>
              <p:cNvSpPr/>
              <p:nvPr/>
            </p:nvSpPr>
            <p:spPr>
              <a:xfrm>
                <a:off x="2594287" y="2215214"/>
                <a:ext cx="603156" cy="603156"/>
              </a:xfrm>
              <a:prstGeom prst="ellipse">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5" name="Picture 94">
                <a:extLst>
                  <a:ext uri="{FF2B5EF4-FFF2-40B4-BE49-F238E27FC236}">
                    <a16:creationId xmlns:a16="http://schemas.microsoft.com/office/drawing/2014/main" id="{C81929D7-549A-7648-52A5-1649B90D004D}"/>
                  </a:ext>
                </a:extLst>
              </p:cNvPr>
              <p:cNvPicPr>
                <a:picLocks noChangeAspect="1"/>
              </p:cNvPicPr>
              <p:nvPr/>
            </p:nvPicPr>
            <p:blipFill>
              <a:blip r:embed="rId6">
                <a:clrChange>
                  <a:clrFrom>
                    <a:srgbClr val="133152"/>
                  </a:clrFrom>
                  <a:clrTo>
                    <a:srgbClr val="133152">
                      <a:alpha val="0"/>
                    </a:srgbClr>
                  </a:clrTo>
                </a:clrChange>
              </a:blip>
              <a:stretch>
                <a:fillRect/>
              </a:stretch>
            </p:blipFill>
            <p:spPr>
              <a:xfrm>
                <a:off x="2679977" y="2302792"/>
                <a:ext cx="431019" cy="423689"/>
              </a:xfrm>
              <a:prstGeom prst="rect">
                <a:avLst/>
              </a:prstGeom>
            </p:spPr>
          </p:pic>
        </p:grpSp>
        <p:grpSp>
          <p:nvGrpSpPr>
            <p:cNvPr id="96" name="Group 95">
              <a:extLst>
                <a:ext uri="{FF2B5EF4-FFF2-40B4-BE49-F238E27FC236}">
                  <a16:creationId xmlns:a16="http://schemas.microsoft.com/office/drawing/2014/main" id="{98CA35B4-BD28-A163-ED19-43B59CD5B636}"/>
                </a:ext>
              </a:extLst>
            </p:cNvPr>
            <p:cNvGrpSpPr/>
            <p:nvPr/>
          </p:nvGrpSpPr>
          <p:grpSpPr>
            <a:xfrm>
              <a:off x="6796453" y="2321539"/>
              <a:ext cx="374828" cy="374828"/>
              <a:chOff x="2594287" y="2215214"/>
              <a:chExt cx="603156" cy="603156"/>
            </a:xfrm>
          </p:grpSpPr>
          <p:sp>
            <p:nvSpPr>
              <p:cNvPr id="97" name="Oval 96">
                <a:extLst>
                  <a:ext uri="{FF2B5EF4-FFF2-40B4-BE49-F238E27FC236}">
                    <a16:creationId xmlns:a16="http://schemas.microsoft.com/office/drawing/2014/main" id="{2E655538-59BF-D539-D898-4AE6B7CD9700}"/>
                  </a:ext>
                </a:extLst>
              </p:cNvPr>
              <p:cNvSpPr/>
              <p:nvPr/>
            </p:nvSpPr>
            <p:spPr>
              <a:xfrm>
                <a:off x="2594287" y="2215214"/>
                <a:ext cx="603156" cy="603156"/>
              </a:xfrm>
              <a:prstGeom prst="ellipse">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Picture 97">
                <a:extLst>
                  <a:ext uri="{FF2B5EF4-FFF2-40B4-BE49-F238E27FC236}">
                    <a16:creationId xmlns:a16="http://schemas.microsoft.com/office/drawing/2014/main" id="{E47FE1F3-3265-52A8-4A79-5CB396A84F4D}"/>
                  </a:ext>
                </a:extLst>
              </p:cNvPr>
              <p:cNvPicPr>
                <a:picLocks noChangeAspect="1"/>
              </p:cNvPicPr>
              <p:nvPr/>
            </p:nvPicPr>
            <p:blipFill>
              <a:blip r:embed="rId6">
                <a:clrChange>
                  <a:clrFrom>
                    <a:srgbClr val="133152"/>
                  </a:clrFrom>
                  <a:clrTo>
                    <a:srgbClr val="133152">
                      <a:alpha val="0"/>
                    </a:srgbClr>
                  </a:clrTo>
                </a:clrChange>
              </a:blip>
              <a:stretch>
                <a:fillRect/>
              </a:stretch>
            </p:blipFill>
            <p:spPr>
              <a:xfrm>
                <a:off x="2679977" y="2302792"/>
                <a:ext cx="431019" cy="423689"/>
              </a:xfrm>
              <a:prstGeom prst="rect">
                <a:avLst/>
              </a:prstGeom>
            </p:spPr>
          </p:pic>
        </p:grpSp>
        <p:grpSp>
          <p:nvGrpSpPr>
            <p:cNvPr id="99" name="Group 98">
              <a:extLst>
                <a:ext uri="{FF2B5EF4-FFF2-40B4-BE49-F238E27FC236}">
                  <a16:creationId xmlns:a16="http://schemas.microsoft.com/office/drawing/2014/main" id="{0ABD65A6-1466-0D28-1DC1-737EC028F4E2}"/>
                </a:ext>
              </a:extLst>
            </p:cNvPr>
            <p:cNvGrpSpPr/>
            <p:nvPr/>
          </p:nvGrpSpPr>
          <p:grpSpPr>
            <a:xfrm>
              <a:off x="8892372" y="2321539"/>
              <a:ext cx="374828" cy="374828"/>
              <a:chOff x="2594287" y="2215214"/>
              <a:chExt cx="603156" cy="603156"/>
            </a:xfrm>
          </p:grpSpPr>
          <p:sp>
            <p:nvSpPr>
              <p:cNvPr id="100" name="Oval 99">
                <a:extLst>
                  <a:ext uri="{FF2B5EF4-FFF2-40B4-BE49-F238E27FC236}">
                    <a16:creationId xmlns:a16="http://schemas.microsoft.com/office/drawing/2014/main" id="{275DBE6F-6C01-7144-A394-7B310D379C59}"/>
                  </a:ext>
                </a:extLst>
              </p:cNvPr>
              <p:cNvSpPr/>
              <p:nvPr/>
            </p:nvSpPr>
            <p:spPr>
              <a:xfrm>
                <a:off x="2594287" y="2215214"/>
                <a:ext cx="603156" cy="603156"/>
              </a:xfrm>
              <a:prstGeom prst="ellipse">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1" name="Picture 100">
                <a:extLst>
                  <a:ext uri="{FF2B5EF4-FFF2-40B4-BE49-F238E27FC236}">
                    <a16:creationId xmlns:a16="http://schemas.microsoft.com/office/drawing/2014/main" id="{06B1E533-D509-36AC-1339-DA835B939FF9}"/>
                  </a:ext>
                </a:extLst>
              </p:cNvPr>
              <p:cNvPicPr>
                <a:picLocks noChangeAspect="1"/>
              </p:cNvPicPr>
              <p:nvPr/>
            </p:nvPicPr>
            <p:blipFill>
              <a:blip r:embed="rId6">
                <a:clrChange>
                  <a:clrFrom>
                    <a:srgbClr val="133152"/>
                  </a:clrFrom>
                  <a:clrTo>
                    <a:srgbClr val="133152">
                      <a:alpha val="0"/>
                    </a:srgbClr>
                  </a:clrTo>
                </a:clrChange>
              </a:blip>
              <a:stretch>
                <a:fillRect/>
              </a:stretch>
            </p:blipFill>
            <p:spPr>
              <a:xfrm>
                <a:off x="2679977" y="2302792"/>
                <a:ext cx="431019" cy="423689"/>
              </a:xfrm>
              <a:prstGeom prst="rect">
                <a:avLst/>
              </a:prstGeom>
            </p:spPr>
          </p:pic>
        </p:grpSp>
        <p:grpSp>
          <p:nvGrpSpPr>
            <p:cNvPr id="102" name="Group 101">
              <a:extLst>
                <a:ext uri="{FF2B5EF4-FFF2-40B4-BE49-F238E27FC236}">
                  <a16:creationId xmlns:a16="http://schemas.microsoft.com/office/drawing/2014/main" id="{A86DA717-75B4-DAF8-82FA-00F88898EC4E}"/>
                </a:ext>
              </a:extLst>
            </p:cNvPr>
            <p:cNvGrpSpPr/>
            <p:nvPr/>
          </p:nvGrpSpPr>
          <p:grpSpPr>
            <a:xfrm>
              <a:off x="9262341" y="4532996"/>
              <a:ext cx="374828" cy="374828"/>
              <a:chOff x="2594287" y="2215214"/>
              <a:chExt cx="603156" cy="603156"/>
            </a:xfrm>
          </p:grpSpPr>
          <p:sp>
            <p:nvSpPr>
              <p:cNvPr id="103" name="Oval 102">
                <a:extLst>
                  <a:ext uri="{FF2B5EF4-FFF2-40B4-BE49-F238E27FC236}">
                    <a16:creationId xmlns:a16="http://schemas.microsoft.com/office/drawing/2014/main" id="{361D1A92-B184-AB97-540E-5CFF3A15704F}"/>
                  </a:ext>
                </a:extLst>
              </p:cNvPr>
              <p:cNvSpPr/>
              <p:nvPr/>
            </p:nvSpPr>
            <p:spPr>
              <a:xfrm>
                <a:off x="2594287" y="2215214"/>
                <a:ext cx="603156" cy="603156"/>
              </a:xfrm>
              <a:prstGeom prst="ellipse">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4" name="Picture 103">
                <a:extLst>
                  <a:ext uri="{FF2B5EF4-FFF2-40B4-BE49-F238E27FC236}">
                    <a16:creationId xmlns:a16="http://schemas.microsoft.com/office/drawing/2014/main" id="{E95CF2A9-60F9-6906-0C75-CE61DC64DA24}"/>
                  </a:ext>
                </a:extLst>
              </p:cNvPr>
              <p:cNvPicPr>
                <a:picLocks noChangeAspect="1"/>
              </p:cNvPicPr>
              <p:nvPr/>
            </p:nvPicPr>
            <p:blipFill>
              <a:blip r:embed="rId6">
                <a:clrChange>
                  <a:clrFrom>
                    <a:srgbClr val="133152"/>
                  </a:clrFrom>
                  <a:clrTo>
                    <a:srgbClr val="133152">
                      <a:alpha val="0"/>
                    </a:srgbClr>
                  </a:clrTo>
                </a:clrChange>
              </a:blip>
              <a:stretch>
                <a:fillRect/>
              </a:stretch>
            </p:blipFill>
            <p:spPr>
              <a:xfrm>
                <a:off x="2679977" y="2302792"/>
                <a:ext cx="431019" cy="423689"/>
              </a:xfrm>
              <a:prstGeom prst="rect">
                <a:avLst/>
              </a:prstGeom>
            </p:spPr>
          </p:pic>
        </p:grpSp>
        <p:grpSp>
          <p:nvGrpSpPr>
            <p:cNvPr id="105" name="Group 104">
              <a:extLst>
                <a:ext uri="{FF2B5EF4-FFF2-40B4-BE49-F238E27FC236}">
                  <a16:creationId xmlns:a16="http://schemas.microsoft.com/office/drawing/2014/main" id="{87604468-6353-FEB5-82E4-1FB00F22DB10}"/>
                </a:ext>
              </a:extLst>
            </p:cNvPr>
            <p:cNvGrpSpPr/>
            <p:nvPr/>
          </p:nvGrpSpPr>
          <p:grpSpPr>
            <a:xfrm>
              <a:off x="6079812" y="4740499"/>
              <a:ext cx="374828" cy="374828"/>
              <a:chOff x="2594287" y="2215214"/>
              <a:chExt cx="603156" cy="603156"/>
            </a:xfrm>
          </p:grpSpPr>
          <p:sp>
            <p:nvSpPr>
              <p:cNvPr id="106" name="Oval 105">
                <a:extLst>
                  <a:ext uri="{FF2B5EF4-FFF2-40B4-BE49-F238E27FC236}">
                    <a16:creationId xmlns:a16="http://schemas.microsoft.com/office/drawing/2014/main" id="{18417B8A-D4AE-79B5-8276-AFC7A65A881F}"/>
                  </a:ext>
                </a:extLst>
              </p:cNvPr>
              <p:cNvSpPr/>
              <p:nvPr/>
            </p:nvSpPr>
            <p:spPr>
              <a:xfrm>
                <a:off x="2594287" y="2215214"/>
                <a:ext cx="603156" cy="603156"/>
              </a:xfrm>
              <a:prstGeom prst="ellipse">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7" name="Picture 106">
                <a:extLst>
                  <a:ext uri="{FF2B5EF4-FFF2-40B4-BE49-F238E27FC236}">
                    <a16:creationId xmlns:a16="http://schemas.microsoft.com/office/drawing/2014/main" id="{47F26702-1D27-2C70-20CC-A25A61981772}"/>
                  </a:ext>
                </a:extLst>
              </p:cNvPr>
              <p:cNvPicPr>
                <a:picLocks noChangeAspect="1"/>
              </p:cNvPicPr>
              <p:nvPr/>
            </p:nvPicPr>
            <p:blipFill>
              <a:blip r:embed="rId6">
                <a:clrChange>
                  <a:clrFrom>
                    <a:srgbClr val="133152"/>
                  </a:clrFrom>
                  <a:clrTo>
                    <a:srgbClr val="133152">
                      <a:alpha val="0"/>
                    </a:srgbClr>
                  </a:clrTo>
                </a:clrChange>
              </a:blip>
              <a:stretch>
                <a:fillRect/>
              </a:stretch>
            </p:blipFill>
            <p:spPr>
              <a:xfrm>
                <a:off x="2679977" y="2302792"/>
                <a:ext cx="431019" cy="423689"/>
              </a:xfrm>
              <a:prstGeom prst="rect">
                <a:avLst/>
              </a:prstGeom>
            </p:spPr>
          </p:pic>
        </p:grpSp>
        <p:grpSp>
          <p:nvGrpSpPr>
            <p:cNvPr id="108" name="Group 107">
              <a:extLst>
                <a:ext uri="{FF2B5EF4-FFF2-40B4-BE49-F238E27FC236}">
                  <a16:creationId xmlns:a16="http://schemas.microsoft.com/office/drawing/2014/main" id="{2D4FDBDE-48DC-5B88-FFD5-70EEED4D4DB4}"/>
                </a:ext>
              </a:extLst>
            </p:cNvPr>
            <p:cNvGrpSpPr/>
            <p:nvPr/>
          </p:nvGrpSpPr>
          <p:grpSpPr>
            <a:xfrm>
              <a:off x="2867200" y="4485262"/>
              <a:ext cx="374828" cy="374828"/>
              <a:chOff x="2594287" y="2215214"/>
              <a:chExt cx="603156" cy="603156"/>
            </a:xfrm>
          </p:grpSpPr>
          <p:sp>
            <p:nvSpPr>
              <p:cNvPr id="109" name="Oval 108">
                <a:extLst>
                  <a:ext uri="{FF2B5EF4-FFF2-40B4-BE49-F238E27FC236}">
                    <a16:creationId xmlns:a16="http://schemas.microsoft.com/office/drawing/2014/main" id="{B7130F95-17C8-7F5C-AF42-F41052032B47}"/>
                  </a:ext>
                </a:extLst>
              </p:cNvPr>
              <p:cNvSpPr/>
              <p:nvPr/>
            </p:nvSpPr>
            <p:spPr>
              <a:xfrm>
                <a:off x="2594287" y="2215214"/>
                <a:ext cx="603156" cy="603156"/>
              </a:xfrm>
              <a:prstGeom prst="ellipse">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0" name="Picture 109">
                <a:extLst>
                  <a:ext uri="{FF2B5EF4-FFF2-40B4-BE49-F238E27FC236}">
                    <a16:creationId xmlns:a16="http://schemas.microsoft.com/office/drawing/2014/main" id="{B71FB31D-68EF-3151-58B2-7322DC897A67}"/>
                  </a:ext>
                </a:extLst>
              </p:cNvPr>
              <p:cNvPicPr>
                <a:picLocks noChangeAspect="1"/>
              </p:cNvPicPr>
              <p:nvPr/>
            </p:nvPicPr>
            <p:blipFill>
              <a:blip r:embed="rId6">
                <a:clrChange>
                  <a:clrFrom>
                    <a:srgbClr val="133152"/>
                  </a:clrFrom>
                  <a:clrTo>
                    <a:srgbClr val="133152">
                      <a:alpha val="0"/>
                    </a:srgbClr>
                  </a:clrTo>
                </a:clrChange>
              </a:blip>
              <a:stretch>
                <a:fillRect/>
              </a:stretch>
            </p:blipFill>
            <p:spPr>
              <a:xfrm>
                <a:off x="2679977" y="2302792"/>
                <a:ext cx="431019" cy="423689"/>
              </a:xfrm>
              <a:prstGeom prst="rect">
                <a:avLst/>
              </a:prstGeom>
            </p:spPr>
          </p:pic>
        </p:grpSp>
        <p:sp>
          <p:nvSpPr>
            <p:cNvPr id="3" name="!!edge0">
              <a:extLst>
                <a:ext uri="{FF2B5EF4-FFF2-40B4-BE49-F238E27FC236}">
                  <a16:creationId xmlns:a16="http://schemas.microsoft.com/office/drawing/2014/main" id="{50B0975A-2669-A9B1-521F-BE03ADA80556}"/>
                </a:ext>
              </a:extLst>
            </p:cNvPr>
            <p:cNvSpPr/>
            <p:nvPr/>
          </p:nvSpPr>
          <p:spPr>
            <a:xfrm>
              <a:off x="923544" y="640080"/>
              <a:ext cx="2569051"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 name="!!section">
              <a:extLst>
                <a:ext uri="{FF2B5EF4-FFF2-40B4-BE49-F238E27FC236}">
                  <a16:creationId xmlns:a16="http://schemas.microsoft.com/office/drawing/2014/main" id="{56B6D05E-C43A-F9C9-2A51-61E513D38014}"/>
                </a:ext>
              </a:extLst>
            </p:cNvPr>
            <p:cNvSpPr txBox="1"/>
            <p:nvPr/>
          </p:nvSpPr>
          <p:spPr>
            <a:xfrm>
              <a:off x="1124712" y="777723"/>
              <a:ext cx="7315200" cy="369332"/>
            </a:xfrm>
            <a:prstGeom prst="rect">
              <a:avLst/>
            </a:prstGeom>
            <a:noFill/>
          </p:spPr>
          <p:txBody>
            <a:bodyPr wrap="square" lIns="0" tIns="0" rIns="0" bIns="0" anchor="t">
              <a:spAutoFit/>
            </a:bodyPr>
            <a:lstStyle/>
            <a:p>
              <a:r>
                <a:rPr lang="en-US" sz="1200" dirty="0">
                  <a:solidFill>
                    <a:srgbClr val="006A62"/>
                  </a:solidFill>
                  <a:latin typeface="Google Sans Flex SemiBold"/>
                </a:rPr>
                <a:t>Problem 3 · Poor Coordination</a:t>
              </a:r>
            </a:p>
            <a:p>
              <a:endParaRPr lang="en-US" sz="1200" dirty="0">
                <a:solidFill>
                  <a:srgbClr val="006A62"/>
                </a:solidFill>
                <a:latin typeface="Google Sans Flex SemiBold"/>
              </a:endParaRPr>
            </a:p>
          </p:txBody>
        </p:sp>
      </p:grpSp>
      <p:sp>
        <p:nvSpPr>
          <p:cNvPr id="6" name="!!title">
            <a:extLst>
              <a:ext uri="{FF2B5EF4-FFF2-40B4-BE49-F238E27FC236}">
                <a16:creationId xmlns:a16="http://schemas.microsoft.com/office/drawing/2014/main" id="{AE387172-0CB6-9734-684A-D3501A944933}"/>
              </a:ext>
            </a:extLst>
          </p:cNvPr>
          <p:cNvSpPr txBox="1"/>
          <p:nvPr/>
        </p:nvSpPr>
        <p:spPr>
          <a:xfrm>
            <a:off x="923544" y="-5775719"/>
            <a:ext cx="10625328" cy="553998"/>
          </a:xfrm>
          <a:prstGeom prst="rect">
            <a:avLst/>
          </a:prstGeom>
          <a:noFill/>
        </p:spPr>
        <p:txBody>
          <a:bodyPr wrap="square" lIns="0" tIns="0" rIns="0" bIns="0" anchor="t">
            <a:spAutoFit/>
          </a:bodyPr>
          <a:lstStyle/>
          <a:p>
            <a:r>
              <a:rPr lang="en-US" sz="3600" dirty="0">
                <a:solidFill>
                  <a:srgbClr val="00B050"/>
                </a:solidFill>
                <a:latin typeface="Google Sans Flex SemiBold"/>
              </a:rPr>
              <a:t>Ground operations</a:t>
            </a:r>
            <a:r>
              <a:rPr lang="en-US" sz="3600" dirty="0">
                <a:latin typeface="Google Sans Flex Light"/>
              </a:rPr>
              <a:t> break in ways no plan expects</a:t>
            </a:r>
          </a:p>
        </p:txBody>
      </p:sp>
      <p:grpSp>
        <p:nvGrpSpPr>
          <p:cNvPr id="7" name="Group 6">
            <a:extLst>
              <a:ext uri="{FF2B5EF4-FFF2-40B4-BE49-F238E27FC236}">
                <a16:creationId xmlns:a16="http://schemas.microsoft.com/office/drawing/2014/main" id="{7CF9E988-57C9-85C4-1DD4-64AE16132D5A}"/>
              </a:ext>
            </a:extLst>
          </p:cNvPr>
          <p:cNvGrpSpPr/>
          <p:nvPr/>
        </p:nvGrpSpPr>
        <p:grpSpPr>
          <a:xfrm>
            <a:off x="923544" y="-4907793"/>
            <a:ext cx="3246120" cy="1738439"/>
            <a:chOff x="923544" y="2253972"/>
            <a:chExt cx="3246120" cy="1738439"/>
          </a:xfrm>
        </p:grpSpPr>
        <p:sp>
          <p:nvSpPr>
            <p:cNvPr id="8" name="!!edge0">
              <a:extLst>
                <a:ext uri="{FF2B5EF4-FFF2-40B4-BE49-F238E27FC236}">
                  <a16:creationId xmlns:a16="http://schemas.microsoft.com/office/drawing/2014/main" id="{F99AB247-03EA-F1B3-BB48-69FE6DA14936}"/>
                </a:ext>
              </a:extLst>
            </p:cNvPr>
            <p:cNvSpPr/>
            <p:nvPr/>
          </p:nvSpPr>
          <p:spPr>
            <a:xfrm>
              <a:off x="923544" y="2253972"/>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9" name="!!edge0-text">
              <a:extLst>
                <a:ext uri="{FF2B5EF4-FFF2-40B4-BE49-F238E27FC236}">
                  <a16:creationId xmlns:a16="http://schemas.microsoft.com/office/drawing/2014/main" id="{03A5C647-5B01-506D-45DD-FF85EADCA32B}"/>
                </a:ext>
              </a:extLst>
            </p:cNvPr>
            <p:cNvSpPr txBox="1"/>
            <p:nvPr/>
          </p:nvSpPr>
          <p:spPr>
            <a:xfrm>
              <a:off x="1216152" y="2482574"/>
              <a:ext cx="2779776" cy="615553"/>
            </a:xfrm>
            <a:prstGeom prst="rect">
              <a:avLst/>
            </a:prstGeom>
            <a:noFill/>
          </p:spPr>
          <p:txBody>
            <a:bodyPr wrap="square" lIns="0" tIns="0" rIns="0" bIns="0" anchor="t">
              <a:spAutoFit/>
            </a:bodyPr>
            <a:lstStyle/>
            <a:p>
              <a:pPr algn="l"/>
              <a:r>
                <a:rPr sz="2000" dirty="0">
                  <a:latin typeface="Google Sans Flex SemiBold"/>
                </a:rPr>
                <a:t>On time, but the store closed early today</a:t>
              </a:r>
            </a:p>
          </p:txBody>
        </p:sp>
      </p:grpSp>
      <p:grpSp>
        <p:nvGrpSpPr>
          <p:cNvPr id="10" name="Group 9">
            <a:extLst>
              <a:ext uri="{FF2B5EF4-FFF2-40B4-BE49-F238E27FC236}">
                <a16:creationId xmlns:a16="http://schemas.microsoft.com/office/drawing/2014/main" id="{4CF7328E-D6E9-5CD7-CC85-C18784DE528F}"/>
              </a:ext>
            </a:extLst>
          </p:cNvPr>
          <p:cNvGrpSpPr/>
          <p:nvPr/>
        </p:nvGrpSpPr>
        <p:grpSpPr>
          <a:xfrm>
            <a:off x="4443984" y="-4907793"/>
            <a:ext cx="3246120" cy="1738439"/>
            <a:chOff x="4443984" y="2253972"/>
            <a:chExt cx="3246120" cy="1738439"/>
          </a:xfrm>
        </p:grpSpPr>
        <p:sp>
          <p:nvSpPr>
            <p:cNvPr id="11" name="!!edge0">
              <a:extLst>
                <a:ext uri="{FF2B5EF4-FFF2-40B4-BE49-F238E27FC236}">
                  <a16:creationId xmlns:a16="http://schemas.microsoft.com/office/drawing/2014/main" id="{C2E70963-AB61-C5FE-C981-DDF2DE1FA024}"/>
                </a:ext>
              </a:extLst>
            </p:cNvPr>
            <p:cNvSpPr/>
            <p:nvPr/>
          </p:nvSpPr>
          <p:spPr>
            <a:xfrm>
              <a:off x="4443984" y="2253972"/>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2" name="!!edge1-text">
              <a:extLst>
                <a:ext uri="{FF2B5EF4-FFF2-40B4-BE49-F238E27FC236}">
                  <a16:creationId xmlns:a16="http://schemas.microsoft.com/office/drawing/2014/main" id="{975750A4-490F-DF85-19C2-D6F91770D187}"/>
                </a:ext>
              </a:extLst>
            </p:cNvPr>
            <p:cNvSpPr txBox="1"/>
            <p:nvPr/>
          </p:nvSpPr>
          <p:spPr>
            <a:xfrm>
              <a:off x="4736592" y="2482574"/>
              <a:ext cx="2779776" cy="923330"/>
            </a:xfrm>
            <a:prstGeom prst="rect">
              <a:avLst/>
            </a:prstGeom>
            <a:noFill/>
          </p:spPr>
          <p:txBody>
            <a:bodyPr wrap="square" lIns="0" tIns="0" rIns="0" bIns="0" anchor="t">
              <a:spAutoFit/>
            </a:bodyPr>
            <a:lstStyle/>
            <a:p>
              <a:pPr algn="l"/>
              <a:r>
                <a:rPr sz="2000" dirty="0">
                  <a:latin typeface="Google Sans Flex SemiBold"/>
                </a:rPr>
                <a:t>The store is open, the mall's loading bay is not</a:t>
              </a:r>
            </a:p>
          </p:txBody>
        </p:sp>
      </p:grpSp>
      <p:grpSp>
        <p:nvGrpSpPr>
          <p:cNvPr id="13" name="Group 12">
            <a:extLst>
              <a:ext uri="{FF2B5EF4-FFF2-40B4-BE49-F238E27FC236}">
                <a16:creationId xmlns:a16="http://schemas.microsoft.com/office/drawing/2014/main" id="{8CD347C6-E3A2-9B8F-7FFE-6A0D434E18D4}"/>
              </a:ext>
            </a:extLst>
          </p:cNvPr>
          <p:cNvGrpSpPr/>
          <p:nvPr/>
        </p:nvGrpSpPr>
        <p:grpSpPr>
          <a:xfrm>
            <a:off x="7964424" y="-4907793"/>
            <a:ext cx="3246120" cy="1738439"/>
            <a:chOff x="7964424" y="2253972"/>
            <a:chExt cx="3246120" cy="1738439"/>
          </a:xfrm>
        </p:grpSpPr>
        <p:sp>
          <p:nvSpPr>
            <p:cNvPr id="14" name="!!edge0">
              <a:extLst>
                <a:ext uri="{FF2B5EF4-FFF2-40B4-BE49-F238E27FC236}">
                  <a16:creationId xmlns:a16="http://schemas.microsoft.com/office/drawing/2014/main" id="{8F950921-EB82-1F0A-42A8-88653679FA2D}"/>
                </a:ext>
              </a:extLst>
            </p:cNvPr>
            <p:cNvSpPr/>
            <p:nvPr/>
          </p:nvSpPr>
          <p:spPr>
            <a:xfrm>
              <a:off x="7964424" y="2253972"/>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5" name="!!edge2-text">
              <a:extLst>
                <a:ext uri="{FF2B5EF4-FFF2-40B4-BE49-F238E27FC236}">
                  <a16:creationId xmlns:a16="http://schemas.microsoft.com/office/drawing/2014/main" id="{8FF8046D-6C18-F8DA-0AA8-925980041CDD}"/>
                </a:ext>
              </a:extLst>
            </p:cNvPr>
            <p:cNvSpPr txBox="1"/>
            <p:nvPr/>
          </p:nvSpPr>
          <p:spPr>
            <a:xfrm>
              <a:off x="8257032" y="2482574"/>
              <a:ext cx="2779776" cy="923330"/>
            </a:xfrm>
            <a:prstGeom prst="rect">
              <a:avLst/>
            </a:prstGeom>
            <a:noFill/>
          </p:spPr>
          <p:txBody>
            <a:bodyPr wrap="square" lIns="0" tIns="0" rIns="0" bIns="0" anchor="t">
              <a:spAutoFit/>
            </a:bodyPr>
            <a:lstStyle/>
            <a:p>
              <a:pPr algn="l"/>
              <a:r>
                <a:rPr sz="2000">
                  <a:latin typeface="Google Sans Flex SemiBold"/>
                </a:rPr>
                <a:t>A van breaks down with chilled goods inside</a:t>
              </a:r>
            </a:p>
          </p:txBody>
        </p:sp>
      </p:grpSp>
      <p:grpSp>
        <p:nvGrpSpPr>
          <p:cNvPr id="18" name="Group 17">
            <a:extLst>
              <a:ext uri="{FF2B5EF4-FFF2-40B4-BE49-F238E27FC236}">
                <a16:creationId xmlns:a16="http://schemas.microsoft.com/office/drawing/2014/main" id="{B3B3A347-8F06-4D43-5E26-5A83795BB140}"/>
              </a:ext>
            </a:extLst>
          </p:cNvPr>
          <p:cNvGrpSpPr/>
          <p:nvPr/>
        </p:nvGrpSpPr>
        <p:grpSpPr>
          <a:xfrm>
            <a:off x="923544" y="-2929656"/>
            <a:ext cx="3246120" cy="1738439"/>
            <a:chOff x="923544" y="4232109"/>
            <a:chExt cx="3246120" cy="1738439"/>
          </a:xfrm>
        </p:grpSpPr>
        <p:sp>
          <p:nvSpPr>
            <p:cNvPr id="19" name="!!edge0">
              <a:extLst>
                <a:ext uri="{FF2B5EF4-FFF2-40B4-BE49-F238E27FC236}">
                  <a16:creationId xmlns:a16="http://schemas.microsoft.com/office/drawing/2014/main" id="{7596E33B-57A7-263C-779B-E53D2E0F831F}"/>
                </a:ext>
              </a:extLst>
            </p:cNvPr>
            <p:cNvSpPr/>
            <p:nvPr/>
          </p:nvSpPr>
          <p:spPr>
            <a:xfrm>
              <a:off x="923544" y="4232109"/>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1" name="!!edge3-text">
              <a:extLst>
                <a:ext uri="{FF2B5EF4-FFF2-40B4-BE49-F238E27FC236}">
                  <a16:creationId xmlns:a16="http://schemas.microsoft.com/office/drawing/2014/main" id="{66607B76-6DC4-1485-9DA1-35CB76AF8A13}"/>
                </a:ext>
              </a:extLst>
            </p:cNvPr>
            <p:cNvSpPr txBox="1"/>
            <p:nvPr/>
          </p:nvSpPr>
          <p:spPr>
            <a:xfrm>
              <a:off x="1216152" y="4460710"/>
              <a:ext cx="2779776" cy="615553"/>
            </a:xfrm>
            <a:prstGeom prst="rect">
              <a:avLst/>
            </a:prstGeom>
            <a:noFill/>
          </p:spPr>
          <p:txBody>
            <a:bodyPr wrap="square" lIns="0" tIns="0" rIns="0" bIns="0" anchor="t">
              <a:spAutoFit/>
            </a:bodyPr>
            <a:lstStyle/>
            <a:p>
              <a:pPr algn="l"/>
              <a:r>
                <a:rPr sz="2000">
                  <a:latin typeface="Google Sans Flex SemiBold"/>
                </a:rPr>
                <a:t>Nobody at the store to receive</a:t>
              </a:r>
            </a:p>
          </p:txBody>
        </p:sp>
      </p:grpSp>
      <p:grpSp>
        <p:nvGrpSpPr>
          <p:cNvPr id="23" name="Group 22">
            <a:extLst>
              <a:ext uri="{FF2B5EF4-FFF2-40B4-BE49-F238E27FC236}">
                <a16:creationId xmlns:a16="http://schemas.microsoft.com/office/drawing/2014/main" id="{C371B8E1-94A5-916F-414A-80503CA6D821}"/>
              </a:ext>
            </a:extLst>
          </p:cNvPr>
          <p:cNvGrpSpPr/>
          <p:nvPr/>
        </p:nvGrpSpPr>
        <p:grpSpPr>
          <a:xfrm>
            <a:off x="4443984" y="-2929656"/>
            <a:ext cx="3246120" cy="1738439"/>
            <a:chOff x="4443984" y="4232109"/>
            <a:chExt cx="3246120" cy="1738439"/>
          </a:xfrm>
        </p:grpSpPr>
        <p:sp>
          <p:nvSpPr>
            <p:cNvPr id="24" name="!!edge0">
              <a:extLst>
                <a:ext uri="{FF2B5EF4-FFF2-40B4-BE49-F238E27FC236}">
                  <a16:creationId xmlns:a16="http://schemas.microsoft.com/office/drawing/2014/main" id="{F7B4249D-DA51-513E-EAEC-F985759AE9B2}"/>
                </a:ext>
              </a:extLst>
            </p:cNvPr>
            <p:cNvSpPr/>
            <p:nvPr/>
          </p:nvSpPr>
          <p:spPr>
            <a:xfrm>
              <a:off x="4443984" y="4232109"/>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5" name="!!edge4-text">
              <a:extLst>
                <a:ext uri="{FF2B5EF4-FFF2-40B4-BE49-F238E27FC236}">
                  <a16:creationId xmlns:a16="http://schemas.microsoft.com/office/drawing/2014/main" id="{3C39DE33-4C6E-0F3D-93E8-640255D4F47A}"/>
                </a:ext>
              </a:extLst>
            </p:cNvPr>
            <p:cNvSpPr txBox="1"/>
            <p:nvPr/>
          </p:nvSpPr>
          <p:spPr>
            <a:xfrm>
              <a:off x="4736592" y="4460710"/>
              <a:ext cx="2779776" cy="923330"/>
            </a:xfrm>
            <a:prstGeom prst="rect">
              <a:avLst/>
            </a:prstGeom>
            <a:noFill/>
          </p:spPr>
          <p:txBody>
            <a:bodyPr wrap="square" lIns="0" tIns="0" rIns="0" bIns="0" anchor="t">
              <a:spAutoFit/>
            </a:bodyPr>
            <a:lstStyle/>
            <a:p>
              <a:pPr algn="l"/>
              <a:r>
                <a:rPr sz="2000">
                  <a:latin typeface="Google Sans Flex SemiBold"/>
                </a:rPr>
                <a:t>Loader: “all loaded.” Store: “three cartons missing.”</a:t>
              </a:r>
            </a:p>
          </p:txBody>
        </p:sp>
      </p:grpSp>
      <p:grpSp>
        <p:nvGrpSpPr>
          <p:cNvPr id="27" name="Group 26">
            <a:extLst>
              <a:ext uri="{FF2B5EF4-FFF2-40B4-BE49-F238E27FC236}">
                <a16:creationId xmlns:a16="http://schemas.microsoft.com/office/drawing/2014/main" id="{5D49251D-82D8-B135-EE3D-0FFD5AF04E4C}"/>
              </a:ext>
            </a:extLst>
          </p:cNvPr>
          <p:cNvGrpSpPr/>
          <p:nvPr/>
        </p:nvGrpSpPr>
        <p:grpSpPr>
          <a:xfrm>
            <a:off x="7964424" y="-2929656"/>
            <a:ext cx="3246120" cy="1738439"/>
            <a:chOff x="7964424" y="4232109"/>
            <a:chExt cx="3246120" cy="1738439"/>
          </a:xfrm>
        </p:grpSpPr>
        <p:sp>
          <p:nvSpPr>
            <p:cNvPr id="28" name="!!edge0">
              <a:extLst>
                <a:ext uri="{FF2B5EF4-FFF2-40B4-BE49-F238E27FC236}">
                  <a16:creationId xmlns:a16="http://schemas.microsoft.com/office/drawing/2014/main" id="{222052A3-F763-1AF3-A058-6FE0EBEB8CE1}"/>
                </a:ext>
              </a:extLst>
            </p:cNvPr>
            <p:cNvSpPr/>
            <p:nvPr/>
          </p:nvSpPr>
          <p:spPr>
            <a:xfrm>
              <a:off x="7964424" y="4232109"/>
              <a:ext cx="3246120" cy="1738439"/>
            </a:xfrm>
            <a:prstGeom prst="roundRect">
              <a:avLst>
                <a:gd name="adj" fmla="val 201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9" name="!!edge5-text">
              <a:extLst>
                <a:ext uri="{FF2B5EF4-FFF2-40B4-BE49-F238E27FC236}">
                  <a16:creationId xmlns:a16="http://schemas.microsoft.com/office/drawing/2014/main" id="{17D3149D-E779-F58D-E390-3052839E51C8}"/>
                </a:ext>
              </a:extLst>
            </p:cNvPr>
            <p:cNvSpPr txBox="1"/>
            <p:nvPr/>
          </p:nvSpPr>
          <p:spPr>
            <a:xfrm>
              <a:off x="8257032" y="4460710"/>
              <a:ext cx="2779776" cy="1231106"/>
            </a:xfrm>
            <a:prstGeom prst="rect">
              <a:avLst/>
            </a:prstGeom>
            <a:noFill/>
          </p:spPr>
          <p:txBody>
            <a:bodyPr wrap="square" lIns="0" tIns="0" rIns="0" bIns="0" anchor="t">
              <a:spAutoFit/>
            </a:bodyPr>
            <a:lstStyle/>
            <a:p>
              <a:pPr algn="l"/>
              <a:r>
                <a:rPr sz="2000">
                  <a:latin typeface="Google Sans Flex SemiBold"/>
                </a:rPr>
                <a:t>Delivered with no signal, while the dispatcher skipped that store</a:t>
              </a:r>
            </a:p>
          </p:txBody>
        </p:sp>
      </p:grpSp>
      <p:grpSp>
        <p:nvGrpSpPr>
          <p:cNvPr id="32" name="Group 31">
            <a:extLst>
              <a:ext uri="{FF2B5EF4-FFF2-40B4-BE49-F238E27FC236}">
                <a16:creationId xmlns:a16="http://schemas.microsoft.com/office/drawing/2014/main" id="{1A0F3757-75B3-22A2-B710-B280712B7C69}"/>
              </a:ext>
            </a:extLst>
          </p:cNvPr>
          <p:cNvGrpSpPr/>
          <p:nvPr/>
        </p:nvGrpSpPr>
        <p:grpSpPr>
          <a:xfrm>
            <a:off x="923544" y="-6521685"/>
            <a:ext cx="7516368" cy="506975"/>
            <a:chOff x="923544" y="640080"/>
            <a:chExt cx="7516368" cy="506975"/>
          </a:xfrm>
        </p:grpSpPr>
        <p:sp>
          <p:nvSpPr>
            <p:cNvPr id="34" name="!!edge0">
              <a:extLst>
                <a:ext uri="{FF2B5EF4-FFF2-40B4-BE49-F238E27FC236}">
                  <a16:creationId xmlns:a16="http://schemas.microsoft.com/office/drawing/2014/main" id="{D336C4B6-B2E6-3857-45ED-4A4AC6AD7FDF}"/>
                </a:ext>
              </a:extLst>
            </p:cNvPr>
            <p:cNvSpPr/>
            <p:nvPr/>
          </p:nvSpPr>
          <p:spPr>
            <a:xfrm>
              <a:off x="923544" y="640080"/>
              <a:ext cx="2569051"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37" name="!!section">
              <a:extLst>
                <a:ext uri="{FF2B5EF4-FFF2-40B4-BE49-F238E27FC236}">
                  <a16:creationId xmlns:a16="http://schemas.microsoft.com/office/drawing/2014/main" id="{E49F6BAA-722F-E62D-CA09-2DCDFBC0451F}"/>
                </a:ext>
              </a:extLst>
            </p:cNvPr>
            <p:cNvSpPr txBox="1"/>
            <p:nvPr/>
          </p:nvSpPr>
          <p:spPr>
            <a:xfrm>
              <a:off x="1124712" y="777723"/>
              <a:ext cx="7315200" cy="369332"/>
            </a:xfrm>
            <a:prstGeom prst="rect">
              <a:avLst/>
            </a:prstGeom>
            <a:noFill/>
          </p:spPr>
          <p:txBody>
            <a:bodyPr wrap="square" lIns="0" tIns="0" rIns="0" bIns="0" anchor="t">
              <a:spAutoFit/>
            </a:bodyPr>
            <a:lstStyle/>
            <a:p>
              <a:r>
                <a:rPr lang="en-US" sz="1200" dirty="0">
                  <a:solidFill>
                    <a:srgbClr val="006A62"/>
                  </a:solidFill>
                  <a:latin typeface="Google Sans Flex SemiBold"/>
                </a:rPr>
                <a:t>Problem 3 · Poor Coordination</a:t>
              </a:r>
            </a:p>
            <a:p>
              <a:endParaRPr lang="en-US" sz="1200" dirty="0">
                <a:solidFill>
                  <a:srgbClr val="006A62"/>
                </a:solidFill>
                <a:latin typeface="Google Sans Flex SemiBold"/>
              </a:endParaRPr>
            </a:p>
          </p:txBody>
        </p:sp>
      </p:gr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p:cNvSpPr txBox="1"/>
          <p:nvPr/>
        </p:nvSpPr>
        <p:spPr>
          <a:xfrm>
            <a:off x="923544" y="1402377"/>
            <a:ext cx="8595360" cy="1325880"/>
          </a:xfrm>
          <a:prstGeom prst="rect">
            <a:avLst/>
          </a:prstGeom>
          <a:noFill/>
        </p:spPr>
        <p:txBody>
          <a:bodyPr wrap="square" lIns="0" tIns="0" rIns="0" bIns="0" anchor="t">
            <a:spAutoFit/>
          </a:bodyPr>
          <a:lstStyle/>
          <a:p>
            <a:pPr algn="l"/>
            <a:r>
              <a:rPr sz="3600">
                <a:solidFill>
                  <a:srgbClr val="00B050"/>
                </a:solidFill>
                <a:latin typeface="Google Sans Flex SemiBold"/>
              </a:rPr>
              <a:t>Three obvious answers,</a:t>
            </a:r>
            <a:r>
              <a:rPr sz="3600">
                <a:latin typeface="Google Sans Flex Light"/>
              </a:rPr>
              <a:t> and why each breaks</a:t>
            </a:r>
          </a:p>
        </p:txBody>
      </p:sp>
      <p:sp>
        <p:nvSpPr>
          <p:cNvPr id="9" name="!!obv1-card"/>
          <p:cNvSpPr/>
          <p:nvPr/>
        </p:nvSpPr>
        <p:spPr>
          <a:xfrm>
            <a:off x="923544" y="3051642"/>
            <a:ext cx="3246120" cy="2059259"/>
          </a:xfrm>
          <a:prstGeom prst="roundRect">
            <a:avLst>
              <a:gd name="adj" fmla="val 2470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1" name="!!obv1-head"/>
          <p:cNvSpPr txBox="1"/>
          <p:nvPr/>
        </p:nvSpPr>
        <p:spPr>
          <a:xfrm>
            <a:off x="1243584" y="3356814"/>
            <a:ext cx="2651760" cy="822960"/>
          </a:xfrm>
          <a:prstGeom prst="rect">
            <a:avLst/>
          </a:prstGeom>
          <a:noFill/>
        </p:spPr>
        <p:txBody>
          <a:bodyPr wrap="square" lIns="0" tIns="0" rIns="0" bIns="0" anchor="t">
            <a:spAutoFit/>
          </a:bodyPr>
          <a:lstStyle/>
          <a:p>
            <a:pPr algn="l"/>
            <a:r>
              <a:rPr sz="2000" dirty="0">
                <a:latin typeface="Google Sans Flex SemiBold"/>
              </a:rPr>
              <a:t>Let AI decide everything</a:t>
            </a:r>
          </a:p>
        </p:txBody>
      </p:sp>
      <p:sp>
        <p:nvSpPr>
          <p:cNvPr id="12" name="!!obv1-verdict"/>
          <p:cNvSpPr txBox="1"/>
          <p:nvPr/>
        </p:nvSpPr>
        <p:spPr>
          <a:xfrm>
            <a:off x="1243584" y="4271213"/>
            <a:ext cx="2651760" cy="1005840"/>
          </a:xfrm>
          <a:prstGeom prst="rect">
            <a:avLst/>
          </a:prstGeom>
          <a:noFill/>
        </p:spPr>
        <p:txBody>
          <a:bodyPr wrap="square" lIns="0" tIns="0" rIns="0" bIns="0" anchor="t">
            <a:spAutoFit/>
          </a:bodyPr>
          <a:lstStyle/>
          <a:p>
            <a:pPr algn="l"/>
            <a:r>
              <a:rPr sz="1600" dirty="0">
                <a:latin typeface="Google Sans Flex Light"/>
              </a:rPr>
              <a:t>Who answers when it gets it wrong?</a:t>
            </a:r>
          </a:p>
        </p:txBody>
      </p:sp>
      <p:sp>
        <p:nvSpPr>
          <p:cNvPr id="13" name="!!obv2-card"/>
          <p:cNvSpPr/>
          <p:nvPr/>
        </p:nvSpPr>
        <p:spPr>
          <a:xfrm>
            <a:off x="4443984" y="3051642"/>
            <a:ext cx="3246120" cy="2059259"/>
          </a:xfrm>
          <a:prstGeom prst="roundRect">
            <a:avLst>
              <a:gd name="adj" fmla="val 26148"/>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5" name="!!obv2-head"/>
          <p:cNvSpPr txBox="1"/>
          <p:nvPr/>
        </p:nvSpPr>
        <p:spPr>
          <a:xfrm>
            <a:off x="4764024" y="3356814"/>
            <a:ext cx="2651760" cy="822960"/>
          </a:xfrm>
          <a:prstGeom prst="rect">
            <a:avLst/>
          </a:prstGeom>
          <a:noFill/>
        </p:spPr>
        <p:txBody>
          <a:bodyPr wrap="square" lIns="0" tIns="0" rIns="0" bIns="0" anchor="t">
            <a:spAutoFit/>
          </a:bodyPr>
          <a:lstStyle/>
          <a:p>
            <a:pPr algn="l"/>
            <a:r>
              <a:rPr sz="2000">
                <a:latin typeface="Google Sans Flex SemiBold"/>
              </a:rPr>
              <a:t>Buy a routing or tracking tool</a:t>
            </a:r>
          </a:p>
        </p:txBody>
      </p:sp>
      <p:sp>
        <p:nvSpPr>
          <p:cNvPr id="16" name="!!obv2-verdict"/>
          <p:cNvSpPr txBox="1"/>
          <p:nvPr/>
        </p:nvSpPr>
        <p:spPr>
          <a:xfrm>
            <a:off x="4764024" y="4271213"/>
            <a:ext cx="2651760" cy="1005840"/>
          </a:xfrm>
          <a:prstGeom prst="rect">
            <a:avLst/>
          </a:prstGeom>
          <a:noFill/>
        </p:spPr>
        <p:txBody>
          <a:bodyPr wrap="square" lIns="0" tIns="0" rIns="0" bIns="0" anchor="t">
            <a:spAutoFit/>
          </a:bodyPr>
          <a:lstStyle/>
          <a:p>
            <a:pPr algn="l"/>
            <a:r>
              <a:rPr sz="1600">
                <a:latin typeface="Google Sans Flex Light"/>
              </a:rPr>
              <a:t>It moves the van. It doesn't get store 4 to agree.</a:t>
            </a:r>
          </a:p>
        </p:txBody>
      </p:sp>
      <p:sp>
        <p:nvSpPr>
          <p:cNvPr id="17" name="!!obv3-card"/>
          <p:cNvSpPr/>
          <p:nvPr/>
        </p:nvSpPr>
        <p:spPr>
          <a:xfrm>
            <a:off x="7964424" y="3051642"/>
            <a:ext cx="3246120" cy="2059259"/>
          </a:xfrm>
          <a:prstGeom prst="roundRect">
            <a:avLst>
              <a:gd name="adj" fmla="val 2759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9" name="!!obv3-head"/>
          <p:cNvSpPr txBox="1"/>
          <p:nvPr/>
        </p:nvSpPr>
        <p:spPr>
          <a:xfrm>
            <a:off x="8284464" y="3356814"/>
            <a:ext cx="2651760" cy="307777"/>
          </a:xfrm>
          <a:prstGeom prst="rect">
            <a:avLst/>
          </a:prstGeom>
          <a:noFill/>
        </p:spPr>
        <p:txBody>
          <a:bodyPr wrap="square" lIns="0" tIns="0" rIns="0" bIns="0" anchor="t">
            <a:spAutoFit/>
          </a:bodyPr>
          <a:lstStyle/>
          <a:p>
            <a:pPr algn="l"/>
            <a:r>
              <a:rPr lang="en-US" sz="2000" dirty="0">
                <a:latin typeface="Google Sans Flex SemiBold"/>
              </a:rPr>
              <a:t>A WhatsApp group</a:t>
            </a:r>
            <a:endParaRPr sz="2000" dirty="0">
              <a:latin typeface="Google Sans Flex SemiBold"/>
            </a:endParaRPr>
          </a:p>
        </p:txBody>
      </p:sp>
      <p:sp>
        <p:nvSpPr>
          <p:cNvPr id="20" name="!!obv3-verdict"/>
          <p:cNvSpPr txBox="1"/>
          <p:nvPr/>
        </p:nvSpPr>
        <p:spPr>
          <a:xfrm>
            <a:off x="8284464" y="4271213"/>
            <a:ext cx="2651760" cy="246221"/>
          </a:xfrm>
          <a:prstGeom prst="rect">
            <a:avLst/>
          </a:prstGeom>
          <a:noFill/>
        </p:spPr>
        <p:txBody>
          <a:bodyPr wrap="square" lIns="0" tIns="0" rIns="0" bIns="0" anchor="t">
            <a:spAutoFit/>
          </a:bodyPr>
          <a:lstStyle/>
          <a:p>
            <a:pPr algn="l"/>
            <a:r>
              <a:rPr sz="1600" dirty="0">
                <a:latin typeface="Google Sans Flex Light"/>
              </a:rPr>
              <a:t>Fast, but no structure. No record.</a:t>
            </a:r>
          </a:p>
        </p:txBody>
      </p:sp>
      <p:sp>
        <p:nvSpPr>
          <p:cNvPr id="28" name="!!edge0">
            <a:extLst>
              <a:ext uri="{FF2B5EF4-FFF2-40B4-BE49-F238E27FC236}">
                <a16:creationId xmlns:a16="http://schemas.microsoft.com/office/drawing/2014/main" id="{3EA3B072-FB05-AF2B-A5AD-79634188BA62}"/>
              </a:ext>
            </a:extLst>
          </p:cNvPr>
          <p:cNvSpPr/>
          <p:nvPr/>
        </p:nvSpPr>
        <p:spPr>
          <a:xfrm>
            <a:off x="3259836" y="2807016"/>
            <a:ext cx="640080" cy="6400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30" name="!!tool0-head">
            <a:extLst>
              <a:ext uri="{FF2B5EF4-FFF2-40B4-BE49-F238E27FC236}">
                <a16:creationId xmlns:a16="http://schemas.microsoft.com/office/drawing/2014/main" id="{7BE3975A-92BA-367D-3CB0-EA703BCDD2BB}"/>
              </a:ext>
            </a:extLst>
          </p:cNvPr>
          <p:cNvSpPr txBox="1"/>
          <p:nvPr/>
        </p:nvSpPr>
        <p:spPr>
          <a:xfrm>
            <a:off x="2537460" y="2925927"/>
            <a:ext cx="2066544" cy="430887"/>
          </a:xfrm>
          <a:prstGeom prst="rect">
            <a:avLst/>
          </a:prstGeom>
          <a:noFill/>
        </p:spPr>
        <p:txBody>
          <a:bodyPr wrap="square" lIns="0" tIns="0" rIns="0" bIns="0" anchor="t">
            <a:spAutoFit/>
          </a:bodyPr>
          <a:lstStyle/>
          <a:p>
            <a:pPr algn="ctr"/>
            <a:r>
              <a:rPr lang="en-GB" sz="2800" dirty="0">
                <a:solidFill>
                  <a:srgbClr val="00DE72"/>
                </a:solidFill>
                <a:latin typeface="Google Sans Flex SemiBold"/>
              </a:rPr>
              <a:t>1</a:t>
            </a:r>
            <a:endParaRPr sz="2800" dirty="0">
              <a:solidFill>
                <a:srgbClr val="00DE72"/>
              </a:solidFill>
              <a:latin typeface="Google Sans Flex SemiBold"/>
            </a:endParaRPr>
          </a:p>
        </p:txBody>
      </p:sp>
      <p:sp>
        <p:nvSpPr>
          <p:cNvPr id="31" name="!!edge0">
            <a:extLst>
              <a:ext uri="{FF2B5EF4-FFF2-40B4-BE49-F238E27FC236}">
                <a16:creationId xmlns:a16="http://schemas.microsoft.com/office/drawing/2014/main" id="{B9BDEA83-4422-22FC-9443-6C3D66800F5A}"/>
              </a:ext>
            </a:extLst>
          </p:cNvPr>
          <p:cNvSpPr/>
          <p:nvPr/>
        </p:nvSpPr>
        <p:spPr>
          <a:xfrm>
            <a:off x="6818376" y="4755026"/>
            <a:ext cx="640080" cy="6400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32" name="!!tool0-head">
            <a:extLst>
              <a:ext uri="{FF2B5EF4-FFF2-40B4-BE49-F238E27FC236}">
                <a16:creationId xmlns:a16="http://schemas.microsoft.com/office/drawing/2014/main" id="{A4EA7B36-A8A1-07E2-4B2A-BAF7A0243902}"/>
              </a:ext>
            </a:extLst>
          </p:cNvPr>
          <p:cNvSpPr txBox="1"/>
          <p:nvPr/>
        </p:nvSpPr>
        <p:spPr>
          <a:xfrm>
            <a:off x="6096000" y="4873937"/>
            <a:ext cx="2066544" cy="430887"/>
          </a:xfrm>
          <a:prstGeom prst="rect">
            <a:avLst/>
          </a:prstGeom>
          <a:noFill/>
        </p:spPr>
        <p:txBody>
          <a:bodyPr wrap="square" lIns="0" tIns="0" rIns="0" bIns="0" anchor="t">
            <a:spAutoFit/>
          </a:bodyPr>
          <a:lstStyle/>
          <a:p>
            <a:pPr algn="ctr"/>
            <a:r>
              <a:rPr lang="en-GB" sz="2800" dirty="0">
                <a:solidFill>
                  <a:srgbClr val="00DE72"/>
                </a:solidFill>
                <a:latin typeface="Google Sans Flex SemiBold"/>
              </a:rPr>
              <a:t>2</a:t>
            </a:r>
            <a:endParaRPr sz="2800" dirty="0">
              <a:solidFill>
                <a:srgbClr val="00DE72"/>
              </a:solidFill>
              <a:latin typeface="Google Sans Flex SemiBold"/>
            </a:endParaRPr>
          </a:p>
        </p:txBody>
      </p:sp>
      <p:sp>
        <p:nvSpPr>
          <p:cNvPr id="33" name="!!edge0">
            <a:extLst>
              <a:ext uri="{FF2B5EF4-FFF2-40B4-BE49-F238E27FC236}">
                <a16:creationId xmlns:a16="http://schemas.microsoft.com/office/drawing/2014/main" id="{267B8D41-330D-595D-38A3-4936A80E7AA1}"/>
              </a:ext>
            </a:extLst>
          </p:cNvPr>
          <p:cNvSpPr/>
          <p:nvPr/>
        </p:nvSpPr>
        <p:spPr>
          <a:xfrm>
            <a:off x="10289825" y="2631281"/>
            <a:ext cx="640080" cy="6400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34" name="!!tool0-head">
            <a:extLst>
              <a:ext uri="{FF2B5EF4-FFF2-40B4-BE49-F238E27FC236}">
                <a16:creationId xmlns:a16="http://schemas.microsoft.com/office/drawing/2014/main" id="{0F9CB4DB-1ECE-D52E-02DB-2E132D597DA4}"/>
              </a:ext>
            </a:extLst>
          </p:cNvPr>
          <p:cNvSpPr txBox="1"/>
          <p:nvPr/>
        </p:nvSpPr>
        <p:spPr>
          <a:xfrm>
            <a:off x="9567449" y="2750192"/>
            <a:ext cx="2066544" cy="430887"/>
          </a:xfrm>
          <a:prstGeom prst="rect">
            <a:avLst/>
          </a:prstGeom>
          <a:noFill/>
        </p:spPr>
        <p:txBody>
          <a:bodyPr wrap="square" lIns="0" tIns="0" rIns="0" bIns="0" anchor="t">
            <a:spAutoFit/>
          </a:bodyPr>
          <a:lstStyle/>
          <a:p>
            <a:pPr algn="ctr"/>
            <a:r>
              <a:rPr lang="en-GB" sz="2800" dirty="0">
                <a:solidFill>
                  <a:srgbClr val="00DE72"/>
                </a:solidFill>
                <a:latin typeface="Google Sans Flex SemiBold"/>
              </a:rPr>
              <a:t>3</a:t>
            </a:r>
            <a:endParaRPr sz="2800" dirty="0">
              <a:solidFill>
                <a:srgbClr val="00DE72"/>
              </a:solidFill>
              <a:latin typeface="Google Sans Flex SemiBold"/>
            </a:endParaRPr>
          </a:p>
        </p:txBody>
      </p:sp>
      <p:sp>
        <p:nvSpPr>
          <p:cNvPr id="3" name="!!edge0">
            <a:extLst>
              <a:ext uri="{FF2B5EF4-FFF2-40B4-BE49-F238E27FC236}">
                <a16:creationId xmlns:a16="http://schemas.microsoft.com/office/drawing/2014/main" id="{66608D8A-05A0-EC78-B118-A2D5F3A2D506}"/>
              </a:ext>
            </a:extLst>
          </p:cNvPr>
          <p:cNvSpPr/>
          <p:nvPr/>
        </p:nvSpPr>
        <p:spPr>
          <a:xfrm>
            <a:off x="923544" y="640080"/>
            <a:ext cx="2569051"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6" name="!!section">
            <a:extLst>
              <a:ext uri="{FF2B5EF4-FFF2-40B4-BE49-F238E27FC236}">
                <a16:creationId xmlns:a16="http://schemas.microsoft.com/office/drawing/2014/main" id="{70D7855E-622A-75CB-2E3E-B0AB8460D32C}"/>
              </a:ext>
            </a:extLst>
          </p:cNvPr>
          <p:cNvSpPr txBox="1"/>
          <p:nvPr/>
        </p:nvSpPr>
        <p:spPr>
          <a:xfrm>
            <a:off x="1124712" y="777723"/>
            <a:ext cx="7315200" cy="369332"/>
          </a:xfrm>
          <a:prstGeom prst="rect">
            <a:avLst/>
          </a:prstGeom>
          <a:noFill/>
        </p:spPr>
        <p:txBody>
          <a:bodyPr wrap="square" lIns="0" tIns="0" rIns="0" bIns="0" anchor="t">
            <a:spAutoFit/>
          </a:bodyPr>
          <a:lstStyle/>
          <a:p>
            <a:r>
              <a:rPr lang="en-US" sz="1200" dirty="0">
                <a:solidFill>
                  <a:srgbClr val="006A62"/>
                </a:solidFill>
                <a:latin typeface="Google Sans Flex SemiBold"/>
              </a:rPr>
              <a:t>Problem 3 · Poor Coordination</a:t>
            </a:r>
          </a:p>
          <a:p>
            <a:endParaRPr lang="en-US" sz="1200" dirty="0">
              <a:solidFill>
                <a:srgbClr val="006A62"/>
              </a:solidFill>
              <a:latin typeface="Google Sans Flex SemiBold"/>
            </a:endParaRPr>
          </a:p>
        </p:txBody>
      </p:sp>
    </p:spTree>
  </p:cSld>
  <p:clrMapOvr>
    <a:masterClrMapping/>
  </p:clrMapOvr>
  <p:transition spd="slow">
    <p:push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9C972-111F-21F6-09CC-C055E9F2CC05}"/>
            </a:ext>
          </a:extLst>
        </p:cNvPr>
        <p:cNvGrpSpPr/>
        <p:nvPr/>
      </p:nvGrpSpPr>
      <p:grpSpPr>
        <a:xfrm>
          <a:off x="0" y="0"/>
          <a:ext cx="0" cy="0"/>
          <a:chOff x="0" y="0"/>
          <a:chExt cx="0" cy="0"/>
        </a:xfrm>
      </p:grpSpPr>
      <p:sp>
        <p:nvSpPr>
          <p:cNvPr id="6" name="!!title">
            <a:extLst>
              <a:ext uri="{FF2B5EF4-FFF2-40B4-BE49-F238E27FC236}">
                <a16:creationId xmlns:a16="http://schemas.microsoft.com/office/drawing/2014/main" id="{36728CFD-4552-75E6-806A-D7120329B21E}"/>
              </a:ext>
            </a:extLst>
          </p:cNvPr>
          <p:cNvSpPr txBox="1"/>
          <p:nvPr/>
        </p:nvSpPr>
        <p:spPr>
          <a:xfrm>
            <a:off x="923544" y="1477947"/>
            <a:ext cx="10625328" cy="553998"/>
          </a:xfrm>
          <a:prstGeom prst="rect">
            <a:avLst/>
          </a:prstGeom>
          <a:noFill/>
        </p:spPr>
        <p:txBody>
          <a:bodyPr wrap="square" lIns="0" tIns="0" rIns="0" bIns="0" anchor="t">
            <a:spAutoFit/>
          </a:bodyPr>
          <a:lstStyle/>
          <a:p>
            <a:r>
              <a:rPr lang="en-US" sz="3600" dirty="0">
                <a:solidFill>
                  <a:srgbClr val="00B050"/>
                </a:solidFill>
                <a:latin typeface="Google Sans Flex SemiBold"/>
              </a:rPr>
              <a:t>Two kinds</a:t>
            </a:r>
            <a:r>
              <a:rPr lang="en-US" sz="3600" dirty="0">
                <a:latin typeface="Google Sans Flex Light"/>
              </a:rPr>
              <a:t> of problems</a:t>
            </a:r>
          </a:p>
        </p:txBody>
      </p:sp>
      <p:sp>
        <p:nvSpPr>
          <p:cNvPr id="71" name="!!basket0">
            <a:extLst>
              <a:ext uri="{FF2B5EF4-FFF2-40B4-BE49-F238E27FC236}">
                <a16:creationId xmlns:a16="http://schemas.microsoft.com/office/drawing/2014/main" id="{9525A281-900C-2BBA-9502-92EA780DC7B4}"/>
              </a:ext>
            </a:extLst>
          </p:cNvPr>
          <p:cNvSpPr/>
          <p:nvPr/>
        </p:nvSpPr>
        <p:spPr>
          <a:xfrm>
            <a:off x="923544" y="2574014"/>
            <a:ext cx="4983480" cy="2969824"/>
          </a:xfrm>
          <a:prstGeom prst="roundRect">
            <a:avLst>
              <a:gd name="adj" fmla="val 1255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73" name="!!basket0-head">
            <a:extLst>
              <a:ext uri="{FF2B5EF4-FFF2-40B4-BE49-F238E27FC236}">
                <a16:creationId xmlns:a16="http://schemas.microsoft.com/office/drawing/2014/main" id="{B80BBDB9-4829-A7A9-CC0C-ED365119A59E}"/>
              </a:ext>
            </a:extLst>
          </p:cNvPr>
          <p:cNvSpPr txBox="1"/>
          <p:nvPr/>
        </p:nvSpPr>
        <p:spPr>
          <a:xfrm>
            <a:off x="2064418" y="3014487"/>
            <a:ext cx="3657600" cy="457200"/>
          </a:xfrm>
          <a:prstGeom prst="rect">
            <a:avLst/>
          </a:prstGeom>
          <a:noFill/>
        </p:spPr>
        <p:txBody>
          <a:bodyPr wrap="square" lIns="0" tIns="0" rIns="0" bIns="0" anchor="t">
            <a:spAutoFit/>
          </a:bodyPr>
          <a:lstStyle/>
          <a:p>
            <a:pPr algn="l"/>
            <a:r>
              <a:rPr sz="2200" dirty="0">
                <a:latin typeface="Google Sans Flex SemiBold"/>
              </a:rPr>
              <a:t>Can be settled later</a:t>
            </a:r>
          </a:p>
        </p:txBody>
      </p:sp>
      <p:sp>
        <p:nvSpPr>
          <p:cNvPr id="75" name="!!basket0-list">
            <a:extLst>
              <a:ext uri="{FF2B5EF4-FFF2-40B4-BE49-F238E27FC236}">
                <a16:creationId xmlns:a16="http://schemas.microsoft.com/office/drawing/2014/main" id="{F3F76275-CB34-0A89-5EF9-FD6C360FFD86}"/>
              </a:ext>
            </a:extLst>
          </p:cNvPr>
          <p:cNvSpPr txBox="1"/>
          <p:nvPr/>
        </p:nvSpPr>
        <p:spPr>
          <a:xfrm>
            <a:off x="1243584" y="4008040"/>
            <a:ext cx="4389120" cy="731520"/>
          </a:xfrm>
          <a:prstGeom prst="rect">
            <a:avLst/>
          </a:prstGeom>
          <a:noFill/>
        </p:spPr>
        <p:txBody>
          <a:bodyPr wrap="square" lIns="0" tIns="0" rIns="0" bIns="0" anchor="t">
            <a:spAutoFit/>
          </a:bodyPr>
          <a:lstStyle/>
          <a:p>
            <a:pPr algn="l"/>
            <a:r>
              <a:rPr sz="1600" dirty="0">
                <a:solidFill>
                  <a:srgbClr val="6B7A72"/>
                </a:solidFill>
                <a:latin typeface="Google Sans Flex"/>
              </a:rPr>
              <a:t>Missing goods · Damage · Shortages</a:t>
            </a:r>
          </a:p>
        </p:txBody>
      </p:sp>
      <p:sp>
        <p:nvSpPr>
          <p:cNvPr id="77" name="!!basket0-out">
            <a:extLst>
              <a:ext uri="{FF2B5EF4-FFF2-40B4-BE49-F238E27FC236}">
                <a16:creationId xmlns:a16="http://schemas.microsoft.com/office/drawing/2014/main" id="{7DDEA86F-D9E3-BEF7-C37D-E8E017D2936F}"/>
              </a:ext>
            </a:extLst>
          </p:cNvPr>
          <p:cNvSpPr txBox="1"/>
          <p:nvPr/>
        </p:nvSpPr>
        <p:spPr>
          <a:xfrm>
            <a:off x="1243584" y="4514937"/>
            <a:ext cx="4389120" cy="1371600"/>
          </a:xfrm>
          <a:prstGeom prst="rect">
            <a:avLst/>
          </a:prstGeom>
          <a:noFill/>
        </p:spPr>
        <p:txBody>
          <a:bodyPr wrap="square" lIns="0" tIns="0" rIns="0" bIns="0" anchor="t">
            <a:spAutoFit/>
          </a:bodyPr>
          <a:lstStyle/>
          <a:p>
            <a:pPr algn="l"/>
            <a:r>
              <a:rPr sz="1800" dirty="0">
                <a:latin typeface="Google Sans Flex SemiBold"/>
              </a:rPr>
              <a:t>Report with photos → an issue with an owner, tracked to the end</a:t>
            </a:r>
          </a:p>
        </p:txBody>
      </p:sp>
      <p:sp>
        <p:nvSpPr>
          <p:cNvPr id="81" name="!!basket0">
            <a:extLst>
              <a:ext uri="{FF2B5EF4-FFF2-40B4-BE49-F238E27FC236}">
                <a16:creationId xmlns:a16="http://schemas.microsoft.com/office/drawing/2014/main" id="{D8E4CA23-5288-04E4-69F6-1AE62375990E}"/>
              </a:ext>
            </a:extLst>
          </p:cNvPr>
          <p:cNvSpPr/>
          <p:nvPr/>
        </p:nvSpPr>
        <p:spPr>
          <a:xfrm>
            <a:off x="6227064" y="2574014"/>
            <a:ext cx="4983480" cy="2969824"/>
          </a:xfrm>
          <a:prstGeom prst="roundRect">
            <a:avLst>
              <a:gd name="adj" fmla="val 1255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85" name="!!basket0-head">
            <a:extLst>
              <a:ext uri="{FF2B5EF4-FFF2-40B4-BE49-F238E27FC236}">
                <a16:creationId xmlns:a16="http://schemas.microsoft.com/office/drawing/2014/main" id="{F6A555EB-4829-4F8B-1BB9-060316E569B1}"/>
              </a:ext>
            </a:extLst>
          </p:cNvPr>
          <p:cNvSpPr txBox="1"/>
          <p:nvPr/>
        </p:nvSpPr>
        <p:spPr>
          <a:xfrm>
            <a:off x="7431625" y="3014487"/>
            <a:ext cx="3657600" cy="338554"/>
          </a:xfrm>
          <a:prstGeom prst="rect">
            <a:avLst/>
          </a:prstGeom>
          <a:noFill/>
        </p:spPr>
        <p:txBody>
          <a:bodyPr wrap="square" lIns="0" tIns="0" rIns="0" bIns="0" anchor="t">
            <a:spAutoFit/>
          </a:bodyPr>
          <a:lstStyle/>
          <a:p>
            <a:r>
              <a:rPr lang="en-US" sz="2200" dirty="0">
                <a:latin typeface="Google Sans Flex SemiBold"/>
              </a:rPr>
              <a:t>Can't wait</a:t>
            </a:r>
          </a:p>
        </p:txBody>
      </p:sp>
      <p:sp>
        <p:nvSpPr>
          <p:cNvPr id="87" name="!!basket1-list">
            <a:extLst>
              <a:ext uri="{FF2B5EF4-FFF2-40B4-BE49-F238E27FC236}">
                <a16:creationId xmlns:a16="http://schemas.microsoft.com/office/drawing/2014/main" id="{6ACA1E7C-4AC9-2B3F-5940-07B6AF798AE4}"/>
              </a:ext>
            </a:extLst>
          </p:cNvPr>
          <p:cNvSpPr txBox="1"/>
          <p:nvPr/>
        </p:nvSpPr>
        <p:spPr>
          <a:xfrm>
            <a:off x="6501383" y="3993250"/>
            <a:ext cx="4389120" cy="731520"/>
          </a:xfrm>
          <a:prstGeom prst="rect">
            <a:avLst/>
          </a:prstGeom>
          <a:noFill/>
        </p:spPr>
        <p:txBody>
          <a:bodyPr wrap="square" lIns="0" tIns="0" rIns="0" bIns="0" anchor="t">
            <a:spAutoFit/>
          </a:bodyPr>
          <a:lstStyle/>
          <a:p>
            <a:pPr algn="l"/>
            <a:r>
              <a:rPr sz="1600" dirty="0">
                <a:solidFill>
                  <a:srgbClr val="6B7A72"/>
                </a:solidFill>
                <a:latin typeface="Google Sans Flex"/>
              </a:rPr>
              <a:t>Window closing · Van stuck · Store closed</a:t>
            </a:r>
          </a:p>
        </p:txBody>
      </p:sp>
      <p:sp>
        <p:nvSpPr>
          <p:cNvPr id="89" name="!!basket1-out">
            <a:extLst>
              <a:ext uri="{FF2B5EF4-FFF2-40B4-BE49-F238E27FC236}">
                <a16:creationId xmlns:a16="http://schemas.microsoft.com/office/drawing/2014/main" id="{42EF7372-BA8D-3545-2B5A-7C17A41985C4}"/>
              </a:ext>
            </a:extLst>
          </p:cNvPr>
          <p:cNvSpPr txBox="1"/>
          <p:nvPr/>
        </p:nvSpPr>
        <p:spPr>
          <a:xfrm>
            <a:off x="6501383" y="4599432"/>
            <a:ext cx="4389120" cy="1371600"/>
          </a:xfrm>
          <a:prstGeom prst="rect">
            <a:avLst/>
          </a:prstGeom>
          <a:noFill/>
        </p:spPr>
        <p:txBody>
          <a:bodyPr wrap="square" lIns="0" tIns="0" rIns="0" bIns="0" anchor="t">
            <a:spAutoFit/>
          </a:bodyPr>
          <a:lstStyle/>
          <a:p>
            <a:pPr algn="l"/>
            <a:r>
              <a:rPr sz="1800" dirty="0">
                <a:solidFill>
                  <a:srgbClr val="00B050"/>
                </a:solidFill>
                <a:latin typeface="Google Sans Flex SemiBold"/>
              </a:rPr>
              <a:t>A live decision, in minutes</a:t>
            </a:r>
          </a:p>
        </p:txBody>
      </p:sp>
      <p:cxnSp>
        <p:nvCxnSpPr>
          <p:cNvPr id="90" name="Straight Connector 89">
            <a:extLst>
              <a:ext uri="{FF2B5EF4-FFF2-40B4-BE49-F238E27FC236}">
                <a16:creationId xmlns:a16="http://schemas.microsoft.com/office/drawing/2014/main" id="{543FB244-C5E5-E11C-1D03-8227B2E24DCB}"/>
              </a:ext>
            </a:extLst>
          </p:cNvPr>
          <p:cNvCxnSpPr>
            <a:cxnSpLocks/>
          </p:cNvCxnSpPr>
          <p:nvPr/>
        </p:nvCxnSpPr>
        <p:spPr>
          <a:xfrm flipV="1">
            <a:off x="1124712" y="3729959"/>
            <a:ext cx="4435574" cy="828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EE12CF6F-B522-89EC-B460-2918626E4650}"/>
              </a:ext>
            </a:extLst>
          </p:cNvPr>
          <p:cNvCxnSpPr>
            <a:cxnSpLocks/>
          </p:cNvCxnSpPr>
          <p:nvPr/>
        </p:nvCxnSpPr>
        <p:spPr>
          <a:xfrm flipV="1">
            <a:off x="6476266" y="3729959"/>
            <a:ext cx="4435574" cy="828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sp>
        <p:nvSpPr>
          <p:cNvPr id="93" name="!!edge0">
            <a:extLst>
              <a:ext uri="{FF2B5EF4-FFF2-40B4-BE49-F238E27FC236}">
                <a16:creationId xmlns:a16="http://schemas.microsoft.com/office/drawing/2014/main" id="{8376CB5F-3F19-5843-1233-235CC4779A69}"/>
              </a:ext>
            </a:extLst>
          </p:cNvPr>
          <p:cNvSpPr/>
          <p:nvPr/>
        </p:nvSpPr>
        <p:spPr>
          <a:xfrm>
            <a:off x="1239332" y="2883722"/>
            <a:ext cx="640080" cy="6400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95" name="!!tool0-head">
            <a:extLst>
              <a:ext uri="{FF2B5EF4-FFF2-40B4-BE49-F238E27FC236}">
                <a16:creationId xmlns:a16="http://schemas.microsoft.com/office/drawing/2014/main" id="{56CD4F0F-E40F-7DE6-6F0B-DF2C8555683A}"/>
              </a:ext>
            </a:extLst>
          </p:cNvPr>
          <p:cNvSpPr txBox="1"/>
          <p:nvPr/>
        </p:nvSpPr>
        <p:spPr>
          <a:xfrm>
            <a:off x="516956" y="3002633"/>
            <a:ext cx="2066544" cy="430887"/>
          </a:xfrm>
          <a:prstGeom prst="rect">
            <a:avLst/>
          </a:prstGeom>
          <a:noFill/>
        </p:spPr>
        <p:txBody>
          <a:bodyPr wrap="square" lIns="0" tIns="0" rIns="0" bIns="0" anchor="t">
            <a:spAutoFit/>
          </a:bodyPr>
          <a:lstStyle/>
          <a:p>
            <a:pPr algn="ctr"/>
            <a:r>
              <a:rPr lang="en-GB" sz="2800" dirty="0">
                <a:solidFill>
                  <a:srgbClr val="00DE72"/>
                </a:solidFill>
                <a:latin typeface="Google Sans Flex SemiBold"/>
              </a:rPr>
              <a:t>A</a:t>
            </a:r>
            <a:endParaRPr sz="2800" dirty="0">
              <a:solidFill>
                <a:srgbClr val="00DE72"/>
              </a:solidFill>
              <a:latin typeface="Google Sans Flex SemiBold"/>
            </a:endParaRPr>
          </a:p>
        </p:txBody>
      </p:sp>
      <p:sp>
        <p:nvSpPr>
          <p:cNvPr id="96" name="!!edge0">
            <a:extLst>
              <a:ext uri="{FF2B5EF4-FFF2-40B4-BE49-F238E27FC236}">
                <a16:creationId xmlns:a16="http://schemas.microsoft.com/office/drawing/2014/main" id="{6DBE13E8-E0F0-D2C8-0546-AAE667DFA7C7}"/>
              </a:ext>
            </a:extLst>
          </p:cNvPr>
          <p:cNvSpPr/>
          <p:nvPr/>
        </p:nvSpPr>
        <p:spPr>
          <a:xfrm>
            <a:off x="6567518" y="2883722"/>
            <a:ext cx="640080" cy="6400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97" name="!!tool0-head">
            <a:extLst>
              <a:ext uri="{FF2B5EF4-FFF2-40B4-BE49-F238E27FC236}">
                <a16:creationId xmlns:a16="http://schemas.microsoft.com/office/drawing/2014/main" id="{8866E43F-9E6F-9AA0-743D-FF4E804B6A4F}"/>
              </a:ext>
            </a:extLst>
          </p:cNvPr>
          <p:cNvSpPr txBox="1"/>
          <p:nvPr/>
        </p:nvSpPr>
        <p:spPr>
          <a:xfrm>
            <a:off x="5845142" y="3002633"/>
            <a:ext cx="2066544" cy="430887"/>
          </a:xfrm>
          <a:prstGeom prst="rect">
            <a:avLst/>
          </a:prstGeom>
          <a:noFill/>
        </p:spPr>
        <p:txBody>
          <a:bodyPr wrap="square" lIns="0" tIns="0" rIns="0" bIns="0" anchor="t">
            <a:spAutoFit/>
          </a:bodyPr>
          <a:lstStyle/>
          <a:p>
            <a:pPr algn="ctr"/>
            <a:r>
              <a:rPr lang="en-GB" sz="2800" dirty="0">
                <a:solidFill>
                  <a:srgbClr val="00DE72"/>
                </a:solidFill>
                <a:latin typeface="Google Sans Flex SemiBold"/>
              </a:rPr>
              <a:t>B</a:t>
            </a:r>
            <a:endParaRPr sz="2800" dirty="0">
              <a:solidFill>
                <a:srgbClr val="00DE72"/>
              </a:solidFill>
              <a:latin typeface="Google Sans Flex SemiBold"/>
            </a:endParaRPr>
          </a:p>
        </p:txBody>
      </p:sp>
      <p:sp>
        <p:nvSpPr>
          <p:cNvPr id="108" name="!!room0-head">
            <a:extLst>
              <a:ext uri="{FF2B5EF4-FFF2-40B4-BE49-F238E27FC236}">
                <a16:creationId xmlns:a16="http://schemas.microsoft.com/office/drawing/2014/main" id="{875CFE7D-00EB-C49E-F8FA-C31C15321280}"/>
              </a:ext>
            </a:extLst>
          </p:cNvPr>
          <p:cNvSpPr txBox="1"/>
          <p:nvPr/>
        </p:nvSpPr>
        <p:spPr>
          <a:xfrm>
            <a:off x="3567527" y="8187596"/>
            <a:ext cx="3941225" cy="292388"/>
          </a:xfrm>
          <a:prstGeom prst="rect">
            <a:avLst/>
          </a:prstGeom>
          <a:noFill/>
        </p:spPr>
        <p:txBody>
          <a:bodyPr wrap="square" lIns="0" tIns="0" rIns="0" bIns="0" anchor="t">
            <a:spAutoFit/>
          </a:bodyPr>
          <a:lstStyle/>
          <a:p>
            <a:pPr algn="l"/>
            <a:r>
              <a:rPr lang="en-GB" sz="1900" dirty="0">
                <a:latin typeface="Google Sans Flex SemiBold"/>
              </a:rPr>
              <a:t>Issue </a:t>
            </a:r>
            <a:r>
              <a:rPr sz="1900" dirty="0">
                <a:latin typeface="Google Sans Flex SemiBold"/>
              </a:rPr>
              <a:t>Reported, with ph</a:t>
            </a:r>
            <a:r>
              <a:rPr lang="en-US" sz="1900" dirty="0">
                <a:latin typeface="Google Sans Flex SemiBold"/>
              </a:rPr>
              <a:t>otos</a:t>
            </a:r>
            <a:endParaRPr sz="1900" dirty="0">
              <a:latin typeface="Google Sans Flex SemiBold"/>
            </a:endParaRPr>
          </a:p>
        </p:txBody>
      </p:sp>
      <p:sp>
        <p:nvSpPr>
          <p:cNvPr id="109" name="!!room1-head">
            <a:extLst>
              <a:ext uri="{FF2B5EF4-FFF2-40B4-BE49-F238E27FC236}">
                <a16:creationId xmlns:a16="http://schemas.microsoft.com/office/drawing/2014/main" id="{08CED621-95E4-523C-0F63-49F928CB2D18}"/>
              </a:ext>
            </a:extLst>
          </p:cNvPr>
          <p:cNvSpPr txBox="1"/>
          <p:nvPr/>
        </p:nvSpPr>
        <p:spPr>
          <a:xfrm>
            <a:off x="3567527" y="10670996"/>
            <a:ext cx="3941225" cy="292388"/>
          </a:xfrm>
          <a:prstGeom prst="rect">
            <a:avLst/>
          </a:prstGeom>
          <a:noFill/>
        </p:spPr>
        <p:txBody>
          <a:bodyPr wrap="square" lIns="0" tIns="0" rIns="0" bIns="0" anchor="t">
            <a:spAutoFit/>
          </a:bodyPr>
          <a:lstStyle/>
          <a:p>
            <a:pPr algn="l"/>
            <a:r>
              <a:rPr sz="1900">
                <a:latin typeface="Google Sans Flex SemiBold"/>
              </a:rPr>
              <a:t>One issue, one owner</a:t>
            </a:r>
          </a:p>
        </p:txBody>
      </p:sp>
      <p:sp>
        <p:nvSpPr>
          <p:cNvPr id="110" name="!!room2-head">
            <a:extLst>
              <a:ext uri="{FF2B5EF4-FFF2-40B4-BE49-F238E27FC236}">
                <a16:creationId xmlns:a16="http://schemas.microsoft.com/office/drawing/2014/main" id="{8BBFDB94-0564-4440-E85D-C60ADA284B0F}"/>
              </a:ext>
            </a:extLst>
          </p:cNvPr>
          <p:cNvSpPr txBox="1"/>
          <p:nvPr/>
        </p:nvSpPr>
        <p:spPr>
          <a:xfrm>
            <a:off x="3567527" y="13385229"/>
            <a:ext cx="3941225" cy="292388"/>
          </a:xfrm>
          <a:prstGeom prst="rect">
            <a:avLst/>
          </a:prstGeom>
          <a:noFill/>
        </p:spPr>
        <p:txBody>
          <a:bodyPr wrap="square" lIns="0" tIns="0" rIns="0" bIns="0" anchor="t">
            <a:spAutoFit/>
          </a:bodyPr>
          <a:lstStyle/>
          <a:p>
            <a:pPr algn="l"/>
            <a:r>
              <a:rPr sz="1900">
                <a:latin typeface="Google Sans Flex SemiBold"/>
              </a:rPr>
              <a:t>Closed on record</a:t>
            </a:r>
          </a:p>
        </p:txBody>
      </p:sp>
      <p:sp>
        <p:nvSpPr>
          <p:cNvPr id="111" name="!!room0-sub">
            <a:extLst>
              <a:ext uri="{FF2B5EF4-FFF2-40B4-BE49-F238E27FC236}">
                <a16:creationId xmlns:a16="http://schemas.microsoft.com/office/drawing/2014/main" id="{44B63694-2A4B-4047-A537-70326D792089}"/>
              </a:ext>
            </a:extLst>
          </p:cNvPr>
          <p:cNvSpPr txBox="1"/>
          <p:nvPr/>
        </p:nvSpPr>
        <p:spPr>
          <a:xfrm>
            <a:off x="3567527" y="9130615"/>
            <a:ext cx="3941225" cy="230832"/>
          </a:xfrm>
          <a:prstGeom prst="rect">
            <a:avLst/>
          </a:prstGeom>
          <a:noFill/>
        </p:spPr>
        <p:txBody>
          <a:bodyPr wrap="square" lIns="0" tIns="0" rIns="0" bIns="0" anchor="t">
            <a:spAutoFit/>
          </a:bodyPr>
          <a:lstStyle/>
          <a:p>
            <a:pPr algn="l"/>
            <a:r>
              <a:rPr sz="1500">
                <a:solidFill>
                  <a:srgbClr val="6B7A72"/>
                </a:solidFill>
                <a:latin typeface="Google Sans Flex Light"/>
              </a:rPr>
              <a:t>from the loader's tablet or the store's phone</a:t>
            </a:r>
          </a:p>
        </p:txBody>
      </p:sp>
      <p:sp>
        <p:nvSpPr>
          <p:cNvPr id="112" name="!!room1-sub">
            <a:extLst>
              <a:ext uri="{FF2B5EF4-FFF2-40B4-BE49-F238E27FC236}">
                <a16:creationId xmlns:a16="http://schemas.microsoft.com/office/drawing/2014/main" id="{789C020A-3146-4847-DE30-D537B0A88993}"/>
              </a:ext>
            </a:extLst>
          </p:cNvPr>
          <p:cNvSpPr txBox="1"/>
          <p:nvPr/>
        </p:nvSpPr>
        <p:spPr>
          <a:xfrm>
            <a:off x="3567527" y="11614015"/>
            <a:ext cx="3941225" cy="461665"/>
          </a:xfrm>
          <a:prstGeom prst="rect">
            <a:avLst/>
          </a:prstGeom>
          <a:noFill/>
        </p:spPr>
        <p:txBody>
          <a:bodyPr wrap="square" lIns="0" tIns="0" rIns="0" bIns="0" anchor="t">
            <a:spAutoFit/>
          </a:bodyPr>
          <a:lstStyle/>
          <a:p>
            <a:pPr algn="l"/>
            <a:r>
              <a:rPr sz="1500">
                <a:solidFill>
                  <a:srgbClr val="6B7A72"/>
                </a:solidFill>
                <a:latin typeface="Google Sans Flex Light"/>
              </a:rPr>
              <a:t>tracked like a ticket; a loader's flag is linked, not repeated</a:t>
            </a:r>
          </a:p>
        </p:txBody>
      </p:sp>
      <p:sp>
        <p:nvSpPr>
          <p:cNvPr id="113" name="!!room2-sub">
            <a:extLst>
              <a:ext uri="{FF2B5EF4-FFF2-40B4-BE49-F238E27FC236}">
                <a16:creationId xmlns:a16="http://schemas.microsoft.com/office/drawing/2014/main" id="{FDDEE4F7-7C11-717A-CF1B-BB257A88F5C3}"/>
              </a:ext>
            </a:extLst>
          </p:cNvPr>
          <p:cNvSpPr txBox="1"/>
          <p:nvPr/>
        </p:nvSpPr>
        <p:spPr>
          <a:xfrm>
            <a:off x="3567527" y="14328246"/>
            <a:ext cx="3941225" cy="230832"/>
          </a:xfrm>
          <a:prstGeom prst="rect">
            <a:avLst/>
          </a:prstGeom>
          <a:noFill/>
        </p:spPr>
        <p:txBody>
          <a:bodyPr wrap="square" lIns="0" tIns="0" rIns="0" bIns="0" anchor="t">
            <a:spAutoFit/>
          </a:bodyPr>
          <a:lstStyle/>
          <a:p>
            <a:pPr algn="l"/>
            <a:r>
              <a:rPr sz="1500" dirty="0">
                <a:solidFill>
                  <a:srgbClr val="6B7A72"/>
                </a:solidFill>
                <a:latin typeface="Google Sans Flex Light"/>
              </a:rPr>
              <a:t>who handled it, when and why</a:t>
            </a:r>
          </a:p>
        </p:txBody>
      </p:sp>
      <p:cxnSp>
        <p:nvCxnSpPr>
          <p:cNvPr id="114" name="Straight Connector 113">
            <a:extLst>
              <a:ext uri="{FF2B5EF4-FFF2-40B4-BE49-F238E27FC236}">
                <a16:creationId xmlns:a16="http://schemas.microsoft.com/office/drawing/2014/main" id="{E88D4CF0-5289-46AA-88E6-3DCC5FC03365}"/>
              </a:ext>
            </a:extLst>
          </p:cNvPr>
          <p:cNvCxnSpPr>
            <a:cxnSpLocks/>
          </p:cNvCxnSpPr>
          <p:nvPr/>
        </p:nvCxnSpPr>
        <p:spPr>
          <a:xfrm flipV="1">
            <a:off x="3251666" y="10012078"/>
            <a:ext cx="4435574" cy="828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FB848CC2-4DBF-DA27-9EE7-1A17E3B0642C}"/>
              </a:ext>
            </a:extLst>
          </p:cNvPr>
          <p:cNvCxnSpPr>
            <a:cxnSpLocks/>
          </p:cNvCxnSpPr>
          <p:nvPr/>
        </p:nvCxnSpPr>
        <p:spPr>
          <a:xfrm flipV="1">
            <a:off x="3251666" y="12726311"/>
            <a:ext cx="4435574" cy="828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sp>
        <p:nvSpPr>
          <p:cNvPr id="3" name="!!edge0">
            <a:extLst>
              <a:ext uri="{FF2B5EF4-FFF2-40B4-BE49-F238E27FC236}">
                <a16:creationId xmlns:a16="http://schemas.microsoft.com/office/drawing/2014/main" id="{43DBB580-47AF-4487-D737-E7C9AC616E6E}"/>
              </a:ext>
            </a:extLst>
          </p:cNvPr>
          <p:cNvSpPr/>
          <p:nvPr/>
        </p:nvSpPr>
        <p:spPr>
          <a:xfrm>
            <a:off x="923544" y="640080"/>
            <a:ext cx="2569051"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7" name="!!section">
            <a:extLst>
              <a:ext uri="{FF2B5EF4-FFF2-40B4-BE49-F238E27FC236}">
                <a16:creationId xmlns:a16="http://schemas.microsoft.com/office/drawing/2014/main" id="{A7AC7F55-CC25-B752-3252-DF5DF09DE9AB}"/>
              </a:ext>
            </a:extLst>
          </p:cNvPr>
          <p:cNvSpPr txBox="1"/>
          <p:nvPr/>
        </p:nvSpPr>
        <p:spPr>
          <a:xfrm>
            <a:off x="1124712" y="777723"/>
            <a:ext cx="7315200" cy="369332"/>
          </a:xfrm>
          <a:prstGeom prst="rect">
            <a:avLst/>
          </a:prstGeom>
          <a:noFill/>
        </p:spPr>
        <p:txBody>
          <a:bodyPr wrap="square" lIns="0" tIns="0" rIns="0" bIns="0" anchor="t">
            <a:spAutoFit/>
          </a:bodyPr>
          <a:lstStyle/>
          <a:p>
            <a:r>
              <a:rPr lang="en-US" sz="1200" dirty="0">
                <a:solidFill>
                  <a:srgbClr val="006A62"/>
                </a:solidFill>
                <a:latin typeface="Google Sans Flex SemiBold"/>
              </a:rPr>
              <a:t>Problem 3 · Poor Coordination</a:t>
            </a:r>
          </a:p>
          <a:p>
            <a:endParaRPr lang="en-US" sz="1200" dirty="0">
              <a:solidFill>
                <a:srgbClr val="006A62"/>
              </a:solidFill>
              <a:latin typeface="Google Sans Flex SemiBold"/>
            </a:endParaRPr>
          </a:p>
        </p:txBody>
      </p:sp>
      <p:pic>
        <p:nvPicPr>
          <p:cNvPr id="8" name="09-store-missing-damaged-report-phone-light">
            <a:hlinkClick r:id="" action="ppaction://media"/>
            <a:extLst>
              <a:ext uri="{FF2B5EF4-FFF2-40B4-BE49-F238E27FC236}">
                <a16:creationId xmlns:a16="http://schemas.microsoft.com/office/drawing/2014/main" id="{6167D05A-0562-EE42-1534-056398E1139C}"/>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017029" y="7525407"/>
            <a:ext cx="1994601" cy="4342759"/>
          </a:xfrm>
          <a:prstGeom prst="rect">
            <a:avLst/>
          </a:prstGeom>
        </p:spPr>
      </p:pic>
      <p:pic>
        <p:nvPicPr>
          <p:cNvPr id="9" name="Picture 8">
            <a:extLst>
              <a:ext uri="{FF2B5EF4-FFF2-40B4-BE49-F238E27FC236}">
                <a16:creationId xmlns:a16="http://schemas.microsoft.com/office/drawing/2014/main" id="{3BD38E8B-BA67-C959-8F3B-0735CE5FF2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5840" y="7467479"/>
            <a:ext cx="3460044" cy="4906033"/>
          </a:xfrm>
          <a:prstGeom prst="rect">
            <a:avLst/>
          </a:prstGeom>
        </p:spPr>
      </p:pic>
      <p:pic>
        <p:nvPicPr>
          <p:cNvPr id="10" name="Picture 9">
            <a:extLst>
              <a:ext uri="{FF2B5EF4-FFF2-40B4-BE49-F238E27FC236}">
                <a16:creationId xmlns:a16="http://schemas.microsoft.com/office/drawing/2014/main" id="{35F01234-2791-78CE-A984-BDFCE0364BE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5400000">
            <a:off x="7129479" y="12320438"/>
            <a:ext cx="4988520" cy="3575674"/>
          </a:xfrm>
          <a:prstGeom prst="rect">
            <a:avLst/>
          </a:prstGeom>
        </p:spPr>
      </p:pic>
      <p:pic>
        <p:nvPicPr>
          <p:cNvPr id="11" name="11-loader-damaged-goods-tablet-portrait-dark">
            <a:hlinkClick r:id="" action="ppaction://media"/>
            <a:extLst>
              <a:ext uri="{FF2B5EF4-FFF2-40B4-BE49-F238E27FC236}">
                <a16:creationId xmlns:a16="http://schemas.microsoft.com/office/drawing/2014/main" id="{3565684B-E365-5833-9075-DBFB910A36B5}"/>
              </a:ext>
            </a:extLst>
          </p:cNvPr>
          <p:cNvPicPr>
            <a:picLocks noChangeAspect="1"/>
          </p:cNvPicPr>
          <p:nvPr>
            <a:videoFile r:link="rId4"/>
            <p:extLst>
              <p:ext uri="{DAA4B4D4-6D71-4841-9C94-3DE7FCFB9230}">
                <p14:media xmlns:p14="http://schemas.microsoft.com/office/powerpoint/2010/main" r:embed="rId3"/>
              </p:ext>
            </p:extLst>
          </p:nvPr>
        </p:nvPicPr>
        <p:blipFill>
          <a:blip r:embed="rId10"/>
          <a:stretch>
            <a:fillRect/>
          </a:stretch>
        </p:blipFill>
        <p:spPr>
          <a:xfrm>
            <a:off x="8014390" y="11867144"/>
            <a:ext cx="3237269" cy="4598422"/>
          </a:xfrm>
          <a:prstGeom prst="rect">
            <a:avLst/>
          </a:prstGeom>
        </p:spPr>
      </p:pic>
    </p:spTree>
    <p:extLst>
      <p:ext uri="{BB962C8B-B14F-4D97-AF65-F5344CB8AC3E}">
        <p14:creationId xmlns:p14="http://schemas.microsoft.com/office/powerpoint/2010/main" val="28117796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134" fill="hold"/>
                                        <p:tgtEl>
                                          <p:spTgt spid="11"/>
                                        </p:tgtEl>
                                      </p:cBhvr>
                                    </p:cmd>
                                  </p:childTnLst>
                                </p:cTn>
                              </p:par>
                              <p:par>
                                <p:cTn id="7" presetID="1" presetClass="mediacall" presetSubtype="0" fill="hold" nodeType="withEffect">
                                  <p:stCondLst>
                                    <p:cond delay="0"/>
                                  </p:stCondLst>
                                  <p:childTnLst>
                                    <p:cmd type="call" cmd="playFrom(0.0)">
                                      <p:cBhvr>
                                        <p:cTn id="8" dur="48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9" restart="whenNotActive" fill="hold" evtFilter="cancelBubble" nodeType="interactiveSeq">
                <p:stCondLst>
                  <p:cond evt="onClick" delay="0">
                    <p:tgtEl>
                      <p:spTgt spid="11"/>
                    </p:tgtEl>
                  </p:cond>
                </p:stCondLst>
                <p:endSync evt="end" delay="0">
                  <p:rtn val="all"/>
                </p:endSync>
                <p:childTnLst>
                  <p:par>
                    <p:cTn id="10" fill="hold">
                      <p:stCondLst>
                        <p:cond delay="0"/>
                      </p:stCondLst>
                      <p:childTnLst>
                        <p:par>
                          <p:cTn id="11" fill="hold">
                            <p:stCondLst>
                              <p:cond delay="0"/>
                            </p:stCondLst>
                            <p:childTnLst>
                              <p:par>
                                <p:cTn id="12" presetID="2" presetClass="mediacall" presetSubtype="0" fill="hold" nodeType="clickEffect">
                                  <p:stCondLst>
                                    <p:cond delay="0"/>
                                  </p:stCondLst>
                                  <p:childTnLst>
                                    <p:cmd type="call" cmd="togglePause">
                                      <p:cBhvr>
                                        <p:cTn id="13" dur="1" fill="hold"/>
                                        <p:tgtEl>
                                          <p:spTgt spid="11"/>
                                        </p:tgtEl>
                                      </p:cBhvr>
                                    </p:cmd>
                                  </p:childTnLst>
                                </p:cTn>
                              </p:par>
                            </p:childTnLst>
                          </p:cTn>
                        </p:par>
                      </p:childTnLst>
                    </p:cTn>
                  </p:par>
                </p:childTnLst>
              </p:cTn>
              <p:nextCondLst>
                <p:cond evt="onClick" delay="0">
                  <p:tgtEl>
                    <p:spTgt spid="11"/>
                  </p:tgtEl>
                </p:cond>
              </p:nextCondLst>
            </p:seq>
            <p:seq concurrent="1" nextAc="seek">
              <p:cTn id="14" restart="whenNotActive" fill="hold" evtFilter="cancelBubble" nodeType="interactiveSeq">
                <p:stCondLst>
                  <p:cond evt="onClick" delay="0">
                    <p:tgtEl>
                      <p:spTgt spid="8"/>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8"/>
                                        </p:tgtEl>
                                      </p:cBhvr>
                                    </p:cmd>
                                  </p:childTnLst>
                                </p:cTn>
                              </p:par>
                            </p:childTnLst>
                          </p:cTn>
                        </p:par>
                      </p:childTnLst>
                    </p:cTn>
                  </p:par>
                </p:childTnLst>
              </p:cTn>
              <p:nextCondLst>
                <p:cond evt="onClick" delay="0">
                  <p:tgtEl>
                    <p:spTgt spid="8"/>
                  </p:tgtEl>
                </p:cond>
              </p:nextCondLst>
            </p:seq>
            <p:video>
              <p:cMediaNode vol="80000">
                <p:cTn id="19" fill="hold" display="0">
                  <p:stCondLst>
                    <p:cond delay="indefinite"/>
                  </p:stCondLst>
                </p:cTn>
                <p:tgtEl>
                  <p:spTgt spid="11"/>
                </p:tgtEl>
              </p:cMediaNode>
            </p:video>
            <p:video>
              <p:cMediaNode vol="80000">
                <p:cTn id="20" fill="hold" display="0">
                  <p:stCondLst>
                    <p:cond delay="indefinite"/>
                  </p:stCondLst>
                </p:cTn>
                <p:tgtEl>
                  <p:spTgt spid="8"/>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DA65F-9767-7556-B2F8-D5983D448D06}"/>
            </a:ext>
          </a:extLst>
        </p:cNvPr>
        <p:cNvGrpSpPr/>
        <p:nvPr/>
      </p:nvGrpSpPr>
      <p:grpSpPr>
        <a:xfrm>
          <a:off x="0" y="0"/>
          <a:ext cx="0" cy="0"/>
          <a:chOff x="0" y="0"/>
          <a:chExt cx="0" cy="0"/>
        </a:xfrm>
      </p:grpSpPr>
      <p:pic>
        <p:nvPicPr>
          <p:cNvPr id="28" name="09-store-missing-damaged-report-phone-light">
            <a:hlinkClick r:id="" action="ppaction://media"/>
            <a:extLst>
              <a:ext uri="{FF2B5EF4-FFF2-40B4-BE49-F238E27FC236}">
                <a16:creationId xmlns:a16="http://schemas.microsoft.com/office/drawing/2014/main" id="{E9AED1AA-8C0D-C9A4-15E3-B98E7B558B2A}"/>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017029" y="2168109"/>
            <a:ext cx="1994601" cy="4342759"/>
          </a:xfrm>
          <a:prstGeom prst="rect">
            <a:avLst/>
          </a:prstGeom>
        </p:spPr>
      </p:pic>
      <p:sp>
        <p:nvSpPr>
          <p:cNvPr id="32" name="!!edge0">
            <a:extLst>
              <a:ext uri="{FF2B5EF4-FFF2-40B4-BE49-F238E27FC236}">
                <a16:creationId xmlns:a16="http://schemas.microsoft.com/office/drawing/2014/main" id="{2F54E95F-EA6A-AA49-FB5E-B8DB1387D608}"/>
              </a:ext>
            </a:extLst>
          </p:cNvPr>
          <p:cNvSpPr/>
          <p:nvPr/>
        </p:nvSpPr>
        <p:spPr>
          <a:xfrm>
            <a:off x="923544" y="-7514672"/>
            <a:ext cx="3364992"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 name="!!section">
            <a:extLst>
              <a:ext uri="{FF2B5EF4-FFF2-40B4-BE49-F238E27FC236}">
                <a16:creationId xmlns:a16="http://schemas.microsoft.com/office/drawing/2014/main" id="{E3CF5435-8E11-3B64-FB12-6F473EC224FD}"/>
              </a:ext>
            </a:extLst>
          </p:cNvPr>
          <p:cNvSpPr txBox="1"/>
          <p:nvPr/>
        </p:nvSpPr>
        <p:spPr>
          <a:xfrm>
            <a:off x="1124712" y="-7377029"/>
            <a:ext cx="7315200" cy="184666"/>
          </a:xfrm>
          <a:prstGeom prst="rect">
            <a:avLst/>
          </a:prstGeom>
          <a:noFill/>
        </p:spPr>
        <p:txBody>
          <a:bodyPr wrap="square" lIns="0" tIns="0" rIns="0" bIns="0" anchor="t">
            <a:spAutoFit/>
          </a:bodyPr>
          <a:lstStyle/>
          <a:p>
            <a:r>
              <a:rPr lang="en-US" sz="1200" dirty="0">
                <a:solidFill>
                  <a:srgbClr val="006A62"/>
                </a:solidFill>
                <a:latin typeface="Google Sans Flex SemiBold"/>
              </a:rPr>
              <a:t>Problem 3 · One late van, a chain of calls</a:t>
            </a:r>
          </a:p>
        </p:txBody>
      </p:sp>
      <p:sp>
        <p:nvSpPr>
          <p:cNvPr id="6" name="!!title">
            <a:extLst>
              <a:ext uri="{FF2B5EF4-FFF2-40B4-BE49-F238E27FC236}">
                <a16:creationId xmlns:a16="http://schemas.microsoft.com/office/drawing/2014/main" id="{9019553E-5758-B707-E388-BF7742B60148}"/>
              </a:ext>
            </a:extLst>
          </p:cNvPr>
          <p:cNvSpPr txBox="1"/>
          <p:nvPr/>
        </p:nvSpPr>
        <p:spPr>
          <a:xfrm>
            <a:off x="923544" y="-6284230"/>
            <a:ext cx="10625328" cy="553998"/>
          </a:xfrm>
          <a:prstGeom prst="rect">
            <a:avLst/>
          </a:prstGeom>
          <a:noFill/>
        </p:spPr>
        <p:txBody>
          <a:bodyPr wrap="square" lIns="0" tIns="0" rIns="0" bIns="0" anchor="t">
            <a:spAutoFit/>
          </a:bodyPr>
          <a:lstStyle/>
          <a:p>
            <a:r>
              <a:rPr lang="en-US" sz="3600" dirty="0">
                <a:solidFill>
                  <a:srgbClr val="00B050"/>
                </a:solidFill>
                <a:latin typeface="Google Sans Flex SemiBold"/>
              </a:rPr>
              <a:t>Two kinds</a:t>
            </a:r>
            <a:r>
              <a:rPr lang="en-US" sz="3600" dirty="0">
                <a:latin typeface="Google Sans Flex Light"/>
              </a:rPr>
              <a:t> of problems</a:t>
            </a:r>
          </a:p>
        </p:txBody>
      </p:sp>
      <p:sp>
        <p:nvSpPr>
          <p:cNvPr id="71" name="!!basket0">
            <a:extLst>
              <a:ext uri="{FF2B5EF4-FFF2-40B4-BE49-F238E27FC236}">
                <a16:creationId xmlns:a16="http://schemas.microsoft.com/office/drawing/2014/main" id="{18EA4B85-B2A2-2A28-E3E3-C0A44642DA11}"/>
              </a:ext>
            </a:extLst>
          </p:cNvPr>
          <p:cNvSpPr/>
          <p:nvPr/>
        </p:nvSpPr>
        <p:spPr>
          <a:xfrm>
            <a:off x="923544" y="670207"/>
            <a:ext cx="4983480" cy="1155945"/>
          </a:xfrm>
          <a:prstGeom prst="roundRect">
            <a:avLst>
              <a:gd name="adj" fmla="val 4066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73" name="!!basket0-head">
            <a:extLst>
              <a:ext uri="{FF2B5EF4-FFF2-40B4-BE49-F238E27FC236}">
                <a16:creationId xmlns:a16="http://schemas.microsoft.com/office/drawing/2014/main" id="{BC8F777A-9765-5E3F-879B-5D07CE9DE327}"/>
              </a:ext>
            </a:extLst>
          </p:cNvPr>
          <p:cNvSpPr txBox="1"/>
          <p:nvPr/>
        </p:nvSpPr>
        <p:spPr>
          <a:xfrm>
            <a:off x="2064418" y="1053275"/>
            <a:ext cx="3657600" cy="430887"/>
          </a:xfrm>
          <a:prstGeom prst="rect">
            <a:avLst/>
          </a:prstGeom>
          <a:noFill/>
        </p:spPr>
        <p:txBody>
          <a:bodyPr wrap="square" lIns="0" tIns="0" rIns="0" bIns="0" anchor="t">
            <a:spAutoFit/>
          </a:bodyPr>
          <a:lstStyle/>
          <a:p>
            <a:pPr algn="l"/>
            <a:r>
              <a:rPr sz="2800" dirty="0">
                <a:solidFill>
                  <a:srgbClr val="00B050"/>
                </a:solidFill>
                <a:latin typeface="Google Sans Flex SemiBold"/>
              </a:rPr>
              <a:t>Can be settled later</a:t>
            </a:r>
          </a:p>
        </p:txBody>
      </p:sp>
      <p:sp>
        <p:nvSpPr>
          <p:cNvPr id="81" name="!!basket0">
            <a:extLst>
              <a:ext uri="{FF2B5EF4-FFF2-40B4-BE49-F238E27FC236}">
                <a16:creationId xmlns:a16="http://schemas.microsoft.com/office/drawing/2014/main" id="{B4AD47C0-6298-6AA8-CA5C-EABE4DA238DD}"/>
              </a:ext>
            </a:extLst>
          </p:cNvPr>
          <p:cNvSpPr/>
          <p:nvPr/>
        </p:nvSpPr>
        <p:spPr>
          <a:xfrm>
            <a:off x="6227064" y="-5811390"/>
            <a:ext cx="4983480" cy="4581449"/>
          </a:xfrm>
          <a:prstGeom prst="roundRect">
            <a:avLst>
              <a:gd name="adj" fmla="val 1255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85" name="!!basket0-head">
            <a:extLst>
              <a:ext uri="{FF2B5EF4-FFF2-40B4-BE49-F238E27FC236}">
                <a16:creationId xmlns:a16="http://schemas.microsoft.com/office/drawing/2014/main" id="{66E5E7F2-1DE6-AFCF-45A9-5FF9A8C3354F}"/>
              </a:ext>
            </a:extLst>
          </p:cNvPr>
          <p:cNvSpPr txBox="1"/>
          <p:nvPr/>
        </p:nvSpPr>
        <p:spPr>
          <a:xfrm>
            <a:off x="7431625" y="-5127234"/>
            <a:ext cx="3657600" cy="338554"/>
          </a:xfrm>
          <a:prstGeom prst="rect">
            <a:avLst/>
          </a:prstGeom>
          <a:noFill/>
        </p:spPr>
        <p:txBody>
          <a:bodyPr wrap="square" lIns="0" tIns="0" rIns="0" bIns="0" anchor="t">
            <a:spAutoFit/>
          </a:bodyPr>
          <a:lstStyle/>
          <a:p>
            <a:r>
              <a:rPr lang="en-US" sz="2200" dirty="0">
                <a:latin typeface="Google Sans Flex SemiBold"/>
              </a:rPr>
              <a:t>Can't wait</a:t>
            </a:r>
          </a:p>
        </p:txBody>
      </p:sp>
      <p:sp>
        <p:nvSpPr>
          <p:cNvPr id="87" name="!!basket1-list">
            <a:extLst>
              <a:ext uri="{FF2B5EF4-FFF2-40B4-BE49-F238E27FC236}">
                <a16:creationId xmlns:a16="http://schemas.microsoft.com/office/drawing/2014/main" id="{0E8C97BD-427D-59B6-A1A5-5C7C2129160E}"/>
              </a:ext>
            </a:extLst>
          </p:cNvPr>
          <p:cNvSpPr txBox="1"/>
          <p:nvPr/>
        </p:nvSpPr>
        <p:spPr>
          <a:xfrm>
            <a:off x="6501383" y="-3582262"/>
            <a:ext cx="4389120" cy="731520"/>
          </a:xfrm>
          <a:prstGeom prst="rect">
            <a:avLst/>
          </a:prstGeom>
          <a:noFill/>
        </p:spPr>
        <p:txBody>
          <a:bodyPr wrap="square" lIns="0" tIns="0" rIns="0" bIns="0" anchor="t">
            <a:spAutoFit/>
          </a:bodyPr>
          <a:lstStyle/>
          <a:p>
            <a:pPr algn="l"/>
            <a:r>
              <a:rPr sz="1600" dirty="0">
                <a:solidFill>
                  <a:srgbClr val="6B7A72"/>
                </a:solidFill>
                <a:latin typeface="Google Sans Flex"/>
              </a:rPr>
              <a:t>Window closing · Van stuck · Store closed</a:t>
            </a:r>
          </a:p>
        </p:txBody>
      </p:sp>
      <p:sp>
        <p:nvSpPr>
          <p:cNvPr id="89" name="!!basket1-out">
            <a:extLst>
              <a:ext uri="{FF2B5EF4-FFF2-40B4-BE49-F238E27FC236}">
                <a16:creationId xmlns:a16="http://schemas.microsoft.com/office/drawing/2014/main" id="{992383EC-046D-A5D6-DAD1-50E520DA52EE}"/>
              </a:ext>
            </a:extLst>
          </p:cNvPr>
          <p:cNvSpPr txBox="1"/>
          <p:nvPr/>
        </p:nvSpPr>
        <p:spPr>
          <a:xfrm>
            <a:off x="6501383" y="-2348412"/>
            <a:ext cx="4389120" cy="1371600"/>
          </a:xfrm>
          <a:prstGeom prst="rect">
            <a:avLst/>
          </a:prstGeom>
          <a:noFill/>
        </p:spPr>
        <p:txBody>
          <a:bodyPr wrap="square" lIns="0" tIns="0" rIns="0" bIns="0" anchor="t">
            <a:spAutoFit/>
          </a:bodyPr>
          <a:lstStyle/>
          <a:p>
            <a:pPr algn="l"/>
            <a:r>
              <a:rPr sz="1800" dirty="0">
                <a:solidFill>
                  <a:srgbClr val="00B050"/>
                </a:solidFill>
                <a:latin typeface="Google Sans Flex SemiBold"/>
              </a:rPr>
              <a:t>A live decision, in minutes</a:t>
            </a:r>
          </a:p>
        </p:txBody>
      </p:sp>
      <p:cxnSp>
        <p:nvCxnSpPr>
          <p:cNvPr id="90" name="Straight Connector 89">
            <a:extLst>
              <a:ext uri="{FF2B5EF4-FFF2-40B4-BE49-F238E27FC236}">
                <a16:creationId xmlns:a16="http://schemas.microsoft.com/office/drawing/2014/main" id="{80BD9477-DEEA-18A9-35B1-1E47535379B7}"/>
              </a:ext>
            </a:extLst>
          </p:cNvPr>
          <p:cNvCxnSpPr>
            <a:cxnSpLocks/>
          </p:cNvCxnSpPr>
          <p:nvPr/>
        </p:nvCxnSpPr>
        <p:spPr>
          <a:xfrm flipV="1">
            <a:off x="1124712" y="1768747"/>
            <a:ext cx="4435574" cy="8287"/>
          </a:xfrm>
          <a:prstGeom prst="line">
            <a:avLst/>
          </a:prstGeom>
          <a:ln w="9525">
            <a:no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E4EB5305-A204-033A-3A2C-36D06C8B7001}"/>
              </a:ext>
            </a:extLst>
          </p:cNvPr>
          <p:cNvCxnSpPr>
            <a:cxnSpLocks/>
          </p:cNvCxnSpPr>
          <p:nvPr/>
        </p:nvCxnSpPr>
        <p:spPr>
          <a:xfrm flipV="1">
            <a:off x="6476266" y="-4411762"/>
            <a:ext cx="4435574" cy="828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sp>
        <p:nvSpPr>
          <p:cNvPr id="93" name="!!edge0">
            <a:extLst>
              <a:ext uri="{FF2B5EF4-FFF2-40B4-BE49-F238E27FC236}">
                <a16:creationId xmlns:a16="http://schemas.microsoft.com/office/drawing/2014/main" id="{5C623B53-976A-24DD-C8DC-FD54B0175161}"/>
              </a:ext>
            </a:extLst>
          </p:cNvPr>
          <p:cNvSpPr/>
          <p:nvPr/>
        </p:nvSpPr>
        <p:spPr>
          <a:xfrm>
            <a:off x="1239332" y="922510"/>
            <a:ext cx="640080" cy="6400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95" name="!!tool0-head">
            <a:extLst>
              <a:ext uri="{FF2B5EF4-FFF2-40B4-BE49-F238E27FC236}">
                <a16:creationId xmlns:a16="http://schemas.microsoft.com/office/drawing/2014/main" id="{F002FA0A-C9B1-46E1-85CE-D035863A74B2}"/>
              </a:ext>
            </a:extLst>
          </p:cNvPr>
          <p:cNvSpPr txBox="1"/>
          <p:nvPr/>
        </p:nvSpPr>
        <p:spPr>
          <a:xfrm>
            <a:off x="516956" y="1041421"/>
            <a:ext cx="2066544" cy="430887"/>
          </a:xfrm>
          <a:prstGeom prst="rect">
            <a:avLst/>
          </a:prstGeom>
          <a:noFill/>
        </p:spPr>
        <p:txBody>
          <a:bodyPr wrap="square" lIns="0" tIns="0" rIns="0" bIns="0" anchor="t">
            <a:spAutoFit/>
          </a:bodyPr>
          <a:lstStyle/>
          <a:p>
            <a:pPr algn="ctr"/>
            <a:r>
              <a:rPr lang="en-GB" sz="2800" dirty="0">
                <a:solidFill>
                  <a:srgbClr val="00B050"/>
                </a:solidFill>
                <a:latin typeface="Google Sans Flex SemiBold"/>
              </a:rPr>
              <a:t>A</a:t>
            </a:r>
            <a:endParaRPr sz="2800" dirty="0">
              <a:solidFill>
                <a:srgbClr val="00B050"/>
              </a:solidFill>
              <a:latin typeface="Google Sans Flex SemiBold"/>
            </a:endParaRPr>
          </a:p>
        </p:txBody>
      </p:sp>
      <p:sp>
        <p:nvSpPr>
          <p:cNvPr id="96" name="!!edge0">
            <a:extLst>
              <a:ext uri="{FF2B5EF4-FFF2-40B4-BE49-F238E27FC236}">
                <a16:creationId xmlns:a16="http://schemas.microsoft.com/office/drawing/2014/main" id="{F0064B4A-68CB-C2D8-51F7-C64938BB75B9}"/>
              </a:ext>
            </a:extLst>
          </p:cNvPr>
          <p:cNvSpPr/>
          <p:nvPr/>
        </p:nvSpPr>
        <p:spPr>
          <a:xfrm>
            <a:off x="6567518" y="-5257999"/>
            <a:ext cx="640080" cy="6400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97" name="!!tool0-head">
            <a:extLst>
              <a:ext uri="{FF2B5EF4-FFF2-40B4-BE49-F238E27FC236}">
                <a16:creationId xmlns:a16="http://schemas.microsoft.com/office/drawing/2014/main" id="{6A698AE6-0A01-1027-2A2C-F3A3A7FC2CFF}"/>
              </a:ext>
            </a:extLst>
          </p:cNvPr>
          <p:cNvSpPr txBox="1"/>
          <p:nvPr/>
        </p:nvSpPr>
        <p:spPr>
          <a:xfrm>
            <a:off x="5845142" y="-5139088"/>
            <a:ext cx="2066544" cy="430887"/>
          </a:xfrm>
          <a:prstGeom prst="rect">
            <a:avLst/>
          </a:prstGeom>
          <a:noFill/>
        </p:spPr>
        <p:txBody>
          <a:bodyPr wrap="square" lIns="0" tIns="0" rIns="0" bIns="0" anchor="t">
            <a:spAutoFit/>
          </a:bodyPr>
          <a:lstStyle/>
          <a:p>
            <a:pPr algn="ctr"/>
            <a:r>
              <a:rPr lang="en-GB" sz="2800" dirty="0">
                <a:solidFill>
                  <a:srgbClr val="00DE72"/>
                </a:solidFill>
                <a:latin typeface="Google Sans Flex SemiBold"/>
              </a:rPr>
              <a:t>B</a:t>
            </a:r>
            <a:endParaRPr sz="2800" dirty="0">
              <a:solidFill>
                <a:srgbClr val="00DE72"/>
              </a:solidFill>
              <a:latin typeface="Google Sans Flex SemiBold"/>
            </a:endParaRPr>
          </a:p>
        </p:txBody>
      </p:sp>
      <p:sp>
        <p:nvSpPr>
          <p:cNvPr id="3" name="!!basket0-list">
            <a:extLst>
              <a:ext uri="{FF2B5EF4-FFF2-40B4-BE49-F238E27FC236}">
                <a16:creationId xmlns:a16="http://schemas.microsoft.com/office/drawing/2014/main" id="{470D5623-BB11-1DFA-1291-4B5BCC789AB0}"/>
              </a:ext>
            </a:extLst>
          </p:cNvPr>
          <p:cNvSpPr txBox="1"/>
          <p:nvPr/>
        </p:nvSpPr>
        <p:spPr>
          <a:xfrm>
            <a:off x="1243584" y="1625449"/>
            <a:ext cx="4389120" cy="246221"/>
          </a:xfrm>
          <a:prstGeom prst="rect">
            <a:avLst/>
          </a:prstGeom>
          <a:noFill/>
        </p:spPr>
        <p:txBody>
          <a:bodyPr wrap="square" lIns="0" tIns="0" rIns="0" bIns="0" anchor="t">
            <a:spAutoFit/>
          </a:bodyPr>
          <a:lstStyle/>
          <a:p>
            <a:pPr algn="l"/>
            <a:r>
              <a:rPr sz="1600" dirty="0">
                <a:noFill/>
                <a:latin typeface="Google Sans Flex"/>
              </a:rPr>
              <a:t>Missing goods · Damage · Shortages</a:t>
            </a:r>
          </a:p>
        </p:txBody>
      </p:sp>
      <p:sp>
        <p:nvSpPr>
          <p:cNvPr id="7" name="!!basket0-out">
            <a:extLst>
              <a:ext uri="{FF2B5EF4-FFF2-40B4-BE49-F238E27FC236}">
                <a16:creationId xmlns:a16="http://schemas.microsoft.com/office/drawing/2014/main" id="{4751BDF5-2A87-0340-818E-C88F3DC0B8C7}"/>
              </a:ext>
            </a:extLst>
          </p:cNvPr>
          <p:cNvSpPr txBox="1"/>
          <p:nvPr/>
        </p:nvSpPr>
        <p:spPr>
          <a:xfrm>
            <a:off x="1243584" y="2189751"/>
            <a:ext cx="4389120" cy="553998"/>
          </a:xfrm>
          <a:prstGeom prst="rect">
            <a:avLst/>
          </a:prstGeom>
          <a:noFill/>
        </p:spPr>
        <p:txBody>
          <a:bodyPr wrap="square" lIns="0" tIns="0" rIns="0" bIns="0" anchor="t">
            <a:spAutoFit/>
          </a:bodyPr>
          <a:lstStyle/>
          <a:p>
            <a:pPr algn="l"/>
            <a:r>
              <a:rPr sz="1800" dirty="0">
                <a:noFill/>
                <a:latin typeface="Google Sans Flex SemiBold"/>
              </a:rPr>
              <a:t>Report with photos → an issue with an owner, tracked to the end</a:t>
            </a:r>
          </a:p>
        </p:txBody>
      </p:sp>
      <p:cxnSp>
        <p:nvCxnSpPr>
          <p:cNvPr id="8" name="Straight Connector 7">
            <a:extLst>
              <a:ext uri="{FF2B5EF4-FFF2-40B4-BE49-F238E27FC236}">
                <a16:creationId xmlns:a16="http://schemas.microsoft.com/office/drawing/2014/main" id="{91E809C8-081A-EB10-CE5A-A86871AF0B81}"/>
              </a:ext>
            </a:extLst>
          </p:cNvPr>
          <p:cNvCxnSpPr>
            <a:cxnSpLocks/>
          </p:cNvCxnSpPr>
          <p:nvPr/>
        </p:nvCxnSpPr>
        <p:spPr>
          <a:xfrm>
            <a:off x="1822544" y="1826152"/>
            <a:ext cx="3163824"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1BF01BCD-7115-D1CD-D622-CBFFAC22E44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5840" y="2110181"/>
            <a:ext cx="3460044" cy="4906033"/>
          </a:xfrm>
          <a:prstGeom prst="rect">
            <a:avLst/>
          </a:prstGeom>
        </p:spPr>
      </p:pic>
      <p:sp>
        <p:nvSpPr>
          <p:cNvPr id="12" name="!!room0-head">
            <a:extLst>
              <a:ext uri="{FF2B5EF4-FFF2-40B4-BE49-F238E27FC236}">
                <a16:creationId xmlns:a16="http://schemas.microsoft.com/office/drawing/2014/main" id="{17C4A68C-72DB-E507-D27D-78E299A12737}"/>
              </a:ext>
            </a:extLst>
          </p:cNvPr>
          <p:cNvSpPr txBox="1"/>
          <p:nvPr/>
        </p:nvSpPr>
        <p:spPr>
          <a:xfrm>
            <a:off x="3567527" y="2604944"/>
            <a:ext cx="3941225" cy="292388"/>
          </a:xfrm>
          <a:prstGeom prst="rect">
            <a:avLst/>
          </a:prstGeom>
          <a:noFill/>
        </p:spPr>
        <p:txBody>
          <a:bodyPr wrap="square" lIns="0" tIns="0" rIns="0" bIns="0" anchor="t">
            <a:spAutoFit/>
          </a:bodyPr>
          <a:lstStyle/>
          <a:p>
            <a:pPr algn="l"/>
            <a:r>
              <a:rPr lang="en-GB" sz="1900" dirty="0">
                <a:latin typeface="Google Sans Flex SemiBold"/>
              </a:rPr>
              <a:t>Issue </a:t>
            </a:r>
            <a:r>
              <a:rPr sz="1900" dirty="0">
                <a:latin typeface="Google Sans Flex SemiBold"/>
              </a:rPr>
              <a:t>Reported, with ph</a:t>
            </a:r>
            <a:r>
              <a:rPr lang="en-US" sz="1900" dirty="0">
                <a:latin typeface="Google Sans Flex SemiBold"/>
              </a:rPr>
              <a:t>otos</a:t>
            </a:r>
            <a:endParaRPr sz="1900" dirty="0">
              <a:latin typeface="Google Sans Flex SemiBold"/>
            </a:endParaRPr>
          </a:p>
        </p:txBody>
      </p:sp>
      <p:sp>
        <p:nvSpPr>
          <p:cNvPr id="13" name="!!room1-head">
            <a:extLst>
              <a:ext uri="{FF2B5EF4-FFF2-40B4-BE49-F238E27FC236}">
                <a16:creationId xmlns:a16="http://schemas.microsoft.com/office/drawing/2014/main" id="{3920E622-A02C-1CC1-7038-0F51CC3D448B}"/>
              </a:ext>
            </a:extLst>
          </p:cNvPr>
          <p:cNvSpPr txBox="1"/>
          <p:nvPr/>
        </p:nvSpPr>
        <p:spPr>
          <a:xfrm>
            <a:off x="3567527" y="3793664"/>
            <a:ext cx="3941225" cy="292388"/>
          </a:xfrm>
          <a:prstGeom prst="rect">
            <a:avLst/>
          </a:prstGeom>
          <a:noFill/>
        </p:spPr>
        <p:txBody>
          <a:bodyPr wrap="square" lIns="0" tIns="0" rIns="0" bIns="0" anchor="t">
            <a:spAutoFit/>
          </a:bodyPr>
          <a:lstStyle/>
          <a:p>
            <a:pPr algn="l"/>
            <a:r>
              <a:rPr sz="1900">
                <a:latin typeface="Google Sans Flex SemiBold"/>
              </a:rPr>
              <a:t>One issue, one owner</a:t>
            </a:r>
          </a:p>
        </p:txBody>
      </p:sp>
      <p:sp>
        <p:nvSpPr>
          <p:cNvPr id="14" name="!!room2-head">
            <a:extLst>
              <a:ext uri="{FF2B5EF4-FFF2-40B4-BE49-F238E27FC236}">
                <a16:creationId xmlns:a16="http://schemas.microsoft.com/office/drawing/2014/main" id="{8BB08326-09B7-A4E0-2513-9EC7D44B7198}"/>
              </a:ext>
            </a:extLst>
          </p:cNvPr>
          <p:cNvSpPr txBox="1"/>
          <p:nvPr/>
        </p:nvSpPr>
        <p:spPr>
          <a:xfrm>
            <a:off x="3567527" y="5163031"/>
            <a:ext cx="3941225" cy="292388"/>
          </a:xfrm>
          <a:prstGeom prst="rect">
            <a:avLst/>
          </a:prstGeom>
          <a:noFill/>
        </p:spPr>
        <p:txBody>
          <a:bodyPr wrap="square" lIns="0" tIns="0" rIns="0" bIns="0" anchor="t">
            <a:spAutoFit/>
          </a:bodyPr>
          <a:lstStyle/>
          <a:p>
            <a:pPr algn="l"/>
            <a:r>
              <a:rPr sz="1900">
                <a:latin typeface="Google Sans Flex SemiBold"/>
              </a:rPr>
              <a:t>Closed on record</a:t>
            </a:r>
          </a:p>
        </p:txBody>
      </p:sp>
      <p:sp>
        <p:nvSpPr>
          <p:cNvPr id="15" name="!!room0-sub">
            <a:extLst>
              <a:ext uri="{FF2B5EF4-FFF2-40B4-BE49-F238E27FC236}">
                <a16:creationId xmlns:a16="http://schemas.microsoft.com/office/drawing/2014/main" id="{EA6A8B25-4A7D-822D-05BD-DC067A01F185}"/>
              </a:ext>
            </a:extLst>
          </p:cNvPr>
          <p:cNvSpPr txBox="1"/>
          <p:nvPr/>
        </p:nvSpPr>
        <p:spPr>
          <a:xfrm>
            <a:off x="3567527" y="3022909"/>
            <a:ext cx="3941225" cy="230832"/>
          </a:xfrm>
          <a:prstGeom prst="rect">
            <a:avLst/>
          </a:prstGeom>
          <a:noFill/>
        </p:spPr>
        <p:txBody>
          <a:bodyPr wrap="square" lIns="0" tIns="0" rIns="0" bIns="0" anchor="t">
            <a:spAutoFit/>
          </a:bodyPr>
          <a:lstStyle/>
          <a:p>
            <a:pPr algn="l"/>
            <a:r>
              <a:rPr sz="1500">
                <a:solidFill>
                  <a:srgbClr val="6B7A72"/>
                </a:solidFill>
                <a:latin typeface="Google Sans Flex Light"/>
              </a:rPr>
              <a:t>from the loader's tablet or the store's phone</a:t>
            </a:r>
          </a:p>
        </p:txBody>
      </p:sp>
      <p:sp>
        <p:nvSpPr>
          <p:cNvPr id="16" name="!!room1-sub">
            <a:extLst>
              <a:ext uri="{FF2B5EF4-FFF2-40B4-BE49-F238E27FC236}">
                <a16:creationId xmlns:a16="http://schemas.microsoft.com/office/drawing/2014/main" id="{0D32F0F5-27D0-321A-A922-B91B2A881DBE}"/>
              </a:ext>
            </a:extLst>
          </p:cNvPr>
          <p:cNvSpPr txBox="1"/>
          <p:nvPr/>
        </p:nvSpPr>
        <p:spPr>
          <a:xfrm>
            <a:off x="3567527" y="4205144"/>
            <a:ext cx="3941225" cy="461665"/>
          </a:xfrm>
          <a:prstGeom prst="rect">
            <a:avLst/>
          </a:prstGeom>
          <a:noFill/>
        </p:spPr>
        <p:txBody>
          <a:bodyPr wrap="square" lIns="0" tIns="0" rIns="0" bIns="0" anchor="t">
            <a:spAutoFit/>
          </a:bodyPr>
          <a:lstStyle/>
          <a:p>
            <a:pPr algn="l"/>
            <a:r>
              <a:rPr sz="1500">
                <a:solidFill>
                  <a:srgbClr val="6B7A72"/>
                </a:solidFill>
                <a:latin typeface="Google Sans Flex Light"/>
              </a:rPr>
              <a:t>tracked like a ticket; a loader's flag is linked, not repeated</a:t>
            </a:r>
          </a:p>
        </p:txBody>
      </p:sp>
      <p:sp>
        <p:nvSpPr>
          <p:cNvPr id="17" name="!!room2-sub">
            <a:extLst>
              <a:ext uri="{FF2B5EF4-FFF2-40B4-BE49-F238E27FC236}">
                <a16:creationId xmlns:a16="http://schemas.microsoft.com/office/drawing/2014/main" id="{25583A60-AC86-6D32-4AC8-D7A7F4FD6025}"/>
              </a:ext>
            </a:extLst>
          </p:cNvPr>
          <p:cNvSpPr txBox="1"/>
          <p:nvPr/>
        </p:nvSpPr>
        <p:spPr>
          <a:xfrm>
            <a:off x="3567527" y="5574511"/>
            <a:ext cx="3941225" cy="230832"/>
          </a:xfrm>
          <a:prstGeom prst="rect">
            <a:avLst/>
          </a:prstGeom>
          <a:noFill/>
        </p:spPr>
        <p:txBody>
          <a:bodyPr wrap="square" lIns="0" tIns="0" rIns="0" bIns="0" anchor="t">
            <a:spAutoFit/>
          </a:bodyPr>
          <a:lstStyle/>
          <a:p>
            <a:pPr algn="l"/>
            <a:r>
              <a:rPr sz="1500">
                <a:solidFill>
                  <a:srgbClr val="6B7A72"/>
                </a:solidFill>
                <a:latin typeface="Google Sans Flex Light"/>
              </a:rPr>
              <a:t>who handled it, when and why</a:t>
            </a:r>
          </a:p>
        </p:txBody>
      </p:sp>
      <p:pic>
        <p:nvPicPr>
          <p:cNvPr id="18" name="Picture 17">
            <a:extLst>
              <a:ext uri="{FF2B5EF4-FFF2-40B4-BE49-F238E27FC236}">
                <a16:creationId xmlns:a16="http://schemas.microsoft.com/office/drawing/2014/main" id="{56684A28-27A0-A8F8-D2BB-A2483CB359A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5400000">
            <a:off x="7129479" y="2331872"/>
            <a:ext cx="4988520" cy="3575674"/>
          </a:xfrm>
          <a:prstGeom prst="rect">
            <a:avLst/>
          </a:prstGeom>
        </p:spPr>
      </p:pic>
      <p:cxnSp>
        <p:nvCxnSpPr>
          <p:cNvPr id="19" name="Straight Connector 18">
            <a:extLst>
              <a:ext uri="{FF2B5EF4-FFF2-40B4-BE49-F238E27FC236}">
                <a16:creationId xmlns:a16="http://schemas.microsoft.com/office/drawing/2014/main" id="{97E5CDF5-0923-E885-1BE4-5C961CE304A8}"/>
              </a:ext>
            </a:extLst>
          </p:cNvPr>
          <p:cNvCxnSpPr>
            <a:cxnSpLocks/>
          </p:cNvCxnSpPr>
          <p:nvPr/>
        </p:nvCxnSpPr>
        <p:spPr>
          <a:xfrm flipV="1">
            <a:off x="3251666" y="3541410"/>
            <a:ext cx="4435574" cy="828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C42F6C1-F53C-374E-A30E-884B9C083160}"/>
              </a:ext>
            </a:extLst>
          </p:cNvPr>
          <p:cNvCxnSpPr>
            <a:cxnSpLocks/>
          </p:cNvCxnSpPr>
          <p:nvPr/>
        </p:nvCxnSpPr>
        <p:spPr>
          <a:xfrm flipV="1">
            <a:off x="3251666" y="4910776"/>
            <a:ext cx="4435574" cy="8287"/>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pic>
        <p:nvPicPr>
          <p:cNvPr id="27" name="11-loader-damaged-goods-tablet-portrait-dark">
            <a:hlinkClick r:id="" action="ppaction://media"/>
            <a:extLst>
              <a:ext uri="{FF2B5EF4-FFF2-40B4-BE49-F238E27FC236}">
                <a16:creationId xmlns:a16="http://schemas.microsoft.com/office/drawing/2014/main" id="{76B0E768-481A-3712-5FCB-16A2EF4027E9}"/>
              </a:ext>
            </a:extLst>
          </p:cNvPr>
          <p:cNvPicPr>
            <a:picLocks noChangeAspect="1"/>
          </p:cNvPicPr>
          <p:nvPr>
            <a:videoFile r:link="rId4"/>
            <p:extLst>
              <p:ext uri="{DAA4B4D4-6D71-4841-9C94-3DE7FCFB9230}">
                <p14:media xmlns:p14="http://schemas.microsoft.com/office/powerpoint/2010/main" r:embed="rId3"/>
              </p:ext>
            </p:extLst>
          </p:nvPr>
        </p:nvPicPr>
        <p:blipFill>
          <a:blip r:embed="rId10"/>
          <a:stretch>
            <a:fillRect/>
          </a:stretch>
        </p:blipFill>
        <p:spPr>
          <a:xfrm>
            <a:off x="8014390" y="1878578"/>
            <a:ext cx="3237269" cy="4598422"/>
          </a:xfrm>
          <a:prstGeom prst="rect">
            <a:avLst/>
          </a:prstGeom>
        </p:spPr>
      </p:pic>
    </p:spTree>
    <p:extLst>
      <p:ext uri="{BB962C8B-B14F-4D97-AF65-F5344CB8AC3E}">
        <p14:creationId xmlns:p14="http://schemas.microsoft.com/office/powerpoint/2010/main" val="20963779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134" fill="hold"/>
                                        <p:tgtEl>
                                          <p:spTgt spid="27"/>
                                        </p:tgtEl>
                                      </p:cBhvr>
                                    </p:cmd>
                                  </p:childTnLst>
                                </p:cTn>
                              </p:par>
                              <p:par>
                                <p:cTn id="7" presetID="1" presetClass="mediacall" presetSubtype="0" fill="hold" nodeType="withEffect">
                                  <p:stCondLst>
                                    <p:cond delay="0"/>
                                  </p:stCondLst>
                                  <p:childTnLst>
                                    <p:cmd type="call" cmd="playFrom(0.0)">
                                      <p:cBhvr>
                                        <p:cTn id="8" dur="48000"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fill="hold" display="0">
                  <p:stCondLst>
                    <p:cond delay="indefinite"/>
                  </p:stCondLst>
                </p:cTn>
                <p:tgtEl>
                  <p:spTgt spid="27"/>
                </p:tgtEl>
              </p:cMediaNode>
            </p:video>
            <p:seq concurrent="1" nextAc="seek">
              <p:cTn id="10" restart="whenNotActive" fill="hold" evtFilter="cancelBubble" nodeType="interactiveSeq">
                <p:stCondLst>
                  <p:cond evt="onClick" delay="0">
                    <p:tgtEl>
                      <p:spTgt spid="27"/>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clickEffect">
                                  <p:stCondLst>
                                    <p:cond delay="0"/>
                                  </p:stCondLst>
                                  <p:childTnLst>
                                    <p:cmd type="call" cmd="togglePause">
                                      <p:cBhvr>
                                        <p:cTn id="14" dur="1" fill="hold"/>
                                        <p:tgtEl>
                                          <p:spTgt spid="27"/>
                                        </p:tgtEl>
                                      </p:cBhvr>
                                    </p:cmd>
                                  </p:childTnLst>
                                </p:cTn>
                              </p:par>
                            </p:childTnLst>
                          </p:cTn>
                        </p:par>
                      </p:childTnLst>
                    </p:cTn>
                  </p:par>
                </p:childTnLst>
              </p:cTn>
              <p:nextCondLst>
                <p:cond evt="onClick" delay="0">
                  <p:tgtEl>
                    <p:spTgt spid="27"/>
                  </p:tgtEl>
                </p:cond>
              </p:nextCondLst>
            </p:seq>
            <p:video>
              <p:cMediaNode vol="80000">
                <p:cTn id="15" fill="hold" display="0">
                  <p:stCondLst>
                    <p:cond delay="indefinite"/>
                  </p:stCondLst>
                </p:cTn>
                <p:tgtEl>
                  <p:spTgt spid="28"/>
                </p:tgtEl>
              </p:cMediaNode>
            </p:video>
            <p:seq concurrent="1" nextAc="seek">
              <p:cTn id="16" restart="whenNotActive" fill="hold" evtFilter="cancelBubble" nodeType="interactiveSeq">
                <p:stCondLst>
                  <p:cond evt="onClick" delay="0">
                    <p:tgtEl>
                      <p:spTgt spid="28"/>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28"/>
                                        </p:tgtEl>
                                      </p:cBhvr>
                                    </p:cmd>
                                  </p:childTnLst>
                                </p:cTn>
                              </p:par>
                            </p:childTnLst>
                          </p:cTn>
                        </p:par>
                      </p:childTnLst>
                    </p:cTn>
                  </p:par>
                </p:childTnLst>
              </p:cTn>
              <p:nextCondLst>
                <p:cond evt="onClick" delay="0">
                  <p:tgtEl>
                    <p:spTgt spid="28"/>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8D17622-4FC1-D307-42F3-E5B38A1C2A4F}"/>
            </a:ext>
          </a:extLst>
        </p:cNvPr>
        <p:cNvGrpSpPr/>
        <p:nvPr/>
      </p:nvGrpSpPr>
      <p:grpSpPr>
        <a:xfrm>
          <a:off x="0" y="0"/>
          <a:ext cx="0" cy="0"/>
          <a:chOff x="0" y="0"/>
          <a:chExt cx="0" cy="0"/>
        </a:xfrm>
      </p:grpSpPr>
      <p:sp>
        <p:nvSpPr>
          <p:cNvPr id="32" name="!!edge0">
            <a:extLst>
              <a:ext uri="{FF2B5EF4-FFF2-40B4-BE49-F238E27FC236}">
                <a16:creationId xmlns:a16="http://schemas.microsoft.com/office/drawing/2014/main" id="{BBAA0023-37D5-54EC-3EC7-5F32F0CB4650}"/>
              </a:ext>
            </a:extLst>
          </p:cNvPr>
          <p:cNvSpPr/>
          <p:nvPr/>
        </p:nvSpPr>
        <p:spPr>
          <a:xfrm>
            <a:off x="923544" y="640080"/>
            <a:ext cx="3364992"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 name="!!section">
            <a:extLst>
              <a:ext uri="{FF2B5EF4-FFF2-40B4-BE49-F238E27FC236}">
                <a16:creationId xmlns:a16="http://schemas.microsoft.com/office/drawing/2014/main" id="{FBC1C3FD-545B-D712-03BC-12FC8BAEFD5B}"/>
              </a:ext>
            </a:extLst>
          </p:cNvPr>
          <p:cNvSpPr txBox="1"/>
          <p:nvPr/>
        </p:nvSpPr>
        <p:spPr>
          <a:xfrm>
            <a:off x="1124712" y="777723"/>
            <a:ext cx="7315200" cy="184666"/>
          </a:xfrm>
          <a:prstGeom prst="rect">
            <a:avLst/>
          </a:prstGeom>
          <a:noFill/>
        </p:spPr>
        <p:txBody>
          <a:bodyPr wrap="square" lIns="0" tIns="0" rIns="0" bIns="0" anchor="t">
            <a:spAutoFit/>
          </a:bodyPr>
          <a:lstStyle/>
          <a:p>
            <a:r>
              <a:rPr lang="en-US" sz="1200" dirty="0">
                <a:solidFill>
                  <a:srgbClr val="006A62"/>
                </a:solidFill>
                <a:latin typeface="Google Sans Flex SemiBold"/>
              </a:rPr>
              <a:t>Problem 3 · One late van, a chain of calls</a:t>
            </a:r>
          </a:p>
        </p:txBody>
      </p:sp>
      <p:sp>
        <p:nvSpPr>
          <p:cNvPr id="6" name="!!title">
            <a:extLst>
              <a:ext uri="{FF2B5EF4-FFF2-40B4-BE49-F238E27FC236}">
                <a16:creationId xmlns:a16="http://schemas.microsoft.com/office/drawing/2014/main" id="{44325BA5-CB6E-980F-C31F-5C31D98EC015}"/>
              </a:ext>
            </a:extLst>
          </p:cNvPr>
          <p:cNvSpPr txBox="1"/>
          <p:nvPr/>
        </p:nvSpPr>
        <p:spPr>
          <a:xfrm>
            <a:off x="923544" y="1386046"/>
            <a:ext cx="10625328" cy="553998"/>
          </a:xfrm>
          <a:prstGeom prst="rect">
            <a:avLst/>
          </a:prstGeom>
          <a:noFill/>
        </p:spPr>
        <p:txBody>
          <a:bodyPr wrap="square" lIns="0" tIns="0" rIns="0" bIns="0" anchor="t">
            <a:spAutoFit/>
          </a:bodyPr>
          <a:lstStyle/>
          <a:p>
            <a:r>
              <a:rPr lang="en-US" sz="3600" dirty="0">
                <a:solidFill>
                  <a:srgbClr val="00B050"/>
                </a:solidFill>
                <a:latin typeface="Google Sans Flex SemiBold"/>
              </a:rPr>
              <a:t>Every case,</a:t>
            </a:r>
            <a:r>
              <a:rPr lang="en-US" sz="3600" dirty="0">
                <a:latin typeface="Google Sans Flex Light"/>
              </a:rPr>
              <a:t> the same tools</a:t>
            </a:r>
          </a:p>
        </p:txBody>
      </p:sp>
      <p:sp>
        <p:nvSpPr>
          <p:cNvPr id="21" name="!!edge0">
            <a:extLst>
              <a:ext uri="{FF2B5EF4-FFF2-40B4-BE49-F238E27FC236}">
                <a16:creationId xmlns:a16="http://schemas.microsoft.com/office/drawing/2014/main" id="{9695F6F7-5705-C254-7773-2533C868F15A}"/>
              </a:ext>
            </a:extLst>
          </p:cNvPr>
          <p:cNvSpPr/>
          <p:nvPr/>
        </p:nvSpPr>
        <p:spPr>
          <a:xfrm>
            <a:off x="923544" y="2506732"/>
            <a:ext cx="1838423" cy="2948964"/>
          </a:xfrm>
          <a:prstGeom prst="roundRect">
            <a:avLst>
              <a:gd name="adj" fmla="val 2811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pic>
        <p:nvPicPr>
          <p:cNvPr id="12" name="Picture 11">
            <a:extLst>
              <a:ext uri="{FF2B5EF4-FFF2-40B4-BE49-F238E27FC236}">
                <a16:creationId xmlns:a16="http://schemas.microsoft.com/office/drawing/2014/main" id="{366EC62E-AA24-D1E9-8923-25B5D19814C0}"/>
              </a:ext>
            </a:extLst>
          </p:cNvPr>
          <p:cNvPicPr>
            <a:picLocks noChangeAspect="1"/>
          </p:cNvPicPr>
          <p:nvPr/>
        </p:nvPicPr>
        <p:blipFill>
          <a:blip r:embed="rId3"/>
          <a:stretch>
            <a:fillRect/>
          </a:stretch>
        </p:blipFill>
        <p:spPr>
          <a:xfrm>
            <a:off x="1567889" y="3454403"/>
            <a:ext cx="549732" cy="677687"/>
          </a:xfrm>
          <a:prstGeom prst="rect">
            <a:avLst/>
          </a:prstGeom>
        </p:spPr>
      </p:pic>
      <p:sp>
        <p:nvSpPr>
          <p:cNvPr id="14" name="!!tool0-head">
            <a:extLst>
              <a:ext uri="{FF2B5EF4-FFF2-40B4-BE49-F238E27FC236}">
                <a16:creationId xmlns:a16="http://schemas.microsoft.com/office/drawing/2014/main" id="{1840EA2E-9033-1833-5B7D-B53E751368F3}"/>
              </a:ext>
            </a:extLst>
          </p:cNvPr>
          <p:cNvSpPr txBox="1"/>
          <p:nvPr/>
        </p:nvSpPr>
        <p:spPr>
          <a:xfrm>
            <a:off x="809483" y="2872895"/>
            <a:ext cx="2066544" cy="307777"/>
          </a:xfrm>
          <a:prstGeom prst="rect">
            <a:avLst/>
          </a:prstGeom>
          <a:noFill/>
        </p:spPr>
        <p:txBody>
          <a:bodyPr wrap="square" lIns="0" tIns="0" rIns="0" bIns="0" anchor="t">
            <a:spAutoFit/>
          </a:bodyPr>
          <a:lstStyle/>
          <a:p>
            <a:pPr algn="ctr"/>
            <a:r>
              <a:rPr sz="2000" dirty="0">
                <a:latin typeface="Google Sans Flex SemiBold"/>
              </a:rPr>
              <a:t>Report</a:t>
            </a:r>
          </a:p>
        </p:txBody>
      </p:sp>
      <p:sp>
        <p:nvSpPr>
          <p:cNvPr id="16" name="!!tool3-sub">
            <a:extLst>
              <a:ext uri="{FF2B5EF4-FFF2-40B4-BE49-F238E27FC236}">
                <a16:creationId xmlns:a16="http://schemas.microsoft.com/office/drawing/2014/main" id="{6D58D036-AC8D-DDAF-A142-8A565C3C6909}"/>
              </a:ext>
            </a:extLst>
          </p:cNvPr>
          <p:cNvSpPr txBox="1"/>
          <p:nvPr/>
        </p:nvSpPr>
        <p:spPr>
          <a:xfrm>
            <a:off x="828250" y="4400701"/>
            <a:ext cx="2066544" cy="461665"/>
          </a:xfrm>
          <a:prstGeom prst="rect">
            <a:avLst/>
          </a:prstGeom>
          <a:noFill/>
        </p:spPr>
        <p:txBody>
          <a:bodyPr wrap="square" lIns="0" tIns="0" rIns="0" bIns="0" anchor="t">
            <a:spAutoFit/>
          </a:bodyPr>
          <a:lstStyle/>
          <a:p>
            <a:pPr algn="ctr"/>
            <a:r>
              <a:rPr lang="en-US" sz="1500" dirty="0">
                <a:solidFill>
                  <a:srgbClr val="6B7A72"/>
                </a:solidFill>
                <a:latin typeface="Google Sans Flex Light"/>
              </a:rPr>
              <a:t>one tap, </a:t>
            </a:r>
          </a:p>
          <a:p>
            <a:pPr algn="ctr"/>
            <a:r>
              <a:rPr lang="en-US" sz="1500" dirty="0">
                <a:solidFill>
                  <a:srgbClr val="6B7A72"/>
                </a:solidFill>
                <a:latin typeface="Google Sans Flex Light"/>
              </a:rPr>
              <a:t>with photos</a:t>
            </a:r>
          </a:p>
        </p:txBody>
      </p:sp>
      <p:sp>
        <p:nvSpPr>
          <p:cNvPr id="19" name="!!edge0">
            <a:extLst>
              <a:ext uri="{FF2B5EF4-FFF2-40B4-BE49-F238E27FC236}">
                <a16:creationId xmlns:a16="http://schemas.microsoft.com/office/drawing/2014/main" id="{D1844D9F-9D27-1B86-17DE-573345350428}"/>
              </a:ext>
            </a:extLst>
          </p:cNvPr>
          <p:cNvSpPr/>
          <p:nvPr/>
        </p:nvSpPr>
        <p:spPr>
          <a:xfrm>
            <a:off x="3016959" y="2506732"/>
            <a:ext cx="1838423" cy="2948964"/>
          </a:xfrm>
          <a:prstGeom prst="roundRect">
            <a:avLst>
              <a:gd name="adj" fmla="val 2811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2" name="!!tool0-head">
            <a:extLst>
              <a:ext uri="{FF2B5EF4-FFF2-40B4-BE49-F238E27FC236}">
                <a16:creationId xmlns:a16="http://schemas.microsoft.com/office/drawing/2014/main" id="{8A464D7A-082A-2685-F8AB-E59002F4411F}"/>
              </a:ext>
            </a:extLst>
          </p:cNvPr>
          <p:cNvSpPr txBox="1"/>
          <p:nvPr/>
        </p:nvSpPr>
        <p:spPr>
          <a:xfrm>
            <a:off x="2902898" y="2872895"/>
            <a:ext cx="2066544" cy="307777"/>
          </a:xfrm>
          <a:prstGeom prst="rect">
            <a:avLst/>
          </a:prstGeom>
          <a:noFill/>
        </p:spPr>
        <p:txBody>
          <a:bodyPr wrap="square" lIns="0" tIns="0" rIns="0" bIns="0" anchor="t">
            <a:spAutoFit/>
          </a:bodyPr>
          <a:lstStyle/>
          <a:p>
            <a:pPr algn="ctr"/>
            <a:r>
              <a:rPr lang="en-US" sz="2000" dirty="0">
                <a:latin typeface="Google Sans Flex SemiBold"/>
              </a:rPr>
              <a:t>Watcher</a:t>
            </a:r>
          </a:p>
        </p:txBody>
      </p:sp>
      <p:sp>
        <p:nvSpPr>
          <p:cNvPr id="23" name="!!tool3-sub">
            <a:extLst>
              <a:ext uri="{FF2B5EF4-FFF2-40B4-BE49-F238E27FC236}">
                <a16:creationId xmlns:a16="http://schemas.microsoft.com/office/drawing/2014/main" id="{53BB5A51-2C37-0B27-BDEE-66E870D9DF67}"/>
              </a:ext>
            </a:extLst>
          </p:cNvPr>
          <p:cNvSpPr txBox="1"/>
          <p:nvPr/>
        </p:nvSpPr>
        <p:spPr>
          <a:xfrm>
            <a:off x="2921665" y="4400701"/>
            <a:ext cx="2066544" cy="230832"/>
          </a:xfrm>
          <a:prstGeom prst="rect">
            <a:avLst/>
          </a:prstGeom>
          <a:noFill/>
        </p:spPr>
        <p:txBody>
          <a:bodyPr wrap="square" lIns="0" tIns="0" rIns="0" bIns="0" anchor="t">
            <a:spAutoFit/>
          </a:bodyPr>
          <a:lstStyle/>
          <a:p>
            <a:pPr algn="ctr"/>
            <a:r>
              <a:rPr lang="en-US" sz="1500" dirty="0">
                <a:solidFill>
                  <a:srgbClr val="6B7A72"/>
                </a:solidFill>
                <a:latin typeface="Google Sans Flex Light"/>
              </a:rPr>
              <a:t>spots it first</a:t>
            </a:r>
          </a:p>
        </p:txBody>
      </p:sp>
      <p:sp>
        <p:nvSpPr>
          <p:cNvPr id="25" name="!!edge0">
            <a:extLst>
              <a:ext uri="{FF2B5EF4-FFF2-40B4-BE49-F238E27FC236}">
                <a16:creationId xmlns:a16="http://schemas.microsoft.com/office/drawing/2014/main" id="{3E02102C-1A67-72C9-2E11-2FAE925318D8}"/>
              </a:ext>
            </a:extLst>
          </p:cNvPr>
          <p:cNvSpPr/>
          <p:nvPr/>
        </p:nvSpPr>
        <p:spPr>
          <a:xfrm>
            <a:off x="5110374" y="2506732"/>
            <a:ext cx="1838423" cy="2948964"/>
          </a:xfrm>
          <a:prstGeom prst="roundRect">
            <a:avLst>
              <a:gd name="adj" fmla="val 2811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7" name="!!tool0-head">
            <a:extLst>
              <a:ext uri="{FF2B5EF4-FFF2-40B4-BE49-F238E27FC236}">
                <a16:creationId xmlns:a16="http://schemas.microsoft.com/office/drawing/2014/main" id="{DAE8B5E8-989F-147D-4289-187C3B6A2DD5}"/>
              </a:ext>
            </a:extLst>
          </p:cNvPr>
          <p:cNvSpPr txBox="1"/>
          <p:nvPr/>
        </p:nvSpPr>
        <p:spPr>
          <a:xfrm>
            <a:off x="4996313" y="2872895"/>
            <a:ext cx="2066544" cy="307777"/>
          </a:xfrm>
          <a:prstGeom prst="rect">
            <a:avLst/>
          </a:prstGeom>
          <a:noFill/>
        </p:spPr>
        <p:txBody>
          <a:bodyPr wrap="square" lIns="0" tIns="0" rIns="0" bIns="0" anchor="t">
            <a:spAutoFit/>
          </a:bodyPr>
          <a:lstStyle/>
          <a:p>
            <a:pPr algn="ctr"/>
            <a:r>
              <a:rPr lang="en-GB" sz="2000" dirty="0">
                <a:latin typeface="Google Sans Flex SemiBold"/>
              </a:rPr>
              <a:t>Ask</a:t>
            </a:r>
            <a:endParaRPr sz="2000" dirty="0">
              <a:latin typeface="Google Sans Flex SemiBold"/>
            </a:endParaRPr>
          </a:p>
        </p:txBody>
      </p:sp>
      <p:sp>
        <p:nvSpPr>
          <p:cNvPr id="28" name="!!tool3-sub">
            <a:extLst>
              <a:ext uri="{FF2B5EF4-FFF2-40B4-BE49-F238E27FC236}">
                <a16:creationId xmlns:a16="http://schemas.microsoft.com/office/drawing/2014/main" id="{8EEE3C9F-B772-7AAC-D5B0-9B5DBF2BC451}"/>
              </a:ext>
            </a:extLst>
          </p:cNvPr>
          <p:cNvSpPr txBox="1"/>
          <p:nvPr/>
        </p:nvSpPr>
        <p:spPr>
          <a:xfrm>
            <a:off x="5015080" y="4400701"/>
            <a:ext cx="2066544" cy="461665"/>
          </a:xfrm>
          <a:prstGeom prst="rect">
            <a:avLst/>
          </a:prstGeom>
          <a:noFill/>
        </p:spPr>
        <p:txBody>
          <a:bodyPr wrap="square" lIns="0" tIns="0" rIns="0" bIns="0" anchor="t">
            <a:spAutoFit/>
          </a:bodyPr>
          <a:lstStyle/>
          <a:p>
            <a:pPr algn="ctr"/>
            <a:r>
              <a:rPr lang="en-US" sz="1500" dirty="0">
                <a:solidFill>
                  <a:srgbClr val="6B7A72"/>
                </a:solidFill>
                <a:latin typeface="Google Sans Flex Light"/>
              </a:rPr>
              <a:t>GO asks the </a:t>
            </a:r>
          </a:p>
          <a:p>
            <a:pPr algn="ctr"/>
            <a:r>
              <a:rPr lang="en-US" sz="1500" dirty="0">
                <a:solidFill>
                  <a:srgbClr val="6B7A72"/>
                </a:solidFill>
                <a:latin typeface="Google Sans Flex Light"/>
              </a:rPr>
              <a:t>stores</a:t>
            </a:r>
          </a:p>
        </p:txBody>
      </p:sp>
      <p:sp>
        <p:nvSpPr>
          <p:cNvPr id="30" name="!!edge0">
            <a:extLst>
              <a:ext uri="{FF2B5EF4-FFF2-40B4-BE49-F238E27FC236}">
                <a16:creationId xmlns:a16="http://schemas.microsoft.com/office/drawing/2014/main" id="{63E8952A-0C94-929B-047D-3476E7C27C97}"/>
              </a:ext>
            </a:extLst>
          </p:cNvPr>
          <p:cNvSpPr/>
          <p:nvPr/>
        </p:nvSpPr>
        <p:spPr>
          <a:xfrm>
            <a:off x="7203789" y="2506732"/>
            <a:ext cx="1838423" cy="2948964"/>
          </a:xfrm>
          <a:prstGeom prst="roundRect">
            <a:avLst>
              <a:gd name="adj" fmla="val 2811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33" name="!!tool0-head">
            <a:extLst>
              <a:ext uri="{FF2B5EF4-FFF2-40B4-BE49-F238E27FC236}">
                <a16:creationId xmlns:a16="http://schemas.microsoft.com/office/drawing/2014/main" id="{FCF132F0-9A86-093C-1118-F7D252C0F735}"/>
              </a:ext>
            </a:extLst>
          </p:cNvPr>
          <p:cNvSpPr txBox="1"/>
          <p:nvPr/>
        </p:nvSpPr>
        <p:spPr>
          <a:xfrm>
            <a:off x="7089728" y="2872895"/>
            <a:ext cx="2066544" cy="307777"/>
          </a:xfrm>
          <a:prstGeom prst="rect">
            <a:avLst/>
          </a:prstGeom>
          <a:noFill/>
        </p:spPr>
        <p:txBody>
          <a:bodyPr wrap="square" lIns="0" tIns="0" rIns="0" bIns="0" anchor="t">
            <a:spAutoFit/>
          </a:bodyPr>
          <a:lstStyle/>
          <a:p>
            <a:pPr algn="ctr"/>
            <a:r>
              <a:rPr lang="en-GB" sz="2000" dirty="0">
                <a:latin typeface="Google Sans Flex SemiBold"/>
              </a:rPr>
              <a:t>Trip room</a:t>
            </a:r>
            <a:endParaRPr sz="2000" dirty="0">
              <a:latin typeface="Google Sans Flex SemiBold"/>
            </a:endParaRPr>
          </a:p>
        </p:txBody>
      </p:sp>
      <p:sp>
        <p:nvSpPr>
          <p:cNvPr id="35" name="!!tool3-sub">
            <a:extLst>
              <a:ext uri="{FF2B5EF4-FFF2-40B4-BE49-F238E27FC236}">
                <a16:creationId xmlns:a16="http://schemas.microsoft.com/office/drawing/2014/main" id="{80C1D915-DAD4-1CD6-2797-2A2F73AB1858}"/>
              </a:ext>
            </a:extLst>
          </p:cNvPr>
          <p:cNvSpPr txBox="1"/>
          <p:nvPr/>
        </p:nvSpPr>
        <p:spPr>
          <a:xfrm>
            <a:off x="7108495" y="4400701"/>
            <a:ext cx="2066544" cy="548640"/>
          </a:xfrm>
          <a:prstGeom prst="rect">
            <a:avLst/>
          </a:prstGeom>
          <a:noFill/>
        </p:spPr>
        <p:txBody>
          <a:bodyPr wrap="square" lIns="0" tIns="0" rIns="0" bIns="0" anchor="t">
            <a:spAutoFit/>
          </a:bodyPr>
          <a:lstStyle/>
          <a:p>
            <a:pPr algn="ctr"/>
            <a:r>
              <a:rPr sz="1500" dirty="0">
                <a:solidFill>
                  <a:srgbClr val="6B7A72"/>
                </a:solidFill>
                <a:latin typeface="Google Sans Flex Light"/>
              </a:rPr>
              <a:t>everyone, one conversation</a:t>
            </a:r>
          </a:p>
        </p:txBody>
      </p:sp>
      <p:sp>
        <p:nvSpPr>
          <p:cNvPr id="37" name="!!edge0">
            <a:extLst>
              <a:ext uri="{FF2B5EF4-FFF2-40B4-BE49-F238E27FC236}">
                <a16:creationId xmlns:a16="http://schemas.microsoft.com/office/drawing/2014/main" id="{BFF52622-3166-0C5C-3527-5CFE38948181}"/>
              </a:ext>
            </a:extLst>
          </p:cNvPr>
          <p:cNvSpPr/>
          <p:nvPr/>
        </p:nvSpPr>
        <p:spPr>
          <a:xfrm>
            <a:off x="9297206" y="2506732"/>
            <a:ext cx="1838423" cy="2948964"/>
          </a:xfrm>
          <a:prstGeom prst="roundRect">
            <a:avLst>
              <a:gd name="adj" fmla="val 2811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39" name="!!tool0-head">
            <a:extLst>
              <a:ext uri="{FF2B5EF4-FFF2-40B4-BE49-F238E27FC236}">
                <a16:creationId xmlns:a16="http://schemas.microsoft.com/office/drawing/2014/main" id="{E3C04ED6-9492-90FE-48BE-9CC84F15C68D}"/>
              </a:ext>
            </a:extLst>
          </p:cNvPr>
          <p:cNvSpPr txBox="1"/>
          <p:nvPr/>
        </p:nvSpPr>
        <p:spPr>
          <a:xfrm>
            <a:off x="9183145" y="2872895"/>
            <a:ext cx="2066544" cy="307777"/>
          </a:xfrm>
          <a:prstGeom prst="rect">
            <a:avLst/>
          </a:prstGeom>
          <a:noFill/>
        </p:spPr>
        <p:txBody>
          <a:bodyPr wrap="square" lIns="0" tIns="0" rIns="0" bIns="0" anchor="t">
            <a:spAutoFit/>
          </a:bodyPr>
          <a:lstStyle/>
          <a:p>
            <a:pPr algn="ctr"/>
            <a:r>
              <a:rPr lang="en-GB" sz="2000" dirty="0">
                <a:latin typeface="Google Sans Flex SemiBold"/>
              </a:rPr>
              <a:t>Needs you</a:t>
            </a:r>
            <a:endParaRPr sz="2000" dirty="0">
              <a:latin typeface="Google Sans Flex SemiBold"/>
            </a:endParaRPr>
          </a:p>
        </p:txBody>
      </p:sp>
      <p:sp>
        <p:nvSpPr>
          <p:cNvPr id="41" name="!!tool3-sub">
            <a:extLst>
              <a:ext uri="{FF2B5EF4-FFF2-40B4-BE49-F238E27FC236}">
                <a16:creationId xmlns:a16="http://schemas.microsoft.com/office/drawing/2014/main" id="{9467E58F-9FF2-77A4-049E-96F4773C8D99}"/>
              </a:ext>
            </a:extLst>
          </p:cNvPr>
          <p:cNvSpPr txBox="1"/>
          <p:nvPr/>
        </p:nvSpPr>
        <p:spPr>
          <a:xfrm>
            <a:off x="9201912" y="4400701"/>
            <a:ext cx="2066544" cy="461665"/>
          </a:xfrm>
          <a:prstGeom prst="rect">
            <a:avLst/>
          </a:prstGeom>
          <a:noFill/>
        </p:spPr>
        <p:txBody>
          <a:bodyPr wrap="square" lIns="0" tIns="0" rIns="0" bIns="0" anchor="t">
            <a:spAutoFit/>
          </a:bodyPr>
          <a:lstStyle/>
          <a:p>
            <a:pPr algn="ctr"/>
            <a:r>
              <a:rPr lang="en-US" sz="1500" dirty="0">
                <a:solidFill>
                  <a:srgbClr val="6B7A72"/>
                </a:solidFill>
                <a:latin typeface="Google Sans Flex Light"/>
              </a:rPr>
              <a:t>a person </a:t>
            </a:r>
          </a:p>
          <a:p>
            <a:pPr algn="ctr"/>
            <a:r>
              <a:rPr lang="en-US" sz="1500" dirty="0">
                <a:solidFill>
                  <a:srgbClr val="6B7A72"/>
                </a:solidFill>
                <a:latin typeface="Google Sans Flex Light"/>
              </a:rPr>
              <a:t>decides</a:t>
            </a:r>
          </a:p>
        </p:txBody>
      </p:sp>
      <p:pic>
        <p:nvPicPr>
          <p:cNvPr id="43" name="Picture 42">
            <a:extLst>
              <a:ext uri="{FF2B5EF4-FFF2-40B4-BE49-F238E27FC236}">
                <a16:creationId xmlns:a16="http://schemas.microsoft.com/office/drawing/2014/main" id="{3D5681FC-2AED-B99F-815E-CF26B2F83FCD}"/>
              </a:ext>
            </a:extLst>
          </p:cNvPr>
          <p:cNvPicPr>
            <a:picLocks noChangeAspect="1"/>
          </p:cNvPicPr>
          <p:nvPr/>
        </p:nvPicPr>
        <p:blipFill>
          <a:blip r:embed="rId4"/>
          <a:stretch>
            <a:fillRect/>
          </a:stretch>
        </p:blipFill>
        <p:spPr>
          <a:xfrm>
            <a:off x="3563261" y="3494146"/>
            <a:ext cx="743564" cy="602381"/>
          </a:xfrm>
          <a:prstGeom prst="rect">
            <a:avLst/>
          </a:prstGeom>
        </p:spPr>
      </p:pic>
      <p:pic>
        <p:nvPicPr>
          <p:cNvPr id="45" name="Picture 44">
            <a:extLst>
              <a:ext uri="{FF2B5EF4-FFF2-40B4-BE49-F238E27FC236}">
                <a16:creationId xmlns:a16="http://schemas.microsoft.com/office/drawing/2014/main" id="{8C7ECDD3-488F-6023-1B0B-24EBBB1D1A20}"/>
              </a:ext>
            </a:extLst>
          </p:cNvPr>
          <p:cNvPicPr>
            <a:picLocks noChangeAspect="1"/>
          </p:cNvPicPr>
          <p:nvPr/>
        </p:nvPicPr>
        <p:blipFill>
          <a:blip r:embed="rId5"/>
          <a:stretch>
            <a:fillRect/>
          </a:stretch>
        </p:blipFill>
        <p:spPr>
          <a:xfrm>
            <a:off x="5720957" y="3475858"/>
            <a:ext cx="506107" cy="674810"/>
          </a:xfrm>
          <a:prstGeom prst="rect">
            <a:avLst/>
          </a:prstGeom>
        </p:spPr>
      </p:pic>
      <p:pic>
        <p:nvPicPr>
          <p:cNvPr id="48" name="Picture 47">
            <a:extLst>
              <a:ext uri="{FF2B5EF4-FFF2-40B4-BE49-F238E27FC236}">
                <a16:creationId xmlns:a16="http://schemas.microsoft.com/office/drawing/2014/main" id="{0FCB1C1A-5482-9E20-FB01-5AF8032FCCD9}"/>
              </a:ext>
            </a:extLst>
          </p:cNvPr>
          <p:cNvPicPr>
            <a:picLocks noChangeAspect="1"/>
          </p:cNvPicPr>
          <p:nvPr/>
        </p:nvPicPr>
        <p:blipFill>
          <a:blip r:embed="rId6"/>
          <a:stretch>
            <a:fillRect/>
          </a:stretch>
        </p:blipFill>
        <p:spPr>
          <a:xfrm>
            <a:off x="7758768" y="3373482"/>
            <a:ext cx="765998" cy="723045"/>
          </a:xfrm>
          <a:prstGeom prst="rect">
            <a:avLst/>
          </a:prstGeom>
        </p:spPr>
      </p:pic>
      <p:pic>
        <p:nvPicPr>
          <p:cNvPr id="49" name="Picture 48" descr="You Icons - Free SVG &amp; PNG You Images - Noun Project">
            <a:extLst>
              <a:ext uri="{FF2B5EF4-FFF2-40B4-BE49-F238E27FC236}">
                <a16:creationId xmlns:a16="http://schemas.microsoft.com/office/drawing/2014/main" id="{BBAD4090-456A-3E7D-F58E-43C17833C2A1}"/>
              </a:ext>
            </a:extLst>
          </p:cNvPr>
          <p:cNvPicPr>
            <a:picLocks noChangeAspect="1"/>
          </p:cNvPicPr>
          <p:nvPr/>
        </p:nvPicPr>
        <p:blipFill>
          <a:blip r:embed="rId7"/>
          <a:stretch>
            <a:fillRect/>
          </a:stretch>
        </p:blipFill>
        <p:spPr>
          <a:xfrm>
            <a:off x="9795618" y="3302469"/>
            <a:ext cx="865069" cy="865069"/>
          </a:xfrm>
          <a:prstGeom prst="rect">
            <a:avLst/>
          </a:prstGeom>
        </p:spPr>
      </p:pic>
      <p:sp>
        <p:nvSpPr>
          <p:cNvPr id="51" name="!!edge0">
            <a:extLst>
              <a:ext uri="{FF2B5EF4-FFF2-40B4-BE49-F238E27FC236}">
                <a16:creationId xmlns:a16="http://schemas.microsoft.com/office/drawing/2014/main" id="{E506498F-7773-D444-F8E8-849407322396}"/>
              </a:ext>
            </a:extLst>
          </p:cNvPr>
          <p:cNvSpPr/>
          <p:nvPr/>
        </p:nvSpPr>
        <p:spPr>
          <a:xfrm>
            <a:off x="2259044" y="2341027"/>
            <a:ext cx="640080" cy="6400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4" name="!!tool0-head">
            <a:extLst>
              <a:ext uri="{FF2B5EF4-FFF2-40B4-BE49-F238E27FC236}">
                <a16:creationId xmlns:a16="http://schemas.microsoft.com/office/drawing/2014/main" id="{EC1786EA-C686-68EC-6E61-0BDDB51B0E4D}"/>
              </a:ext>
            </a:extLst>
          </p:cNvPr>
          <p:cNvSpPr txBox="1"/>
          <p:nvPr/>
        </p:nvSpPr>
        <p:spPr>
          <a:xfrm>
            <a:off x="1536668" y="2459938"/>
            <a:ext cx="2066544" cy="430887"/>
          </a:xfrm>
          <a:prstGeom prst="rect">
            <a:avLst/>
          </a:prstGeom>
          <a:noFill/>
        </p:spPr>
        <p:txBody>
          <a:bodyPr wrap="square" lIns="0" tIns="0" rIns="0" bIns="0" anchor="t">
            <a:spAutoFit/>
          </a:bodyPr>
          <a:lstStyle/>
          <a:p>
            <a:pPr algn="ctr"/>
            <a:r>
              <a:rPr lang="en-GB" sz="2800" dirty="0">
                <a:solidFill>
                  <a:srgbClr val="00DE72"/>
                </a:solidFill>
                <a:latin typeface="Google Sans Flex SemiBold"/>
              </a:rPr>
              <a:t>1</a:t>
            </a:r>
            <a:endParaRPr sz="2800" dirty="0">
              <a:solidFill>
                <a:srgbClr val="00DE72"/>
              </a:solidFill>
              <a:latin typeface="Google Sans Flex SemiBold"/>
            </a:endParaRPr>
          </a:p>
        </p:txBody>
      </p:sp>
      <p:sp>
        <p:nvSpPr>
          <p:cNvPr id="55" name="!!edge0">
            <a:extLst>
              <a:ext uri="{FF2B5EF4-FFF2-40B4-BE49-F238E27FC236}">
                <a16:creationId xmlns:a16="http://schemas.microsoft.com/office/drawing/2014/main" id="{AA099CDB-59B4-3471-841A-6A2961206E16}"/>
              </a:ext>
            </a:extLst>
          </p:cNvPr>
          <p:cNvSpPr/>
          <p:nvPr/>
        </p:nvSpPr>
        <p:spPr>
          <a:xfrm>
            <a:off x="6441544" y="2341027"/>
            <a:ext cx="640080" cy="6400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6" name="!!tool0-head">
            <a:extLst>
              <a:ext uri="{FF2B5EF4-FFF2-40B4-BE49-F238E27FC236}">
                <a16:creationId xmlns:a16="http://schemas.microsoft.com/office/drawing/2014/main" id="{6C72D31D-DD8A-52F3-F83C-C4560B65B693}"/>
              </a:ext>
            </a:extLst>
          </p:cNvPr>
          <p:cNvSpPr txBox="1"/>
          <p:nvPr/>
        </p:nvSpPr>
        <p:spPr>
          <a:xfrm>
            <a:off x="5719168" y="2459938"/>
            <a:ext cx="2066544" cy="430887"/>
          </a:xfrm>
          <a:prstGeom prst="rect">
            <a:avLst/>
          </a:prstGeom>
          <a:noFill/>
        </p:spPr>
        <p:txBody>
          <a:bodyPr wrap="square" lIns="0" tIns="0" rIns="0" bIns="0" anchor="t">
            <a:spAutoFit/>
          </a:bodyPr>
          <a:lstStyle/>
          <a:p>
            <a:pPr algn="ctr"/>
            <a:r>
              <a:rPr lang="en-GB" sz="2800" dirty="0">
                <a:solidFill>
                  <a:srgbClr val="00DE72"/>
                </a:solidFill>
                <a:latin typeface="Google Sans Flex SemiBold"/>
              </a:rPr>
              <a:t>3</a:t>
            </a:r>
            <a:endParaRPr sz="2800" dirty="0">
              <a:solidFill>
                <a:srgbClr val="00DE72"/>
              </a:solidFill>
              <a:latin typeface="Google Sans Flex SemiBold"/>
            </a:endParaRPr>
          </a:p>
        </p:txBody>
      </p:sp>
      <p:sp>
        <p:nvSpPr>
          <p:cNvPr id="57" name="!!edge0">
            <a:extLst>
              <a:ext uri="{FF2B5EF4-FFF2-40B4-BE49-F238E27FC236}">
                <a16:creationId xmlns:a16="http://schemas.microsoft.com/office/drawing/2014/main" id="{19B811DB-D5FF-3663-E8BA-051C10F47459}"/>
              </a:ext>
            </a:extLst>
          </p:cNvPr>
          <p:cNvSpPr/>
          <p:nvPr/>
        </p:nvSpPr>
        <p:spPr>
          <a:xfrm>
            <a:off x="10605277" y="2341027"/>
            <a:ext cx="640080" cy="6400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9" name="!!tool0-head">
            <a:extLst>
              <a:ext uri="{FF2B5EF4-FFF2-40B4-BE49-F238E27FC236}">
                <a16:creationId xmlns:a16="http://schemas.microsoft.com/office/drawing/2014/main" id="{EF9626F9-854A-1E9A-E3B1-CC9265672851}"/>
              </a:ext>
            </a:extLst>
          </p:cNvPr>
          <p:cNvSpPr txBox="1"/>
          <p:nvPr/>
        </p:nvSpPr>
        <p:spPr>
          <a:xfrm>
            <a:off x="9882901" y="2459938"/>
            <a:ext cx="2066544" cy="430887"/>
          </a:xfrm>
          <a:prstGeom prst="rect">
            <a:avLst/>
          </a:prstGeom>
          <a:noFill/>
        </p:spPr>
        <p:txBody>
          <a:bodyPr wrap="square" lIns="0" tIns="0" rIns="0" bIns="0" anchor="t">
            <a:spAutoFit/>
          </a:bodyPr>
          <a:lstStyle/>
          <a:p>
            <a:pPr algn="ctr"/>
            <a:r>
              <a:rPr lang="en-GB" sz="2800" dirty="0">
                <a:solidFill>
                  <a:srgbClr val="00DE72"/>
                </a:solidFill>
                <a:latin typeface="Google Sans Flex SemiBold"/>
              </a:rPr>
              <a:t>5</a:t>
            </a:r>
            <a:endParaRPr sz="2800" dirty="0">
              <a:solidFill>
                <a:srgbClr val="00DE72"/>
              </a:solidFill>
              <a:latin typeface="Google Sans Flex SemiBold"/>
            </a:endParaRPr>
          </a:p>
        </p:txBody>
      </p:sp>
      <p:sp>
        <p:nvSpPr>
          <p:cNvPr id="60" name="!!edge0">
            <a:extLst>
              <a:ext uri="{FF2B5EF4-FFF2-40B4-BE49-F238E27FC236}">
                <a16:creationId xmlns:a16="http://schemas.microsoft.com/office/drawing/2014/main" id="{49D02089-69D0-3B45-4338-0F93B1DADF91}"/>
              </a:ext>
            </a:extLst>
          </p:cNvPr>
          <p:cNvSpPr/>
          <p:nvPr/>
        </p:nvSpPr>
        <p:spPr>
          <a:xfrm>
            <a:off x="8582690" y="4966323"/>
            <a:ext cx="640080" cy="6400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61" name="!!tool0-head">
            <a:extLst>
              <a:ext uri="{FF2B5EF4-FFF2-40B4-BE49-F238E27FC236}">
                <a16:creationId xmlns:a16="http://schemas.microsoft.com/office/drawing/2014/main" id="{A7AD91EE-CB11-5963-1DA2-D4A3D22EF691}"/>
              </a:ext>
            </a:extLst>
          </p:cNvPr>
          <p:cNvSpPr txBox="1"/>
          <p:nvPr/>
        </p:nvSpPr>
        <p:spPr>
          <a:xfrm>
            <a:off x="7860314" y="5085234"/>
            <a:ext cx="2066544" cy="430887"/>
          </a:xfrm>
          <a:prstGeom prst="rect">
            <a:avLst/>
          </a:prstGeom>
          <a:noFill/>
        </p:spPr>
        <p:txBody>
          <a:bodyPr wrap="square" lIns="0" tIns="0" rIns="0" bIns="0" anchor="t">
            <a:spAutoFit/>
          </a:bodyPr>
          <a:lstStyle/>
          <a:p>
            <a:pPr algn="ctr"/>
            <a:r>
              <a:rPr lang="en-GB" sz="2800" dirty="0">
                <a:solidFill>
                  <a:srgbClr val="00DE72"/>
                </a:solidFill>
                <a:latin typeface="Google Sans Flex SemiBold"/>
              </a:rPr>
              <a:t>4</a:t>
            </a:r>
            <a:endParaRPr sz="2800" dirty="0">
              <a:solidFill>
                <a:srgbClr val="00DE72"/>
              </a:solidFill>
              <a:latin typeface="Google Sans Flex SemiBold"/>
            </a:endParaRPr>
          </a:p>
        </p:txBody>
      </p:sp>
      <p:sp>
        <p:nvSpPr>
          <p:cNvPr id="62" name="!!edge0">
            <a:extLst>
              <a:ext uri="{FF2B5EF4-FFF2-40B4-BE49-F238E27FC236}">
                <a16:creationId xmlns:a16="http://schemas.microsoft.com/office/drawing/2014/main" id="{6972DCF0-7F76-4319-F70C-27ACEE84AF37}"/>
              </a:ext>
            </a:extLst>
          </p:cNvPr>
          <p:cNvSpPr/>
          <p:nvPr/>
        </p:nvSpPr>
        <p:spPr>
          <a:xfrm>
            <a:off x="4392568" y="4966323"/>
            <a:ext cx="640080" cy="6400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63" name="!!tool0-head">
            <a:extLst>
              <a:ext uri="{FF2B5EF4-FFF2-40B4-BE49-F238E27FC236}">
                <a16:creationId xmlns:a16="http://schemas.microsoft.com/office/drawing/2014/main" id="{EA0AD6E1-A434-B93B-9A50-C531C0557F35}"/>
              </a:ext>
            </a:extLst>
          </p:cNvPr>
          <p:cNvSpPr txBox="1"/>
          <p:nvPr/>
        </p:nvSpPr>
        <p:spPr>
          <a:xfrm>
            <a:off x="3670192" y="5085234"/>
            <a:ext cx="2066544" cy="430887"/>
          </a:xfrm>
          <a:prstGeom prst="rect">
            <a:avLst/>
          </a:prstGeom>
          <a:noFill/>
        </p:spPr>
        <p:txBody>
          <a:bodyPr wrap="square" lIns="0" tIns="0" rIns="0" bIns="0" anchor="t">
            <a:spAutoFit/>
          </a:bodyPr>
          <a:lstStyle/>
          <a:p>
            <a:pPr algn="ctr"/>
            <a:r>
              <a:rPr lang="en-GB" sz="2800" dirty="0">
                <a:solidFill>
                  <a:srgbClr val="00DE72"/>
                </a:solidFill>
                <a:latin typeface="Google Sans Flex SemiBold"/>
              </a:rPr>
              <a:t>2</a:t>
            </a:r>
            <a:endParaRPr sz="2800" dirty="0">
              <a:solidFill>
                <a:srgbClr val="00DE72"/>
              </a:solidFill>
              <a:latin typeface="Google Sans Flex SemiBold"/>
            </a:endParaRPr>
          </a:p>
        </p:txBody>
      </p:sp>
    </p:spTree>
    <p:extLst>
      <p:ext uri="{BB962C8B-B14F-4D97-AF65-F5344CB8AC3E}">
        <p14:creationId xmlns:p14="http://schemas.microsoft.com/office/powerpoint/2010/main" val="2457110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Sequence 01">
            <a:hlinkClick r:id="" action="ppaction://media"/>
            <a:extLst>
              <a:ext uri="{FF2B5EF4-FFF2-40B4-BE49-F238E27FC236}">
                <a16:creationId xmlns:a16="http://schemas.microsoft.com/office/drawing/2014/main" id="{26ED0FFE-73BA-3B70-9A51-845E48962C8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032885" y="0"/>
            <a:ext cx="12192000" cy="6858000"/>
          </a:xfrm>
          <a:prstGeom prst="rect">
            <a:avLst/>
          </a:prstGeom>
        </p:spPr>
      </p:pic>
      <p:sp>
        <p:nvSpPr>
          <p:cNvPr id="6" name="!!title"/>
          <p:cNvSpPr txBox="1"/>
          <p:nvPr/>
        </p:nvSpPr>
        <p:spPr>
          <a:xfrm>
            <a:off x="1656348" y="621792"/>
            <a:ext cx="6096000" cy="553998"/>
          </a:xfrm>
          <a:prstGeom prst="rect">
            <a:avLst/>
          </a:prstGeom>
          <a:noFill/>
        </p:spPr>
        <p:txBody>
          <a:bodyPr wrap="square" lIns="0" tIns="0" rIns="0" bIns="0" anchor="t">
            <a:spAutoFit/>
          </a:bodyPr>
          <a:lstStyle/>
          <a:p>
            <a:pPr algn="l"/>
            <a:r>
              <a:rPr sz="3600" dirty="0">
                <a:solidFill>
                  <a:srgbClr val="00B050"/>
                </a:solidFill>
                <a:latin typeface="Google Sans Flex SemiBold"/>
              </a:rPr>
              <a:t>One room</a:t>
            </a:r>
            <a:r>
              <a:rPr sz="3600" dirty="0">
                <a:latin typeface="Google Sans Flex Light"/>
              </a:rPr>
              <a:t> for the whole trip</a:t>
            </a:r>
          </a:p>
        </p:txBody>
      </p:sp>
      <p:sp>
        <p:nvSpPr>
          <p:cNvPr id="11" name="!!room0-head"/>
          <p:cNvSpPr txBox="1"/>
          <p:nvPr/>
        </p:nvSpPr>
        <p:spPr>
          <a:xfrm>
            <a:off x="799057" y="1822740"/>
            <a:ext cx="5120640" cy="584775"/>
          </a:xfrm>
          <a:prstGeom prst="rect">
            <a:avLst/>
          </a:prstGeom>
          <a:noFill/>
        </p:spPr>
        <p:txBody>
          <a:bodyPr wrap="square" lIns="0" tIns="0" rIns="0" bIns="0" anchor="t">
            <a:spAutoFit/>
          </a:bodyPr>
          <a:lstStyle/>
          <a:p>
            <a:pPr algn="l"/>
            <a:r>
              <a:rPr sz="1900" dirty="0">
                <a:latin typeface="Google Sans Flex SemiBold"/>
              </a:rPr>
              <a:t>The dispatcher, the driver, </a:t>
            </a:r>
            <a:endParaRPr lang="en-GB" sz="1900" dirty="0">
              <a:latin typeface="Google Sans Flex SemiBold"/>
            </a:endParaRPr>
          </a:p>
          <a:p>
            <a:pPr algn="l"/>
            <a:r>
              <a:rPr sz="1900" dirty="0">
                <a:latin typeface="Google Sans Flex SemiBold"/>
              </a:rPr>
              <a:t>every store on it</a:t>
            </a:r>
          </a:p>
        </p:txBody>
      </p:sp>
      <p:sp>
        <p:nvSpPr>
          <p:cNvPr id="13" name="!!room1-head"/>
          <p:cNvSpPr txBox="1"/>
          <p:nvPr/>
        </p:nvSpPr>
        <p:spPr>
          <a:xfrm>
            <a:off x="799057" y="2691420"/>
            <a:ext cx="5120640" cy="584775"/>
          </a:xfrm>
          <a:prstGeom prst="rect">
            <a:avLst/>
          </a:prstGeom>
          <a:noFill/>
        </p:spPr>
        <p:txBody>
          <a:bodyPr wrap="square" lIns="0" tIns="0" rIns="0" bIns="0" anchor="t">
            <a:spAutoFit/>
          </a:bodyPr>
          <a:lstStyle/>
          <a:p>
            <a:pPr algn="l"/>
            <a:r>
              <a:rPr sz="1900" dirty="0">
                <a:latin typeface="Google Sans Flex SemiBold"/>
              </a:rPr>
              <a:t>One picture, live, for </a:t>
            </a:r>
            <a:endParaRPr lang="en-GB" sz="1900" dirty="0">
              <a:latin typeface="Google Sans Flex SemiBold"/>
            </a:endParaRPr>
          </a:p>
          <a:p>
            <a:pPr algn="l"/>
            <a:r>
              <a:rPr sz="1900" dirty="0">
                <a:latin typeface="Google Sans Flex SemiBold"/>
              </a:rPr>
              <a:t>everyone</a:t>
            </a:r>
          </a:p>
        </p:txBody>
      </p:sp>
      <p:sp>
        <p:nvSpPr>
          <p:cNvPr id="15" name="!!room2-head"/>
          <p:cNvSpPr txBox="1"/>
          <p:nvPr/>
        </p:nvSpPr>
        <p:spPr>
          <a:xfrm>
            <a:off x="799057" y="3560100"/>
            <a:ext cx="5120640" cy="584775"/>
          </a:xfrm>
          <a:prstGeom prst="rect">
            <a:avLst/>
          </a:prstGeom>
          <a:noFill/>
        </p:spPr>
        <p:txBody>
          <a:bodyPr wrap="square" lIns="0" tIns="0" rIns="0" bIns="0" anchor="t">
            <a:spAutoFit/>
          </a:bodyPr>
          <a:lstStyle/>
          <a:p>
            <a:pPr algn="l"/>
            <a:r>
              <a:rPr sz="1900" dirty="0">
                <a:latin typeface="Google Sans Flex SemiBold"/>
              </a:rPr>
              <a:t>GO asks, and suggests </a:t>
            </a:r>
            <a:endParaRPr lang="en-GB" sz="1900" dirty="0">
              <a:latin typeface="Google Sans Flex SemiBold"/>
            </a:endParaRPr>
          </a:p>
          <a:p>
            <a:pPr algn="l"/>
            <a:r>
              <a:rPr sz="1900" dirty="0">
                <a:latin typeface="Google Sans Flex SemiBold"/>
              </a:rPr>
              <a:t>the next step</a:t>
            </a:r>
          </a:p>
        </p:txBody>
      </p:sp>
      <p:sp>
        <p:nvSpPr>
          <p:cNvPr id="17" name="!!room3-head"/>
          <p:cNvSpPr txBox="1"/>
          <p:nvPr/>
        </p:nvSpPr>
        <p:spPr>
          <a:xfrm>
            <a:off x="799057" y="4428779"/>
            <a:ext cx="5120640" cy="457200"/>
          </a:xfrm>
          <a:prstGeom prst="rect">
            <a:avLst/>
          </a:prstGeom>
          <a:noFill/>
        </p:spPr>
        <p:txBody>
          <a:bodyPr wrap="square" lIns="0" tIns="0" rIns="0" bIns="0" anchor="t">
            <a:spAutoFit/>
          </a:bodyPr>
          <a:lstStyle/>
          <a:p>
            <a:pPr algn="l"/>
            <a:r>
              <a:rPr sz="1900" dirty="0">
                <a:latin typeface="Google Sans Flex SemiBold"/>
              </a:rPr>
              <a:t>A person decides</a:t>
            </a:r>
          </a:p>
        </p:txBody>
      </p:sp>
      <p:sp>
        <p:nvSpPr>
          <p:cNvPr id="19" name="!!edge0">
            <a:extLst>
              <a:ext uri="{FF2B5EF4-FFF2-40B4-BE49-F238E27FC236}">
                <a16:creationId xmlns:a16="http://schemas.microsoft.com/office/drawing/2014/main" id="{0EDE6AA1-6F97-E6DF-B1FC-1582CB64EA63}"/>
              </a:ext>
            </a:extLst>
          </p:cNvPr>
          <p:cNvSpPr/>
          <p:nvPr/>
        </p:nvSpPr>
        <p:spPr>
          <a:xfrm>
            <a:off x="799057" y="594360"/>
            <a:ext cx="640080" cy="6400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1" name="!!tool0-head">
            <a:extLst>
              <a:ext uri="{FF2B5EF4-FFF2-40B4-BE49-F238E27FC236}">
                <a16:creationId xmlns:a16="http://schemas.microsoft.com/office/drawing/2014/main" id="{CF8372EE-FAC2-58D7-D6EE-C6F279FB352C}"/>
              </a:ext>
            </a:extLst>
          </p:cNvPr>
          <p:cNvSpPr txBox="1"/>
          <p:nvPr/>
        </p:nvSpPr>
        <p:spPr>
          <a:xfrm>
            <a:off x="76681" y="713271"/>
            <a:ext cx="2066544" cy="430887"/>
          </a:xfrm>
          <a:prstGeom prst="rect">
            <a:avLst/>
          </a:prstGeom>
          <a:noFill/>
        </p:spPr>
        <p:txBody>
          <a:bodyPr wrap="square" lIns="0" tIns="0" rIns="0" bIns="0" anchor="t">
            <a:spAutoFit/>
          </a:bodyPr>
          <a:lstStyle/>
          <a:p>
            <a:pPr algn="ctr"/>
            <a:r>
              <a:rPr lang="en-GB" sz="2800" dirty="0">
                <a:solidFill>
                  <a:srgbClr val="00B050"/>
                </a:solidFill>
                <a:latin typeface="Google Sans Flex SemiBold"/>
              </a:rPr>
              <a:t>B</a:t>
            </a:r>
            <a:endParaRPr sz="2800" dirty="0">
              <a:solidFill>
                <a:srgbClr val="00B050"/>
              </a:solidFill>
              <a:latin typeface="Google Sans Flex SemiBold"/>
            </a:endParaRPr>
          </a:p>
        </p:txBody>
      </p:sp>
      <p:cxnSp>
        <p:nvCxnSpPr>
          <p:cNvPr id="3" name="Straight Connector 2">
            <a:extLst>
              <a:ext uri="{FF2B5EF4-FFF2-40B4-BE49-F238E27FC236}">
                <a16:creationId xmlns:a16="http://schemas.microsoft.com/office/drawing/2014/main" id="{A2A36737-E3CE-FC01-FD62-4F6790E2D6CD}"/>
              </a:ext>
            </a:extLst>
          </p:cNvPr>
          <p:cNvCxnSpPr>
            <a:cxnSpLocks/>
          </p:cNvCxnSpPr>
          <p:nvPr/>
        </p:nvCxnSpPr>
        <p:spPr>
          <a:xfrm>
            <a:off x="799057" y="2573806"/>
            <a:ext cx="3264060"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E395275-288B-A28D-05C1-776A137DDAB8}"/>
              </a:ext>
            </a:extLst>
          </p:cNvPr>
          <p:cNvCxnSpPr>
            <a:cxnSpLocks/>
          </p:cNvCxnSpPr>
          <p:nvPr/>
        </p:nvCxnSpPr>
        <p:spPr>
          <a:xfrm>
            <a:off x="799057" y="3429000"/>
            <a:ext cx="3264060"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A29B07E-769C-35C6-DC69-D22ED3C64529}"/>
              </a:ext>
            </a:extLst>
          </p:cNvPr>
          <p:cNvCxnSpPr>
            <a:cxnSpLocks/>
          </p:cNvCxnSpPr>
          <p:nvPr/>
        </p:nvCxnSpPr>
        <p:spPr>
          <a:xfrm>
            <a:off x="799057" y="4295692"/>
            <a:ext cx="3264060"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Sequence 01">
            <a:hlinkClick r:id="" action="ppaction://media"/>
            <a:extLst>
              <a:ext uri="{FF2B5EF4-FFF2-40B4-BE49-F238E27FC236}">
                <a16:creationId xmlns:a16="http://schemas.microsoft.com/office/drawing/2014/main" id="{5527ADE5-E7CD-E83B-7D05-F5B0F058D83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
        <p:nvSpPr>
          <p:cNvPr id="3" name="!!title">
            <a:extLst>
              <a:ext uri="{FF2B5EF4-FFF2-40B4-BE49-F238E27FC236}">
                <a16:creationId xmlns:a16="http://schemas.microsoft.com/office/drawing/2014/main" id="{7DB2628B-5DA5-3814-5CEB-498FDCFB2194}"/>
              </a:ext>
            </a:extLst>
          </p:cNvPr>
          <p:cNvSpPr txBox="1"/>
          <p:nvPr/>
        </p:nvSpPr>
        <p:spPr>
          <a:xfrm>
            <a:off x="-7259052" y="621792"/>
            <a:ext cx="6096000" cy="553998"/>
          </a:xfrm>
          <a:prstGeom prst="rect">
            <a:avLst/>
          </a:prstGeom>
          <a:noFill/>
        </p:spPr>
        <p:txBody>
          <a:bodyPr wrap="square" lIns="0" tIns="0" rIns="0" bIns="0" anchor="t">
            <a:spAutoFit/>
          </a:bodyPr>
          <a:lstStyle/>
          <a:p>
            <a:pPr algn="l"/>
            <a:r>
              <a:rPr sz="3600" dirty="0">
                <a:solidFill>
                  <a:srgbClr val="00B050"/>
                </a:solidFill>
                <a:latin typeface="Google Sans Flex SemiBold"/>
              </a:rPr>
              <a:t>One room</a:t>
            </a:r>
            <a:r>
              <a:rPr sz="3600" dirty="0">
                <a:latin typeface="Google Sans Flex Light"/>
              </a:rPr>
              <a:t> for the whole trip</a:t>
            </a:r>
          </a:p>
        </p:txBody>
      </p:sp>
      <p:sp>
        <p:nvSpPr>
          <p:cNvPr id="8" name="!!room0-head">
            <a:extLst>
              <a:ext uri="{FF2B5EF4-FFF2-40B4-BE49-F238E27FC236}">
                <a16:creationId xmlns:a16="http://schemas.microsoft.com/office/drawing/2014/main" id="{861D0B08-3930-26BE-5A18-35EACAEB8D7A}"/>
              </a:ext>
            </a:extLst>
          </p:cNvPr>
          <p:cNvSpPr txBox="1"/>
          <p:nvPr/>
        </p:nvSpPr>
        <p:spPr>
          <a:xfrm>
            <a:off x="-4560121" y="1822740"/>
            <a:ext cx="5120640" cy="584775"/>
          </a:xfrm>
          <a:prstGeom prst="rect">
            <a:avLst/>
          </a:prstGeom>
          <a:noFill/>
        </p:spPr>
        <p:txBody>
          <a:bodyPr wrap="square" lIns="0" tIns="0" rIns="0" bIns="0" anchor="t">
            <a:spAutoFit/>
          </a:bodyPr>
          <a:lstStyle/>
          <a:p>
            <a:pPr algn="l"/>
            <a:r>
              <a:rPr sz="1900" dirty="0">
                <a:latin typeface="Google Sans Flex SemiBold"/>
              </a:rPr>
              <a:t>The dispatcher, the driver, </a:t>
            </a:r>
            <a:endParaRPr lang="en-GB" sz="1900" dirty="0">
              <a:latin typeface="Google Sans Flex SemiBold"/>
            </a:endParaRPr>
          </a:p>
          <a:p>
            <a:pPr algn="l"/>
            <a:r>
              <a:rPr sz="1900" dirty="0">
                <a:latin typeface="Google Sans Flex SemiBold"/>
              </a:rPr>
              <a:t>every store on it</a:t>
            </a:r>
          </a:p>
        </p:txBody>
      </p:sp>
      <p:sp>
        <p:nvSpPr>
          <p:cNvPr id="9" name="!!room1-head">
            <a:extLst>
              <a:ext uri="{FF2B5EF4-FFF2-40B4-BE49-F238E27FC236}">
                <a16:creationId xmlns:a16="http://schemas.microsoft.com/office/drawing/2014/main" id="{499CEEB7-9BB0-2CAE-A8B3-0AECFC9D49BD}"/>
              </a:ext>
            </a:extLst>
          </p:cNvPr>
          <p:cNvSpPr txBox="1"/>
          <p:nvPr/>
        </p:nvSpPr>
        <p:spPr>
          <a:xfrm>
            <a:off x="-6052291" y="2691420"/>
            <a:ext cx="5120640" cy="584775"/>
          </a:xfrm>
          <a:prstGeom prst="rect">
            <a:avLst/>
          </a:prstGeom>
          <a:noFill/>
        </p:spPr>
        <p:txBody>
          <a:bodyPr wrap="square" lIns="0" tIns="0" rIns="0" bIns="0" anchor="t">
            <a:spAutoFit/>
          </a:bodyPr>
          <a:lstStyle/>
          <a:p>
            <a:pPr algn="l"/>
            <a:r>
              <a:rPr sz="1900" dirty="0">
                <a:latin typeface="Google Sans Flex SemiBold"/>
              </a:rPr>
              <a:t>One picture, live, for </a:t>
            </a:r>
            <a:endParaRPr lang="en-GB" sz="1900" dirty="0">
              <a:latin typeface="Google Sans Flex SemiBold"/>
            </a:endParaRPr>
          </a:p>
          <a:p>
            <a:pPr algn="l"/>
            <a:r>
              <a:rPr sz="1900" dirty="0">
                <a:latin typeface="Google Sans Flex SemiBold"/>
              </a:rPr>
              <a:t>everyone</a:t>
            </a:r>
          </a:p>
        </p:txBody>
      </p:sp>
      <p:sp>
        <p:nvSpPr>
          <p:cNvPr id="10" name="!!room2-head">
            <a:extLst>
              <a:ext uri="{FF2B5EF4-FFF2-40B4-BE49-F238E27FC236}">
                <a16:creationId xmlns:a16="http://schemas.microsoft.com/office/drawing/2014/main" id="{66E73819-D384-7DFD-7841-F85801C92632}"/>
              </a:ext>
            </a:extLst>
          </p:cNvPr>
          <p:cNvSpPr txBox="1"/>
          <p:nvPr/>
        </p:nvSpPr>
        <p:spPr>
          <a:xfrm>
            <a:off x="-7180051" y="3560100"/>
            <a:ext cx="5120640" cy="584775"/>
          </a:xfrm>
          <a:prstGeom prst="rect">
            <a:avLst/>
          </a:prstGeom>
          <a:noFill/>
        </p:spPr>
        <p:txBody>
          <a:bodyPr wrap="square" lIns="0" tIns="0" rIns="0" bIns="0" anchor="t">
            <a:spAutoFit/>
          </a:bodyPr>
          <a:lstStyle/>
          <a:p>
            <a:pPr algn="l"/>
            <a:r>
              <a:rPr sz="1900" dirty="0">
                <a:latin typeface="Google Sans Flex SemiBold"/>
              </a:rPr>
              <a:t>GO asks, and suggests </a:t>
            </a:r>
            <a:endParaRPr lang="en-GB" sz="1900" dirty="0">
              <a:latin typeface="Google Sans Flex SemiBold"/>
            </a:endParaRPr>
          </a:p>
          <a:p>
            <a:pPr algn="l"/>
            <a:r>
              <a:rPr sz="1900" dirty="0">
                <a:latin typeface="Google Sans Flex SemiBold"/>
              </a:rPr>
              <a:t>the next step</a:t>
            </a:r>
          </a:p>
        </p:txBody>
      </p:sp>
      <p:sp>
        <p:nvSpPr>
          <p:cNvPr id="14" name="!!room3-head">
            <a:extLst>
              <a:ext uri="{FF2B5EF4-FFF2-40B4-BE49-F238E27FC236}">
                <a16:creationId xmlns:a16="http://schemas.microsoft.com/office/drawing/2014/main" id="{2F1338B8-20C4-83EA-137B-EA5844BAC110}"/>
              </a:ext>
            </a:extLst>
          </p:cNvPr>
          <p:cNvSpPr txBox="1"/>
          <p:nvPr/>
        </p:nvSpPr>
        <p:spPr>
          <a:xfrm>
            <a:off x="-8307811" y="4428779"/>
            <a:ext cx="5120640" cy="457200"/>
          </a:xfrm>
          <a:prstGeom prst="rect">
            <a:avLst/>
          </a:prstGeom>
          <a:noFill/>
        </p:spPr>
        <p:txBody>
          <a:bodyPr wrap="square" lIns="0" tIns="0" rIns="0" bIns="0" anchor="t">
            <a:spAutoFit/>
          </a:bodyPr>
          <a:lstStyle/>
          <a:p>
            <a:pPr algn="l"/>
            <a:r>
              <a:rPr sz="1900" dirty="0">
                <a:latin typeface="Google Sans Flex SemiBold"/>
              </a:rPr>
              <a:t>A person decides</a:t>
            </a:r>
          </a:p>
        </p:txBody>
      </p:sp>
      <p:sp>
        <p:nvSpPr>
          <p:cNvPr id="16" name="!!edge0">
            <a:extLst>
              <a:ext uri="{FF2B5EF4-FFF2-40B4-BE49-F238E27FC236}">
                <a16:creationId xmlns:a16="http://schemas.microsoft.com/office/drawing/2014/main" id="{9C7AF34D-E103-A360-6D34-264E56FB123E}"/>
              </a:ext>
            </a:extLst>
          </p:cNvPr>
          <p:cNvSpPr/>
          <p:nvPr/>
        </p:nvSpPr>
        <p:spPr>
          <a:xfrm>
            <a:off x="-8116343" y="594360"/>
            <a:ext cx="640080" cy="64008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7" name="!!tool0-head">
            <a:extLst>
              <a:ext uri="{FF2B5EF4-FFF2-40B4-BE49-F238E27FC236}">
                <a16:creationId xmlns:a16="http://schemas.microsoft.com/office/drawing/2014/main" id="{36E7F1EA-057E-BBB0-A30D-F6524CF286E1}"/>
              </a:ext>
            </a:extLst>
          </p:cNvPr>
          <p:cNvSpPr txBox="1"/>
          <p:nvPr/>
        </p:nvSpPr>
        <p:spPr>
          <a:xfrm>
            <a:off x="-8838719" y="713271"/>
            <a:ext cx="2066544" cy="430887"/>
          </a:xfrm>
          <a:prstGeom prst="rect">
            <a:avLst/>
          </a:prstGeom>
          <a:noFill/>
        </p:spPr>
        <p:txBody>
          <a:bodyPr wrap="square" lIns="0" tIns="0" rIns="0" bIns="0" anchor="t">
            <a:spAutoFit/>
          </a:bodyPr>
          <a:lstStyle/>
          <a:p>
            <a:pPr algn="ctr"/>
            <a:r>
              <a:rPr lang="en-GB" sz="2800" dirty="0">
                <a:solidFill>
                  <a:srgbClr val="00B050"/>
                </a:solidFill>
                <a:latin typeface="Google Sans Flex SemiBold"/>
              </a:rPr>
              <a:t>B</a:t>
            </a:r>
            <a:endParaRPr sz="2800" dirty="0">
              <a:solidFill>
                <a:srgbClr val="00B050"/>
              </a:solidFill>
              <a:latin typeface="Google Sans Flex SemiBold"/>
            </a:endParaRPr>
          </a:p>
        </p:txBody>
      </p:sp>
      <p:cxnSp>
        <p:nvCxnSpPr>
          <p:cNvPr id="18" name="Straight Connector 17">
            <a:extLst>
              <a:ext uri="{FF2B5EF4-FFF2-40B4-BE49-F238E27FC236}">
                <a16:creationId xmlns:a16="http://schemas.microsoft.com/office/drawing/2014/main" id="{5437DAAE-ECDA-2172-880D-00DD06D6B8E1}"/>
              </a:ext>
            </a:extLst>
          </p:cNvPr>
          <p:cNvCxnSpPr>
            <a:cxnSpLocks/>
          </p:cNvCxnSpPr>
          <p:nvPr/>
        </p:nvCxnSpPr>
        <p:spPr>
          <a:xfrm>
            <a:off x="-5687881" y="2573806"/>
            <a:ext cx="3264060"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B46FBF9-C349-CD0C-F622-123CE543837B}"/>
              </a:ext>
            </a:extLst>
          </p:cNvPr>
          <p:cNvCxnSpPr>
            <a:cxnSpLocks/>
          </p:cNvCxnSpPr>
          <p:nvPr/>
        </p:nvCxnSpPr>
        <p:spPr>
          <a:xfrm>
            <a:off x="-6815641" y="3429000"/>
            <a:ext cx="3264060"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CFF1A6-75BD-33B1-54E6-500204B58847}"/>
              </a:ext>
            </a:extLst>
          </p:cNvPr>
          <p:cNvCxnSpPr>
            <a:cxnSpLocks/>
          </p:cNvCxnSpPr>
          <p:nvPr/>
        </p:nvCxnSpPr>
        <p:spPr>
          <a:xfrm>
            <a:off x="-7943401" y="4295692"/>
            <a:ext cx="3264060"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55460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5386"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1"/>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withEffect">
                                  <p:stCondLst>
                                    <p:cond delay="0"/>
                                  </p:stCondLst>
                                  <p:childTnLst>
                                    <p:cmd type="call" cmd="togglePause">
                                      <p:cBhvr>
                                        <p:cTn id="11" dur="1" fill="hold"/>
                                        <p:tgtEl>
                                          <p:spTgt spid="21"/>
                                        </p:tgtEl>
                                      </p:cBhvr>
                                    </p:cmd>
                                  </p:childTnLst>
                                </p:cTn>
                              </p:par>
                            </p:childTnLst>
                          </p:cTn>
                        </p:par>
                      </p:childTnLst>
                    </p:cTn>
                  </p:par>
                </p:childTnLst>
              </p:cTn>
              <p:nextCondLst>
                <p:cond evt="onClick" delay="0">
                  <p:tgtEl>
                    <p:spTgt spid="21"/>
                  </p:tgtEl>
                </p:cond>
              </p:nextCondLst>
            </p:seq>
            <p:video>
              <p:cMediaNode vol="80000">
                <p:cTn id="12" fill="hold" display="0">
                  <p:stCondLst>
                    <p:cond delay="indefinite"/>
                  </p:stCondLst>
                </p:cTn>
                <p:tgtEl>
                  <p:spTgt spid="21"/>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why0">
            <a:extLst>
              <a:ext uri="{FF2B5EF4-FFF2-40B4-BE49-F238E27FC236}">
                <a16:creationId xmlns:a16="http://schemas.microsoft.com/office/drawing/2014/main" id="{B6A24B68-4463-6CB7-172A-824CE61DD537}"/>
              </a:ext>
            </a:extLst>
          </p:cNvPr>
          <p:cNvSpPr/>
          <p:nvPr/>
        </p:nvSpPr>
        <p:spPr>
          <a:xfrm>
            <a:off x="5010744" y="1777222"/>
            <a:ext cx="5797605" cy="4356244"/>
          </a:xfrm>
          <a:prstGeom prst="roundRect">
            <a:avLst>
              <a:gd name="adj" fmla="val 11428"/>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8" name="!!why0">
            <a:extLst>
              <a:ext uri="{FF2B5EF4-FFF2-40B4-BE49-F238E27FC236}">
                <a16:creationId xmlns:a16="http://schemas.microsoft.com/office/drawing/2014/main" id="{4389D9CA-F5C7-370B-B05D-13B19B04E02C}"/>
              </a:ext>
            </a:extLst>
          </p:cNvPr>
          <p:cNvSpPr/>
          <p:nvPr/>
        </p:nvSpPr>
        <p:spPr>
          <a:xfrm>
            <a:off x="5163144" y="1929622"/>
            <a:ext cx="5453521" cy="1057795"/>
          </a:xfrm>
          <a:prstGeom prst="roundRect">
            <a:avLst>
              <a:gd name="adj" fmla="val 3781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0" name="!!why0">
            <a:extLst>
              <a:ext uri="{FF2B5EF4-FFF2-40B4-BE49-F238E27FC236}">
                <a16:creationId xmlns:a16="http://schemas.microsoft.com/office/drawing/2014/main" id="{02B067B7-793B-6B79-C6DD-646CBBF5DF08}"/>
              </a:ext>
            </a:extLst>
          </p:cNvPr>
          <p:cNvSpPr/>
          <p:nvPr/>
        </p:nvSpPr>
        <p:spPr>
          <a:xfrm>
            <a:off x="5163144" y="2973131"/>
            <a:ext cx="5453521" cy="897450"/>
          </a:xfrm>
          <a:prstGeom prst="roundRect">
            <a:avLst>
              <a:gd name="adj" fmla="val 3781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15" name="!!why0">
            <a:extLst>
              <a:ext uri="{FF2B5EF4-FFF2-40B4-BE49-F238E27FC236}">
                <a16:creationId xmlns:a16="http://schemas.microsoft.com/office/drawing/2014/main" id="{7511E58B-42FC-1638-25D4-5B3098363CC7}"/>
              </a:ext>
            </a:extLst>
          </p:cNvPr>
          <p:cNvSpPr/>
          <p:nvPr/>
        </p:nvSpPr>
        <p:spPr>
          <a:xfrm>
            <a:off x="5163144" y="3866068"/>
            <a:ext cx="5453521" cy="923573"/>
          </a:xfrm>
          <a:prstGeom prst="roundRect">
            <a:avLst>
              <a:gd name="adj" fmla="val 3781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3" name="!!why0">
            <a:extLst>
              <a:ext uri="{FF2B5EF4-FFF2-40B4-BE49-F238E27FC236}">
                <a16:creationId xmlns:a16="http://schemas.microsoft.com/office/drawing/2014/main" id="{8637C9EF-E229-3C43-45B5-7ED37CAB8C32}"/>
              </a:ext>
            </a:extLst>
          </p:cNvPr>
          <p:cNvSpPr/>
          <p:nvPr/>
        </p:nvSpPr>
        <p:spPr>
          <a:xfrm>
            <a:off x="5163144" y="4784980"/>
            <a:ext cx="5453521" cy="57015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 name="!!title"/>
          <p:cNvSpPr txBox="1"/>
          <p:nvPr/>
        </p:nvSpPr>
        <p:spPr>
          <a:xfrm>
            <a:off x="5134034" y="778980"/>
            <a:ext cx="7863840" cy="615553"/>
          </a:xfrm>
          <a:prstGeom prst="rect">
            <a:avLst/>
          </a:prstGeom>
          <a:noFill/>
        </p:spPr>
        <p:txBody>
          <a:bodyPr wrap="square" lIns="0" tIns="0" rIns="0" bIns="0" anchor="t">
            <a:spAutoFit/>
          </a:bodyPr>
          <a:lstStyle/>
          <a:p>
            <a:r>
              <a:rPr sz="4000" dirty="0">
                <a:solidFill>
                  <a:srgbClr val="00B050"/>
                </a:solidFill>
                <a:latin typeface="Google Sans Flex SemiBold"/>
              </a:rPr>
              <a:t>Made for</a:t>
            </a:r>
            <a:r>
              <a:rPr sz="4000" dirty="0">
                <a:latin typeface="Google Sans Flex Light"/>
              </a:rPr>
              <a:t> the driver</a:t>
            </a:r>
          </a:p>
        </p:txBody>
      </p:sp>
      <p:sp>
        <p:nvSpPr>
          <p:cNvPr id="9" name="!!drv0-head"/>
          <p:cNvSpPr txBox="1"/>
          <p:nvPr/>
        </p:nvSpPr>
        <p:spPr>
          <a:xfrm>
            <a:off x="5504829" y="2164043"/>
            <a:ext cx="5303520" cy="457200"/>
          </a:xfrm>
          <a:prstGeom prst="rect">
            <a:avLst/>
          </a:prstGeom>
          <a:noFill/>
        </p:spPr>
        <p:txBody>
          <a:bodyPr wrap="square" lIns="0" tIns="0" rIns="0" bIns="0" anchor="t">
            <a:spAutoFit/>
          </a:bodyPr>
          <a:lstStyle/>
          <a:p>
            <a:pPr algn="l"/>
            <a:r>
              <a:rPr sz="2000" dirty="0">
                <a:solidFill>
                  <a:srgbClr val="00B050"/>
                </a:solidFill>
                <a:latin typeface="Google Sans Flex SemiBold"/>
              </a:rPr>
              <a:t>Works with no signal</a:t>
            </a:r>
          </a:p>
        </p:txBody>
      </p:sp>
      <p:sp>
        <p:nvSpPr>
          <p:cNvPr id="11" name="!!drv1-head"/>
          <p:cNvSpPr txBox="1"/>
          <p:nvPr/>
        </p:nvSpPr>
        <p:spPr>
          <a:xfrm>
            <a:off x="5504829" y="3078443"/>
            <a:ext cx="5303520" cy="307777"/>
          </a:xfrm>
          <a:prstGeom prst="rect">
            <a:avLst/>
          </a:prstGeom>
          <a:noFill/>
        </p:spPr>
        <p:txBody>
          <a:bodyPr wrap="square" lIns="0" tIns="0" rIns="0" bIns="0" anchor="t">
            <a:spAutoFit/>
          </a:bodyPr>
          <a:lstStyle/>
          <a:p>
            <a:pPr algn="l"/>
            <a:r>
              <a:rPr sz="2000">
                <a:latin typeface="Google Sans Flex SemiBold"/>
              </a:rPr>
              <a:t>Dark screen while driving</a:t>
            </a:r>
          </a:p>
        </p:txBody>
      </p:sp>
      <p:sp>
        <p:nvSpPr>
          <p:cNvPr id="12" name="!!drv1-sub"/>
          <p:cNvSpPr txBox="1"/>
          <p:nvPr/>
        </p:nvSpPr>
        <p:spPr>
          <a:xfrm>
            <a:off x="5504829" y="3489923"/>
            <a:ext cx="5303520" cy="230832"/>
          </a:xfrm>
          <a:prstGeom prst="rect">
            <a:avLst/>
          </a:prstGeom>
          <a:noFill/>
        </p:spPr>
        <p:txBody>
          <a:bodyPr wrap="square" lIns="0" tIns="0" rIns="0" bIns="0" anchor="t">
            <a:spAutoFit/>
          </a:bodyPr>
          <a:lstStyle/>
          <a:p>
            <a:pPr algn="l"/>
            <a:r>
              <a:rPr sz="1500">
                <a:solidFill>
                  <a:sysClr val="windowText" lastClr="000000"/>
                </a:solidFill>
                <a:latin typeface="Google Sans Flex Light"/>
              </a:rPr>
              <a:t>nothing to read, nothing to tap</a:t>
            </a:r>
          </a:p>
        </p:txBody>
      </p:sp>
      <p:sp>
        <p:nvSpPr>
          <p:cNvPr id="14" name="!!drv2-head"/>
          <p:cNvSpPr txBox="1"/>
          <p:nvPr/>
        </p:nvSpPr>
        <p:spPr>
          <a:xfrm>
            <a:off x="5504829" y="3992843"/>
            <a:ext cx="5303520" cy="307777"/>
          </a:xfrm>
          <a:prstGeom prst="rect">
            <a:avLst/>
          </a:prstGeom>
          <a:noFill/>
        </p:spPr>
        <p:txBody>
          <a:bodyPr wrap="square" lIns="0" tIns="0" rIns="0" bIns="0" anchor="t">
            <a:spAutoFit/>
          </a:bodyPr>
          <a:lstStyle/>
          <a:p>
            <a:pPr algn="l"/>
            <a:r>
              <a:rPr sz="2000">
                <a:solidFill>
                  <a:sysClr val="windowText" lastClr="000000"/>
                </a:solidFill>
                <a:latin typeface="Google Sans Flex SemiBold"/>
              </a:rPr>
              <a:t>Fuel QR, even offline</a:t>
            </a:r>
          </a:p>
        </p:txBody>
      </p:sp>
      <p:sp>
        <p:nvSpPr>
          <p:cNvPr id="16" name="!!drv3-head"/>
          <p:cNvSpPr txBox="1"/>
          <p:nvPr/>
        </p:nvSpPr>
        <p:spPr>
          <a:xfrm>
            <a:off x="5504829" y="4907243"/>
            <a:ext cx="5303520" cy="307777"/>
          </a:xfrm>
          <a:prstGeom prst="rect">
            <a:avLst/>
          </a:prstGeom>
          <a:noFill/>
        </p:spPr>
        <p:txBody>
          <a:bodyPr wrap="square" lIns="0" tIns="0" rIns="0" bIns="0" anchor="t">
            <a:spAutoFit/>
          </a:bodyPr>
          <a:lstStyle/>
          <a:p>
            <a:pPr algn="l"/>
            <a:r>
              <a:rPr sz="2000" dirty="0">
                <a:solidFill>
                  <a:sysClr val="windowText" lastClr="000000"/>
                </a:solidFill>
                <a:latin typeface="Google Sans Flex SemiBold"/>
              </a:rPr>
              <a:t>Next stop, one action</a:t>
            </a:r>
          </a:p>
        </p:txBody>
      </p:sp>
      <p:sp>
        <p:nvSpPr>
          <p:cNvPr id="17" name="!!drv0-sub"/>
          <p:cNvSpPr txBox="1"/>
          <p:nvPr/>
        </p:nvSpPr>
        <p:spPr>
          <a:xfrm>
            <a:off x="5504829" y="2575523"/>
            <a:ext cx="5303520" cy="230832"/>
          </a:xfrm>
          <a:prstGeom prst="rect">
            <a:avLst/>
          </a:prstGeom>
          <a:noFill/>
        </p:spPr>
        <p:txBody>
          <a:bodyPr wrap="square" lIns="0" tIns="0" rIns="0" bIns="0" anchor="t">
            <a:spAutoFit/>
          </a:bodyPr>
          <a:lstStyle/>
          <a:p>
            <a:pPr algn="l"/>
            <a:r>
              <a:rPr sz="1500">
                <a:latin typeface="Google Sans Flex Light"/>
              </a:rPr>
              <a:t>the day's trip on the phone; proof sent when signal returns</a:t>
            </a:r>
          </a:p>
        </p:txBody>
      </p:sp>
      <p:sp>
        <p:nvSpPr>
          <p:cNvPr id="18" name="!!drv2-sub"/>
          <p:cNvSpPr txBox="1"/>
          <p:nvPr/>
        </p:nvSpPr>
        <p:spPr>
          <a:xfrm>
            <a:off x="5504829" y="4404323"/>
            <a:ext cx="5303520" cy="230832"/>
          </a:xfrm>
          <a:prstGeom prst="rect">
            <a:avLst/>
          </a:prstGeom>
          <a:noFill/>
        </p:spPr>
        <p:txBody>
          <a:bodyPr wrap="square" lIns="0" tIns="0" rIns="0" bIns="0" anchor="t">
            <a:spAutoFit/>
          </a:bodyPr>
          <a:lstStyle/>
          <a:p>
            <a:pPr algn="l"/>
            <a:r>
              <a:rPr sz="1500">
                <a:solidFill>
                  <a:sysClr val="windowText" lastClr="000000"/>
                </a:solidFill>
                <a:latin typeface="Google Sans Flex Light"/>
              </a:rPr>
              <a:t>the fuel pass works at the pump with no signal</a:t>
            </a:r>
          </a:p>
        </p:txBody>
      </p:sp>
      <p:sp>
        <p:nvSpPr>
          <p:cNvPr id="20" name="!!drv4-head"/>
          <p:cNvSpPr txBox="1"/>
          <p:nvPr/>
        </p:nvSpPr>
        <p:spPr>
          <a:xfrm>
            <a:off x="5504829" y="5501603"/>
            <a:ext cx="5303520" cy="307777"/>
          </a:xfrm>
          <a:prstGeom prst="rect">
            <a:avLst/>
          </a:prstGeom>
          <a:noFill/>
        </p:spPr>
        <p:txBody>
          <a:bodyPr wrap="square" lIns="0" tIns="0" rIns="0" bIns="0" anchor="t">
            <a:spAutoFit/>
          </a:bodyPr>
          <a:lstStyle/>
          <a:p>
            <a:pPr algn="l"/>
            <a:r>
              <a:rPr sz="2000">
                <a:latin typeface="Google Sans Flex SemiBold"/>
              </a:rPr>
              <a:t>Voice notes to listen to, not read</a:t>
            </a:r>
          </a:p>
        </p:txBody>
      </p:sp>
      <p:cxnSp>
        <p:nvCxnSpPr>
          <p:cNvPr id="25" name="Straight Connector 24">
            <a:extLst>
              <a:ext uri="{FF2B5EF4-FFF2-40B4-BE49-F238E27FC236}">
                <a16:creationId xmlns:a16="http://schemas.microsoft.com/office/drawing/2014/main" id="{8A71D79B-09EE-BD50-9307-76F36183DC1C}"/>
              </a:ext>
            </a:extLst>
          </p:cNvPr>
          <p:cNvCxnSpPr>
            <a:cxnSpLocks/>
          </p:cNvCxnSpPr>
          <p:nvPr/>
        </p:nvCxnSpPr>
        <p:spPr>
          <a:xfrm>
            <a:off x="5375474" y="2973131"/>
            <a:ext cx="2961010"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FDF51BC-4DC1-8055-8FAD-333BB105A12F}"/>
              </a:ext>
            </a:extLst>
          </p:cNvPr>
          <p:cNvCxnSpPr>
            <a:cxnSpLocks/>
          </p:cNvCxnSpPr>
          <p:nvPr/>
        </p:nvCxnSpPr>
        <p:spPr>
          <a:xfrm>
            <a:off x="5375474" y="3870581"/>
            <a:ext cx="2961010"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9B9304-73F4-D86D-6F51-AF04AE148454}"/>
              </a:ext>
            </a:extLst>
          </p:cNvPr>
          <p:cNvCxnSpPr>
            <a:cxnSpLocks/>
          </p:cNvCxnSpPr>
          <p:nvPr/>
        </p:nvCxnSpPr>
        <p:spPr>
          <a:xfrm>
            <a:off x="5375474" y="4784981"/>
            <a:ext cx="2961010"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1D0C373-146F-8412-1220-A95D5973A73E}"/>
              </a:ext>
            </a:extLst>
          </p:cNvPr>
          <p:cNvCxnSpPr>
            <a:cxnSpLocks/>
          </p:cNvCxnSpPr>
          <p:nvPr/>
        </p:nvCxnSpPr>
        <p:spPr>
          <a:xfrm>
            <a:off x="5375474" y="5360333"/>
            <a:ext cx="2961010"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pic>
        <p:nvPicPr>
          <p:cNvPr id="6" name="06-voice-driver-receives-dark-phone">
            <a:hlinkClick r:id="" action="ppaction://media"/>
            <a:extLst>
              <a:ext uri="{FF2B5EF4-FFF2-40B4-BE49-F238E27FC236}">
                <a16:creationId xmlns:a16="http://schemas.microsoft.com/office/drawing/2014/main" id="{837AB69E-86D7-5C67-F1C4-030EFF941078}"/>
              </a:ext>
            </a:extLst>
          </p:cNvPr>
          <p:cNvPicPr>
            <a:picLocks noChangeAspect="1"/>
          </p:cNvPicPr>
          <p:nvPr>
            <a:videoFile r:link="rId1"/>
            <p:extLst>
              <p:ext uri="{DAA4B4D4-6D71-4841-9C94-3DE7FCFB9230}">
                <p14:media xmlns:p14="http://schemas.microsoft.com/office/powerpoint/2010/main" r:embed="rId2">
                  <p14:trim st="6478" end="2785"/>
                </p14:media>
              </p:ext>
            </p:extLst>
          </p:nvPr>
        </p:nvPicPr>
        <p:blipFill>
          <a:blip r:embed="rId8"/>
          <a:stretch>
            <a:fillRect/>
          </a:stretch>
        </p:blipFill>
        <p:spPr>
          <a:xfrm>
            <a:off x="1383651" y="778981"/>
            <a:ext cx="2626875" cy="5691122"/>
          </a:xfrm>
          <a:prstGeom prst="rect">
            <a:avLst/>
          </a:prstGeom>
        </p:spPr>
      </p:pic>
      <p:pic>
        <p:nvPicPr>
          <p:cNvPr id="3" name="06-driver-fuel-qr-offline-dark-phone">
            <a:hlinkClick r:id="" action="ppaction://media"/>
            <a:extLst>
              <a:ext uri="{FF2B5EF4-FFF2-40B4-BE49-F238E27FC236}">
                <a16:creationId xmlns:a16="http://schemas.microsoft.com/office/drawing/2014/main" id="{F1ECC77A-DBE2-B669-C4CE-2096604AEA6E}"/>
              </a:ext>
            </a:extLst>
          </p:cNvPr>
          <p:cNvPicPr>
            <a:picLocks noChangeAspect="1"/>
          </p:cNvPicPr>
          <p:nvPr>
            <a:videoFile r:link="rId1"/>
            <p:extLst>
              <p:ext uri="{DAA4B4D4-6D71-4841-9C94-3DE7FCFB9230}">
                <p14:media xmlns:p14="http://schemas.microsoft.com/office/powerpoint/2010/main" r:embed="rId3">
                  <p14:trim st="2719" end="2940"/>
                </p14:media>
              </p:ext>
            </p:extLst>
          </p:nvPr>
        </p:nvPicPr>
        <p:blipFill>
          <a:blip r:embed="rId9"/>
          <a:stretch>
            <a:fillRect/>
          </a:stretch>
        </p:blipFill>
        <p:spPr>
          <a:xfrm>
            <a:off x="1383651" y="778981"/>
            <a:ext cx="2626875" cy="5691122"/>
          </a:xfrm>
          <a:prstGeom prst="rect">
            <a:avLst/>
          </a:prstGeom>
        </p:spPr>
      </p:pic>
      <p:pic>
        <p:nvPicPr>
          <p:cNvPr id="2" name="06-driver-driving-dark-phone">
            <a:hlinkClick r:id="" action="ppaction://media"/>
            <a:extLst>
              <a:ext uri="{FF2B5EF4-FFF2-40B4-BE49-F238E27FC236}">
                <a16:creationId xmlns:a16="http://schemas.microsoft.com/office/drawing/2014/main" id="{5B4D038D-3EFB-323A-33C4-A67EC91F58FC}"/>
              </a:ext>
            </a:extLst>
          </p:cNvPr>
          <p:cNvPicPr>
            <a:picLocks noChangeAspect="1"/>
          </p:cNvPicPr>
          <p:nvPr>
            <a:videoFile r:link="rId1"/>
            <p:extLst>
              <p:ext uri="{DAA4B4D4-6D71-4841-9C94-3DE7FCFB9230}">
                <p14:media xmlns:p14="http://schemas.microsoft.com/office/powerpoint/2010/main" r:embed="rId4">
                  <p14:trim st="2686" end="9527"/>
                </p14:media>
              </p:ext>
            </p:extLst>
          </p:nvPr>
        </p:nvPicPr>
        <p:blipFill>
          <a:blip r:embed="rId10"/>
          <a:stretch>
            <a:fillRect/>
          </a:stretch>
        </p:blipFill>
        <p:spPr>
          <a:xfrm>
            <a:off x="1383651" y="778981"/>
            <a:ext cx="2626875" cy="5691122"/>
          </a:xfrm>
          <a:prstGeom prst="rect">
            <a:avLst/>
          </a:prstGeom>
        </p:spPr>
      </p:pic>
      <p:pic>
        <p:nvPicPr>
          <p:cNvPr id="4" name="06-driver-no-signal-dark-phone">
            <a:hlinkClick r:id="" action="ppaction://media"/>
            <a:extLst>
              <a:ext uri="{FF2B5EF4-FFF2-40B4-BE49-F238E27FC236}">
                <a16:creationId xmlns:a16="http://schemas.microsoft.com/office/drawing/2014/main" id="{4224C54B-F4E7-7F63-DBFB-F6FF5C495AC4}"/>
              </a:ext>
            </a:extLst>
          </p:cNvPr>
          <p:cNvPicPr>
            <a:picLocks noChangeAspect="1"/>
          </p:cNvPicPr>
          <p:nvPr>
            <a:videoFile r:link="rId1"/>
            <p:extLst>
              <p:ext uri="{DAA4B4D4-6D71-4841-9C94-3DE7FCFB9230}">
                <p14:media xmlns:p14="http://schemas.microsoft.com/office/powerpoint/2010/main" r:embed="rId5">
                  <p14:trim st="9415" end="2091"/>
                </p14:media>
              </p:ext>
            </p:extLst>
          </p:nvPr>
        </p:nvPicPr>
        <p:blipFill>
          <a:blip r:embed="rId11"/>
          <a:stretch>
            <a:fillRect/>
          </a:stretch>
        </p:blipFill>
        <p:spPr>
          <a:xfrm>
            <a:off x="1383651" y="778981"/>
            <a:ext cx="2626875" cy="5691122"/>
          </a:xfrm>
          <a:prstGeom prst="rect">
            <a:avLst/>
          </a:prstGeom>
        </p:spPr>
      </p:pic>
      <p:pic>
        <p:nvPicPr>
          <p:cNvPr id="13" name="Picture 12">
            <a:extLst>
              <a:ext uri="{FF2B5EF4-FFF2-40B4-BE49-F238E27FC236}">
                <a16:creationId xmlns:a16="http://schemas.microsoft.com/office/drawing/2014/main" id="{282B8662-E428-452C-16F1-DA6696D7508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05854" y="368968"/>
            <a:ext cx="4043142" cy="6490306"/>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228" fill="hold"/>
                                        <p:tgtEl>
                                          <p:spTgt spid="4"/>
                                        </p:tgtEl>
                                      </p:cBhvr>
                                    </p:cmd>
                                  </p:childTnLst>
                                </p:cTn>
                              </p:par>
                              <p:par>
                                <p:cTn id="7" presetID="10"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9187" fill="hold"/>
                                        <p:tgtEl>
                                          <p:spTgt spid="2"/>
                                        </p:tgtEl>
                                      </p:cBhvr>
                                    </p:cmd>
                                  </p:childTnLst>
                                </p:cTn>
                              </p:par>
                              <p:par>
                                <p:cTn id="14" presetID="10" presetClass="exit" presetSubtype="0" fill="hold" grpId="1" nodeType="withEffect">
                                  <p:stCondLst>
                                    <p:cond delay="0"/>
                                  </p:stCondLst>
                                  <p:childTnLst>
                                    <p:animEffect transition="out" filter="fade">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xit" presetSubtype="0" fill="hold" nodeType="withEffect">
                                  <p:stCondLst>
                                    <p:cond delay="0"/>
                                  </p:stCondLst>
                                  <p:childTnLst>
                                    <p:animEffect transition="out" filter="fade">
                                      <p:cBhvr>
                                        <p:cTn id="21" dur="500"/>
                                        <p:tgtEl>
                                          <p:spTgt spid="4"/>
                                        </p:tgtEl>
                                      </p:cBhvr>
                                    </p:animEffect>
                                    <p:set>
                                      <p:cBhvr>
                                        <p:cTn id="22" dur="1" fill="hold">
                                          <p:stCondLst>
                                            <p:cond delay="499"/>
                                          </p:stCondLst>
                                        </p:cTn>
                                        <p:tgtEl>
                                          <p:spTgt spid="4"/>
                                        </p:tgtEl>
                                        <p:attrNameLst>
                                          <p:attrName>style.visibility</p:attrName>
                                        </p:attrNameLst>
                                      </p:cBhvr>
                                      <p:to>
                                        <p:strVal val="hidden"/>
                                      </p:to>
                                    </p:set>
                                    <p:cmd type="call" cmd="stop">
                                      <p:cBhvr>
                                        <p:cTn id="23" dur="1">
                                          <p:stCondLst>
                                            <p:cond delay="499"/>
                                          </p:stCondLst>
                                        </p:cTn>
                                        <p:tgtEl>
                                          <p:spTgt spid="4"/>
                                        </p:tgtEl>
                                      </p:cBhvr>
                                    </p:cmd>
                                  </p:childTnLst>
                                </p:cTn>
                              </p:par>
                            </p:childTnLst>
                          </p:cTn>
                        </p:par>
                      </p:childTnLst>
                    </p:cTn>
                  </p:par>
                  <p:par>
                    <p:cTn id="24" fill="hold">
                      <p:stCondLst>
                        <p:cond delay="indefinite"/>
                      </p:stCondLst>
                      <p:childTnLst>
                        <p:par>
                          <p:cTn id="25" fill="hold">
                            <p:stCondLst>
                              <p:cond delay="0"/>
                            </p:stCondLst>
                            <p:childTnLst>
                              <p:par>
                                <p:cTn id="26" presetID="1" presetClass="mediacall" presetSubtype="0" fill="hold" nodeType="clickEffect">
                                  <p:stCondLst>
                                    <p:cond delay="0"/>
                                  </p:stCondLst>
                                  <p:childTnLst>
                                    <p:cmd type="call" cmd="playFrom(0.0)">
                                      <p:cBhvr>
                                        <p:cTn id="27" dur="3175" fill="hold"/>
                                        <p:tgtEl>
                                          <p:spTgt spid="3"/>
                                        </p:tgtEl>
                                      </p:cBhvr>
                                    </p:cmd>
                                  </p:childTnLst>
                                </p:cTn>
                              </p:par>
                              <p:par>
                                <p:cTn id="28" presetID="10" presetClass="exit" presetSubtype="0" fill="hold" grpId="1" nodeType="withEffect">
                                  <p:stCondLst>
                                    <p:cond delay="0"/>
                                  </p:stCondLst>
                                  <p:childTnLst>
                                    <p:animEffect transition="out" filter="fade">
                                      <p:cBhvr>
                                        <p:cTn id="29" dur="500"/>
                                        <p:tgtEl>
                                          <p:spTgt spid="10"/>
                                        </p:tgtEl>
                                      </p:cBhvr>
                                    </p:animEffect>
                                    <p:set>
                                      <p:cBhvr>
                                        <p:cTn id="30" dur="1" fill="hold">
                                          <p:stCondLst>
                                            <p:cond delay="499"/>
                                          </p:stCondLst>
                                        </p:cTn>
                                        <p:tgtEl>
                                          <p:spTgt spid="10"/>
                                        </p:tgtEl>
                                        <p:attrNameLst>
                                          <p:attrName>style.visibility</p:attrName>
                                        </p:attrNameLst>
                                      </p:cBhvr>
                                      <p:to>
                                        <p:strVal val="hidden"/>
                                      </p:to>
                                    </p:se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0" presetClass="exit" presetSubtype="0" fill="hold" nodeType="withEffect">
                                  <p:stCondLst>
                                    <p:cond delay="0"/>
                                  </p:stCondLst>
                                  <p:childTnLst>
                                    <p:animEffect transition="out" filter="fade">
                                      <p:cBhvr>
                                        <p:cTn id="35" dur="500"/>
                                        <p:tgtEl>
                                          <p:spTgt spid="2"/>
                                        </p:tgtEl>
                                      </p:cBhvr>
                                    </p:animEffect>
                                    <p:set>
                                      <p:cBhvr>
                                        <p:cTn id="36" dur="1" fill="hold">
                                          <p:stCondLst>
                                            <p:cond delay="499"/>
                                          </p:stCondLst>
                                        </p:cTn>
                                        <p:tgtEl>
                                          <p:spTgt spid="2"/>
                                        </p:tgtEl>
                                        <p:attrNameLst>
                                          <p:attrName>style.visibility</p:attrName>
                                        </p:attrNameLst>
                                      </p:cBhvr>
                                      <p:to>
                                        <p:strVal val="hidden"/>
                                      </p:to>
                                    </p:set>
                                    <p:cmd type="call" cmd="stop">
                                      <p:cBhvr>
                                        <p:cTn id="37" dur="1">
                                          <p:stCondLst>
                                            <p:cond delay="499"/>
                                          </p:stCondLst>
                                        </p:cTn>
                                        <p:tgtEl>
                                          <p:spTgt spid="2"/>
                                        </p:tgtEl>
                                      </p:cBhvr>
                                    </p:cmd>
                                  </p:childTnLst>
                                </p:cTn>
                              </p:par>
                            </p:childTnLst>
                          </p:cTn>
                        </p:par>
                      </p:childTnLst>
                    </p:cTn>
                  </p:par>
                  <p:par>
                    <p:cTn id="38" fill="hold">
                      <p:stCondLst>
                        <p:cond delay="indefinite"/>
                      </p:stCondLst>
                      <p:childTnLst>
                        <p:par>
                          <p:cTn id="39" fill="hold">
                            <p:stCondLst>
                              <p:cond delay="0"/>
                            </p:stCondLst>
                            <p:childTnLst>
                              <p:par>
                                <p:cTn id="40" presetID="1" presetClass="mediacall" presetSubtype="0" fill="hold" nodeType="clickEffect">
                                  <p:stCondLst>
                                    <p:cond delay="0"/>
                                  </p:stCondLst>
                                  <p:childTnLst>
                                    <p:cmd type="call" cmd="playFrom(0.0)">
                                      <p:cBhvr>
                                        <p:cTn id="41" dur="8237" fill="hold"/>
                                        <p:tgtEl>
                                          <p:spTgt spid="6"/>
                                        </p:tgtEl>
                                      </p:cBhvr>
                                    </p:cmd>
                                  </p:childTnLst>
                                </p:cTn>
                              </p:par>
                              <p:par>
                                <p:cTn id="42" presetID="10" presetClass="exit" presetSubtype="0" fill="hold" grpId="1" nodeType="withEffect">
                                  <p:stCondLst>
                                    <p:cond delay="0"/>
                                  </p:stCondLst>
                                  <p:childTnLst>
                                    <p:animEffect transition="out" filter="fade">
                                      <p:cBhvr>
                                        <p:cTn id="43" dur="500"/>
                                        <p:tgtEl>
                                          <p:spTgt spid="15"/>
                                        </p:tgtEl>
                                      </p:cBhvr>
                                    </p:animEffect>
                                    <p:set>
                                      <p:cBhvr>
                                        <p:cTn id="44" dur="1" fill="hold">
                                          <p:stCondLst>
                                            <p:cond delay="499"/>
                                          </p:stCondLst>
                                        </p:cTn>
                                        <p:tgtEl>
                                          <p:spTgt spid="15"/>
                                        </p:tgtEl>
                                        <p:attrNameLst>
                                          <p:attrName>style.visibility</p:attrName>
                                        </p:attrNameLst>
                                      </p:cBhvr>
                                      <p:to>
                                        <p:strVal val="hidden"/>
                                      </p:to>
                                    </p:se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par>
                                <p:cTn id="48" presetID="10" presetClass="exit" presetSubtype="0" fill="hold" nodeType="withEffect">
                                  <p:stCondLst>
                                    <p:cond delay="0"/>
                                  </p:stCondLst>
                                  <p:childTnLst>
                                    <p:animEffect transition="out" filter="fade">
                                      <p:cBhvr>
                                        <p:cTn id="49" dur="500"/>
                                        <p:tgtEl>
                                          <p:spTgt spid="3"/>
                                        </p:tgtEl>
                                      </p:cBhvr>
                                    </p:animEffect>
                                    <p:set>
                                      <p:cBhvr>
                                        <p:cTn id="50" dur="1" fill="hold">
                                          <p:stCondLst>
                                            <p:cond delay="499"/>
                                          </p:stCondLst>
                                        </p:cTn>
                                        <p:tgtEl>
                                          <p:spTgt spid="3"/>
                                        </p:tgtEl>
                                        <p:attrNameLst>
                                          <p:attrName>style.visibility</p:attrName>
                                        </p:attrNameLst>
                                      </p:cBhvr>
                                      <p:to>
                                        <p:strVal val="hidden"/>
                                      </p:to>
                                    </p:set>
                                    <p:cmd type="call" cmd="stop">
                                      <p:cBhvr>
                                        <p:cTn id="51" dur="1">
                                          <p:stCondLst>
                                            <p:cond delay="499"/>
                                          </p:stCondLst>
                                        </p:cTn>
                                        <p:tgtEl>
                                          <p:spTgt spid="3"/>
                                        </p:tgtEl>
                                      </p:cBhvr>
                                    </p:cmd>
                                  </p:childTnLst>
                                </p:cTn>
                              </p:par>
                            </p:childTnLst>
                          </p:cTn>
                        </p:par>
                        <p:par>
                          <p:cTn id="52" fill="hold">
                            <p:stCondLst>
                              <p:cond delay="8237"/>
                            </p:stCondLst>
                            <p:childTnLst>
                              <p:par>
                                <p:cTn id="53" presetID="10" presetClass="exit" presetSubtype="0" fill="hold" grpId="1" nodeType="afterEffect">
                                  <p:stCondLst>
                                    <p:cond delay="0"/>
                                  </p:stCondLst>
                                  <p:childTnLst>
                                    <p:animEffect transition="out" filter="fade">
                                      <p:cBhvr>
                                        <p:cTn id="54" dur="500"/>
                                        <p:tgtEl>
                                          <p:spTgt spid="23"/>
                                        </p:tgtEl>
                                      </p:cBhvr>
                                    </p:animEffect>
                                    <p:set>
                                      <p:cBhvr>
                                        <p:cTn id="55"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56" fill="hold" display="0">
                  <p:stCondLst>
                    <p:cond delay="indefinite"/>
                  </p:stCondLst>
                </p:cTn>
                <p:tgtEl>
                  <p:spTgt spid="2"/>
                </p:tgtEl>
              </p:cMediaNode>
            </p:video>
            <p:video>
              <p:cMediaNode vol="80000" mute="1">
                <p:cTn id="57" fill="hold" display="0">
                  <p:stCondLst>
                    <p:cond delay="indefinite"/>
                  </p:stCondLst>
                </p:cTn>
                <p:tgtEl>
                  <p:spTgt spid="3"/>
                </p:tgtEl>
              </p:cMediaNode>
            </p:video>
            <p:video>
              <p:cMediaNode vol="80000" mute="1">
                <p:cTn id="58" fill="hold" display="0">
                  <p:stCondLst>
                    <p:cond delay="indefinite"/>
                  </p:stCondLst>
                </p:cTn>
                <p:tgtEl>
                  <p:spTgt spid="4"/>
                </p:tgtEl>
              </p:cMediaNode>
            </p:video>
            <p:video>
              <p:cMediaNode vol="80000">
                <p:cTn id="59" fill="hold" display="0">
                  <p:stCondLst>
                    <p:cond delay="indefinite"/>
                  </p:stCondLst>
                </p:cTn>
                <p:tgtEl>
                  <p:spTgt spid="6"/>
                </p:tgtEl>
              </p:cMediaNode>
            </p:video>
          </p:childTnLst>
        </p:cTn>
      </p:par>
    </p:tnLst>
    <p:bldLst>
      <p:bldP spid="8" grpId="0" animBg="1"/>
      <p:bldP spid="8" grpId="1" animBg="1"/>
      <p:bldP spid="10" grpId="0" animBg="1"/>
      <p:bldP spid="10" grpId="1" animBg="1"/>
      <p:bldP spid="15" grpId="0" animBg="1"/>
      <p:bldP spid="15" grpId="1" animBg="1"/>
      <p:bldP spid="23" grpId="0" animBg="1"/>
      <p:bldP spid="23"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CD44C8-600F-9040-1D8E-A38DB2065F14}"/>
              </a:ext>
            </a:extLst>
          </p:cNvPr>
          <p:cNvPicPr>
            <a:picLocks noChangeAspect="1"/>
          </p:cNvPicPr>
          <p:nvPr/>
        </p:nvPicPr>
        <p:blipFill>
          <a:blip r:embed="rId3">
            <a:extLst>
              <a:ext uri="{28A0092B-C50C-407E-A947-70E740481C1C}">
                <a14:useLocalDpi xmlns:a14="http://schemas.microsoft.com/office/drawing/2010/main" val="0"/>
              </a:ext>
            </a:extLst>
          </a:blip>
          <a:srcRect l="15883" t="-1" r="11801" b="-3729"/>
          <a:stretch>
            <a:fillRect/>
          </a:stretch>
        </p:blipFill>
        <p:spPr>
          <a:xfrm>
            <a:off x="5868063" y="1846835"/>
            <a:ext cx="5820354" cy="3965567"/>
          </a:xfrm>
          <a:prstGeom prst="roundRect">
            <a:avLst>
              <a:gd name="adj" fmla="val 3148"/>
            </a:avLst>
          </a:prstGeom>
        </p:spPr>
      </p:pic>
      <p:sp>
        <p:nvSpPr>
          <p:cNvPr id="21" name="!!why0">
            <a:extLst>
              <a:ext uri="{FF2B5EF4-FFF2-40B4-BE49-F238E27FC236}">
                <a16:creationId xmlns:a16="http://schemas.microsoft.com/office/drawing/2014/main" id="{AC613147-85D6-85B3-30E7-04AA6478C6AF}"/>
              </a:ext>
            </a:extLst>
          </p:cNvPr>
          <p:cNvSpPr/>
          <p:nvPr/>
        </p:nvSpPr>
        <p:spPr>
          <a:xfrm>
            <a:off x="865468" y="2338736"/>
            <a:ext cx="4573130" cy="1174906"/>
          </a:xfrm>
          <a:prstGeom prst="roundRect">
            <a:avLst>
              <a:gd name="adj" fmla="val 3139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2" name="!!why0">
            <a:extLst>
              <a:ext uri="{FF2B5EF4-FFF2-40B4-BE49-F238E27FC236}">
                <a16:creationId xmlns:a16="http://schemas.microsoft.com/office/drawing/2014/main" id="{2B6F4AE8-8568-430C-1BE8-177F90CE9B84}"/>
              </a:ext>
            </a:extLst>
          </p:cNvPr>
          <p:cNvSpPr/>
          <p:nvPr/>
        </p:nvSpPr>
        <p:spPr>
          <a:xfrm>
            <a:off x="865468" y="3725122"/>
            <a:ext cx="4573130" cy="1571600"/>
          </a:xfrm>
          <a:prstGeom prst="roundRect">
            <a:avLst>
              <a:gd name="adj" fmla="val 3139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6" name="!!title"/>
          <p:cNvSpPr txBox="1"/>
          <p:nvPr/>
        </p:nvSpPr>
        <p:spPr>
          <a:xfrm>
            <a:off x="923544" y="891540"/>
            <a:ext cx="7863840" cy="1325880"/>
          </a:xfrm>
          <a:prstGeom prst="rect">
            <a:avLst/>
          </a:prstGeom>
          <a:noFill/>
        </p:spPr>
        <p:txBody>
          <a:bodyPr wrap="square" lIns="0" tIns="0" rIns="0" bIns="0" anchor="t">
            <a:spAutoFit/>
          </a:bodyPr>
          <a:lstStyle/>
          <a:p>
            <a:pPr algn="l"/>
            <a:r>
              <a:rPr sz="3600" dirty="0">
                <a:solidFill>
                  <a:srgbClr val="00B050"/>
                </a:solidFill>
                <a:latin typeface="Google Sans Flex SemiBold"/>
              </a:rPr>
              <a:t>Ask GO</a:t>
            </a:r>
            <a:r>
              <a:rPr sz="3600" dirty="0">
                <a:latin typeface="Google Sans Flex Light"/>
              </a:rPr>
              <a:t> with your own AI</a:t>
            </a:r>
          </a:p>
        </p:txBody>
      </p:sp>
      <p:sp>
        <p:nvSpPr>
          <p:cNvPr id="10" name="!!w8-0-head"/>
          <p:cNvSpPr txBox="1"/>
          <p:nvPr/>
        </p:nvSpPr>
        <p:spPr>
          <a:xfrm>
            <a:off x="1158240" y="2550215"/>
            <a:ext cx="4937760" cy="457200"/>
          </a:xfrm>
          <a:prstGeom prst="rect">
            <a:avLst/>
          </a:prstGeom>
          <a:noFill/>
        </p:spPr>
        <p:txBody>
          <a:bodyPr wrap="square" lIns="0" tIns="0" rIns="0" bIns="0" anchor="t">
            <a:spAutoFit/>
          </a:bodyPr>
          <a:lstStyle/>
          <a:p>
            <a:pPr algn="l"/>
            <a:r>
              <a:rPr sz="2200" dirty="0">
                <a:latin typeface="Google Sans Flex SemiBold"/>
              </a:rPr>
              <a:t>MCP: connect your own AI</a:t>
            </a:r>
          </a:p>
        </p:txBody>
      </p:sp>
      <p:sp>
        <p:nvSpPr>
          <p:cNvPr id="11" name="!!w8-0-sub"/>
          <p:cNvSpPr txBox="1"/>
          <p:nvPr/>
        </p:nvSpPr>
        <p:spPr>
          <a:xfrm>
            <a:off x="1158240" y="3007415"/>
            <a:ext cx="4937760" cy="548640"/>
          </a:xfrm>
          <a:prstGeom prst="rect">
            <a:avLst/>
          </a:prstGeom>
          <a:noFill/>
        </p:spPr>
        <p:txBody>
          <a:bodyPr wrap="square" lIns="0" tIns="0" rIns="0" bIns="0" anchor="t">
            <a:spAutoFit/>
          </a:bodyPr>
          <a:lstStyle/>
          <a:p>
            <a:pPr algn="l"/>
            <a:r>
              <a:rPr sz="1500">
                <a:solidFill>
                  <a:srgbClr val="6B7A72"/>
                </a:solidFill>
                <a:latin typeface="Google Sans Flex Light"/>
              </a:rPr>
              <a:t>"Which trips are at risk this morning?"</a:t>
            </a:r>
          </a:p>
        </p:txBody>
      </p:sp>
      <p:sp>
        <p:nvSpPr>
          <p:cNvPr id="13" name="!!w8-1-head"/>
          <p:cNvSpPr txBox="1"/>
          <p:nvPr/>
        </p:nvSpPr>
        <p:spPr>
          <a:xfrm>
            <a:off x="1158240" y="3968702"/>
            <a:ext cx="4937760" cy="457200"/>
          </a:xfrm>
          <a:prstGeom prst="rect">
            <a:avLst/>
          </a:prstGeom>
          <a:noFill/>
        </p:spPr>
        <p:txBody>
          <a:bodyPr wrap="square" lIns="0" tIns="0" rIns="0" bIns="0" anchor="t">
            <a:spAutoFit/>
          </a:bodyPr>
          <a:lstStyle/>
          <a:p>
            <a:pPr algn="l"/>
            <a:r>
              <a:rPr sz="2200" dirty="0">
                <a:latin typeface="Google Sans Flex SemiBold"/>
              </a:rPr>
              <a:t>Reads the day, within their permissions</a:t>
            </a:r>
          </a:p>
        </p:txBody>
      </p:sp>
      <p:sp>
        <p:nvSpPr>
          <p:cNvPr id="14" name="!!w8-1-sub"/>
          <p:cNvSpPr txBox="1"/>
          <p:nvPr/>
        </p:nvSpPr>
        <p:spPr>
          <a:xfrm>
            <a:off x="1158240" y="4823568"/>
            <a:ext cx="4937760" cy="548640"/>
          </a:xfrm>
          <a:prstGeom prst="rect">
            <a:avLst/>
          </a:prstGeom>
          <a:noFill/>
        </p:spPr>
        <p:txBody>
          <a:bodyPr wrap="square" lIns="0" tIns="0" rIns="0" bIns="0" anchor="t">
            <a:spAutoFit/>
          </a:bodyPr>
          <a:lstStyle/>
          <a:p>
            <a:pPr algn="l"/>
            <a:r>
              <a:rPr sz="1500" dirty="0">
                <a:solidFill>
                  <a:srgbClr val="6B7A72"/>
                </a:solidFill>
                <a:latin typeface="Google Sans Flex Light"/>
              </a:rPr>
              <a:t>trips, plans, issues, the audit trail</a:t>
            </a:r>
          </a:p>
        </p:txBody>
      </p:sp>
      <p:pic>
        <p:nvPicPr>
          <p:cNvPr id="19" name="Picture 18" descr="MockUPhone">
            <a:extLst>
              <a:ext uri="{FF2B5EF4-FFF2-40B4-BE49-F238E27FC236}">
                <a16:creationId xmlns:a16="http://schemas.microsoft.com/office/drawing/2014/main" id="{FC7FCEA3-6116-D28F-D27A-76FB7C02980D}"/>
              </a:ext>
            </a:extLst>
          </p:cNvPr>
          <p:cNvPicPr>
            <a:picLocks noChangeAspect="1"/>
          </p:cNvPicPr>
          <p:nvPr/>
        </p:nvPicPr>
        <p:blipFill>
          <a:blip r:embed="rId4"/>
          <a:stretch>
            <a:fillRect/>
          </a:stretch>
        </p:blipFill>
        <p:spPr>
          <a:xfrm>
            <a:off x="5040885" y="1371705"/>
            <a:ext cx="7492997" cy="4871209"/>
          </a:xfrm>
          <a:prstGeom prst="rect">
            <a:avLst/>
          </a:prstGeom>
        </p:spPr>
      </p:pic>
    </p:spTree>
  </p:cSld>
  <p:clrMapOvr>
    <a:masterClrMapping/>
  </p:clrMapOvr>
  <p:transition spd="slow">
    <p:push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02B34-33A3-5C58-FDBA-8F06183B342E}"/>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B89B6A7F-388C-B96D-E215-ECE30E1779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920" y="1924060"/>
            <a:ext cx="5822971" cy="3726820"/>
          </a:xfrm>
          <a:prstGeom prst="rect">
            <a:avLst/>
          </a:prstGeom>
        </p:spPr>
      </p:pic>
      <p:sp>
        <p:nvSpPr>
          <p:cNvPr id="21" name="!!why0">
            <a:extLst>
              <a:ext uri="{FF2B5EF4-FFF2-40B4-BE49-F238E27FC236}">
                <a16:creationId xmlns:a16="http://schemas.microsoft.com/office/drawing/2014/main" id="{EF9D24C1-432F-6B61-9990-D5EF7AAA8F50}"/>
              </a:ext>
            </a:extLst>
          </p:cNvPr>
          <p:cNvSpPr/>
          <p:nvPr/>
        </p:nvSpPr>
        <p:spPr>
          <a:xfrm>
            <a:off x="-5230532" y="1833372"/>
            <a:ext cx="4573130" cy="1174906"/>
          </a:xfrm>
          <a:prstGeom prst="roundRect">
            <a:avLst>
              <a:gd name="adj" fmla="val 3139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2" name="!!why0">
            <a:extLst>
              <a:ext uri="{FF2B5EF4-FFF2-40B4-BE49-F238E27FC236}">
                <a16:creationId xmlns:a16="http://schemas.microsoft.com/office/drawing/2014/main" id="{6263D9E2-8A42-6EA0-B8A9-2C8E3337D19D}"/>
              </a:ext>
            </a:extLst>
          </p:cNvPr>
          <p:cNvSpPr/>
          <p:nvPr/>
        </p:nvSpPr>
        <p:spPr>
          <a:xfrm>
            <a:off x="-5230532" y="3607775"/>
            <a:ext cx="4573130" cy="1571600"/>
          </a:xfrm>
          <a:prstGeom prst="roundRect">
            <a:avLst>
              <a:gd name="adj" fmla="val 3139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23" name="!!why0">
            <a:extLst>
              <a:ext uri="{FF2B5EF4-FFF2-40B4-BE49-F238E27FC236}">
                <a16:creationId xmlns:a16="http://schemas.microsoft.com/office/drawing/2014/main" id="{35988C7E-82CB-5783-ADD3-25BB2A9A4024}"/>
              </a:ext>
            </a:extLst>
          </p:cNvPr>
          <p:cNvSpPr/>
          <p:nvPr/>
        </p:nvSpPr>
        <p:spPr>
          <a:xfrm>
            <a:off x="-5230532" y="5330349"/>
            <a:ext cx="4573130" cy="1227626"/>
          </a:xfrm>
          <a:prstGeom prst="roundRect">
            <a:avLst>
              <a:gd name="adj" fmla="val 3139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6" name="!!title">
            <a:extLst>
              <a:ext uri="{FF2B5EF4-FFF2-40B4-BE49-F238E27FC236}">
                <a16:creationId xmlns:a16="http://schemas.microsoft.com/office/drawing/2014/main" id="{8295909C-B886-437D-4CD5-50280A60E4E4}"/>
              </a:ext>
            </a:extLst>
          </p:cNvPr>
          <p:cNvSpPr txBox="1"/>
          <p:nvPr/>
        </p:nvSpPr>
        <p:spPr>
          <a:xfrm>
            <a:off x="923544" y="891540"/>
            <a:ext cx="7863840" cy="553998"/>
          </a:xfrm>
          <a:prstGeom prst="rect">
            <a:avLst/>
          </a:prstGeom>
          <a:noFill/>
        </p:spPr>
        <p:txBody>
          <a:bodyPr wrap="square" lIns="0" tIns="0" rIns="0" bIns="0" anchor="t">
            <a:spAutoFit/>
          </a:bodyPr>
          <a:lstStyle/>
          <a:p>
            <a:r>
              <a:rPr lang="en-US" sz="3600" dirty="0">
                <a:solidFill>
                  <a:srgbClr val="00B050"/>
                </a:solidFill>
                <a:latin typeface="Google Sans Flex SemiBold"/>
              </a:rPr>
              <a:t>Run the rules,</a:t>
            </a:r>
            <a:r>
              <a:rPr lang="en-US" sz="3600" dirty="0">
                <a:latin typeface="Google Sans Flex Light"/>
              </a:rPr>
              <a:t> without a developer</a:t>
            </a:r>
          </a:p>
        </p:txBody>
      </p:sp>
      <p:sp>
        <p:nvSpPr>
          <p:cNvPr id="10" name="!!w8-0-head">
            <a:extLst>
              <a:ext uri="{FF2B5EF4-FFF2-40B4-BE49-F238E27FC236}">
                <a16:creationId xmlns:a16="http://schemas.microsoft.com/office/drawing/2014/main" id="{613D0CBB-2BAD-6A34-DD96-57A63D5566A6}"/>
              </a:ext>
            </a:extLst>
          </p:cNvPr>
          <p:cNvSpPr txBox="1"/>
          <p:nvPr/>
        </p:nvSpPr>
        <p:spPr>
          <a:xfrm>
            <a:off x="-4937760" y="2044851"/>
            <a:ext cx="4937760" cy="457200"/>
          </a:xfrm>
          <a:prstGeom prst="rect">
            <a:avLst/>
          </a:prstGeom>
          <a:noFill/>
        </p:spPr>
        <p:txBody>
          <a:bodyPr wrap="square" lIns="0" tIns="0" rIns="0" bIns="0" anchor="t">
            <a:spAutoFit/>
          </a:bodyPr>
          <a:lstStyle/>
          <a:p>
            <a:pPr algn="l"/>
            <a:r>
              <a:rPr sz="2200" dirty="0">
                <a:latin typeface="Google Sans Flex SemiBold"/>
              </a:rPr>
              <a:t>MCP: connect your own AI</a:t>
            </a:r>
          </a:p>
        </p:txBody>
      </p:sp>
      <p:sp>
        <p:nvSpPr>
          <p:cNvPr id="11" name="!!w8-0-sub">
            <a:extLst>
              <a:ext uri="{FF2B5EF4-FFF2-40B4-BE49-F238E27FC236}">
                <a16:creationId xmlns:a16="http://schemas.microsoft.com/office/drawing/2014/main" id="{DBBA9232-CEFC-8C46-8574-D37F03CC1E76}"/>
              </a:ext>
            </a:extLst>
          </p:cNvPr>
          <p:cNvSpPr txBox="1"/>
          <p:nvPr/>
        </p:nvSpPr>
        <p:spPr>
          <a:xfrm>
            <a:off x="-4937760" y="2502051"/>
            <a:ext cx="4937760" cy="548640"/>
          </a:xfrm>
          <a:prstGeom prst="rect">
            <a:avLst/>
          </a:prstGeom>
          <a:noFill/>
        </p:spPr>
        <p:txBody>
          <a:bodyPr wrap="square" lIns="0" tIns="0" rIns="0" bIns="0" anchor="t">
            <a:spAutoFit/>
          </a:bodyPr>
          <a:lstStyle/>
          <a:p>
            <a:pPr algn="l"/>
            <a:r>
              <a:rPr sz="1500">
                <a:solidFill>
                  <a:srgbClr val="6B7A72"/>
                </a:solidFill>
                <a:latin typeface="Google Sans Flex Light"/>
              </a:rPr>
              <a:t>"Which trips are at risk this morning?"</a:t>
            </a:r>
          </a:p>
        </p:txBody>
      </p:sp>
      <p:sp>
        <p:nvSpPr>
          <p:cNvPr id="13" name="!!w8-1-head">
            <a:extLst>
              <a:ext uri="{FF2B5EF4-FFF2-40B4-BE49-F238E27FC236}">
                <a16:creationId xmlns:a16="http://schemas.microsoft.com/office/drawing/2014/main" id="{FDE5A6C9-CEA0-5C96-B06F-BC65202289C4}"/>
              </a:ext>
            </a:extLst>
          </p:cNvPr>
          <p:cNvSpPr txBox="1"/>
          <p:nvPr/>
        </p:nvSpPr>
        <p:spPr>
          <a:xfrm>
            <a:off x="-4937760" y="3463338"/>
            <a:ext cx="4937760" cy="457200"/>
          </a:xfrm>
          <a:prstGeom prst="rect">
            <a:avLst/>
          </a:prstGeom>
          <a:noFill/>
        </p:spPr>
        <p:txBody>
          <a:bodyPr wrap="square" lIns="0" tIns="0" rIns="0" bIns="0" anchor="t">
            <a:spAutoFit/>
          </a:bodyPr>
          <a:lstStyle/>
          <a:p>
            <a:pPr algn="l"/>
            <a:r>
              <a:rPr sz="2200" dirty="0">
                <a:latin typeface="Google Sans Flex SemiBold"/>
              </a:rPr>
              <a:t>Reads the day, within their permissions</a:t>
            </a:r>
          </a:p>
        </p:txBody>
      </p:sp>
      <p:sp>
        <p:nvSpPr>
          <p:cNvPr id="14" name="!!w8-1-sub">
            <a:extLst>
              <a:ext uri="{FF2B5EF4-FFF2-40B4-BE49-F238E27FC236}">
                <a16:creationId xmlns:a16="http://schemas.microsoft.com/office/drawing/2014/main" id="{C8003A47-FE94-8704-A490-FBE6A3F6E8A1}"/>
              </a:ext>
            </a:extLst>
          </p:cNvPr>
          <p:cNvSpPr txBox="1"/>
          <p:nvPr/>
        </p:nvSpPr>
        <p:spPr>
          <a:xfrm>
            <a:off x="-4937760" y="4318204"/>
            <a:ext cx="4937760" cy="548640"/>
          </a:xfrm>
          <a:prstGeom prst="rect">
            <a:avLst/>
          </a:prstGeom>
          <a:noFill/>
        </p:spPr>
        <p:txBody>
          <a:bodyPr wrap="square" lIns="0" tIns="0" rIns="0" bIns="0" anchor="t">
            <a:spAutoFit/>
          </a:bodyPr>
          <a:lstStyle/>
          <a:p>
            <a:pPr algn="l"/>
            <a:r>
              <a:rPr sz="1500" dirty="0">
                <a:solidFill>
                  <a:srgbClr val="6B7A72"/>
                </a:solidFill>
                <a:latin typeface="Google Sans Flex Light"/>
              </a:rPr>
              <a:t>trips, plans, issues, the audit trail</a:t>
            </a:r>
          </a:p>
        </p:txBody>
      </p:sp>
      <p:sp>
        <p:nvSpPr>
          <p:cNvPr id="16" name="!!w8-2-head">
            <a:extLst>
              <a:ext uri="{FF2B5EF4-FFF2-40B4-BE49-F238E27FC236}">
                <a16:creationId xmlns:a16="http://schemas.microsoft.com/office/drawing/2014/main" id="{F03AEAF8-C09D-AA40-C492-0166CED64A18}"/>
              </a:ext>
            </a:extLst>
          </p:cNvPr>
          <p:cNvSpPr txBox="1"/>
          <p:nvPr/>
        </p:nvSpPr>
        <p:spPr>
          <a:xfrm>
            <a:off x="-4937760" y="5224862"/>
            <a:ext cx="4937760" cy="457200"/>
          </a:xfrm>
          <a:prstGeom prst="rect">
            <a:avLst/>
          </a:prstGeom>
          <a:noFill/>
        </p:spPr>
        <p:txBody>
          <a:bodyPr wrap="square" lIns="0" tIns="0" rIns="0" bIns="0" anchor="t">
            <a:spAutoFit/>
          </a:bodyPr>
          <a:lstStyle/>
          <a:p>
            <a:pPr algn="l"/>
            <a:r>
              <a:rPr sz="2200">
                <a:latin typeface="Google Sans Flex SemiBold"/>
              </a:rPr>
              <a:t>Never acts alone</a:t>
            </a:r>
          </a:p>
        </p:txBody>
      </p:sp>
      <p:sp>
        <p:nvSpPr>
          <p:cNvPr id="17" name="!!w8-2-sub">
            <a:extLst>
              <a:ext uri="{FF2B5EF4-FFF2-40B4-BE49-F238E27FC236}">
                <a16:creationId xmlns:a16="http://schemas.microsoft.com/office/drawing/2014/main" id="{1CA26E33-7A62-351C-1919-E48424C33CF2}"/>
              </a:ext>
            </a:extLst>
          </p:cNvPr>
          <p:cNvSpPr txBox="1"/>
          <p:nvPr/>
        </p:nvSpPr>
        <p:spPr>
          <a:xfrm>
            <a:off x="-4937760" y="5682062"/>
            <a:ext cx="4937760" cy="548640"/>
          </a:xfrm>
          <a:prstGeom prst="rect">
            <a:avLst/>
          </a:prstGeom>
          <a:noFill/>
        </p:spPr>
        <p:txBody>
          <a:bodyPr wrap="square" lIns="0" tIns="0" rIns="0" bIns="0" anchor="t">
            <a:spAutoFit/>
          </a:bodyPr>
          <a:lstStyle/>
          <a:p>
            <a:pPr algn="l"/>
            <a:r>
              <a:rPr sz="1500" dirty="0">
                <a:solidFill>
                  <a:srgbClr val="6B7A72"/>
                </a:solidFill>
                <a:latin typeface="Google Sans Flex Light"/>
              </a:rPr>
              <a:t>raising an issue still needs their confirm</a:t>
            </a:r>
          </a:p>
        </p:txBody>
      </p:sp>
      <p:sp>
        <p:nvSpPr>
          <p:cNvPr id="3" name="!!why0">
            <a:extLst>
              <a:ext uri="{FF2B5EF4-FFF2-40B4-BE49-F238E27FC236}">
                <a16:creationId xmlns:a16="http://schemas.microsoft.com/office/drawing/2014/main" id="{B53DB8ED-444F-27ED-DA18-2CA2D1E27DCB}"/>
              </a:ext>
            </a:extLst>
          </p:cNvPr>
          <p:cNvSpPr/>
          <p:nvPr/>
        </p:nvSpPr>
        <p:spPr>
          <a:xfrm>
            <a:off x="7303940" y="1833372"/>
            <a:ext cx="4573130" cy="1174906"/>
          </a:xfrm>
          <a:prstGeom prst="roundRect">
            <a:avLst>
              <a:gd name="adj" fmla="val 3139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4" name="!!why0">
            <a:extLst>
              <a:ext uri="{FF2B5EF4-FFF2-40B4-BE49-F238E27FC236}">
                <a16:creationId xmlns:a16="http://schemas.microsoft.com/office/drawing/2014/main" id="{5C4737B2-6FA1-D6CA-C846-3A91BC170EAA}"/>
              </a:ext>
            </a:extLst>
          </p:cNvPr>
          <p:cNvSpPr/>
          <p:nvPr/>
        </p:nvSpPr>
        <p:spPr>
          <a:xfrm>
            <a:off x="7303940" y="3219758"/>
            <a:ext cx="4573130" cy="1571600"/>
          </a:xfrm>
          <a:prstGeom prst="roundRect">
            <a:avLst>
              <a:gd name="adj" fmla="val 3139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 name="!!why0">
            <a:extLst>
              <a:ext uri="{FF2B5EF4-FFF2-40B4-BE49-F238E27FC236}">
                <a16:creationId xmlns:a16="http://schemas.microsoft.com/office/drawing/2014/main" id="{6582A9D4-B258-EF0F-2D6A-A37604C98DC8}"/>
              </a:ext>
            </a:extLst>
          </p:cNvPr>
          <p:cNvSpPr/>
          <p:nvPr/>
        </p:nvSpPr>
        <p:spPr>
          <a:xfrm>
            <a:off x="7303940" y="4942332"/>
            <a:ext cx="4573130" cy="1227626"/>
          </a:xfrm>
          <a:prstGeom prst="roundRect">
            <a:avLst>
              <a:gd name="adj" fmla="val 3139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7" name="!!w8-0-head">
            <a:extLst>
              <a:ext uri="{FF2B5EF4-FFF2-40B4-BE49-F238E27FC236}">
                <a16:creationId xmlns:a16="http://schemas.microsoft.com/office/drawing/2014/main" id="{2FB67697-B50B-52E2-5E9C-64DA6BEF8618}"/>
              </a:ext>
            </a:extLst>
          </p:cNvPr>
          <p:cNvSpPr txBox="1"/>
          <p:nvPr/>
        </p:nvSpPr>
        <p:spPr>
          <a:xfrm>
            <a:off x="7596712" y="2044851"/>
            <a:ext cx="4937760" cy="338554"/>
          </a:xfrm>
          <a:prstGeom prst="rect">
            <a:avLst/>
          </a:prstGeom>
          <a:noFill/>
        </p:spPr>
        <p:txBody>
          <a:bodyPr wrap="square" lIns="0" tIns="0" rIns="0" bIns="0" anchor="t">
            <a:spAutoFit/>
          </a:bodyPr>
          <a:lstStyle/>
          <a:p>
            <a:r>
              <a:rPr lang="en-US" sz="2200" dirty="0">
                <a:latin typeface="Google Sans Flex SemiBold"/>
              </a:rPr>
              <a:t>Users, roles and policies</a:t>
            </a:r>
          </a:p>
        </p:txBody>
      </p:sp>
      <p:sp>
        <p:nvSpPr>
          <p:cNvPr id="8" name="!!w8-0-sub">
            <a:extLst>
              <a:ext uri="{FF2B5EF4-FFF2-40B4-BE49-F238E27FC236}">
                <a16:creationId xmlns:a16="http://schemas.microsoft.com/office/drawing/2014/main" id="{746C1185-5031-9C2D-D8C4-735EA692B250}"/>
              </a:ext>
            </a:extLst>
          </p:cNvPr>
          <p:cNvSpPr txBox="1"/>
          <p:nvPr/>
        </p:nvSpPr>
        <p:spPr>
          <a:xfrm>
            <a:off x="7596712" y="2502051"/>
            <a:ext cx="4937760" cy="230832"/>
          </a:xfrm>
          <a:prstGeom prst="rect">
            <a:avLst/>
          </a:prstGeom>
          <a:noFill/>
        </p:spPr>
        <p:txBody>
          <a:bodyPr wrap="square" lIns="0" tIns="0" rIns="0" bIns="0" anchor="t">
            <a:spAutoFit/>
          </a:bodyPr>
          <a:lstStyle/>
          <a:p>
            <a:r>
              <a:rPr lang="en-US" sz="1500" dirty="0">
                <a:solidFill>
                  <a:srgbClr val="6B7A72"/>
                </a:solidFill>
                <a:latin typeface="Google Sans Flex Light"/>
              </a:rPr>
              <a:t>permissions written like a cloud console</a:t>
            </a:r>
          </a:p>
        </p:txBody>
      </p:sp>
      <p:sp>
        <p:nvSpPr>
          <p:cNvPr id="9" name="!!w8-1-head">
            <a:extLst>
              <a:ext uri="{FF2B5EF4-FFF2-40B4-BE49-F238E27FC236}">
                <a16:creationId xmlns:a16="http://schemas.microsoft.com/office/drawing/2014/main" id="{5D8BDF51-3A61-A8A8-FF37-65E3475D21EA}"/>
              </a:ext>
            </a:extLst>
          </p:cNvPr>
          <p:cNvSpPr txBox="1"/>
          <p:nvPr/>
        </p:nvSpPr>
        <p:spPr>
          <a:xfrm>
            <a:off x="7596712" y="3463338"/>
            <a:ext cx="4937760" cy="677108"/>
          </a:xfrm>
          <a:prstGeom prst="rect">
            <a:avLst/>
          </a:prstGeom>
          <a:noFill/>
        </p:spPr>
        <p:txBody>
          <a:bodyPr wrap="square" lIns="0" tIns="0" rIns="0" bIns="0" anchor="t">
            <a:spAutoFit/>
          </a:bodyPr>
          <a:lstStyle/>
          <a:p>
            <a:r>
              <a:rPr lang="en-US" sz="2200" dirty="0">
                <a:latin typeface="Google Sans Flex SemiBold"/>
              </a:rPr>
              <a:t>Vehicles and planning </a:t>
            </a:r>
          </a:p>
          <a:p>
            <a:r>
              <a:rPr lang="en-US" sz="2200" dirty="0">
                <a:latin typeface="Google Sans Flex SemiBold"/>
              </a:rPr>
              <a:t>parameters</a:t>
            </a:r>
          </a:p>
        </p:txBody>
      </p:sp>
      <p:sp>
        <p:nvSpPr>
          <p:cNvPr id="12" name="!!w8-1-sub">
            <a:extLst>
              <a:ext uri="{FF2B5EF4-FFF2-40B4-BE49-F238E27FC236}">
                <a16:creationId xmlns:a16="http://schemas.microsoft.com/office/drawing/2014/main" id="{97A7B0F2-046A-12E9-A1CC-D9FA9EFBC2AA}"/>
              </a:ext>
            </a:extLst>
          </p:cNvPr>
          <p:cNvSpPr txBox="1"/>
          <p:nvPr/>
        </p:nvSpPr>
        <p:spPr>
          <a:xfrm>
            <a:off x="7596712" y="4318204"/>
            <a:ext cx="4937760" cy="230832"/>
          </a:xfrm>
          <a:prstGeom prst="rect">
            <a:avLst/>
          </a:prstGeom>
          <a:noFill/>
        </p:spPr>
        <p:txBody>
          <a:bodyPr wrap="square" lIns="0" tIns="0" rIns="0" bIns="0" anchor="t">
            <a:spAutoFit/>
          </a:bodyPr>
          <a:lstStyle/>
          <a:p>
            <a:r>
              <a:rPr lang="en-US" sz="1500" dirty="0">
                <a:solidFill>
                  <a:srgbClr val="6B7A72"/>
                </a:solidFill>
                <a:latin typeface="Google Sans Flex Light"/>
              </a:rPr>
              <a:t>changed without a new release</a:t>
            </a:r>
          </a:p>
        </p:txBody>
      </p:sp>
      <p:sp>
        <p:nvSpPr>
          <p:cNvPr id="15" name="!!w8-2-head">
            <a:extLst>
              <a:ext uri="{FF2B5EF4-FFF2-40B4-BE49-F238E27FC236}">
                <a16:creationId xmlns:a16="http://schemas.microsoft.com/office/drawing/2014/main" id="{AF674396-6BA4-3A55-BA29-8089C1774671}"/>
              </a:ext>
            </a:extLst>
          </p:cNvPr>
          <p:cNvSpPr txBox="1"/>
          <p:nvPr/>
        </p:nvSpPr>
        <p:spPr>
          <a:xfrm>
            <a:off x="7596712" y="5224862"/>
            <a:ext cx="4937760" cy="338554"/>
          </a:xfrm>
          <a:prstGeom prst="rect">
            <a:avLst/>
          </a:prstGeom>
          <a:noFill/>
        </p:spPr>
        <p:txBody>
          <a:bodyPr wrap="square" lIns="0" tIns="0" rIns="0" bIns="0" anchor="t">
            <a:spAutoFit/>
          </a:bodyPr>
          <a:lstStyle/>
          <a:p>
            <a:r>
              <a:rPr lang="en-US" sz="2200" dirty="0">
                <a:latin typeface="Google Sans Flex SemiBold"/>
              </a:rPr>
              <a:t>Every change audited</a:t>
            </a:r>
          </a:p>
        </p:txBody>
      </p:sp>
      <p:sp>
        <p:nvSpPr>
          <p:cNvPr id="18" name="!!w8-2-sub">
            <a:extLst>
              <a:ext uri="{FF2B5EF4-FFF2-40B4-BE49-F238E27FC236}">
                <a16:creationId xmlns:a16="http://schemas.microsoft.com/office/drawing/2014/main" id="{918019D5-F423-2553-0343-9130DF1C0AD4}"/>
              </a:ext>
            </a:extLst>
          </p:cNvPr>
          <p:cNvSpPr txBox="1"/>
          <p:nvPr/>
        </p:nvSpPr>
        <p:spPr>
          <a:xfrm>
            <a:off x="7596712" y="5682062"/>
            <a:ext cx="4937760" cy="230832"/>
          </a:xfrm>
          <a:prstGeom prst="rect">
            <a:avLst/>
          </a:prstGeom>
          <a:noFill/>
        </p:spPr>
        <p:txBody>
          <a:bodyPr wrap="square" lIns="0" tIns="0" rIns="0" bIns="0" anchor="t">
            <a:spAutoFit/>
          </a:bodyPr>
          <a:lstStyle/>
          <a:p>
            <a:r>
              <a:rPr lang="en-US" sz="1500" dirty="0">
                <a:solidFill>
                  <a:srgbClr val="6B7A72"/>
                </a:solidFill>
                <a:latin typeface="Google Sans Flex Light"/>
              </a:rPr>
              <a:t>who, what, when and why</a:t>
            </a:r>
          </a:p>
        </p:txBody>
      </p:sp>
      <p:pic>
        <p:nvPicPr>
          <p:cNvPr id="48" name="Picture 47" descr="MockUPhone">
            <a:extLst>
              <a:ext uri="{FF2B5EF4-FFF2-40B4-BE49-F238E27FC236}">
                <a16:creationId xmlns:a16="http://schemas.microsoft.com/office/drawing/2014/main" id="{720F1402-0564-CEB8-A7B7-EF5580D022B3}"/>
              </a:ext>
            </a:extLst>
          </p:cNvPr>
          <p:cNvPicPr>
            <a:picLocks noChangeAspect="1"/>
          </p:cNvPicPr>
          <p:nvPr/>
        </p:nvPicPr>
        <p:blipFill>
          <a:blip r:embed="rId4"/>
          <a:stretch>
            <a:fillRect/>
          </a:stretch>
        </p:blipFill>
        <p:spPr>
          <a:xfrm>
            <a:off x="186786" y="1370061"/>
            <a:ext cx="7492997" cy="4871209"/>
          </a:xfrm>
          <a:prstGeom prst="rect">
            <a:avLst/>
          </a:prstGeom>
        </p:spPr>
      </p:pic>
      <p:sp>
        <p:nvSpPr>
          <p:cNvPr id="24" name="Rectangle 23">
            <a:extLst>
              <a:ext uri="{FF2B5EF4-FFF2-40B4-BE49-F238E27FC236}">
                <a16:creationId xmlns:a16="http://schemas.microsoft.com/office/drawing/2014/main" id="{A0FD0D62-4A13-22A9-8A32-41D8BB9CFBB7}"/>
              </a:ext>
            </a:extLst>
          </p:cNvPr>
          <p:cNvSpPr/>
          <p:nvPr/>
        </p:nvSpPr>
        <p:spPr>
          <a:xfrm>
            <a:off x="-19285514" y="0"/>
            <a:ext cx="15353414" cy="68580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FDB46857-155F-4F11-408B-4D9096B5025F}"/>
              </a:ext>
            </a:extLst>
          </p:cNvPr>
          <p:cNvSpPr/>
          <p:nvPr/>
        </p:nvSpPr>
        <p:spPr>
          <a:xfrm>
            <a:off x="-16879233" y="2836708"/>
            <a:ext cx="10963543" cy="3285084"/>
          </a:xfrm>
          <a:prstGeom prst="roundRect">
            <a:avLst>
              <a:gd name="adj" fmla="val 1275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2E23AAB4-8D68-050B-2A73-BD656248F19B}"/>
              </a:ext>
            </a:extLst>
          </p:cNvPr>
          <p:cNvSpPr/>
          <p:nvPr/>
        </p:nvSpPr>
        <p:spPr>
          <a:xfrm>
            <a:off x="-7134675" y="381005"/>
            <a:ext cx="6095990" cy="6095990"/>
          </a:xfrm>
          <a:prstGeom prst="ellipse">
            <a:avLst/>
          </a:prstGeom>
          <a:solidFill>
            <a:srgbClr val="001B09"/>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Title 1">
            <a:extLst>
              <a:ext uri="{FF2B5EF4-FFF2-40B4-BE49-F238E27FC236}">
                <a16:creationId xmlns:a16="http://schemas.microsoft.com/office/drawing/2014/main" id="{0CA35F60-3BC6-7B29-0A46-306C071C5470}"/>
              </a:ext>
            </a:extLst>
          </p:cNvPr>
          <p:cNvSpPr txBox="1">
            <a:spLocks/>
          </p:cNvSpPr>
          <p:nvPr/>
        </p:nvSpPr>
        <p:spPr>
          <a:xfrm>
            <a:off x="-13360741" y="1375743"/>
            <a:ext cx="5698176" cy="1304036"/>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dirty="0">
                <a:latin typeface="Google Sans Flex Light" panose="020B0503030502040204" pitchFamily="34" charset="0"/>
                <a:ea typeface="Google Sans Flex Light" panose="020B0503030502040204" pitchFamily="34" charset="0"/>
                <a:cs typeface="Google Sans Flex Light" panose="020B0503030502040204" pitchFamily="34" charset="0"/>
              </a:rPr>
              <a:t>Designed for people </a:t>
            </a:r>
          </a:p>
          <a:p>
            <a:pPr algn="l"/>
            <a:r>
              <a:rPr lang="en-GB" sz="3600" dirty="0">
                <a:latin typeface="Google Sans Flex Light" panose="020B0503030502040204" pitchFamily="34" charset="0"/>
                <a:ea typeface="Google Sans Flex Light" panose="020B0503030502040204" pitchFamily="34" charset="0"/>
                <a:cs typeface="Google Sans Flex Light" panose="020B0503030502040204" pitchFamily="34" charset="0"/>
              </a:rPr>
              <a:t>who </a:t>
            </a:r>
            <a:r>
              <a:rPr lang="en-US" sz="36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start at 3 AM</a:t>
            </a:r>
            <a:r>
              <a:rPr lang="en-GB" sz="36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  </a:t>
            </a:r>
          </a:p>
        </p:txBody>
      </p:sp>
      <p:sp>
        <p:nvSpPr>
          <p:cNvPr id="32" name="Rectangle: Rounded Corners 31">
            <a:extLst>
              <a:ext uri="{FF2B5EF4-FFF2-40B4-BE49-F238E27FC236}">
                <a16:creationId xmlns:a16="http://schemas.microsoft.com/office/drawing/2014/main" id="{538081D4-40A6-B1C4-B06A-CFD5A6B8EA42}"/>
              </a:ext>
            </a:extLst>
          </p:cNvPr>
          <p:cNvSpPr/>
          <p:nvPr/>
        </p:nvSpPr>
        <p:spPr>
          <a:xfrm>
            <a:off x="-14104321" y="3184115"/>
            <a:ext cx="669360" cy="669360"/>
          </a:xfrm>
          <a:prstGeom prst="roundRect">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Rounded Corners 33">
            <a:extLst>
              <a:ext uri="{FF2B5EF4-FFF2-40B4-BE49-F238E27FC236}">
                <a16:creationId xmlns:a16="http://schemas.microsoft.com/office/drawing/2014/main" id="{02852CBC-826F-2934-E9EA-1EDE242F9ED1}"/>
              </a:ext>
            </a:extLst>
          </p:cNvPr>
          <p:cNvSpPr/>
          <p:nvPr/>
        </p:nvSpPr>
        <p:spPr>
          <a:xfrm>
            <a:off x="-14921517" y="4163791"/>
            <a:ext cx="669360" cy="669360"/>
          </a:xfrm>
          <a:prstGeom prst="roundRect">
            <a:avLst/>
          </a:prstGeom>
          <a:solidFill>
            <a:srgbClr val="006A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41D26524-D3ED-8C2B-3BC1-236D6B970AE9}"/>
              </a:ext>
            </a:extLst>
          </p:cNvPr>
          <p:cNvSpPr/>
          <p:nvPr/>
        </p:nvSpPr>
        <p:spPr>
          <a:xfrm>
            <a:off x="-15839762" y="5148529"/>
            <a:ext cx="669360" cy="669360"/>
          </a:xfrm>
          <a:prstGeom prst="roundRect">
            <a:avLst/>
          </a:prstGeom>
          <a:solidFill>
            <a:srgbClr val="001B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a:extLst>
              <a:ext uri="{FF2B5EF4-FFF2-40B4-BE49-F238E27FC236}">
                <a16:creationId xmlns:a16="http://schemas.microsoft.com/office/drawing/2014/main" id="{3CD4D720-0EAA-FB33-12D8-24795729119D}"/>
              </a:ext>
            </a:extLst>
          </p:cNvPr>
          <p:cNvSpPr txBox="1">
            <a:spLocks/>
          </p:cNvSpPr>
          <p:nvPr/>
        </p:nvSpPr>
        <p:spPr>
          <a:xfrm>
            <a:off x="-13341223" y="3232479"/>
            <a:ext cx="1978021" cy="535897"/>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Go Green</a:t>
            </a:r>
            <a:endParaRPr lang="en-GB" sz="18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40" name="Title 1">
            <a:extLst>
              <a:ext uri="{FF2B5EF4-FFF2-40B4-BE49-F238E27FC236}">
                <a16:creationId xmlns:a16="http://schemas.microsoft.com/office/drawing/2014/main" id="{9AAFA31A-D34D-2EEB-A50C-19871F3F481B}"/>
              </a:ext>
            </a:extLst>
          </p:cNvPr>
          <p:cNvSpPr txBox="1">
            <a:spLocks/>
          </p:cNvSpPr>
          <p:nvPr/>
        </p:nvSpPr>
        <p:spPr>
          <a:xfrm>
            <a:off x="-13341223" y="3535951"/>
            <a:ext cx="4364783" cy="535897"/>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400" dirty="0">
                <a:latin typeface="Google Sans Flex" panose="020B0503030502040204" pitchFamily="34" charset="0"/>
                <a:ea typeface="Google Sans Flex" panose="020B0503030502040204" pitchFamily="34" charset="0"/>
                <a:cs typeface="Google Sans Flex" panose="020B0503030502040204" pitchFamily="34" charset="0"/>
              </a:rPr>
              <a:t>The next step to take · From our logo</a:t>
            </a:r>
            <a:endParaRPr lang="en-GB" sz="1400" dirty="0">
              <a:solidFill>
                <a:srgbClr val="00B050"/>
              </a:solidFill>
              <a:latin typeface="Google Sans Flex" panose="020B0503030502040204" pitchFamily="34" charset="0"/>
              <a:ea typeface="Google Sans Flex" panose="020B0503030502040204" pitchFamily="34" charset="0"/>
              <a:cs typeface="Google Sans Flex" panose="020B0503030502040204" pitchFamily="34" charset="0"/>
            </a:endParaRPr>
          </a:p>
        </p:txBody>
      </p:sp>
      <p:sp>
        <p:nvSpPr>
          <p:cNvPr id="42" name="Title 1">
            <a:extLst>
              <a:ext uri="{FF2B5EF4-FFF2-40B4-BE49-F238E27FC236}">
                <a16:creationId xmlns:a16="http://schemas.microsoft.com/office/drawing/2014/main" id="{4B31E99B-9EE5-FDA8-80B8-FFD49FC32028}"/>
              </a:ext>
            </a:extLst>
          </p:cNvPr>
          <p:cNvSpPr txBox="1">
            <a:spLocks/>
          </p:cNvSpPr>
          <p:nvPr/>
        </p:nvSpPr>
        <p:spPr>
          <a:xfrm>
            <a:off x="-14158419" y="4230494"/>
            <a:ext cx="1978021" cy="535897"/>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Teal</a:t>
            </a:r>
            <a:endParaRPr lang="en-GB" sz="18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44" name="Title 1">
            <a:extLst>
              <a:ext uri="{FF2B5EF4-FFF2-40B4-BE49-F238E27FC236}">
                <a16:creationId xmlns:a16="http://schemas.microsoft.com/office/drawing/2014/main" id="{F6B9778C-5EAC-9EFE-B0EE-8B0A5ABE1508}"/>
              </a:ext>
            </a:extLst>
          </p:cNvPr>
          <p:cNvSpPr txBox="1">
            <a:spLocks/>
          </p:cNvSpPr>
          <p:nvPr/>
        </p:nvSpPr>
        <p:spPr>
          <a:xfrm>
            <a:off x="-14158414" y="4533966"/>
            <a:ext cx="4364783" cy="535897"/>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400" dirty="0">
                <a:latin typeface="Google Sans Flex" panose="020B0503030502040204" pitchFamily="34" charset="0"/>
                <a:ea typeface="Google Sans Flex" panose="020B0503030502040204" pitchFamily="34" charset="0"/>
                <a:cs typeface="Google Sans Flex" panose="020B0503030502040204" pitchFamily="34" charset="0"/>
              </a:rPr>
              <a:t>Decisions and links · Calm &amp; trusted</a:t>
            </a:r>
            <a:endParaRPr lang="en-GB" sz="1400" dirty="0">
              <a:solidFill>
                <a:srgbClr val="00B050"/>
              </a:solidFill>
              <a:latin typeface="Google Sans Flex" panose="020B0503030502040204" pitchFamily="34" charset="0"/>
              <a:ea typeface="Google Sans Flex" panose="020B0503030502040204" pitchFamily="34" charset="0"/>
              <a:cs typeface="Google Sans Flex" panose="020B0503030502040204" pitchFamily="34" charset="0"/>
            </a:endParaRPr>
          </a:p>
        </p:txBody>
      </p:sp>
      <p:sp>
        <p:nvSpPr>
          <p:cNvPr id="46" name="Title 1">
            <a:extLst>
              <a:ext uri="{FF2B5EF4-FFF2-40B4-BE49-F238E27FC236}">
                <a16:creationId xmlns:a16="http://schemas.microsoft.com/office/drawing/2014/main" id="{D61EB2FA-B08D-7CF6-B513-7140D01F41CE}"/>
              </a:ext>
            </a:extLst>
          </p:cNvPr>
          <p:cNvSpPr txBox="1">
            <a:spLocks/>
          </p:cNvSpPr>
          <p:nvPr/>
        </p:nvSpPr>
        <p:spPr>
          <a:xfrm>
            <a:off x="-15076664" y="5210605"/>
            <a:ext cx="1978021" cy="535897"/>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Night</a:t>
            </a:r>
            <a:endParaRPr lang="en-GB" sz="18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49" name="Title 1">
            <a:extLst>
              <a:ext uri="{FF2B5EF4-FFF2-40B4-BE49-F238E27FC236}">
                <a16:creationId xmlns:a16="http://schemas.microsoft.com/office/drawing/2014/main" id="{FB67FE35-0015-B772-F09A-E551D32DB690}"/>
              </a:ext>
            </a:extLst>
          </p:cNvPr>
          <p:cNvSpPr txBox="1">
            <a:spLocks/>
          </p:cNvSpPr>
          <p:nvPr/>
        </p:nvSpPr>
        <p:spPr>
          <a:xfrm>
            <a:off x="-15076659" y="5514077"/>
            <a:ext cx="4919459" cy="535897"/>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400" dirty="0">
                <a:latin typeface="Google Sans Flex" panose="020B0503030502040204" pitchFamily="34" charset="0"/>
                <a:ea typeface="Google Sans Flex" panose="020B0503030502040204" pitchFamily="34" charset="0"/>
                <a:cs typeface="Google Sans Flex" panose="020B0503030502040204" pitchFamily="34" charset="0"/>
              </a:rPr>
              <a:t>Dark screens do for 3 AM · No glare in the cab</a:t>
            </a:r>
            <a:endParaRPr lang="en-GB" sz="1400" dirty="0">
              <a:solidFill>
                <a:srgbClr val="00B050"/>
              </a:solidFill>
              <a:latin typeface="Google Sans Flex" panose="020B0503030502040204" pitchFamily="34" charset="0"/>
              <a:ea typeface="Google Sans Flex" panose="020B0503030502040204" pitchFamily="34" charset="0"/>
              <a:cs typeface="Google Sans Flex" panose="020B0503030502040204" pitchFamily="34" charset="0"/>
            </a:endParaRPr>
          </a:p>
        </p:txBody>
      </p:sp>
      <p:pic>
        <p:nvPicPr>
          <p:cNvPr id="51" name="Picture 50">
            <a:extLst>
              <a:ext uri="{FF2B5EF4-FFF2-40B4-BE49-F238E27FC236}">
                <a16:creationId xmlns:a16="http://schemas.microsoft.com/office/drawing/2014/main" id="{C1E45F5E-7396-47CF-231D-B8B38A62C1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97155" y="130628"/>
            <a:ext cx="6858000" cy="6858000"/>
          </a:xfrm>
          <a:prstGeom prst="rect">
            <a:avLst/>
          </a:prstGeom>
        </p:spPr>
      </p:pic>
      <p:grpSp>
        <p:nvGrpSpPr>
          <p:cNvPr id="52" name="Group 51">
            <a:extLst>
              <a:ext uri="{FF2B5EF4-FFF2-40B4-BE49-F238E27FC236}">
                <a16:creationId xmlns:a16="http://schemas.microsoft.com/office/drawing/2014/main" id="{B55069A9-EFC9-7E3E-DEF6-19547382C5FE}"/>
              </a:ext>
            </a:extLst>
          </p:cNvPr>
          <p:cNvGrpSpPr/>
          <p:nvPr/>
        </p:nvGrpSpPr>
        <p:grpSpPr>
          <a:xfrm>
            <a:off x="-13332460" y="640080"/>
            <a:ext cx="7516368" cy="438912"/>
            <a:chOff x="923544" y="640080"/>
            <a:chExt cx="7516368" cy="438912"/>
          </a:xfrm>
        </p:grpSpPr>
        <p:sp>
          <p:nvSpPr>
            <p:cNvPr id="53" name="!!edge0">
              <a:extLst>
                <a:ext uri="{FF2B5EF4-FFF2-40B4-BE49-F238E27FC236}">
                  <a16:creationId xmlns:a16="http://schemas.microsoft.com/office/drawing/2014/main" id="{E1A8A979-2ED4-0FF1-0C8A-921AA18BADB3}"/>
                </a:ext>
              </a:extLst>
            </p:cNvPr>
            <p:cNvSpPr/>
            <p:nvPr/>
          </p:nvSpPr>
          <p:spPr>
            <a:xfrm>
              <a:off x="923544" y="640080"/>
              <a:ext cx="1338889"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54" name="!!section">
              <a:extLst>
                <a:ext uri="{FF2B5EF4-FFF2-40B4-BE49-F238E27FC236}">
                  <a16:creationId xmlns:a16="http://schemas.microsoft.com/office/drawing/2014/main" id="{2BD88074-8612-297D-98CF-F387578DF359}"/>
                </a:ext>
              </a:extLst>
            </p:cNvPr>
            <p:cNvSpPr txBox="1"/>
            <p:nvPr/>
          </p:nvSpPr>
          <p:spPr>
            <a:xfrm>
              <a:off x="1124712" y="758869"/>
              <a:ext cx="7315200" cy="184666"/>
            </a:xfrm>
            <a:prstGeom prst="rect">
              <a:avLst/>
            </a:prstGeom>
            <a:noFill/>
          </p:spPr>
          <p:txBody>
            <a:bodyPr wrap="square" lIns="0" tIns="0" rIns="0" bIns="0" anchor="t">
              <a:spAutoFit/>
            </a:bodyPr>
            <a:lstStyle/>
            <a:p>
              <a:r>
                <a:rPr lang="en-US" sz="1200" dirty="0" err="1">
                  <a:solidFill>
                    <a:srgbClr val="006A62"/>
                  </a:solidFill>
                  <a:latin typeface="Google Sans Flex SemiBold"/>
                </a:rPr>
                <a:t>Designathon</a:t>
              </a:r>
              <a:endParaRPr lang="en-US" sz="1200" dirty="0">
                <a:solidFill>
                  <a:srgbClr val="006A62"/>
                </a:solidFill>
                <a:latin typeface="Google Sans Flex SemiBold"/>
              </a:endParaRPr>
            </a:p>
          </p:txBody>
        </p:sp>
      </p:grpSp>
    </p:spTree>
    <p:extLst>
      <p:ext uri="{BB962C8B-B14F-4D97-AF65-F5344CB8AC3E}">
        <p14:creationId xmlns:p14="http://schemas.microsoft.com/office/powerpoint/2010/main" val="722896729"/>
      </p:ext>
    </p:extLst>
  </p:cSld>
  <p:clrMapOvr>
    <a:masterClrMapping/>
  </p:clrMapOvr>
  <p:transition spd="slow">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C7BC5-6F45-CB12-E7AD-BEDC59034CB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9A3F747-7D12-763E-D156-A8D55DD049DF}"/>
              </a:ext>
            </a:extLst>
          </p:cNvPr>
          <p:cNvSpPr/>
          <p:nvPr/>
        </p:nvSpPr>
        <p:spPr>
          <a:xfrm>
            <a:off x="0" y="0"/>
            <a:ext cx="15353414" cy="68580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id="{AA718FF4-63DC-22A5-A04F-FEFA098A3647}"/>
              </a:ext>
            </a:extLst>
          </p:cNvPr>
          <p:cNvSpPr/>
          <p:nvPr/>
        </p:nvSpPr>
        <p:spPr>
          <a:xfrm>
            <a:off x="1085025" y="2761242"/>
            <a:ext cx="7433356" cy="3285084"/>
          </a:xfrm>
          <a:prstGeom prst="roundRect">
            <a:avLst>
              <a:gd name="adj" fmla="val 1275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840BB5C-63DE-06E9-5687-190D02401113}"/>
              </a:ext>
            </a:extLst>
          </p:cNvPr>
          <p:cNvSpPr/>
          <p:nvPr/>
        </p:nvSpPr>
        <p:spPr>
          <a:xfrm>
            <a:off x="6103960" y="-9439454"/>
            <a:ext cx="18878907" cy="18878907"/>
          </a:xfrm>
          <a:prstGeom prst="ellipse">
            <a:avLst/>
          </a:prstGeom>
          <a:solidFill>
            <a:srgbClr val="001B09"/>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9" name="Title 1">
            <a:extLst>
              <a:ext uri="{FF2B5EF4-FFF2-40B4-BE49-F238E27FC236}">
                <a16:creationId xmlns:a16="http://schemas.microsoft.com/office/drawing/2014/main" id="{D3A39E89-8CA7-B110-5C8F-1F0D8327FB27}"/>
              </a:ext>
            </a:extLst>
          </p:cNvPr>
          <p:cNvSpPr txBox="1">
            <a:spLocks/>
          </p:cNvSpPr>
          <p:nvPr/>
        </p:nvSpPr>
        <p:spPr>
          <a:xfrm>
            <a:off x="1078104" y="1322211"/>
            <a:ext cx="5698176" cy="1304036"/>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dirty="0">
                <a:latin typeface="Google Sans Flex Light" panose="020B0503030502040204" pitchFamily="34" charset="0"/>
                <a:ea typeface="Google Sans Flex Light" panose="020B0503030502040204" pitchFamily="34" charset="0"/>
                <a:cs typeface="Google Sans Flex Light" panose="020B0503030502040204" pitchFamily="34" charset="0"/>
              </a:rPr>
              <a:t>Designed for people </a:t>
            </a:r>
          </a:p>
          <a:p>
            <a:pPr algn="l"/>
            <a:r>
              <a:rPr lang="en-GB" sz="3600" dirty="0">
                <a:latin typeface="Google Sans Flex Light" panose="020B0503030502040204" pitchFamily="34" charset="0"/>
                <a:ea typeface="Google Sans Flex Light" panose="020B0503030502040204" pitchFamily="34" charset="0"/>
                <a:cs typeface="Google Sans Flex Light" panose="020B0503030502040204" pitchFamily="34" charset="0"/>
              </a:rPr>
              <a:t>who </a:t>
            </a:r>
            <a:r>
              <a:rPr lang="en-US" sz="36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start at 3 AM</a:t>
            </a:r>
            <a:r>
              <a:rPr lang="en-GB" sz="36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  </a:t>
            </a:r>
          </a:p>
        </p:txBody>
      </p:sp>
      <p:sp>
        <p:nvSpPr>
          <p:cNvPr id="23" name="Rectangle: Rounded Corners 22">
            <a:extLst>
              <a:ext uri="{FF2B5EF4-FFF2-40B4-BE49-F238E27FC236}">
                <a16:creationId xmlns:a16="http://schemas.microsoft.com/office/drawing/2014/main" id="{8196215C-273B-E7FA-ADB1-D92179E1BFDE}"/>
              </a:ext>
            </a:extLst>
          </p:cNvPr>
          <p:cNvSpPr/>
          <p:nvPr/>
        </p:nvSpPr>
        <p:spPr>
          <a:xfrm>
            <a:off x="1419997" y="3108649"/>
            <a:ext cx="669360" cy="669360"/>
          </a:xfrm>
          <a:prstGeom prst="roundRect">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DBE8209E-2751-AB5D-AC80-7455D186ED17}"/>
              </a:ext>
            </a:extLst>
          </p:cNvPr>
          <p:cNvSpPr/>
          <p:nvPr/>
        </p:nvSpPr>
        <p:spPr>
          <a:xfrm>
            <a:off x="1419997" y="4088325"/>
            <a:ext cx="669360" cy="669360"/>
          </a:xfrm>
          <a:prstGeom prst="roundRect">
            <a:avLst/>
          </a:prstGeom>
          <a:solidFill>
            <a:srgbClr val="006A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2A73739F-AD09-2BFC-6DB6-7A12299FF3AE}"/>
              </a:ext>
            </a:extLst>
          </p:cNvPr>
          <p:cNvSpPr/>
          <p:nvPr/>
        </p:nvSpPr>
        <p:spPr>
          <a:xfrm>
            <a:off x="1419997" y="5073063"/>
            <a:ext cx="669360" cy="669360"/>
          </a:xfrm>
          <a:prstGeom prst="roundRect">
            <a:avLst/>
          </a:prstGeom>
          <a:solidFill>
            <a:srgbClr val="001B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itle 1">
            <a:extLst>
              <a:ext uri="{FF2B5EF4-FFF2-40B4-BE49-F238E27FC236}">
                <a16:creationId xmlns:a16="http://schemas.microsoft.com/office/drawing/2014/main" id="{4BEE2373-F3EC-04C9-BC36-B7D6A9F611F6}"/>
              </a:ext>
            </a:extLst>
          </p:cNvPr>
          <p:cNvSpPr txBox="1">
            <a:spLocks/>
          </p:cNvSpPr>
          <p:nvPr/>
        </p:nvSpPr>
        <p:spPr>
          <a:xfrm>
            <a:off x="2183095" y="3157013"/>
            <a:ext cx="1978021" cy="535897"/>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Go Green</a:t>
            </a:r>
            <a:endParaRPr lang="en-GB" sz="18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33" name="Title 1">
            <a:extLst>
              <a:ext uri="{FF2B5EF4-FFF2-40B4-BE49-F238E27FC236}">
                <a16:creationId xmlns:a16="http://schemas.microsoft.com/office/drawing/2014/main" id="{089B0002-C466-57BD-D669-D8F62A7E4BCD}"/>
              </a:ext>
            </a:extLst>
          </p:cNvPr>
          <p:cNvSpPr txBox="1">
            <a:spLocks/>
          </p:cNvSpPr>
          <p:nvPr/>
        </p:nvSpPr>
        <p:spPr>
          <a:xfrm>
            <a:off x="2183100" y="3460485"/>
            <a:ext cx="4364783" cy="535897"/>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400" dirty="0">
                <a:latin typeface="Google Sans Flex" panose="020B0503030502040204" pitchFamily="34" charset="0"/>
                <a:ea typeface="Google Sans Flex" panose="020B0503030502040204" pitchFamily="34" charset="0"/>
                <a:cs typeface="Google Sans Flex" panose="020B0503030502040204" pitchFamily="34" charset="0"/>
              </a:rPr>
              <a:t>The next step to take · From our logo</a:t>
            </a:r>
            <a:endParaRPr lang="en-GB" sz="1400" dirty="0">
              <a:solidFill>
                <a:srgbClr val="00B050"/>
              </a:solidFill>
              <a:latin typeface="Google Sans Flex" panose="020B0503030502040204" pitchFamily="34" charset="0"/>
              <a:ea typeface="Google Sans Flex" panose="020B0503030502040204" pitchFamily="34" charset="0"/>
              <a:cs typeface="Google Sans Flex" panose="020B0503030502040204" pitchFamily="34" charset="0"/>
            </a:endParaRPr>
          </a:p>
        </p:txBody>
      </p:sp>
      <p:sp>
        <p:nvSpPr>
          <p:cNvPr id="34" name="Title 1">
            <a:extLst>
              <a:ext uri="{FF2B5EF4-FFF2-40B4-BE49-F238E27FC236}">
                <a16:creationId xmlns:a16="http://schemas.microsoft.com/office/drawing/2014/main" id="{ADF7BE6C-3C50-5C8C-7F3C-4D0EF18B20A0}"/>
              </a:ext>
            </a:extLst>
          </p:cNvPr>
          <p:cNvSpPr txBox="1">
            <a:spLocks/>
          </p:cNvSpPr>
          <p:nvPr/>
        </p:nvSpPr>
        <p:spPr>
          <a:xfrm>
            <a:off x="2183095" y="4155028"/>
            <a:ext cx="1978021" cy="535897"/>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Teal</a:t>
            </a:r>
            <a:endParaRPr lang="en-GB" sz="18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35" name="Title 1">
            <a:extLst>
              <a:ext uri="{FF2B5EF4-FFF2-40B4-BE49-F238E27FC236}">
                <a16:creationId xmlns:a16="http://schemas.microsoft.com/office/drawing/2014/main" id="{123FE5FF-662D-7729-F452-E55DC3B002AD}"/>
              </a:ext>
            </a:extLst>
          </p:cNvPr>
          <p:cNvSpPr txBox="1">
            <a:spLocks/>
          </p:cNvSpPr>
          <p:nvPr/>
        </p:nvSpPr>
        <p:spPr>
          <a:xfrm>
            <a:off x="2183100" y="4458500"/>
            <a:ext cx="4364783" cy="535897"/>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400" dirty="0">
                <a:latin typeface="Google Sans Flex" panose="020B0503030502040204" pitchFamily="34" charset="0"/>
                <a:ea typeface="Google Sans Flex" panose="020B0503030502040204" pitchFamily="34" charset="0"/>
                <a:cs typeface="Google Sans Flex" panose="020B0503030502040204" pitchFamily="34" charset="0"/>
              </a:rPr>
              <a:t>Decisions and links · Calm &amp; trusted</a:t>
            </a:r>
            <a:endParaRPr lang="en-GB" sz="1400" dirty="0">
              <a:solidFill>
                <a:srgbClr val="00B050"/>
              </a:solidFill>
              <a:latin typeface="Google Sans Flex" panose="020B0503030502040204" pitchFamily="34" charset="0"/>
              <a:ea typeface="Google Sans Flex" panose="020B0503030502040204" pitchFamily="34" charset="0"/>
              <a:cs typeface="Google Sans Flex" panose="020B0503030502040204" pitchFamily="34" charset="0"/>
            </a:endParaRPr>
          </a:p>
        </p:txBody>
      </p:sp>
      <p:sp>
        <p:nvSpPr>
          <p:cNvPr id="36" name="Title 1">
            <a:extLst>
              <a:ext uri="{FF2B5EF4-FFF2-40B4-BE49-F238E27FC236}">
                <a16:creationId xmlns:a16="http://schemas.microsoft.com/office/drawing/2014/main" id="{480D439C-8E85-7742-91F8-D7819465B1AE}"/>
              </a:ext>
            </a:extLst>
          </p:cNvPr>
          <p:cNvSpPr txBox="1">
            <a:spLocks/>
          </p:cNvSpPr>
          <p:nvPr/>
        </p:nvSpPr>
        <p:spPr>
          <a:xfrm>
            <a:off x="2183095" y="5135139"/>
            <a:ext cx="1978021" cy="535897"/>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Night</a:t>
            </a:r>
            <a:endParaRPr lang="en-GB" sz="18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endParaRPr>
          </a:p>
        </p:txBody>
      </p:sp>
      <p:sp>
        <p:nvSpPr>
          <p:cNvPr id="37" name="Title 1">
            <a:extLst>
              <a:ext uri="{FF2B5EF4-FFF2-40B4-BE49-F238E27FC236}">
                <a16:creationId xmlns:a16="http://schemas.microsoft.com/office/drawing/2014/main" id="{CB456BB0-47EF-2607-D3D6-279A6335C1BE}"/>
              </a:ext>
            </a:extLst>
          </p:cNvPr>
          <p:cNvSpPr txBox="1">
            <a:spLocks/>
          </p:cNvSpPr>
          <p:nvPr/>
        </p:nvSpPr>
        <p:spPr>
          <a:xfrm>
            <a:off x="2183100" y="5438611"/>
            <a:ext cx="4919459" cy="535897"/>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400" dirty="0">
                <a:latin typeface="Google Sans Flex" panose="020B0503030502040204" pitchFamily="34" charset="0"/>
                <a:ea typeface="Google Sans Flex" panose="020B0503030502040204" pitchFamily="34" charset="0"/>
                <a:cs typeface="Google Sans Flex" panose="020B0503030502040204" pitchFamily="34" charset="0"/>
              </a:rPr>
              <a:t>Dark screens do for 3 AM · No glare in the cab</a:t>
            </a:r>
            <a:endParaRPr lang="en-GB" sz="1400" dirty="0">
              <a:solidFill>
                <a:srgbClr val="00B050"/>
              </a:solidFill>
              <a:latin typeface="Google Sans Flex" panose="020B0503030502040204" pitchFamily="34" charset="0"/>
              <a:ea typeface="Google Sans Flex" panose="020B0503030502040204" pitchFamily="34" charset="0"/>
              <a:cs typeface="Google Sans Flex" panose="020B0503030502040204" pitchFamily="34" charset="0"/>
            </a:endParaRPr>
          </a:p>
        </p:txBody>
      </p:sp>
      <p:pic>
        <p:nvPicPr>
          <p:cNvPr id="8" name="Picture 7">
            <a:extLst>
              <a:ext uri="{FF2B5EF4-FFF2-40B4-BE49-F238E27FC236}">
                <a16:creationId xmlns:a16="http://schemas.microsoft.com/office/drawing/2014/main" id="{535BF05D-427A-B4BD-2B8D-492A97A54C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2201" y="443179"/>
            <a:ext cx="6858000" cy="6858000"/>
          </a:xfrm>
          <a:prstGeom prst="rect">
            <a:avLst/>
          </a:prstGeom>
        </p:spPr>
      </p:pic>
      <p:sp>
        <p:nvSpPr>
          <p:cNvPr id="67" name="Pill 1 – Bar">
            <a:extLst>
              <a:ext uri="{FF2B5EF4-FFF2-40B4-BE49-F238E27FC236}">
                <a16:creationId xmlns:a16="http://schemas.microsoft.com/office/drawing/2014/main" id="{79CABF89-6F77-7C53-A0CB-FB8B41E47260}"/>
              </a:ext>
            </a:extLst>
          </p:cNvPr>
          <p:cNvSpPr/>
          <p:nvPr/>
        </p:nvSpPr>
        <p:spPr>
          <a:xfrm>
            <a:off x="8534825" y="2960237"/>
            <a:ext cx="2677473" cy="781314"/>
          </a:xfrm>
          <a:prstGeom prst="rect">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dirty="0"/>
          </a:p>
        </p:txBody>
      </p:sp>
      <p:grpSp>
        <p:nvGrpSpPr>
          <p:cNvPr id="101" name="Group 100">
            <a:extLst>
              <a:ext uri="{FF2B5EF4-FFF2-40B4-BE49-F238E27FC236}">
                <a16:creationId xmlns:a16="http://schemas.microsoft.com/office/drawing/2014/main" id="{13B9CAC2-F8DE-EEF6-EB45-4803AAFD4C9F}"/>
              </a:ext>
            </a:extLst>
          </p:cNvPr>
          <p:cNvGrpSpPr/>
          <p:nvPr/>
        </p:nvGrpSpPr>
        <p:grpSpPr>
          <a:xfrm>
            <a:off x="8159138" y="2960237"/>
            <a:ext cx="3949331" cy="781314"/>
            <a:chOff x="9728300" y="2647686"/>
            <a:chExt cx="3949331" cy="781314"/>
          </a:xfrm>
        </p:grpSpPr>
        <p:sp>
          <p:nvSpPr>
            <p:cNvPr id="92" name="Pill 1 – Bar">
              <a:extLst>
                <a:ext uri="{FF2B5EF4-FFF2-40B4-BE49-F238E27FC236}">
                  <a16:creationId xmlns:a16="http://schemas.microsoft.com/office/drawing/2014/main" id="{8FCDF233-720C-F8E0-8F3C-BABA7F08920B}"/>
                </a:ext>
              </a:extLst>
            </p:cNvPr>
            <p:cNvSpPr/>
            <p:nvPr/>
          </p:nvSpPr>
          <p:spPr>
            <a:xfrm>
              <a:off x="10103987" y="2647686"/>
              <a:ext cx="3573644" cy="781314"/>
            </a:xfrm>
            <a:prstGeom prst="rect">
              <a:avLst/>
            </a:prstGeom>
            <a:solidFill>
              <a:srgbClr val="001B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dirty="0"/>
            </a:p>
          </p:txBody>
        </p:sp>
        <p:sp>
          <p:nvSpPr>
            <p:cNvPr id="68" name="Pill 1 – End cap">
              <a:extLst>
                <a:ext uri="{FF2B5EF4-FFF2-40B4-BE49-F238E27FC236}">
                  <a16:creationId xmlns:a16="http://schemas.microsoft.com/office/drawing/2014/main" id="{053BD9CD-741B-2DB9-99C9-5B89D079516B}"/>
                </a:ext>
              </a:extLst>
            </p:cNvPr>
            <p:cNvSpPr/>
            <p:nvPr/>
          </p:nvSpPr>
          <p:spPr>
            <a:xfrm>
              <a:off x="9728300" y="2647686"/>
              <a:ext cx="781314" cy="781314"/>
            </a:xfrm>
            <a:prstGeom prst="roundRect">
              <a:avLst>
                <a:gd name="adj" fmla="val 50000"/>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dirty="0"/>
            </a:p>
          </p:txBody>
        </p:sp>
      </p:grpSp>
      <p:sp>
        <p:nvSpPr>
          <p:cNvPr id="70" name="Pill 1 – Text">
            <a:extLst>
              <a:ext uri="{FF2B5EF4-FFF2-40B4-BE49-F238E27FC236}">
                <a16:creationId xmlns:a16="http://schemas.microsoft.com/office/drawing/2014/main" id="{1CC0FA3B-2C9D-C497-FECE-8257B20EDF06}"/>
              </a:ext>
            </a:extLst>
          </p:cNvPr>
          <p:cNvSpPr txBox="1">
            <a:spLocks/>
          </p:cNvSpPr>
          <p:nvPr/>
        </p:nvSpPr>
        <p:spPr>
          <a:xfrm>
            <a:off x="8900624" y="3184390"/>
            <a:ext cx="2702331" cy="384205"/>
          </a:xfrm>
          <a:prstGeom prst="rect">
            <a:avLst/>
          </a:prstGeom>
        </p:spPr>
        <p:txBody>
          <a:bodyPr vert="horz" lIns="91440" tIns="45720" rIns="91440" bIns="45720" rtlCol="0" anchor="t">
            <a:norm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800" dirty="0">
                <a:solidFill>
                  <a:schemeClr val="bg1"/>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One action </a:t>
            </a:r>
            <a:r>
              <a:rPr lang="en-GB" sz="1800" dirty="0">
                <a:solidFill>
                  <a:schemeClr val="bg1"/>
                </a:solidFill>
                <a:latin typeface="Google Sans Flex" panose="020B0503030502040204" pitchFamily="34" charset="0"/>
                <a:ea typeface="Google Sans Flex" panose="020B0503030502040204" pitchFamily="34" charset="0"/>
                <a:cs typeface="Google Sans Flex" panose="020B0503030502040204" pitchFamily="34" charset="0"/>
              </a:rPr>
              <a:t>per screen</a:t>
            </a:r>
          </a:p>
        </p:txBody>
      </p:sp>
      <p:sp>
        <p:nvSpPr>
          <p:cNvPr id="71" name="Pill 2 – Bar">
            <a:extLst>
              <a:ext uri="{FF2B5EF4-FFF2-40B4-BE49-F238E27FC236}">
                <a16:creationId xmlns:a16="http://schemas.microsoft.com/office/drawing/2014/main" id="{B1BBD816-8B21-D8DD-3703-3C59816CD83A}"/>
              </a:ext>
            </a:extLst>
          </p:cNvPr>
          <p:cNvSpPr/>
          <p:nvPr/>
        </p:nvSpPr>
        <p:spPr>
          <a:xfrm>
            <a:off x="8534825" y="3958253"/>
            <a:ext cx="2677473" cy="781314"/>
          </a:xfrm>
          <a:prstGeom prst="rect">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dirty="0"/>
          </a:p>
        </p:txBody>
      </p:sp>
      <p:grpSp>
        <p:nvGrpSpPr>
          <p:cNvPr id="113" name="Group 112">
            <a:extLst>
              <a:ext uri="{FF2B5EF4-FFF2-40B4-BE49-F238E27FC236}">
                <a16:creationId xmlns:a16="http://schemas.microsoft.com/office/drawing/2014/main" id="{B7F37A8C-CFEA-21C8-855F-14957C7DC2B9}"/>
              </a:ext>
            </a:extLst>
          </p:cNvPr>
          <p:cNvGrpSpPr/>
          <p:nvPr/>
        </p:nvGrpSpPr>
        <p:grpSpPr>
          <a:xfrm>
            <a:off x="8159138" y="3954426"/>
            <a:ext cx="3949331" cy="817567"/>
            <a:chOff x="9728300" y="2635191"/>
            <a:chExt cx="3949331" cy="817567"/>
          </a:xfrm>
        </p:grpSpPr>
        <p:sp>
          <p:nvSpPr>
            <p:cNvPr id="114" name="Pill 1 – Bar">
              <a:extLst>
                <a:ext uri="{FF2B5EF4-FFF2-40B4-BE49-F238E27FC236}">
                  <a16:creationId xmlns:a16="http://schemas.microsoft.com/office/drawing/2014/main" id="{B3CB0691-BE90-AFE1-898B-AAE7668CDC97}"/>
                </a:ext>
              </a:extLst>
            </p:cNvPr>
            <p:cNvSpPr/>
            <p:nvPr/>
          </p:nvSpPr>
          <p:spPr>
            <a:xfrm>
              <a:off x="10103987" y="2635191"/>
              <a:ext cx="3573644" cy="817567"/>
            </a:xfrm>
            <a:prstGeom prst="rect">
              <a:avLst/>
            </a:prstGeom>
            <a:solidFill>
              <a:srgbClr val="001B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dirty="0"/>
            </a:p>
          </p:txBody>
        </p:sp>
        <p:sp>
          <p:nvSpPr>
            <p:cNvPr id="115" name="Pill 1 – End cap">
              <a:extLst>
                <a:ext uri="{FF2B5EF4-FFF2-40B4-BE49-F238E27FC236}">
                  <a16:creationId xmlns:a16="http://schemas.microsoft.com/office/drawing/2014/main" id="{96C3D0AE-944E-A884-6344-A0EF14F69080}"/>
                </a:ext>
              </a:extLst>
            </p:cNvPr>
            <p:cNvSpPr/>
            <p:nvPr/>
          </p:nvSpPr>
          <p:spPr>
            <a:xfrm>
              <a:off x="9728300" y="2647686"/>
              <a:ext cx="781314" cy="781314"/>
            </a:xfrm>
            <a:prstGeom prst="roundRect">
              <a:avLst>
                <a:gd name="adj" fmla="val 50000"/>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dirty="0"/>
            </a:p>
          </p:txBody>
        </p:sp>
      </p:grpSp>
      <p:sp>
        <p:nvSpPr>
          <p:cNvPr id="74" name="Pill 2 – Text">
            <a:extLst>
              <a:ext uri="{FF2B5EF4-FFF2-40B4-BE49-F238E27FC236}">
                <a16:creationId xmlns:a16="http://schemas.microsoft.com/office/drawing/2014/main" id="{334186DF-51B4-EF61-9B53-4B56F5ED0BF7}"/>
              </a:ext>
            </a:extLst>
          </p:cNvPr>
          <p:cNvSpPr txBox="1">
            <a:spLocks/>
          </p:cNvSpPr>
          <p:nvPr/>
        </p:nvSpPr>
        <p:spPr>
          <a:xfrm>
            <a:off x="8900624" y="4182406"/>
            <a:ext cx="2702331" cy="384205"/>
          </a:xfrm>
          <a:prstGeom prst="rect">
            <a:avLst/>
          </a:prstGeom>
        </p:spPr>
        <p:txBody>
          <a:bodyPr vert="horz" lIns="91440" tIns="45720" rIns="91440" bIns="45720" rtlCol="0" anchor="t">
            <a:norm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800" dirty="0">
                <a:solidFill>
                  <a:schemeClr val="bg1"/>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Slide </a:t>
            </a:r>
            <a:r>
              <a:rPr lang="en-GB" sz="1800" dirty="0">
                <a:solidFill>
                  <a:schemeClr val="bg1"/>
                </a:solidFill>
                <a:latin typeface="Google Sans Flex" panose="020B0503030502040204" pitchFamily="34" charset="0"/>
                <a:ea typeface="Google Sans Flex" panose="020B0503030502040204" pitchFamily="34" charset="0"/>
                <a:cs typeface="Google Sans Flex" panose="020B0503030502040204" pitchFamily="34" charset="0"/>
              </a:rPr>
              <a:t>to confirm</a:t>
            </a:r>
          </a:p>
        </p:txBody>
      </p:sp>
      <p:sp>
        <p:nvSpPr>
          <p:cNvPr id="75" name="Pill 3 – Bar">
            <a:extLst>
              <a:ext uri="{FF2B5EF4-FFF2-40B4-BE49-F238E27FC236}">
                <a16:creationId xmlns:a16="http://schemas.microsoft.com/office/drawing/2014/main" id="{5CD217B4-CCA8-83D1-C148-815D0CFE8F8B}"/>
              </a:ext>
            </a:extLst>
          </p:cNvPr>
          <p:cNvSpPr/>
          <p:nvPr/>
        </p:nvSpPr>
        <p:spPr>
          <a:xfrm>
            <a:off x="8534825" y="4953029"/>
            <a:ext cx="2677473" cy="781314"/>
          </a:xfrm>
          <a:prstGeom prst="rect">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dirty="0"/>
          </a:p>
        </p:txBody>
      </p:sp>
      <p:grpSp>
        <p:nvGrpSpPr>
          <p:cNvPr id="116" name="Group 115">
            <a:extLst>
              <a:ext uri="{FF2B5EF4-FFF2-40B4-BE49-F238E27FC236}">
                <a16:creationId xmlns:a16="http://schemas.microsoft.com/office/drawing/2014/main" id="{50796505-2077-261A-6E8D-FC1D9F638E77}"/>
              </a:ext>
            </a:extLst>
          </p:cNvPr>
          <p:cNvGrpSpPr/>
          <p:nvPr/>
        </p:nvGrpSpPr>
        <p:grpSpPr>
          <a:xfrm>
            <a:off x="8159138" y="4924856"/>
            <a:ext cx="3949331" cy="817567"/>
            <a:chOff x="9728300" y="2615894"/>
            <a:chExt cx="3949331" cy="817567"/>
          </a:xfrm>
        </p:grpSpPr>
        <p:sp>
          <p:nvSpPr>
            <p:cNvPr id="117" name="Pill 1 – Bar">
              <a:extLst>
                <a:ext uri="{FF2B5EF4-FFF2-40B4-BE49-F238E27FC236}">
                  <a16:creationId xmlns:a16="http://schemas.microsoft.com/office/drawing/2014/main" id="{D5EDE78C-26D2-374A-F638-DEFF8E1C78E5}"/>
                </a:ext>
              </a:extLst>
            </p:cNvPr>
            <p:cNvSpPr/>
            <p:nvPr/>
          </p:nvSpPr>
          <p:spPr>
            <a:xfrm>
              <a:off x="10103987" y="2615894"/>
              <a:ext cx="3573644" cy="817567"/>
            </a:xfrm>
            <a:prstGeom prst="rect">
              <a:avLst/>
            </a:prstGeom>
            <a:solidFill>
              <a:srgbClr val="001B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dirty="0"/>
            </a:p>
          </p:txBody>
        </p:sp>
        <p:sp>
          <p:nvSpPr>
            <p:cNvPr id="118" name="Pill 1 – End cap">
              <a:extLst>
                <a:ext uri="{FF2B5EF4-FFF2-40B4-BE49-F238E27FC236}">
                  <a16:creationId xmlns:a16="http://schemas.microsoft.com/office/drawing/2014/main" id="{007CA142-FA30-9BDD-3D5A-4B954B563629}"/>
                </a:ext>
              </a:extLst>
            </p:cNvPr>
            <p:cNvSpPr/>
            <p:nvPr/>
          </p:nvSpPr>
          <p:spPr>
            <a:xfrm>
              <a:off x="9728300" y="2647686"/>
              <a:ext cx="781314" cy="781314"/>
            </a:xfrm>
            <a:prstGeom prst="roundRect">
              <a:avLst>
                <a:gd name="adj" fmla="val 50000"/>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dirty="0"/>
            </a:p>
          </p:txBody>
        </p:sp>
      </p:grpSp>
      <p:sp>
        <p:nvSpPr>
          <p:cNvPr id="78" name="Pill 3 – Text">
            <a:extLst>
              <a:ext uri="{FF2B5EF4-FFF2-40B4-BE49-F238E27FC236}">
                <a16:creationId xmlns:a16="http://schemas.microsoft.com/office/drawing/2014/main" id="{462A5085-691A-397F-22F2-30576618A5D1}"/>
              </a:ext>
            </a:extLst>
          </p:cNvPr>
          <p:cNvSpPr txBox="1">
            <a:spLocks/>
          </p:cNvSpPr>
          <p:nvPr/>
        </p:nvSpPr>
        <p:spPr>
          <a:xfrm>
            <a:off x="8900624" y="5177182"/>
            <a:ext cx="2575793" cy="384205"/>
          </a:xfrm>
          <a:prstGeom prst="rect">
            <a:avLst/>
          </a:prstGeom>
        </p:spPr>
        <p:txBody>
          <a:bodyPr vert="horz" lIns="91440" tIns="45720" rIns="91440" bIns="45720" rtlCol="0" anchor="t">
            <a:normAutofit fontScale="92500"/>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800" dirty="0">
                <a:solidFill>
                  <a:schemeClr val="bg1"/>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Sinhala · Tamil · English</a:t>
            </a:r>
            <a:endParaRPr lang="en-GB" sz="1800" dirty="0">
              <a:solidFill>
                <a:schemeClr val="bg1"/>
              </a:solidFill>
              <a:latin typeface="Google Sans Flex" panose="020B0503030502040204" pitchFamily="34" charset="0"/>
              <a:ea typeface="Google Sans Flex" panose="020B0503030502040204" pitchFamily="34" charset="0"/>
              <a:cs typeface="Google Sans Flex" panose="020B0503030502040204" pitchFamily="34" charset="0"/>
            </a:endParaRPr>
          </a:p>
        </p:txBody>
      </p:sp>
      <p:grpSp>
        <p:nvGrpSpPr>
          <p:cNvPr id="97" name="Pill 1 – Badge">
            <a:extLst>
              <a:ext uri="{FF2B5EF4-FFF2-40B4-BE49-F238E27FC236}">
                <a16:creationId xmlns:a16="http://schemas.microsoft.com/office/drawing/2014/main" id="{2596FDAB-3866-A67A-DBB2-3EC7BBCA5752}"/>
              </a:ext>
            </a:extLst>
          </p:cNvPr>
          <p:cNvGrpSpPr/>
          <p:nvPr/>
        </p:nvGrpSpPr>
        <p:grpSpPr>
          <a:xfrm>
            <a:off x="8144168" y="2960237"/>
            <a:ext cx="781314" cy="781314"/>
            <a:chOff x="7902821" y="2588566"/>
            <a:chExt cx="781314" cy="781314"/>
          </a:xfrm>
        </p:grpSpPr>
        <p:sp>
          <p:nvSpPr>
            <p:cNvPr id="98" name="Pill 1 – Green circle">
              <a:extLst>
                <a:ext uri="{FF2B5EF4-FFF2-40B4-BE49-F238E27FC236}">
                  <a16:creationId xmlns:a16="http://schemas.microsoft.com/office/drawing/2014/main" id="{2142D066-38C5-534B-9DB0-9EAC740E571C}"/>
                </a:ext>
              </a:extLst>
            </p:cNvPr>
            <p:cNvSpPr/>
            <p:nvPr/>
          </p:nvSpPr>
          <p:spPr>
            <a:xfrm>
              <a:off x="7902821" y="2588566"/>
              <a:ext cx="781314" cy="781314"/>
            </a:xfrm>
            <a:prstGeom prst="roundRect">
              <a:avLst>
                <a:gd name="adj" fmla="val 50000"/>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dirty="0"/>
            </a:p>
          </p:txBody>
        </p:sp>
        <p:sp>
          <p:nvSpPr>
            <p:cNvPr id="99" name="Pill 1 – Dark box">
              <a:extLst>
                <a:ext uri="{FF2B5EF4-FFF2-40B4-BE49-F238E27FC236}">
                  <a16:creationId xmlns:a16="http://schemas.microsoft.com/office/drawing/2014/main" id="{3ECB4016-A796-21E9-1B7A-37E0606DCFFE}"/>
                </a:ext>
              </a:extLst>
            </p:cNvPr>
            <p:cNvSpPr/>
            <p:nvPr/>
          </p:nvSpPr>
          <p:spPr>
            <a:xfrm>
              <a:off x="8003647" y="2673353"/>
              <a:ext cx="601820" cy="601820"/>
            </a:xfrm>
            <a:prstGeom prst="roundRect">
              <a:avLst>
                <a:gd name="adj" fmla="val 50000"/>
              </a:avLst>
            </a:prstGeom>
            <a:solidFill>
              <a:srgbClr val="001B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100" name="Pill 1 – Icon">
              <a:extLst>
                <a:ext uri="{FF2B5EF4-FFF2-40B4-BE49-F238E27FC236}">
                  <a16:creationId xmlns:a16="http://schemas.microsoft.com/office/drawing/2014/main" id="{9039B61A-EB2D-8513-D326-189ACC6A8482}"/>
                </a:ext>
              </a:extLst>
            </p:cNvPr>
            <p:cNvPicPr>
              <a:picLocks noChangeAspect="1"/>
            </p:cNvPicPr>
            <p:nvPr/>
          </p:nvPicPr>
          <p:blipFill>
            <a:blip r:embed="rId3">
              <a:clrChange>
                <a:clrFrom>
                  <a:srgbClr val="133152"/>
                </a:clrFrom>
                <a:clrTo>
                  <a:srgbClr val="133152">
                    <a:alpha val="0"/>
                  </a:srgbClr>
                </a:clrTo>
              </a:clrChange>
            </a:blip>
            <a:stretch>
              <a:fillRect/>
            </a:stretch>
          </p:blipFill>
          <p:spPr>
            <a:xfrm>
              <a:off x="8091793" y="2736502"/>
              <a:ext cx="390191" cy="432843"/>
            </a:xfrm>
            <a:prstGeom prst="rect">
              <a:avLst/>
            </a:prstGeom>
          </p:spPr>
        </p:pic>
      </p:grpSp>
      <p:grpSp>
        <p:nvGrpSpPr>
          <p:cNvPr id="102" name="Pill 2 – Badge">
            <a:extLst>
              <a:ext uri="{FF2B5EF4-FFF2-40B4-BE49-F238E27FC236}">
                <a16:creationId xmlns:a16="http://schemas.microsoft.com/office/drawing/2014/main" id="{AFFDF886-646A-13CD-205F-0E8CE678C113}"/>
              </a:ext>
            </a:extLst>
          </p:cNvPr>
          <p:cNvGrpSpPr/>
          <p:nvPr/>
        </p:nvGrpSpPr>
        <p:grpSpPr>
          <a:xfrm>
            <a:off x="8144168" y="3958253"/>
            <a:ext cx="781314" cy="781314"/>
            <a:chOff x="7902821" y="3586582"/>
            <a:chExt cx="781314" cy="781314"/>
          </a:xfrm>
        </p:grpSpPr>
        <p:sp>
          <p:nvSpPr>
            <p:cNvPr id="103" name="Pill 2 – Green circle">
              <a:extLst>
                <a:ext uri="{FF2B5EF4-FFF2-40B4-BE49-F238E27FC236}">
                  <a16:creationId xmlns:a16="http://schemas.microsoft.com/office/drawing/2014/main" id="{A69E3199-675E-2034-12C4-7E711DB6B7C2}"/>
                </a:ext>
              </a:extLst>
            </p:cNvPr>
            <p:cNvSpPr/>
            <p:nvPr/>
          </p:nvSpPr>
          <p:spPr>
            <a:xfrm>
              <a:off x="7902821" y="3586582"/>
              <a:ext cx="781314" cy="781314"/>
            </a:xfrm>
            <a:prstGeom prst="roundRect">
              <a:avLst>
                <a:gd name="adj" fmla="val 50000"/>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dirty="0"/>
            </a:p>
          </p:txBody>
        </p:sp>
        <p:sp>
          <p:nvSpPr>
            <p:cNvPr id="104" name="Pill 2 – Dark box">
              <a:extLst>
                <a:ext uri="{FF2B5EF4-FFF2-40B4-BE49-F238E27FC236}">
                  <a16:creationId xmlns:a16="http://schemas.microsoft.com/office/drawing/2014/main" id="{15F4A48E-34F3-B9BD-9870-A88E330C56AC}"/>
                </a:ext>
              </a:extLst>
            </p:cNvPr>
            <p:cNvSpPr/>
            <p:nvPr/>
          </p:nvSpPr>
          <p:spPr>
            <a:xfrm>
              <a:off x="8003647" y="3671369"/>
              <a:ext cx="601820" cy="601820"/>
            </a:xfrm>
            <a:prstGeom prst="roundRect">
              <a:avLst>
                <a:gd name="adj" fmla="val 50000"/>
              </a:avLst>
            </a:prstGeom>
            <a:solidFill>
              <a:srgbClr val="001B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nvGrpSpPr>
            <p:cNvPr id="105" name="Pill 2 – Icon">
              <a:extLst>
                <a:ext uri="{FF2B5EF4-FFF2-40B4-BE49-F238E27FC236}">
                  <a16:creationId xmlns:a16="http://schemas.microsoft.com/office/drawing/2014/main" id="{9C8A9281-30B0-875B-6EE5-138D7D993EA8}"/>
                </a:ext>
              </a:extLst>
            </p:cNvPr>
            <p:cNvGrpSpPr/>
            <p:nvPr/>
          </p:nvGrpSpPr>
          <p:grpSpPr>
            <a:xfrm>
              <a:off x="8114826" y="3782552"/>
              <a:ext cx="408304" cy="361259"/>
              <a:chOff x="5502244" y="2552655"/>
              <a:chExt cx="1980935" cy="1752690"/>
            </a:xfrm>
          </p:grpSpPr>
          <p:pic>
            <p:nvPicPr>
              <p:cNvPr id="106" name="Picture 105">
                <a:extLst>
                  <a:ext uri="{FF2B5EF4-FFF2-40B4-BE49-F238E27FC236}">
                    <a16:creationId xmlns:a16="http://schemas.microsoft.com/office/drawing/2014/main" id="{6EE39347-CA68-5B3D-C2C4-56D77FEF14BB}"/>
                  </a:ext>
                </a:extLst>
              </p:cNvPr>
              <p:cNvPicPr>
                <a:picLocks noChangeAspect="1"/>
              </p:cNvPicPr>
              <p:nvPr/>
            </p:nvPicPr>
            <p:blipFill>
              <a:blip r:embed="rId4">
                <a:clrChange>
                  <a:clrFrom>
                    <a:srgbClr val="133152"/>
                  </a:clrFrom>
                  <a:clrTo>
                    <a:srgbClr val="133152">
                      <a:alpha val="0"/>
                    </a:srgbClr>
                  </a:clrTo>
                </a:clrChange>
              </a:blip>
              <a:stretch>
                <a:fillRect/>
              </a:stretch>
            </p:blipFill>
            <p:spPr>
              <a:xfrm>
                <a:off x="5502244" y="2552655"/>
                <a:ext cx="1187511" cy="1752690"/>
              </a:xfrm>
              <a:prstGeom prst="rect">
                <a:avLst/>
              </a:prstGeom>
            </p:spPr>
          </p:pic>
          <p:pic>
            <p:nvPicPr>
              <p:cNvPr id="107" name="Picture 106">
                <a:extLst>
                  <a:ext uri="{FF2B5EF4-FFF2-40B4-BE49-F238E27FC236}">
                    <a16:creationId xmlns:a16="http://schemas.microsoft.com/office/drawing/2014/main" id="{04085206-3692-90AD-7017-728FE483404B}"/>
                  </a:ext>
                </a:extLst>
              </p:cNvPr>
              <p:cNvPicPr>
                <a:picLocks noChangeAspect="1"/>
              </p:cNvPicPr>
              <p:nvPr/>
            </p:nvPicPr>
            <p:blipFill>
              <a:blip r:embed="rId4">
                <a:clrChange>
                  <a:clrFrom>
                    <a:srgbClr val="133152"/>
                  </a:clrFrom>
                  <a:clrTo>
                    <a:srgbClr val="133152">
                      <a:alpha val="0"/>
                    </a:srgbClr>
                  </a:clrTo>
                </a:clrChange>
              </a:blip>
              <a:stretch>
                <a:fillRect/>
              </a:stretch>
            </p:blipFill>
            <p:spPr>
              <a:xfrm>
                <a:off x="5889710" y="2552655"/>
                <a:ext cx="1187511" cy="1752690"/>
              </a:xfrm>
              <a:prstGeom prst="rect">
                <a:avLst/>
              </a:prstGeom>
            </p:spPr>
          </p:pic>
          <p:pic>
            <p:nvPicPr>
              <p:cNvPr id="108" name="Picture 107">
                <a:extLst>
                  <a:ext uri="{FF2B5EF4-FFF2-40B4-BE49-F238E27FC236}">
                    <a16:creationId xmlns:a16="http://schemas.microsoft.com/office/drawing/2014/main" id="{F2373C80-2F18-DE99-F5D5-1461868B2BA0}"/>
                  </a:ext>
                </a:extLst>
              </p:cNvPr>
              <p:cNvPicPr>
                <a:picLocks noChangeAspect="1"/>
              </p:cNvPicPr>
              <p:nvPr/>
            </p:nvPicPr>
            <p:blipFill>
              <a:blip r:embed="rId4">
                <a:clrChange>
                  <a:clrFrom>
                    <a:srgbClr val="133152"/>
                  </a:clrFrom>
                  <a:clrTo>
                    <a:srgbClr val="133152">
                      <a:alpha val="0"/>
                    </a:srgbClr>
                  </a:clrTo>
                </a:clrChange>
              </a:blip>
              <a:stretch>
                <a:fillRect/>
              </a:stretch>
            </p:blipFill>
            <p:spPr>
              <a:xfrm>
                <a:off x="6295668" y="2552655"/>
                <a:ext cx="1187511" cy="1752690"/>
              </a:xfrm>
              <a:prstGeom prst="rect">
                <a:avLst/>
              </a:prstGeom>
            </p:spPr>
          </p:pic>
        </p:grpSp>
      </p:grpSp>
      <p:grpSp>
        <p:nvGrpSpPr>
          <p:cNvPr id="109" name="Pill 3 – Badge">
            <a:extLst>
              <a:ext uri="{FF2B5EF4-FFF2-40B4-BE49-F238E27FC236}">
                <a16:creationId xmlns:a16="http://schemas.microsoft.com/office/drawing/2014/main" id="{F67C4D3A-B89B-3238-6941-9583AB193F9B}"/>
              </a:ext>
            </a:extLst>
          </p:cNvPr>
          <p:cNvGrpSpPr/>
          <p:nvPr/>
        </p:nvGrpSpPr>
        <p:grpSpPr>
          <a:xfrm>
            <a:off x="8144168" y="4953029"/>
            <a:ext cx="781314" cy="781314"/>
            <a:chOff x="7902821" y="4581358"/>
            <a:chExt cx="781314" cy="781314"/>
          </a:xfrm>
        </p:grpSpPr>
        <p:sp>
          <p:nvSpPr>
            <p:cNvPr id="110" name="Pill 3 – Green circle">
              <a:extLst>
                <a:ext uri="{FF2B5EF4-FFF2-40B4-BE49-F238E27FC236}">
                  <a16:creationId xmlns:a16="http://schemas.microsoft.com/office/drawing/2014/main" id="{7AE5DFD8-2D57-1611-8EC4-0AC371CADD75}"/>
                </a:ext>
              </a:extLst>
            </p:cNvPr>
            <p:cNvSpPr/>
            <p:nvPr/>
          </p:nvSpPr>
          <p:spPr>
            <a:xfrm>
              <a:off x="7902821" y="4581358"/>
              <a:ext cx="781314" cy="781314"/>
            </a:xfrm>
            <a:prstGeom prst="roundRect">
              <a:avLst>
                <a:gd name="adj" fmla="val 50000"/>
              </a:avLst>
            </a:prstGeom>
            <a:solidFill>
              <a:srgbClr val="00DE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dirty="0"/>
            </a:p>
          </p:txBody>
        </p:sp>
        <p:sp>
          <p:nvSpPr>
            <p:cNvPr id="111" name="Pill 3 – Dark box">
              <a:extLst>
                <a:ext uri="{FF2B5EF4-FFF2-40B4-BE49-F238E27FC236}">
                  <a16:creationId xmlns:a16="http://schemas.microsoft.com/office/drawing/2014/main" id="{A70BD7FA-9893-C72E-FC88-2499666262F7}"/>
                </a:ext>
              </a:extLst>
            </p:cNvPr>
            <p:cNvSpPr/>
            <p:nvPr/>
          </p:nvSpPr>
          <p:spPr>
            <a:xfrm>
              <a:off x="8003647" y="4666145"/>
              <a:ext cx="601820" cy="601820"/>
            </a:xfrm>
            <a:prstGeom prst="roundRect">
              <a:avLst>
                <a:gd name="adj" fmla="val 50000"/>
              </a:avLst>
            </a:prstGeom>
            <a:solidFill>
              <a:srgbClr val="001B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112" name="Pill 3 – Icon">
              <a:extLst>
                <a:ext uri="{FF2B5EF4-FFF2-40B4-BE49-F238E27FC236}">
                  <a16:creationId xmlns:a16="http://schemas.microsoft.com/office/drawing/2014/main" id="{690C8DFC-8BFB-94EF-8E61-CD110CA245F7}"/>
                </a:ext>
              </a:extLst>
            </p:cNvPr>
            <p:cNvPicPr>
              <a:picLocks noChangeAspect="1"/>
            </p:cNvPicPr>
            <p:nvPr/>
          </p:nvPicPr>
          <p:blipFill>
            <a:blip r:embed="rId5">
              <a:clrChange>
                <a:clrFrom>
                  <a:srgbClr val="133152"/>
                </a:clrFrom>
                <a:clrTo>
                  <a:srgbClr val="133152">
                    <a:alpha val="0"/>
                  </a:srgbClr>
                </a:clrTo>
              </a:clrChange>
            </a:blip>
            <a:stretch>
              <a:fillRect/>
            </a:stretch>
          </p:blipFill>
          <p:spPr>
            <a:xfrm>
              <a:off x="8085984" y="4803200"/>
              <a:ext cx="437146" cy="360474"/>
            </a:xfrm>
            <a:prstGeom prst="rect">
              <a:avLst/>
            </a:prstGeom>
          </p:spPr>
        </p:pic>
      </p:grpSp>
      <p:grpSp>
        <p:nvGrpSpPr>
          <p:cNvPr id="87" name="Group 86">
            <a:extLst>
              <a:ext uri="{FF2B5EF4-FFF2-40B4-BE49-F238E27FC236}">
                <a16:creationId xmlns:a16="http://schemas.microsoft.com/office/drawing/2014/main" id="{2DE4E794-FC98-043A-2A0D-39E8BA6FFD65}"/>
              </a:ext>
            </a:extLst>
          </p:cNvPr>
          <p:cNvGrpSpPr/>
          <p:nvPr/>
        </p:nvGrpSpPr>
        <p:grpSpPr>
          <a:xfrm>
            <a:off x="1125449" y="640080"/>
            <a:ext cx="7516368" cy="438912"/>
            <a:chOff x="923544" y="640080"/>
            <a:chExt cx="7516368" cy="438912"/>
          </a:xfrm>
        </p:grpSpPr>
        <p:sp>
          <p:nvSpPr>
            <p:cNvPr id="84" name="!!edge0">
              <a:extLst>
                <a:ext uri="{FF2B5EF4-FFF2-40B4-BE49-F238E27FC236}">
                  <a16:creationId xmlns:a16="http://schemas.microsoft.com/office/drawing/2014/main" id="{330C98B3-D2C6-DF41-491D-151872185A70}"/>
                </a:ext>
              </a:extLst>
            </p:cNvPr>
            <p:cNvSpPr/>
            <p:nvPr/>
          </p:nvSpPr>
          <p:spPr>
            <a:xfrm>
              <a:off x="923544" y="640080"/>
              <a:ext cx="1338889" cy="438912"/>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rtlCol="0" anchor="ctr"/>
            <a:lstStyle/>
            <a:p>
              <a:pPr algn="ctr"/>
              <a:endParaRPr/>
            </a:p>
          </p:txBody>
        </p:sp>
        <p:sp>
          <p:nvSpPr>
            <p:cNvPr id="86" name="!!section">
              <a:extLst>
                <a:ext uri="{FF2B5EF4-FFF2-40B4-BE49-F238E27FC236}">
                  <a16:creationId xmlns:a16="http://schemas.microsoft.com/office/drawing/2014/main" id="{30CF4E1A-B3A8-104F-CFF6-F91679025F5F}"/>
                </a:ext>
              </a:extLst>
            </p:cNvPr>
            <p:cNvSpPr txBox="1"/>
            <p:nvPr/>
          </p:nvSpPr>
          <p:spPr>
            <a:xfrm>
              <a:off x="1124712" y="758869"/>
              <a:ext cx="7315200" cy="184666"/>
            </a:xfrm>
            <a:prstGeom prst="rect">
              <a:avLst/>
            </a:prstGeom>
            <a:noFill/>
          </p:spPr>
          <p:txBody>
            <a:bodyPr wrap="square" lIns="0" tIns="0" rIns="0" bIns="0" anchor="t">
              <a:spAutoFit/>
            </a:bodyPr>
            <a:lstStyle/>
            <a:p>
              <a:r>
                <a:rPr lang="en-US" sz="1200" dirty="0" err="1">
                  <a:solidFill>
                    <a:srgbClr val="006A62"/>
                  </a:solidFill>
                  <a:latin typeface="Google Sans Flex SemiBold"/>
                </a:rPr>
                <a:t>Designathon</a:t>
              </a:r>
              <a:endParaRPr lang="en-US" sz="1200" dirty="0">
                <a:solidFill>
                  <a:srgbClr val="006A62"/>
                </a:solidFill>
                <a:latin typeface="Google Sans Flex SemiBold"/>
              </a:endParaRPr>
            </a:p>
          </p:txBody>
        </p:sp>
      </p:grpSp>
    </p:spTree>
    <p:extLst>
      <p:ext uri="{BB962C8B-B14F-4D97-AF65-F5344CB8AC3E}">
        <p14:creationId xmlns:p14="http://schemas.microsoft.com/office/powerpoint/2010/main" val="9235273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67"/>
                                        </p:tgtEl>
                                        <p:attrNameLst>
                                          <p:attrName>style.visibility</p:attrName>
                                        </p:attrNameLst>
                                      </p:cBhvr>
                                      <p:to>
                                        <p:strVal val="visible"/>
                                      </p:to>
                                    </p:set>
                                    <p:animEffect transition="in" filter="wipe(left)">
                                      <p:cBhvr>
                                        <p:cTn id="7" dur="1000"/>
                                        <p:tgtEl>
                                          <p:spTgt spid="67"/>
                                        </p:tgtEl>
                                      </p:cBhvr>
                                    </p:animEffect>
                                  </p:childTnLst>
                                </p:cTn>
                              </p:par>
                              <p:par>
                                <p:cTn id="8" presetID="53" presetClass="entr" presetSubtype="16" fill="hold" nodeType="withEffect">
                                  <p:stCondLst>
                                    <p:cond delay="0"/>
                                  </p:stCondLst>
                                  <p:childTnLst>
                                    <p:set>
                                      <p:cBhvr>
                                        <p:cTn id="9" dur="1" fill="hold">
                                          <p:stCondLst>
                                            <p:cond delay="0"/>
                                          </p:stCondLst>
                                        </p:cTn>
                                        <p:tgtEl>
                                          <p:spTgt spid="97"/>
                                        </p:tgtEl>
                                        <p:attrNameLst>
                                          <p:attrName>style.visibility</p:attrName>
                                        </p:attrNameLst>
                                      </p:cBhvr>
                                      <p:to>
                                        <p:strVal val="visible"/>
                                      </p:to>
                                    </p:set>
                                    <p:anim calcmode="lin" valueType="num">
                                      <p:cBhvr>
                                        <p:cTn id="10" dur="500" fill="hold"/>
                                        <p:tgtEl>
                                          <p:spTgt spid="97"/>
                                        </p:tgtEl>
                                        <p:attrNameLst>
                                          <p:attrName>ppt_w</p:attrName>
                                        </p:attrNameLst>
                                      </p:cBhvr>
                                      <p:tavLst>
                                        <p:tav tm="0">
                                          <p:val>
                                            <p:fltVal val="0"/>
                                          </p:val>
                                        </p:tav>
                                        <p:tav tm="100000">
                                          <p:val>
                                            <p:strVal val="#ppt_w"/>
                                          </p:val>
                                        </p:tav>
                                      </p:tavLst>
                                    </p:anim>
                                    <p:anim calcmode="lin" valueType="num">
                                      <p:cBhvr>
                                        <p:cTn id="11" dur="500" fill="hold"/>
                                        <p:tgtEl>
                                          <p:spTgt spid="97"/>
                                        </p:tgtEl>
                                        <p:attrNameLst>
                                          <p:attrName>ppt_h</p:attrName>
                                        </p:attrNameLst>
                                      </p:cBhvr>
                                      <p:tavLst>
                                        <p:tav tm="0">
                                          <p:val>
                                            <p:fltVal val="0"/>
                                          </p:val>
                                        </p:tav>
                                        <p:tav tm="100000">
                                          <p:val>
                                            <p:strVal val="#ppt_h"/>
                                          </p:val>
                                        </p:tav>
                                      </p:tavLst>
                                    </p:anim>
                                    <p:animEffect transition="in" filter="fade">
                                      <p:cBhvr>
                                        <p:cTn id="12" dur="500"/>
                                        <p:tgtEl>
                                          <p:spTgt spid="97"/>
                                        </p:tgtEl>
                                      </p:cBhvr>
                                    </p:animEffect>
                                  </p:childTnLst>
                                </p:cTn>
                              </p:par>
                              <p:par>
                                <p:cTn id="13" presetID="1" presetClass="entr" presetSubtype="0" fill="hold" nodeType="withEffect">
                                  <p:stCondLst>
                                    <p:cond delay="500"/>
                                  </p:stCondLst>
                                  <p:childTnLst>
                                    <p:set>
                                      <p:cBhvr>
                                        <p:cTn id="14" dur="1" fill="hold">
                                          <p:stCondLst>
                                            <p:cond delay="0"/>
                                          </p:stCondLst>
                                        </p:cTn>
                                        <p:tgtEl>
                                          <p:spTgt spid="101"/>
                                        </p:tgtEl>
                                        <p:attrNameLst>
                                          <p:attrName>style.visibility</p:attrName>
                                        </p:attrNameLst>
                                      </p:cBhvr>
                                      <p:to>
                                        <p:strVal val="visible"/>
                                      </p:to>
                                    </p:set>
                                  </p:childTnLst>
                                </p:cTn>
                              </p:par>
                              <p:par>
                                <p:cTn id="15" presetID="63" presetClass="path" presetSubtype="0" accel="50000" decel="50000" fill="hold" nodeType="withEffect">
                                  <p:stCondLst>
                                    <p:cond delay="500"/>
                                  </p:stCondLst>
                                  <p:childTnLst>
                                    <p:animMotion origin="layout" path="M 2.08333E-7 2.59259E-6 L 0.22083 2.59259E-6 " pathEditMode="relative" rAng="0" ptsTypes="AA">
                                      <p:cBhvr>
                                        <p:cTn id="16" dur="1250" fill="hold"/>
                                        <p:tgtEl>
                                          <p:spTgt spid="101"/>
                                        </p:tgtEl>
                                        <p:attrNameLst>
                                          <p:attrName>ppt_x</p:attrName>
                                          <p:attrName>ppt_y</p:attrName>
                                        </p:attrNameLst>
                                      </p:cBhvr>
                                      <p:rCtr x="11042" y="0"/>
                                    </p:animMotion>
                                  </p:childTnLst>
                                </p:cTn>
                              </p:par>
                              <p:par>
                                <p:cTn id="17" presetID="22" presetClass="entr" presetSubtype="8" fill="hold" grpId="0" nodeType="withEffect">
                                  <p:stCondLst>
                                    <p:cond delay="1000"/>
                                  </p:stCondLst>
                                  <p:childTnLst>
                                    <p:set>
                                      <p:cBhvr>
                                        <p:cTn id="18" dur="1" fill="hold">
                                          <p:stCondLst>
                                            <p:cond delay="0"/>
                                          </p:stCondLst>
                                        </p:cTn>
                                        <p:tgtEl>
                                          <p:spTgt spid="70">
                                            <p:txEl>
                                              <p:pRg st="0" end="0"/>
                                            </p:txEl>
                                          </p:spTgt>
                                        </p:tgtEl>
                                        <p:attrNameLst>
                                          <p:attrName>style.visibility</p:attrName>
                                        </p:attrNameLst>
                                      </p:cBhvr>
                                      <p:to>
                                        <p:strVal val="visible"/>
                                      </p:to>
                                    </p:set>
                                    <p:animEffect transition="in" filter="wipe(left)">
                                      <p:cBhvr>
                                        <p:cTn id="19" dur="750"/>
                                        <p:tgtEl>
                                          <p:spTgt spid="70">
                                            <p:txEl>
                                              <p:pRg st="0" end="0"/>
                                            </p:txEl>
                                          </p:spTgt>
                                        </p:tgtEl>
                                      </p:cBhvr>
                                    </p:animEffect>
                                  </p:childTnLst>
                                </p:cTn>
                              </p:par>
                              <p:par>
                                <p:cTn id="20" presetID="22" presetClass="entr" presetSubtype="8" fill="hold" grpId="0" nodeType="withEffect">
                                  <p:stCondLst>
                                    <p:cond delay="1250"/>
                                  </p:stCondLst>
                                  <p:childTnLst>
                                    <p:set>
                                      <p:cBhvr>
                                        <p:cTn id="21" dur="1" fill="hold">
                                          <p:stCondLst>
                                            <p:cond delay="0"/>
                                          </p:stCondLst>
                                        </p:cTn>
                                        <p:tgtEl>
                                          <p:spTgt spid="71"/>
                                        </p:tgtEl>
                                        <p:attrNameLst>
                                          <p:attrName>style.visibility</p:attrName>
                                        </p:attrNameLst>
                                      </p:cBhvr>
                                      <p:to>
                                        <p:strVal val="visible"/>
                                      </p:to>
                                    </p:set>
                                    <p:animEffect transition="in" filter="wipe(left)">
                                      <p:cBhvr>
                                        <p:cTn id="22" dur="1000"/>
                                        <p:tgtEl>
                                          <p:spTgt spid="71"/>
                                        </p:tgtEl>
                                      </p:cBhvr>
                                    </p:animEffect>
                                  </p:childTnLst>
                                </p:cTn>
                              </p:par>
                              <p:par>
                                <p:cTn id="23" presetID="53" presetClass="entr" presetSubtype="16" fill="hold" nodeType="withEffect">
                                  <p:stCondLst>
                                    <p:cond delay="750"/>
                                  </p:stCondLst>
                                  <p:childTnLst>
                                    <p:set>
                                      <p:cBhvr>
                                        <p:cTn id="24" dur="1" fill="hold">
                                          <p:stCondLst>
                                            <p:cond delay="0"/>
                                          </p:stCondLst>
                                        </p:cTn>
                                        <p:tgtEl>
                                          <p:spTgt spid="102"/>
                                        </p:tgtEl>
                                        <p:attrNameLst>
                                          <p:attrName>style.visibility</p:attrName>
                                        </p:attrNameLst>
                                      </p:cBhvr>
                                      <p:to>
                                        <p:strVal val="visible"/>
                                      </p:to>
                                    </p:set>
                                    <p:anim calcmode="lin" valueType="num">
                                      <p:cBhvr>
                                        <p:cTn id="25" dur="500" fill="hold"/>
                                        <p:tgtEl>
                                          <p:spTgt spid="102"/>
                                        </p:tgtEl>
                                        <p:attrNameLst>
                                          <p:attrName>ppt_w</p:attrName>
                                        </p:attrNameLst>
                                      </p:cBhvr>
                                      <p:tavLst>
                                        <p:tav tm="0">
                                          <p:val>
                                            <p:fltVal val="0"/>
                                          </p:val>
                                        </p:tav>
                                        <p:tav tm="100000">
                                          <p:val>
                                            <p:strVal val="#ppt_w"/>
                                          </p:val>
                                        </p:tav>
                                      </p:tavLst>
                                    </p:anim>
                                    <p:anim calcmode="lin" valueType="num">
                                      <p:cBhvr>
                                        <p:cTn id="26" dur="500" fill="hold"/>
                                        <p:tgtEl>
                                          <p:spTgt spid="102"/>
                                        </p:tgtEl>
                                        <p:attrNameLst>
                                          <p:attrName>ppt_h</p:attrName>
                                        </p:attrNameLst>
                                      </p:cBhvr>
                                      <p:tavLst>
                                        <p:tav tm="0">
                                          <p:val>
                                            <p:fltVal val="0"/>
                                          </p:val>
                                        </p:tav>
                                        <p:tav tm="100000">
                                          <p:val>
                                            <p:strVal val="#ppt_h"/>
                                          </p:val>
                                        </p:tav>
                                      </p:tavLst>
                                    </p:anim>
                                    <p:animEffect transition="in" filter="fade">
                                      <p:cBhvr>
                                        <p:cTn id="27" dur="500"/>
                                        <p:tgtEl>
                                          <p:spTgt spid="102"/>
                                        </p:tgtEl>
                                      </p:cBhvr>
                                    </p:animEffect>
                                  </p:childTnLst>
                                </p:cTn>
                              </p:par>
                              <p:par>
                                <p:cTn id="28" presetID="1" presetClass="entr" presetSubtype="0" fill="hold" nodeType="withEffect">
                                  <p:stCondLst>
                                    <p:cond delay="1250"/>
                                  </p:stCondLst>
                                  <p:childTnLst>
                                    <p:set>
                                      <p:cBhvr>
                                        <p:cTn id="29" dur="1" fill="hold">
                                          <p:stCondLst>
                                            <p:cond delay="0"/>
                                          </p:stCondLst>
                                        </p:cTn>
                                        <p:tgtEl>
                                          <p:spTgt spid="113"/>
                                        </p:tgtEl>
                                        <p:attrNameLst>
                                          <p:attrName>style.visibility</p:attrName>
                                        </p:attrNameLst>
                                      </p:cBhvr>
                                      <p:to>
                                        <p:strVal val="visible"/>
                                      </p:to>
                                    </p:set>
                                  </p:childTnLst>
                                </p:cTn>
                              </p:par>
                              <p:par>
                                <p:cTn id="30" presetID="63" presetClass="path" presetSubtype="0" accel="50000" decel="50000" fill="hold" nodeType="withEffect">
                                  <p:stCondLst>
                                    <p:cond delay="1500"/>
                                  </p:stCondLst>
                                  <p:childTnLst>
                                    <p:animMotion origin="layout" path="M 2.08333E-7 -0.00139 L 0.22083 -0.00139 " pathEditMode="relative" rAng="0" ptsTypes="AA">
                                      <p:cBhvr>
                                        <p:cTn id="31" dur="1250" fill="hold"/>
                                        <p:tgtEl>
                                          <p:spTgt spid="113"/>
                                        </p:tgtEl>
                                        <p:attrNameLst>
                                          <p:attrName>ppt_x</p:attrName>
                                          <p:attrName>ppt_y</p:attrName>
                                        </p:attrNameLst>
                                      </p:cBhvr>
                                      <p:rCtr x="11042" y="0"/>
                                    </p:animMotion>
                                  </p:childTnLst>
                                </p:cTn>
                              </p:par>
                              <p:par>
                                <p:cTn id="32" presetID="22" presetClass="entr" presetSubtype="8" fill="hold" grpId="0" nodeType="withEffect">
                                  <p:stCondLst>
                                    <p:cond delay="2000"/>
                                  </p:stCondLst>
                                  <p:childTnLst>
                                    <p:set>
                                      <p:cBhvr>
                                        <p:cTn id="33" dur="1" fill="hold">
                                          <p:stCondLst>
                                            <p:cond delay="0"/>
                                          </p:stCondLst>
                                        </p:cTn>
                                        <p:tgtEl>
                                          <p:spTgt spid="74">
                                            <p:txEl>
                                              <p:pRg st="0" end="0"/>
                                            </p:txEl>
                                          </p:spTgt>
                                        </p:tgtEl>
                                        <p:attrNameLst>
                                          <p:attrName>style.visibility</p:attrName>
                                        </p:attrNameLst>
                                      </p:cBhvr>
                                      <p:to>
                                        <p:strVal val="visible"/>
                                      </p:to>
                                    </p:set>
                                    <p:animEffect transition="in" filter="wipe(left)">
                                      <p:cBhvr>
                                        <p:cTn id="34" dur="750"/>
                                        <p:tgtEl>
                                          <p:spTgt spid="74">
                                            <p:txEl>
                                              <p:pRg st="0" end="0"/>
                                            </p:txEl>
                                          </p:spTgt>
                                        </p:tgtEl>
                                      </p:cBhvr>
                                    </p:animEffect>
                                  </p:childTnLst>
                                </p:cTn>
                              </p:par>
                              <p:par>
                                <p:cTn id="35" presetID="22" presetClass="entr" presetSubtype="8" fill="hold" grpId="0" nodeType="withEffect">
                                  <p:stCondLst>
                                    <p:cond delay="2000"/>
                                  </p:stCondLst>
                                  <p:childTnLst>
                                    <p:set>
                                      <p:cBhvr>
                                        <p:cTn id="36" dur="1" fill="hold">
                                          <p:stCondLst>
                                            <p:cond delay="0"/>
                                          </p:stCondLst>
                                        </p:cTn>
                                        <p:tgtEl>
                                          <p:spTgt spid="75"/>
                                        </p:tgtEl>
                                        <p:attrNameLst>
                                          <p:attrName>style.visibility</p:attrName>
                                        </p:attrNameLst>
                                      </p:cBhvr>
                                      <p:to>
                                        <p:strVal val="visible"/>
                                      </p:to>
                                    </p:set>
                                    <p:animEffect transition="in" filter="wipe(left)">
                                      <p:cBhvr>
                                        <p:cTn id="37" dur="1000"/>
                                        <p:tgtEl>
                                          <p:spTgt spid="75"/>
                                        </p:tgtEl>
                                      </p:cBhvr>
                                    </p:animEffect>
                                  </p:childTnLst>
                                </p:cTn>
                              </p:par>
                              <p:par>
                                <p:cTn id="38" presetID="53" presetClass="entr" presetSubtype="16" fill="hold" nodeType="withEffect">
                                  <p:stCondLst>
                                    <p:cond delay="1500"/>
                                  </p:stCondLst>
                                  <p:childTnLst>
                                    <p:set>
                                      <p:cBhvr>
                                        <p:cTn id="39" dur="1" fill="hold">
                                          <p:stCondLst>
                                            <p:cond delay="0"/>
                                          </p:stCondLst>
                                        </p:cTn>
                                        <p:tgtEl>
                                          <p:spTgt spid="109"/>
                                        </p:tgtEl>
                                        <p:attrNameLst>
                                          <p:attrName>style.visibility</p:attrName>
                                        </p:attrNameLst>
                                      </p:cBhvr>
                                      <p:to>
                                        <p:strVal val="visible"/>
                                      </p:to>
                                    </p:set>
                                    <p:anim calcmode="lin" valueType="num">
                                      <p:cBhvr>
                                        <p:cTn id="40" dur="500" fill="hold"/>
                                        <p:tgtEl>
                                          <p:spTgt spid="109"/>
                                        </p:tgtEl>
                                        <p:attrNameLst>
                                          <p:attrName>ppt_w</p:attrName>
                                        </p:attrNameLst>
                                      </p:cBhvr>
                                      <p:tavLst>
                                        <p:tav tm="0">
                                          <p:val>
                                            <p:fltVal val="0"/>
                                          </p:val>
                                        </p:tav>
                                        <p:tav tm="100000">
                                          <p:val>
                                            <p:strVal val="#ppt_w"/>
                                          </p:val>
                                        </p:tav>
                                      </p:tavLst>
                                    </p:anim>
                                    <p:anim calcmode="lin" valueType="num">
                                      <p:cBhvr>
                                        <p:cTn id="41" dur="500" fill="hold"/>
                                        <p:tgtEl>
                                          <p:spTgt spid="109"/>
                                        </p:tgtEl>
                                        <p:attrNameLst>
                                          <p:attrName>ppt_h</p:attrName>
                                        </p:attrNameLst>
                                      </p:cBhvr>
                                      <p:tavLst>
                                        <p:tav tm="0">
                                          <p:val>
                                            <p:fltVal val="0"/>
                                          </p:val>
                                        </p:tav>
                                        <p:tav tm="100000">
                                          <p:val>
                                            <p:strVal val="#ppt_h"/>
                                          </p:val>
                                        </p:tav>
                                      </p:tavLst>
                                    </p:anim>
                                    <p:animEffect transition="in" filter="fade">
                                      <p:cBhvr>
                                        <p:cTn id="42" dur="500"/>
                                        <p:tgtEl>
                                          <p:spTgt spid="109"/>
                                        </p:tgtEl>
                                      </p:cBhvr>
                                    </p:animEffect>
                                  </p:childTnLst>
                                </p:cTn>
                              </p:par>
                              <p:par>
                                <p:cTn id="43" presetID="1" presetClass="entr" presetSubtype="0" fill="hold" nodeType="withEffect">
                                  <p:stCondLst>
                                    <p:cond delay="2000"/>
                                  </p:stCondLst>
                                  <p:childTnLst>
                                    <p:set>
                                      <p:cBhvr>
                                        <p:cTn id="44" dur="1" fill="hold">
                                          <p:stCondLst>
                                            <p:cond delay="0"/>
                                          </p:stCondLst>
                                        </p:cTn>
                                        <p:tgtEl>
                                          <p:spTgt spid="116"/>
                                        </p:tgtEl>
                                        <p:attrNameLst>
                                          <p:attrName>style.visibility</p:attrName>
                                        </p:attrNameLst>
                                      </p:cBhvr>
                                      <p:to>
                                        <p:strVal val="visible"/>
                                      </p:to>
                                    </p:set>
                                  </p:childTnLst>
                                </p:cTn>
                              </p:par>
                              <p:par>
                                <p:cTn id="45" presetID="63" presetClass="path" presetSubtype="0" accel="50000" decel="50000" fill="hold" nodeType="withEffect">
                                  <p:stCondLst>
                                    <p:cond delay="2250"/>
                                  </p:stCondLst>
                                  <p:childTnLst>
                                    <p:animMotion origin="layout" path="M 2.08333E-7 -0.00139 L 0.22148 -0.00139 " pathEditMode="relative" rAng="0" ptsTypes="AA">
                                      <p:cBhvr>
                                        <p:cTn id="46" dur="1250" fill="hold"/>
                                        <p:tgtEl>
                                          <p:spTgt spid="116"/>
                                        </p:tgtEl>
                                        <p:attrNameLst>
                                          <p:attrName>ppt_x</p:attrName>
                                          <p:attrName>ppt_y</p:attrName>
                                        </p:attrNameLst>
                                      </p:cBhvr>
                                      <p:rCtr x="11068" y="0"/>
                                    </p:animMotion>
                                  </p:childTnLst>
                                </p:cTn>
                              </p:par>
                              <p:par>
                                <p:cTn id="47" presetID="22" presetClass="entr" presetSubtype="8" fill="hold" grpId="0" nodeType="withEffect">
                                  <p:stCondLst>
                                    <p:cond delay="2750"/>
                                  </p:stCondLst>
                                  <p:childTnLst>
                                    <p:set>
                                      <p:cBhvr>
                                        <p:cTn id="48" dur="1" fill="hold">
                                          <p:stCondLst>
                                            <p:cond delay="0"/>
                                          </p:stCondLst>
                                        </p:cTn>
                                        <p:tgtEl>
                                          <p:spTgt spid="78">
                                            <p:txEl>
                                              <p:pRg st="0" end="0"/>
                                            </p:txEl>
                                          </p:spTgt>
                                        </p:tgtEl>
                                        <p:attrNameLst>
                                          <p:attrName>style.visibility</p:attrName>
                                        </p:attrNameLst>
                                      </p:cBhvr>
                                      <p:to>
                                        <p:strVal val="visible"/>
                                      </p:to>
                                    </p:set>
                                    <p:animEffect transition="in" filter="wipe(left)">
                                      <p:cBhvr>
                                        <p:cTn id="49" dur="750"/>
                                        <p:tgtEl>
                                          <p:spTgt spid="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70" grpId="0" build="allAtOnce"/>
      <p:bldP spid="71" grpId="0" animBg="1"/>
      <p:bldP spid="74" grpId="0" build="allAtOnce"/>
      <p:bldP spid="75" grpId="0" animBg="1"/>
      <p:bldP spid="78" grpId="0" build="allAtOnce"/>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1B09"/>
        </a:solidFill>
        <a:effectLst/>
      </p:bgPr>
    </p:bg>
    <p:spTree>
      <p:nvGrpSpPr>
        <p:cNvPr id="1" name="">
          <a:extLst>
            <a:ext uri="{FF2B5EF4-FFF2-40B4-BE49-F238E27FC236}">
              <a16:creationId xmlns:a16="http://schemas.microsoft.com/office/drawing/2014/main" id="{E9697BE6-2E4B-010E-64D3-4694A80EF237}"/>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C9C3914-C459-50D9-2288-6FC88CE75824}"/>
              </a:ext>
            </a:extLst>
          </p:cNvPr>
          <p:cNvSpPr txBox="1">
            <a:spLocks/>
          </p:cNvSpPr>
          <p:nvPr/>
        </p:nvSpPr>
        <p:spPr>
          <a:xfrm>
            <a:off x="2839253" y="2615140"/>
            <a:ext cx="6513495" cy="162772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dirty="0">
                <a:solidFill>
                  <a:schemeClr val="bg1"/>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Hackathon</a:t>
            </a:r>
            <a:endParaRPr lang="en-US" sz="5400" dirty="0">
              <a:solidFill>
                <a:schemeClr val="bg1"/>
              </a:solidFill>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Tree>
    <p:extLst>
      <p:ext uri="{BB962C8B-B14F-4D97-AF65-F5344CB8AC3E}">
        <p14:creationId xmlns:p14="http://schemas.microsoft.com/office/powerpoint/2010/main" val="2744568037"/>
      </p:ext>
    </p:extLst>
  </p:cSld>
  <p:clrMapOvr>
    <a:masterClrMapping/>
  </p:clrMapOvr>
  <p:transition spd="slow">
    <p:push/>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A33AA7A-CE94-2F61-2CAA-804C938AAA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6189" y="324106"/>
            <a:ext cx="11039621" cy="6209787"/>
          </a:xfrm>
          <a:prstGeom prst="rect">
            <a:avLst/>
          </a:prstGeom>
        </p:spPr>
      </p:pic>
    </p:spTree>
    <p:extLst>
      <p:ext uri="{BB962C8B-B14F-4D97-AF65-F5344CB8AC3E}">
        <p14:creationId xmlns:p14="http://schemas.microsoft.com/office/powerpoint/2010/main" val="3171790591"/>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B9CEB2-6331-5D98-2B9D-318CD65E64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15510417"/>
      </p:ext>
    </p:extLst>
  </p:cSld>
  <p:clrMapOvr>
    <a:masterClrMapping/>
  </p:clrMapOvr>
  <p:transition spd="slow">
    <p:push/>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1B09"/>
        </a:solidFill>
        <a:effectLst/>
      </p:bgPr>
    </p:bg>
    <p:spTree>
      <p:nvGrpSpPr>
        <p:cNvPr id="1" name="">
          <a:extLst>
            <a:ext uri="{FF2B5EF4-FFF2-40B4-BE49-F238E27FC236}">
              <a16:creationId xmlns:a16="http://schemas.microsoft.com/office/drawing/2014/main" id="{9E66B4F0-1185-BC5F-95E9-82963600CD4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2DEB30A-06F5-B0BF-EFF3-68033F41648C}"/>
              </a:ext>
            </a:extLst>
          </p:cNvPr>
          <p:cNvSpPr txBox="1">
            <a:spLocks/>
          </p:cNvSpPr>
          <p:nvPr/>
        </p:nvSpPr>
        <p:spPr>
          <a:xfrm>
            <a:off x="2839253" y="2615140"/>
            <a:ext cx="6513495" cy="162772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dirty="0" err="1">
                <a:solidFill>
                  <a:schemeClr val="bg1"/>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Datathon</a:t>
            </a:r>
            <a:endParaRPr lang="en-US" sz="5400" dirty="0">
              <a:solidFill>
                <a:schemeClr val="bg1"/>
              </a:solidFill>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Tree>
    <p:extLst>
      <p:ext uri="{BB962C8B-B14F-4D97-AF65-F5344CB8AC3E}">
        <p14:creationId xmlns:p14="http://schemas.microsoft.com/office/powerpoint/2010/main" val="386331147"/>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04538-3005-041E-0587-9C0963DC1476}"/>
            </a:ext>
          </a:extLst>
        </p:cNvPr>
        <p:cNvGrpSpPr/>
        <p:nvPr/>
      </p:nvGrpSpPr>
      <p:grpSpPr>
        <a:xfrm>
          <a:off x="0" y="0"/>
          <a:ext cx="0" cy="0"/>
          <a:chOff x="0" y="0"/>
          <a:chExt cx="0" cy="0"/>
        </a:xfrm>
      </p:grpSpPr>
      <p:grpSp>
        <p:nvGrpSpPr>
          <p:cNvPr id="212" name="Group 211">
            <a:extLst>
              <a:ext uri="{FF2B5EF4-FFF2-40B4-BE49-F238E27FC236}">
                <a16:creationId xmlns:a16="http://schemas.microsoft.com/office/drawing/2014/main" id="{2173E4A6-896F-F519-5CAB-F1B5791225E7}"/>
              </a:ext>
            </a:extLst>
          </p:cNvPr>
          <p:cNvGrpSpPr/>
          <p:nvPr/>
        </p:nvGrpSpPr>
        <p:grpSpPr>
          <a:xfrm>
            <a:off x="925704" y="843788"/>
            <a:ext cx="10313760" cy="5516941"/>
            <a:chOff x="925704" y="843788"/>
            <a:chExt cx="10313760" cy="5516941"/>
          </a:xfrm>
        </p:grpSpPr>
        <p:sp>
          <p:nvSpPr>
            <p:cNvPr id="4" name="Title 1">
              <a:extLst>
                <a:ext uri="{FF2B5EF4-FFF2-40B4-BE49-F238E27FC236}">
                  <a16:creationId xmlns:a16="http://schemas.microsoft.com/office/drawing/2014/main" id="{86E445AE-7922-5605-DA61-EADB8717ADF0}"/>
                </a:ext>
              </a:extLst>
            </p:cNvPr>
            <p:cNvSpPr txBox="1">
              <a:spLocks/>
            </p:cNvSpPr>
            <p:nvPr/>
          </p:nvSpPr>
          <p:spPr>
            <a:xfrm>
              <a:off x="925704" y="843788"/>
              <a:ext cx="9196306" cy="750448"/>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Three kinds of intelligence,</a:t>
              </a:r>
              <a:r>
                <a:rPr lang="en-GB" sz="360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 </a:t>
              </a:r>
              <a:r>
                <a:rPr lang="en-US" sz="3600">
                  <a:latin typeface="Google Sans Flex Light" panose="020B0503030502040204" pitchFamily="34" charset="0"/>
                  <a:ea typeface="Google Sans Flex Light" panose="020B0503030502040204" pitchFamily="34" charset="0"/>
                  <a:cs typeface="Google Sans Flex Light" panose="020B0503030502040204" pitchFamily="34" charset="0"/>
                </a:rPr>
                <a:t>under </a:t>
              </a:r>
              <a:r>
                <a:rPr lang="en-US" sz="3600" dirty="0">
                  <a:latin typeface="Google Sans Flex Light" panose="020B0503030502040204" pitchFamily="34" charset="0"/>
                  <a:ea typeface="Google Sans Flex Light" panose="020B0503030502040204" pitchFamily="34" charset="0"/>
                  <a:cs typeface="Google Sans Flex Light" panose="020B0503030502040204" pitchFamily="34" charset="0"/>
                </a:rPr>
                <a:t>one rule</a:t>
              </a:r>
            </a:p>
          </p:txBody>
        </p:sp>
        <p:sp>
          <p:nvSpPr>
            <p:cNvPr id="51" name="Rectangle: Rounded Corners 50">
              <a:extLst>
                <a:ext uri="{FF2B5EF4-FFF2-40B4-BE49-F238E27FC236}">
                  <a16:creationId xmlns:a16="http://schemas.microsoft.com/office/drawing/2014/main" id="{60AF6492-BCC4-7C48-D83D-7B02C19C8A6B}"/>
                </a:ext>
              </a:extLst>
            </p:cNvPr>
            <p:cNvSpPr/>
            <p:nvPr/>
          </p:nvSpPr>
          <p:spPr>
            <a:xfrm>
              <a:off x="4516732" y="1963103"/>
              <a:ext cx="3158537" cy="2354455"/>
            </a:xfrm>
            <a:prstGeom prst="roundRect">
              <a:avLst>
                <a:gd name="adj" fmla="val 1853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F7848328-6C24-B8D4-3812-E0DA6D9FB8BC}"/>
                </a:ext>
              </a:extLst>
            </p:cNvPr>
            <p:cNvSpPr/>
            <p:nvPr/>
          </p:nvSpPr>
          <p:spPr>
            <a:xfrm>
              <a:off x="8080927" y="1963103"/>
              <a:ext cx="3158537" cy="2354455"/>
            </a:xfrm>
            <a:prstGeom prst="roundRect">
              <a:avLst>
                <a:gd name="adj" fmla="val 1853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itle 1">
              <a:extLst>
                <a:ext uri="{FF2B5EF4-FFF2-40B4-BE49-F238E27FC236}">
                  <a16:creationId xmlns:a16="http://schemas.microsoft.com/office/drawing/2014/main" id="{D56EA953-E545-D963-A4D6-FBE64C4547F3}"/>
                </a:ext>
              </a:extLst>
            </p:cNvPr>
            <p:cNvSpPr txBox="1">
              <a:spLocks/>
            </p:cNvSpPr>
            <p:nvPr/>
          </p:nvSpPr>
          <p:spPr>
            <a:xfrm>
              <a:off x="4705044" y="2660312"/>
              <a:ext cx="2061515" cy="750448"/>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solidFill>
                    <a:srgbClr val="001B09"/>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Foresee</a:t>
              </a:r>
              <a:endParaRPr lang="en-US" sz="3600" dirty="0">
                <a:solidFill>
                  <a:srgbClr val="001B09"/>
                </a:solidFill>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55" name="Title 1">
              <a:extLst>
                <a:ext uri="{FF2B5EF4-FFF2-40B4-BE49-F238E27FC236}">
                  <a16:creationId xmlns:a16="http://schemas.microsoft.com/office/drawing/2014/main" id="{FF032319-9C98-A7DC-128F-39C43630EA82}"/>
                </a:ext>
              </a:extLst>
            </p:cNvPr>
            <p:cNvSpPr txBox="1">
              <a:spLocks/>
            </p:cNvSpPr>
            <p:nvPr/>
          </p:nvSpPr>
          <p:spPr>
            <a:xfrm>
              <a:off x="4700296" y="3468580"/>
              <a:ext cx="2781882" cy="856926"/>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400" dirty="0">
                  <a:latin typeface="Google Sans Flex" panose="020B0503030502040204" pitchFamily="34" charset="0"/>
                  <a:ea typeface="Google Sans Flex" panose="020B0503030502040204" pitchFamily="34" charset="0"/>
                  <a:cs typeface="Google Sans Flex" panose="020B0503030502040204" pitchFamily="34" charset="0"/>
                </a:rPr>
                <a:t>Demand ten weeks ahead, as trucks, refrigerated trucks and drivers</a:t>
              </a:r>
            </a:p>
          </p:txBody>
        </p:sp>
        <p:sp>
          <p:nvSpPr>
            <p:cNvPr id="56" name="Title 1">
              <a:extLst>
                <a:ext uri="{FF2B5EF4-FFF2-40B4-BE49-F238E27FC236}">
                  <a16:creationId xmlns:a16="http://schemas.microsoft.com/office/drawing/2014/main" id="{DAC2F681-57DD-25B2-C824-FB2B45C416E5}"/>
                </a:ext>
              </a:extLst>
            </p:cNvPr>
            <p:cNvSpPr txBox="1">
              <a:spLocks/>
            </p:cNvSpPr>
            <p:nvPr/>
          </p:nvSpPr>
          <p:spPr>
            <a:xfrm>
              <a:off x="8213385" y="2660312"/>
              <a:ext cx="2361848" cy="750448"/>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solidFill>
                    <a:srgbClr val="001B09"/>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Decide</a:t>
              </a:r>
              <a:endParaRPr lang="en-US" sz="3600" dirty="0">
                <a:solidFill>
                  <a:srgbClr val="001B09"/>
                </a:solidFill>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57" name="Title 1">
              <a:extLst>
                <a:ext uri="{FF2B5EF4-FFF2-40B4-BE49-F238E27FC236}">
                  <a16:creationId xmlns:a16="http://schemas.microsoft.com/office/drawing/2014/main" id="{A2BF7A3F-9B86-5EF3-2E39-DDF8FA91FE20}"/>
                </a:ext>
              </a:extLst>
            </p:cNvPr>
            <p:cNvSpPr txBox="1">
              <a:spLocks/>
            </p:cNvSpPr>
            <p:nvPr/>
          </p:nvSpPr>
          <p:spPr>
            <a:xfrm>
              <a:off x="8208636" y="3468580"/>
              <a:ext cx="2781882" cy="856926"/>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400" dirty="0">
                  <a:latin typeface="Google Sans Flex" panose="020B0503030502040204" pitchFamily="34" charset="0"/>
                  <a:ea typeface="Google Sans Flex" panose="020B0503030502040204" pitchFamily="34" charset="0"/>
                  <a:cs typeface="Google Sans Flex" panose="020B0503030502040204" pitchFamily="34" charset="0"/>
                </a:rPr>
                <a:t>The best plan when trucks run short, and why</a:t>
              </a:r>
            </a:p>
          </p:txBody>
        </p:sp>
        <p:sp>
          <p:nvSpPr>
            <p:cNvPr id="61" name="Rectangle: Rounded Corners 60">
              <a:extLst>
                <a:ext uri="{FF2B5EF4-FFF2-40B4-BE49-F238E27FC236}">
                  <a16:creationId xmlns:a16="http://schemas.microsoft.com/office/drawing/2014/main" id="{0E747BC9-DF6B-DF2F-5154-28EEC8DB6FAA}"/>
                </a:ext>
              </a:extLst>
            </p:cNvPr>
            <p:cNvSpPr/>
            <p:nvPr/>
          </p:nvSpPr>
          <p:spPr>
            <a:xfrm>
              <a:off x="979913" y="1963103"/>
              <a:ext cx="3158537" cy="2354455"/>
            </a:xfrm>
            <a:prstGeom prst="roundRect">
              <a:avLst>
                <a:gd name="adj" fmla="val 1853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itle 1">
              <a:extLst>
                <a:ext uri="{FF2B5EF4-FFF2-40B4-BE49-F238E27FC236}">
                  <a16:creationId xmlns:a16="http://schemas.microsoft.com/office/drawing/2014/main" id="{D709D485-C043-6250-18A7-98421D3AA87A}"/>
                </a:ext>
              </a:extLst>
            </p:cNvPr>
            <p:cNvSpPr txBox="1">
              <a:spLocks/>
            </p:cNvSpPr>
            <p:nvPr/>
          </p:nvSpPr>
          <p:spPr>
            <a:xfrm>
              <a:off x="1168226" y="2660312"/>
              <a:ext cx="2023942" cy="750448"/>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solidFill>
                    <a:srgbClr val="001B09"/>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Predict</a:t>
              </a:r>
              <a:endParaRPr lang="en-US" sz="3600" dirty="0">
                <a:solidFill>
                  <a:srgbClr val="001B09"/>
                </a:solidFill>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64" name="Title 1">
              <a:extLst>
                <a:ext uri="{FF2B5EF4-FFF2-40B4-BE49-F238E27FC236}">
                  <a16:creationId xmlns:a16="http://schemas.microsoft.com/office/drawing/2014/main" id="{B84B8AD1-3C3D-39D1-67EE-3287CE4A0F89}"/>
                </a:ext>
              </a:extLst>
            </p:cNvPr>
            <p:cNvSpPr txBox="1">
              <a:spLocks/>
            </p:cNvSpPr>
            <p:nvPr/>
          </p:nvSpPr>
          <p:spPr>
            <a:xfrm>
              <a:off x="1163477" y="3468580"/>
              <a:ext cx="2781882" cy="856926"/>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400" dirty="0">
                  <a:latin typeface="Google Sans Flex" panose="020B0503030502040204" pitchFamily="34" charset="0"/>
                  <a:ea typeface="Google Sans Flex" panose="020B0503030502040204" pitchFamily="34" charset="0"/>
                  <a:cs typeface="Google Sans Flex" panose="020B0503030502040204" pitchFamily="34" charset="0"/>
                </a:rPr>
                <a:t>Which stops will be late, and how long unloading takes</a:t>
              </a:r>
            </a:p>
          </p:txBody>
        </p:sp>
        <p:sp>
          <p:nvSpPr>
            <p:cNvPr id="123" name="Rectangle: Rounded Corners 122">
              <a:extLst>
                <a:ext uri="{FF2B5EF4-FFF2-40B4-BE49-F238E27FC236}">
                  <a16:creationId xmlns:a16="http://schemas.microsoft.com/office/drawing/2014/main" id="{B7DB3C4B-FC4B-816B-38CB-C6DD9AE0DB08}"/>
                </a:ext>
              </a:extLst>
            </p:cNvPr>
            <p:cNvSpPr/>
            <p:nvPr/>
          </p:nvSpPr>
          <p:spPr>
            <a:xfrm>
              <a:off x="1184128" y="2163210"/>
              <a:ext cx="818509" cy="361927"/>
            </a:xfrm>
            <a:prstGeom prst="roundRect">
              <a:avLst>
                <a:gd name="adj" fmla="val 50000"/>
              </a:avLst>
            </a:prstGeom>
            <a:solidFill>
              <a:srgbClr val="DDDDDD"/>
            </a:solidFill>
            <a:ln>
              <a:no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Title 1">
              <a:extLst>
                <a:ext uri="{FF2B5EF4-FFF2-40B4-BE49-F238E27FC236}">
                  <a16:creationId xmlns:a16="http://schemas.microsoft.com/office/drawing/2014/main" id="{CAA45AE2-E374-FB56-9F4C-BCB03F0B4F6A}"/>
                </a:ext>
              </a:extLst>
            </p:cNvPr>
            <p:cNvSpPr txBox="1">
              <a:spLocks/>
            </p:cNvSpPr>
            <p:nvPr/>
          </p:nvSpPr>
          <p:spPr>
            <a:xfrm>
              <a:off x="1238204" y="2213432"/>
              <a:ext cx="764433" cy="359189"/>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400" dirty="0">
                  <a:latin typeface="Google Sans Flex" panose="020B0503030502040204" pitchFamily="34" charset="0"/>
                  <a:ea typeface="Google Sans Flex" panose="020B0503030502040204" pitchFamily="34" charset="0"/>
                  <a:cs typeface="Google Sans Flex" panose="020B0503030502040204" pitchFamily="34" charset="0"/>
                </a:rPr>
                <a:t>Task 1</a:t>
              </a:r>
            </a:p>
          </p:txBody>
        </p:sp>
        <p:sp>
          <p:nvSpPr>
            <p:cNvPr id="129" name="Rectangle: Rounded Corners 128">
              <a:extLst>
                <a:ext uri="{FF2B5EF4-FFF2-40B4-BE49-F238E27FC236}">
                  <a16:creationId xmlns:a16="http://schemas.microsoft.com/office/drawing/2014/main" id="{0778670C-26E6-B125-8F1B-CC8937A1332E}"/>
                </a:ext>
              </a:extLst>
            </p:cNvPr>
            <p:cNvSpPr/>
            <p:nvPr/>
          </p:nvSpPr>
          <p:spPr>
            <a:xfrm>
              <a:off x="4728897" y="2163210"/>
              <a:ext cx="916528" cy="361927"/>
            </a:xfrm>
            <a:prstGeom prst="roundRect">
              <a:avLst>
                <a:gd name="adj" fmla="val 50000"/>
              </a:avLst>
            </a:prstGeom>
            <a:solidFill>
              <a:srgbClr val="DDDDDD"/>
            </a:solidFill>
            <a:ln>
              <a:no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Title 1">
              <a:extLst>
                <a:ext uri="{FF2B5EF4-FFF2-40B4-BE49-F238E27FC236}">
                  <a16:creationId xmlns:a16="http://schemas.microsoft.com/office/drawing/2014/main" id="{5306B125-F043-8040-94EE-3136B5BD71E6}"/>
                </a:ext>
              </a:extLst>
            </p:cNvPr>
            <p:cNvSpPr txBox="1">
              <a:spLocks/>
            </p:cNvSpPr>
            <p:nvPr/>
          </p:nvSpPr>
          <p:spPr>
            <a:xfrm>
              <a:off x="4782973" y="2213432"/>
              <a:ext cx="862452" cy="359189"/>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400" dirty="0">
                  <a:latin typeface="Google Sans Flex" panose="020B0503030502040204" pitchFamily="34" charset="0"/>
                  <a:ea typeface="Google Sans Flex" panose="020B0503030502040204" pitchFamily="34" charset="0"/>
                  <a:cs typeface="Google Sans Flex" panose="020B0503030502040204" pitchFamily="34" charset="0"/>
                </a:rPr>
                <a:t>Task 2A</a:t>
              </a:r>
            </a:p>
          </p:txBody>
        </p:sp>
        <p:sp>
          <p:nvSpPr>
            <p:cNvPr id="131" name="Rectangle: Rounded Corners 130">
              <a:extLst>
                <a:ext uri="{FF2B5EF4-FFF2-40B4-BE49-F238E27FC236}">
                  <a16:creationId xmlns:a16="http://schemas.microsoft.com/office/drawing/2014/main" id="{8A824ECD-E0CC-6F01-7537-F0D1E2A2AAEF}"/>
                </a:ext>
              </a:extLst>
            </p:cNvPr>
            <p:cNvSpPr/>
            <p:nvPr/>
          </p:nvSpPr>
          <p:spPr>
            <a:xfrm>
              <a:off x="8311177" y="2163210"/>
              <a:ext cx="2049371" cy="361927"/>
            </a:xfrm>
            <a:prstGeom prst="roundRect">
              <a:avLst>
                <a:gd name="adj" fmla="val 50000"/>
              </a:avLst>
            </a:prstGeom>
            <a:solidFill>
              <a:srgbClr val="DDDDDD"/>
            </a:solidFill>
            <a:ln>
              <a:no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Title 1">
              <a:extLst>
                <a:ext uri="{FF2B5EF4-FFF2-40B4-BE49-F238E27FC236}">
                  <a16:creationId xmlns:a16="http://schemas.microsoft.com/office/drawing/2014/main" id="{7E2B62AA-4F5B-27FD-0596-743D5CC04730}"/>
                </a:ext>
              </a:extLst>
            </p:cNvPr>
            <p:cNvSpPr txBox="1">
              <a:spLocks/>
            </p:cNvSpPr>
            <p:nvPr/>
          </p:nvSpPr>
          <p:spPr>
            <a:xfrm>
              <a:off x="8365253" y="2213432"/>
              <a:ext cx="2241784" cy="359189"/>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400" dirty="0">
                  <a:latin typeface="Google Sans Flex" panose="020B0503030502040204" pitchFamily="34" charset="0"/>
                  <a:ea typeface="Google Sans Flex" panose="020B0503030502040204" pitchFamily="34" charset="0"/>
                  <a:cs typeface="Google Sans Flex" panose="020B0503030502040204" pitchFamily="34" charset="0"/>
                </a:rPr>
                <a:t>Task 2B + Live planner</a:t>
              </a:r>
            </a:p>
          </p:txBody>
        </p:sp>
        <p:cxnSp>
          <p:nvCxnSpPr>
            <p:cNvPr id="133" name="Straight Connector 132">
              <a:extLst>
                <a:ext uri="{FF2B5EF4-FFF2-40B4-BE49-F238E27FC236}">
                  <a16:creationId xmlns:a16="http://schemas.microsoft.com/office/drawing/2014/main" id="{59BFA29D-0FF1-7A95-5AB7-416026D468DA}"/>
                </a:ext>
              </a:extLst>
            </p:cNvPr>
            <p:cNvCxnSpPr>
              <a:cxnSpLocks/>
            </p:cNvCxnSpPr>
            <p:nvPr/>
          </p:nvCxnSpPr>
          <p:spPr>
            <a:xfrm>
              <a:off x="1016994" y="3288899"/>
              <a:ext cx="2994407"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35C5E80B-DF76-1D3D-07EF-945626430442}"/>
                </a:ext>
              </a:extLst>
            </p:cNvPr>
            <p:cNvCxnSpPr>
              <a:cxnSpLocks/>
            </p:cNvCxnSpPr>
            <p:nvPr/>
          </p:nvCxnSpPr>
          <p:spPr>
            <a:xfrm>
              <a:off x="4598796" y="3288899"/>
              <a:ext cx="2994407"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5C4222F3-E03A-96F9-E2DF-333B937ADD86}"/>
                </a:ext>
              </a:extLst>
            </p:cNvPr>
            <p:cNvCxnSpPr>
              <a:cxnSpLocks/>
            </p:cNvCxnSpPr>
            <p:nvPr/>
          </p:nvCxnSpPr>
          <p:spPr>
            <a:xfrm>
              <a:off x="8137188" y="3288899"/>
              <a:ext cx="2994407" cy="0"/>
            </a:xfrm>
            <a:prstGeom prst="line">
              <a:avLst/>
            </a:prstGeom>
            <a:ln w="9525">
              <a:gradFill>
                <a:gsLst>
                  <a:gs pos="0">
                    <a:schemeClr val="bg1"/>
                  </a:gs>
                  <a:gs pos="55000">
                    <a:schemeClr val="tx1"/>
                  </a:gs>
                  <a:gs pos="83000">
                    <a:schemeClr val="tx1"/>
                  </a:gs>
                  <a:gs pos="100000">
                    <a:schemeClr val="bg1"/>
                  </a:gs>
                </a:gsLst>
                <a:lin ang="600000" scaled="0"/>
              </a:gradFill>
            </a:ln>
          </p:spPr>
          <p:style>
            <a:lnRef idx="1">
              <a:schemeClr val="accent1"/>
            </a:lnRef>
            <a:fillRef idx="0">
              <a:schemeClr val="accent1"/>
            </a:fillRef>
            <a:effectRef idx="0">
              <a:schemeClr val="accent1"/>
            </a:effectRef>
            <a:fontRef idx="minor">
              <a:schemeClr val="tx1"/>
            </a:fontRef>
          </p:style>
        </p:cxnSp>
        <p:sp>
          <p:nvSpPr>
            <p:cNvPr id="138" name="Rectangle: Rounded Corners 137">
              <a:extLst>
                <a:ext uri="{FF2B5EF4-FFF2-40B4-BE49-F238E27FC236}">
                  <a16:creationId xmlns:a16="http://schemas.microsoft.com/office/drawing/2014/main" id="{5A1499AC-5A0F-7357-39C7-C2DEC6887595}"/>
                </a:ext>
              </a:extLst>
            </p:cNvPr>
            <p:cNvSpPr/>
            <p:nvPr/>
          </p:nvSpPr>
          <p:spPr>
            <a:xfrm>
              <a:off x="952536" y="4901418"/>
              <a:ext cx="1595084" cy="653434"/>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Rounded Corners 138">
              <a:extLst>
                <a:ext uri="{FF2B5EF4-FFF2-40B4-BE49-F238E27FC236}">
                  <a16:creationId xmlns:a16="http://schemas.microsoft.com/office/drawing/2014/main" id="{3DF1FEAC-A5F3-5A85-238A-D7248DE02390}"/>
                </a:ext>
              </a:extLst>
            </p:cNvPr>
            <p:cNvSpPr/>
            <p:nvPr/>
          </p:nvSpPr>
          <p:spPr>
            <a:xfrm>
              <a:off x="2919427" y="4901418"/>
              <a:ext cx="2267742" cy="653434"/>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Rounded Corners 139">
              <a:extLst>
                <a:ext uri="{FF2B5EF4-FFF2-40B4-BE49-F238E27FC236}">
                  <a16:creationId xmlns:a16="http://schemas.microsoft.com/office/drawing/2014/main" id="{17316D43-3E4C-7359-A968-967D2381C583}"/>
                </a:ext>
              </a:extLst>
            </p:cNvPr>
            <p:cNvSpPr/>
            <p:nvPr/>
          </p:nvSpPr>
          <p:spPr>
            <a:xfrm>
              <a:off x="5514371" y="4901418"/>
              <a:ext cx="3158536" cy="653434"/>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Rounded Corners 140">
              <a:extLst>
                <a:ext uri="{FF2B5EF4-FFF2-40B4-BE49-F238E27FC236}">
                  <a16:creationId xmlns:a16="http://schemas.microsoft.com/office/drawing/2014/main" id="{213F236E-66CA-22D5-F765-5E826103CB6F}"/>
                </a:ext>
              </a:extLst>
            </p:cNvPr>
            <p:cNvSpPr/>
            <p:nvPr/>
          </p:nvSpPr>
          <p:spPr>
            <a:xfrm>
              <a:off x="8971722" y="4901418"/>
              <a:ext cx="2267742" cy="653434"/>
            </a:xfrm>
            <a:prstGeom prst="roundRect">
              <a:avLst>
                <a:gd name="adj" fmla="val 50000"/>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Title 1">
              <a:extLst>
                <a:ext uri="{FF2B5EF4-FFF2-40B4-BE49-F238E27FC236}">
                  <a16:creationId xmlns:a16="http://schemas.microsoft.com/office/drawing/2014/main" id="{9971884F-31A9-0D23-6B97-5A91D94E32BC}"/>
                </a:ext>
              </a:extLst>
            </p:cNvPr>
            <p:cNvSpPr txBox="1">
              <a:spLocks/>
            </p:cNvSpPr>
            <p:nvPr/>
          </p:nvSpPr>
          <p:spPr>
            <a:xfrm>
              <a:off x="1057932" y="5076181"/>
              <a:ext cx="1489688" cy="438912"/>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Rules First</a:t>
              </a:r>
            </a:p>
          </p:txBody>
        </p:sp>
        <p:sp>
          <p:nvSpPr>
            <p:cNvPr id="144" name="Title 1">
              <a:extLst>
                <a:ext uri="{FF2B5EF4-FFF2-40B4-BE49-F238E27FC236}">
                  <a16:creationId xmlns:a16="http://schemas.microsoft.com/office/drawing/2014/main" id="{9796F47D-0362-52E5-559A-7D72CAF6D661}"/>
                </a:ext>
              </a:extLst>
            </p:cNvPr>
            <p:cNvSpPr txBox="1">
              <a:spLocks/>
            </p:cNvSpPr>
            <p:nvPr/>
          </p:nvSpPr>
          <p:spPr>
            <a:xfrm>
              <a:off x="3044215" y="5076181"/>
              <a:ext cx="2176005" cy="438912"/>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Our own models</a:t>
              </a:r>
            </a:p>
          </p:txBody>
        </p:sp>
        <p:sp>
          <p:nvSpPr>
            <p:cNvPr id="146" name="Title 1">
              <a:extLst>
                <a:ext uri="{FF2B5EF4-FFF2-40B4-BE49-F238E27FC236}">
                  <a16:creationId xmlns:a16="http://schemas.microsoft.com/office/drawing/2014/main" id="{9751A0B5-5AFF-FFA8-5F3E-9C69FD7B3FA5}"/>
                </a:ext>
              </a:extLst>
            </p:cNvPr>
            <p:cNvSpPr txBox="1">
              <a:spLocks/>
            </p:cNvSpPr>
            <p:nvPr/>
          </p:nvSpPr>
          <p:spPr>
            <a:xfrm>
              <a:off x="5642445" y="5076181"/>
              <a:ext cx="2920977" cy="438912"/>
            </a:xfrm>
            <a:prstGeom prst="rect">
              <a:avLst/>
            </a:prstGeom>
          </p:spPr>
          <p:txBody>
            <a:bodyPr vert="horz" lIns="91440" tIns="45720" rIns="91440" bIns="45720" rtlCol="0" anchor="t">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8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Language AI, wording only</a:t>
              </a:r>
            </a:p>
          </p:txBody>
        </p:sp>
        <p:sp>
          <p:nvSpPr>
            <p:cNvPr id="148" name="Title 1">
              <a:extLst>
                <a:ext uri="{FF2B5EF4-FFF2-40B4-BE49-F238E27FC236}">
                  <a16:creationId xmlns:a16="http://schemas.microsoft.com/office/drawing/2014/main" id="{2BED729D-7545-1B2A-D183-0ADAF0CE2F1E}"/>
                </a:ext>
              </a:extLst>
            </p:cNvPr>
            <p:cNvSpPr txBox="1">
              <a:spLocks/>
            </p:cNvSpPr>
            <p:nvPr/>
          </p:nvSpPr>
          <p:spPr>
            <a:xfrm>
              <a:off x="9102623" y="5076181"/>
              <a:ext cx="2136841" cy="438912"/>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800" dirty="0">
                  <a:solidFill>
                    <a:srgbClr val="DDDDDD"/>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A person decides</a:t>
              </a:r>
            </a:p>
          </p:txBody>
        </p:sp>
        <p:sp>
          <p:nvSpPr>
            <p:cNvPr id="153" name="TextBox 152">
              <a:extLst>
                <a:ext uri="{FF2B5EF4-FFF2-40B4-BE49-F238E27FC236}">
                  <a16:creationId xmlns:a16="http://schemas.microsoft.com/office/drawing/2014/main" id="{801CAB30-2C95-0C09-CD62-AB58A105D83C}"/>
                </a:ext>
              </a:extLst>
            </p:cNvPr>
            <p:cNvSpPr txBox="1"/>
            <p:nvPr/>
          </p:nvSpPr>
          <p:spPr>
            <a:xfrm>
              <a:off x="925704" y="5991397"/>
              <a:ext cx="10027564" cy="369332"/>
            </a:xfrm>
            <a:prstGeom prst="rect">
              <a:avLst/>
            </a:prstGeom>
            <a:noFill/>
          </p:spPr>
          <p:txBody>
            <a:bodyPr wrap="square">
              <a:spAutoFit/>
            </a:bodyPr>
            <a:lstStyle/>
            <a:p>
              <a:r>
                <a:rPr lang="en-US" dirty="0">
                  <a:latin typeface="Google Sans Flex" panose="020B0503030502040204" pitchFamily="34" charset="0"/>
                  <a:ea typeface="Google Sans Flex" panose="020B0503030502040204" pitchFamily="34" charset="0"/>
                  <a:cs typeface="Google Sans Flex" panose="020B0503030502040204" pitchFamily="34" charset="0"/>
                </a:rPr>
                <a:t>If a model is ever down, GO falls back to a safe estimate and says so on screen</a:t>
              </a:r>
            </a:p>
          </p:txBody>
        </p:sp>
        <p:grpSp>
          <p:nvGrpSpPr>
            <p:cNvPr id="161" name="Group 160">
              <a:extLst>
                <a:ext uri="{FF2B5EF4-FFF2-40B4-BE49-F238E27FC236}">
                  <a16:creationId xmlns:a16="http://schemas.microsoft.com/office/drawing/2014/main" id="{208616F2-8AF3-E739-9287-EAB90056A509}"/>
                </a:ext>
              </a:extLst>
            </p:cNvPr>
            <p:cNvGrpSpPr/>
            <p:nvPr/>
          </p:nvGrpSpPr>
          <p:grpSpPr>
            <a:xfrm>
              <a:off x="2669650" y="5098147"/>
              <a:ext cx="127747" cy="259975"/>
              <a:chOff x="421341" y="484094"/>
              <a:chExt cx="127747" cy="259975"/>
            </a:xfrm>
          </p:grpSpPr>
          <p:cxnSp>
            <p:nvCxnSpPr>
              <p:cNvPr id="159" name="Straight Connector 158">
                <a:extLst>
                  <a:ext uri="{FF2B5EF4-FFF2-40B4-BE49-F238E27FC236}">
                    <a16:creationId xmlns:a16="http://schemas.microsoft.com/office/drawing/2014/main" id="{20B26CEF-6601-0400-E626-1BBDDE4BBCC1}"/>
                  </a:ext>
                </a:extLst>
              </p:cNvPr>
              <p:cNvCxnSpPr>
                <a:cxnSpLocks/>
              </p:cNvCxnSpPr>
              <p:nvPr/>
            </p:nvCxnSpPr>
            <p:spPr>
              <a:xfrm>
                <a:off x="421341" y="484094"/>
                <a:ext cx="127747" cy="127747"/>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BEB1797F-3B76-378C-A5CF-67CA825C6949}"/>
                  </a:ext>
                </a:extLst>
              </p:cNvPr>
              <p:cNvCxnSpPr>
                <a:cxnSpLocks/>
              </p:cNvCxnSpPr>
              <p:nvPr/>
            </p:nvCxnSpPr>
            <p:spPr>
              <a:xfrm flipV="1">
                <a:off x="421341" y="616322"/>
                <a:ext cx="127747" cy="127747"/>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2" name="Group 161">
              <a:extLst>
                <a:ext uri="{FF2B5EF4-FFF2-40B4-BE49-F238E27FC236}">
                  <a16:creationId xmlns:a16="http://schemas.microsoft.com/office/drawing/2014/main" id="{111DA617-4684-1197-EEE8-6EDF8323D8F6}"/>
                </a:ext>
              </a:extLst>
            </p:cNvPr>
            <p:cNvGrpSpPr/>
            <p:nvPr/>
          </p:nvGrpSpPr>
          <p:grpSpPr>
            <a:xfrm>
              <a:off x="5270371" y="5098147"/>
              <a:ext cx="127747" cy="259975"/>
              <a:chOff x="421341" y="484094"/>
              <a:chExt cx="127747" cy="259975"/>
            </a:xfrm>
          </p:grpSpPr>
          <p:cxnSp>
            <p:nvCxnSpPr>
              <p:cNvPr id="163" name="Straight Connector 162">
                <a:extLst>
                  <a:ext uri="{FF2B5EF4-FFF2-40B4-BE49-F238E27FC236}">
                    <a16:creationId xmlns:a16="http://schemas.microsoft.com/office/drawing/2014/main" id="{866A64E0-7C6A-E391-6C25-7F0DD81BBD69}"/>
                  </a:ext>
                </a:extLst>
              </p:cNvPr>
              <p:cNvCxnSpPr>
                <a:cxnSpLocks/>
              </p:cNvCxnSpPr>
              <p:nvPr/>
            </p:nvCxnSpPr>
            <p:spPr>
              <a:xfrm>
                <a:off x="421341" y="484094"/>
                <a:ext cx="127747" cy="127747"/>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FC24008F-3386-434C-3904-2055B17FD6E1}"/>
                  </a:ext>
                </a:extLst>
              </p:cNvPr>
              <p:cNvCxnSpPr>
                <a:cxnSpLocks/>
              </p:cNvCxnSpPr>
              <p:nvPr/>
            </p:nvCxnSpPr>
            <p:spPr>
              <a:xfrm flipV="1">
                <a:off x="421341" y="616322"/>
                <a:ext cx="127747" cy="127747"/>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5" name="Group 164">
              <a:extLst>
                <a:ext uri="{FF2B5EF4-FFF2-40B4-BE49-F238E27FC236}">
                  <a16:creationId xmlns:a16="http://schemas.microsoft.com/office/drawing/2014/main" id="{6CDDD7CC-7569-D0EA-99E8-955F93EC0BDB}"/>
                </a:ext>
              </a:extLst>
            </p:cNvPr>
            <p:cNvGrpSpPr/>
            <p:nvPr/>
          </p:nvGrpSpPr>
          <p:grpSpPr>
            <a:xfrm>
              <a:off x="8760854" y="5098147"/>
              <a:ext cx="127747" cy="259975"/>
              <a:chOff x="421341" y="484094"/>
              <a:chExt cx="127747" cy="259975"/>
            </a:xfrm>
          </p:grpSpPr>
          <p:cxnSp>
            <p:nvCxnSpPr>
              <p:cNvPr id="166" name="Straight Connector 165">
                <a:extLst>
                  <a:ext uri="{FF2B5EF4-FFF2-40B4-BE49-F238E27FC236}">
                    <a16:creationId xmlns:a16="http://schemas.microsoft.com/office/drawing/2014/main" id="{BAFE4492-3A0C-A5D2-6A7E-862C6CCA6D13}"/>
                  </a:ext>
                </a:extLst>
              </p:cNvPr>
              <p:cNvCxnSpPr>
                <a:cxnSpLocks/>
              </p:cNvCxnSpPr>
              <p:nvPr/>
            </p:nvCxnSpPr>
            <p:spPr>
              <a:xfrm>
                <a:off x="421341" y="484094"/>
                <a:ext cx="127747" cy="127747"/>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FD1362D1-4FD1-BC22-D4EE-15B1188244A9}"/>
                  </a:ext>
                </a:extLst>
              </p:cNvPr>
              <p:cNvCxnSpPr>
                <a:cxnSpLocks/>
              </p:cNvCxnSpPr>
              <p:nvPr/>
            </p:nvCxnSpPr>
            <p:spPr>
              <a:xfrm flipV="1">
                <a:off x="421341" y="616322"/>
                <a:ext cx="127747" cy="127747"/>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117684678"/>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8CDEA-F7D1-1F83-9D44-CE2CFE464D2A}"/>
            </a:ext>
          </a:extLst>
        </p:cNvPr>
        <p:cNvGrpSpPr/>
        <p:nvPr/>
      </p:nvGrpSpPr>
      <p:grpSpPr>
        <a:xfrm>
          <a:off x="0" y="0"/>
          <a:ext cx="0" cy="0"/>
          <a:chOff x="0" y="0"/>
          <a:chExt cx="0" cy="0"/>
        </a:xfrm>
      </p:grpSpPr>
      <p:sp>
        <p:nvSpPr>
          <p:cNvPr id="2" name="!!pill"/>
          <p:cNvSpPr/>
          <p:nvPr/>
        </p:nvSpPr>
        <p:spPr>
          <a:xfrm>
            <a:off x="927100" y="508000"/>
            <a:ext cx="1778000" cy="3810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wrap="none" lIns="203200" tIns="0" rIns="203200" bIns="0" rtlCol="0" anchor="ctr">
            <a:noAutofit/>
          </a:bodyPr>
          <a:lstStyle/>
          <a:p>
            <a:r>
              <a:rPr lang="en-US" sz="1200"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Task 1 · Predict</a:t>
            </a:r>
          </a:p>
        </p:txBody>
      </p:sp>
      <p:sp>
        <p:nvSpPr>
          <p:cNvPr id="3" name="!!title"/>
          <p:cNvSpPr txBox="1"/>
          <p:nvPr/>
        </p:nvSpPr>
        <p:spPr>
          <a:xfrm>
            <a:off x="838200" y="965200"/>
            <a:ext cx="10541000" cy="660400"/>
          </a:xfrm>
          <a:prstGeom prst="rect">
            <a:avLst/>
          </a:prstGeom>
          <a:noFill/>
        </p:spPr>
        <p:txBody>
          <a:bodyPr wrap="square" lIns="91440" tIns="45720" rIns="91440" bIns="45720" rtlCol="0" anchor="t">
            <a:normAutofit fontScale="85000" lnSpcReduction="10000"/>
          </a:bodyPr>
          <a:lstStyle/>
          <a:p>
            <a:r>
              <a:rPr lang="en-US" sz="32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Late risk and unloading time, </a:t>
            </a:r>
            <a:r>
              <a:rPr lang="en-US" sz="3200" dirty="0">
                <a:latin typeface="Google Sans Flex Light" panose="020B0503030502040204" pitchFamily="34" charset="0"/>
                <a:ea typeface="Google Sans Flex Light" panose="020B0503030502040204" pitchFamily="34" charset="0"/>
                <a:cs typeface="Google Sans Flex Light" panose="020B0503030502040204" pitchFamily="34" charset="0"/>
              </a:rPr>
              <a:t>predicted before the truck leaves</a:t>
            </a:r>
          </a:p>
        </p:txBody>
      </p:sp>
      <p:sp>
        <p:nvSpPr>
          <p:cNvPr id="12" name="!!lbl13"/>
          <p:cNvSpPr txBox="1"/>
          <p:nvPr/>
        </p:nvSpPr>
        <p:spPr>
          <a:xfrm>
            <a:off x="6235700" y="1752600"/>
            <a:ext cx="5003800" cy="254000"/>
          </a:xfrm>
          <a:prstGeom prst="rect">
            <a:avLst/>
          </a:prstGeom>
          <a:noFill/>
        </p:spPr>
        <p:txBody>
          <a:bodyPr wrap="square" lIns="0" tIns="0" rIns="0" bIns="0" rtlCol="0" anchor="b">
            <a:noAutofit/>
          </a:bodyPr>
          <a:lstStyle/>
          <a:p>
            <a:r>
              <a:rPr lang="en-US" sz="1400"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Why it matters: delay builds along the route</a:t>
            </a:r>
          </a:p>
        </p:txBody>
      </p:sp>
      <p:grpSp>
        <p:nvGrpSpPr>
          <p:cNvPr id="11" name="Group 10">
            <a:extLst>
              <a:ext uri="{FF2B5EF4-FFF2-40B4-BE49-F238E27FC236}">
                <a16:creationId xmlns:a16="http://schemas.microsoft.com/office/drawing/2014/main" id="{D1D5F677-B144-955F-1DD7-0A95CEF1DA3F}"/>
              </a:ext>
            </a:extLst>
          </p:cNvPr>
          <p:cNvGrpSpPr/>
          <p:nvPr/>
        </p:nvGrpSpPr>
        <p:grpSpPr>
          <a:xfrm>
            <a:off x="927100" y="1752600"/>
            <a:ext cx="5003800" cy="2997200"/>
            <a:chOff x="927100" y="1752600"/>
            <a:chExt cx="5003800" cy="2997200"/>
          </a:xfrm>
        </p:grpSpPr>
        <p:sp>
          <p:nvSpPr>
            <p:cNvPr id="10" name="!!lbl11"/>
            <p:cNvSpPr txBox="1"/>
            <p:nvPr/>
          </p:nvSpPr>
          <p:spPr>
            <a:xfrm>
              <a:off x="927100" y="1752600"/>
              <a:ext cx="5003800" cy="228600"/>
            </a:xfrm>
            <a:prstGeom prst="rect">
              <a:avLst/>
            </a:prstGeom>
            <a:noFill/>
          </p:spPr>
          <p:txBody>
            <a:bodyPr wrap="square" lIns="0" tIns="0" rIns="0" bIns="0" rtlCol="0" anchor="b">
              <a:noAutofit/>
            </a:bodyPr>
            <a:lstStyle/>
            <a:p>
              <a:r>
                <a:rPr lang="en-US" sz="1400"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How it predicts</a:t>
              </a:r>
            </a:p>
          </p:txBody>
        </p:sp>
        <p:sp>
          <p:nvSpPr>
            <p:cNvPr id="200" name="!!m1"/>
            <p:cNvSpPr/>
            <p:nvPr/>
          </p:nvSpPr>
          <p:spPr>
            <a:xfrm>
              <a:off x="927100" y="2108200"/>
              <a:ext cx="1905000" cy="1016000"/>
            </a:xfrm>
            <a:prstGeom prst="roundRect">
              <a:avLst>
                <a:gd name="adj" fmla="val 1853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wrap="square" lIns="101600" tIns="0" rIns="101600" bIns="0" rtlCol="0" anchor="ctr">
              <a:noAutofit/>
            </a:bodyPr>
            <a:lstStyle/>
            <a:p>
              <a:pPr algn="ctr"/>
              <a:r>
                <a:rPr lang="en-US" sz="1600" dirty="0">
                  <a:solidFill>
                    <a:srgbClr val="001B09"/>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Monte Carlo Simulator</a:t>
              </a:r>
            </a:p>
          </p:txBody>
        </p:sp>
        <p:sp>
          <p:nvSpPr>
            <p:cNvPr id="201" name="!!m2"/>
            <p:cNvSpPr/>
            <p:nvPr/>
          </p:nvSpPr>
          <p:spPr>
            <a:xfrm>
              <a:off x="927100" y="3530600"/>
              <a:ext cx="1905000" cy="1016000"/>
            </a:xfrm>
            <a:prstGeom prst="roundRect">
              <a:avLst>
                <a:gd name="adj" fmla="val 1853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wrap="square" lIns="101600" tIns="0" rIns="101600" bIns="0" rtlCol="0" anchor="ctr">
              <a:noAutofit/>
            </a:bodyPr>
            <a:lstStyle/>
            <a:p>
              <a:pPr algn="ctr"/>
              <a:r>
                <a:rPr lang="en-US" sz="1600" dirty="0">
                  <a:solidFill>
                    <a:srgbClr val="001B09"/>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LightGBM</a:t>
              </a:r>
            </a:p>
          </p:txBody>
        </p:sp>
        <p:sp>
          <p:nvSpPr>
            <p:cNvPr id="202" name="!!m3"/>
            <p:cNvSpPr/>
            <p:nvPr/>
          </p:nvSpPr>
          <p:spPr>
            <a:xfrm>
              <a:off x="3238500" y="2870200"/>
              <a:ext cx="1168400" cy="914400"/>
            </a:xfrm>
            <a:prstGeom prst="roundRect">
              <a:avLst>
                <a:gd name="adj" fmla="val 22000"/>
              </a:avLst>
            </a:prstGeom>
            <a:solidFill>
              <a:srgbClr val="006A62"/>
            </a:solidFill>
            <a:ln>
              <a:noFill/>
            </a:ln>
            <a:effectLst>
              <a:outerShdw blurRad="1270000" dist="177800" dir="4800000" sx="102000" sy="102000" algn="l" rotWithShape="0">
                <a:prstClr val="black">
                  <a:alpha val="12000"/>
                </a:prstClr>
              </a:outerShdw>
            </a:effectLst>
          </p:spPr>
          <p:txBody>
            <a:bodyPr wrap="square" lIns="101600" tIns="0" rIns="101600" bIns="0" rtlCol="0" anchor="ctr">
              <a:noAutofit/>
            </a:bodyPr>
            <a:lstStyle/>
            <a:p>
              <a:pPr algn="ctr"/>
              <a:r>
                <a:rPr lang="en-US" sz="1600" dirty="0">
                  <a:solidFill>
                    <a:srgbClr val="FFFFFF"/>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Blend</a:t>
              </a:r>
            </a:p>
          </p:txBody>
        </p:sp>
        <p:sp>
          <p:nvSpPr>
            <p:cNvPr id="203" name="!!m4"/>
            <p:cNvSpPr/>
            <p:nvPr/>
          </p:nvSpPr>
          <p:spPr>
            <a:xfrm>
              <a:off x="4711700" y="2870200"/>
              <a:ext cx="1219200" cy="914400"/>
            </a:xfrm>
            <a:prstGeom prst="roundRect">
              <a:avLst>
                <a:gd name="adj" fmla="val 1853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wrap="square" lIns="101600" tIns="0" rIns="101600" bIns="0" rtlCol="0" anchor="ctr">
              <a:noAutofit/>
            </a:bodyPr>
            <a:lstStyle/>
            <a:p>
              <a:pPr algn="ctr"/>
              <a:r>
                <a:rPr lang="en-US" sz="1600" dirty="0">
                  <a:solidFill>
                    <a:srgbClr val="001B09"/>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Every stop</a:t>
              </a:r>
            </a:p>
          </p:txBody>
        </p:sp>
        <p:cxnSp>
          <p:nvCxnSpPr>
            <p:cNvPr id="301" name="!!a1"/>
            <p:cNvCxnSpPr>
              <a:stCxn id="200" idx="3"/>
              <a:endCxn id="202" idx="1"/>
            </p:cNvCxnSpPr>
            <p:nvPr/>
          </p:nvCxnSpPr>
          <p:spPr>
            <a:xfrm>
              <a:off x="2832100" y="2616200"/>
              <a:ext cx="406400" cy="711200"/>
            </a:xfrm>
            <a:prstGeom prst="bentConnector3">
              <a:avLst/>
            </a:prstGeom>
            <a:ln w="19050">
              <a:solidFill>
                <a:srgbClr val="006A62"/>
              </a:solidFill>
              <a:round/>
              <a:tailEnd type="triangle" w="med" len="med"/>
            </a:ln>
          </p:spPr>
        </p:cxnSp>
        <p:cxnSp>
          <p:nvCxnSpPr>
            <p:cNvPr id="302" name="!!a2"/>
            <p:cNvCxnSpPr>
              <a:stCxn id="201" idx="3"/>
              <a:endCxn id="202" idx="1"/>
            </p:cNvCxnSpPr>
            <p:nvPr/>
          </p:nvCxnSpPr>
          <p:spPr>
            <a:xfrm flipV="1">
              <a:off x="2832100" y="3327400"/>
              <a:ext cx="406400" cy="711200"/>
            </a:xfrm>
            <a:prstGeom prst="bentConnector3">
              <a:avLst/>
            </a:prstGeom>
            <a:ln w="19050">
              <a:solidFill>
                <a:srgbClr val="006A62"/>
              </a:solidFill>
              <a:round/>
              <a:tailEnd type="triangle" w="med" len="med"/>
            </a:ln>
          </p:spPr>
        </p:cxnSp>
        <p:cxnSp>
          <p:nvCxnSpPr>
            <p:cNvPr id="303" name="!!a3"/>
            <p:cNvCxnSpPr>
              <a:stCxn id="202" idx="3"/>
              <a:endCxn id="203" idx="1"/>
            </p:cNvCxnSpPr>
            <p:nvPr/>
          </p:nvCxnSpPr>
          <p:spPr>
            <a:xfrm>
              <a:off x="4406900" y="3327400"/>
              <a:ext cx="304800" cy="0"/>
            </a:xfrm>
            <a:prstGeom prst="straightConnector1">
              <a:avLst/>
            </a:prstGeom>
            <a:ln w="19050">
              <a:solidFill>
                <a:srgbClr val="006A62"/>
              </a:solidFill>
              <a:round/>
              <a:tailEnd type="triangle" w="med" len="med"/>
            </a:ln>
          </p:spPr>
        </p:cxnSp>
      </p:grpSp>
      <p:pic>
        <p:nvPicPr>
          <p:cNvPr id="7" name="Picture 6">
            <a:extLst>
              <a:ext uri="{FF2B5EF4-FFF2-40B4-BE49-F238E27FC236}">
                <a16:creationId xmlns:a16="http://schemas.microsoft.com/office/drawing/2014/main" id="{D974CD10-E707-602A-E887-30E36A9CE39F}"/>
              </a:ext>
            </a:extLst>
          </p:cNvPr>
          <p:cNvPicPr>
            <a:picLocks noChangeAspect="1"/>
          </p:cNvPicPr>
          <p:nvPr/>
        </p:nvPicPr>
        <p:blipFill>
          <a:blip r:embed="rId2"/>
          <a:stretch>
            <a:fillRect/>
          </a:stretch>
        </p:blipFill>
        <p:spPr>
          <a:xfrm>
            <a:off x="6235700" y="2057400"/>
            <a:ext cx="5003800" cy="2692400"/>
          </a:xfrm>
          <a:prstGeom prst="rect">
            <a:avLst/>
          </a:prstGeom>
        </p:spPr>
      </p:pic>
      <p:sp>
        <p:nvSpPr>
          <p:cNvPr id="510" name="!!lbl510"/>
          <p:cNvSpPr txBox="1"/>
          <p:nvPr/>
        </p:nvSpPr>
        <p:spPr>
          <a:xfrm>
            <a:off x="927100" y="4800600"/>
            <a:ext cx="5003800" cy="254000"/>
          </a:xfrm>
          <a:prstGeom prst="rect">
            <a:avLst/>
          </a:prstGeom>
          <a:noFill/>
        </p:spPr>
        <p:txBody>
          <a:bodyPr wrap="square" lIns="0" tIns="0" rIns="0" bIns="0" rtlCol="0" anchor="b">
            <a:noAutofit/>
          </a:bodyPr>
          <a:lstStyle/>
          <a:p>
            <a:r>
              <a:rPr lang="en-US" sz="1400"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Lateness probability</a:t>
            </a:r>
          </a:p>
        </p:txBody>
      </p:sp>
      <p:sp>
        <p:nvSpPr>
          <p:cNvPr id="511" name="!!lbl511"/>
          <p:cNvSpPr txBox="1"/>
          <p:nvPr/>
        </p:nvSpPr>
        <p:spPr>
          <a:xfrm>
            <a:off x="6235700" y="4800600"/>
            <a:ext cx="5003800" cy="254000"/>
          </a:xfrm>
          <a:prstGeom prst="rect">
            <a:avLst/>
          </a:prstGeom>
          <a:noFill/>
        </p:spPr>
        <p:txBody>
          <a:bodyPr wrap="square" lIns="0" tIns="0" rIns="0" bIns="0" rtlCol="0" anchor="b">
            <a:noAutofit/>
          </a:bodyPr>
          <a:lstStyle/>
          <a:p>
            <a:r>
              <a:rPr lang="en-US" sz="1400"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Service time prediction</a:t>
            </a:r>
          </a:p>
        </p:txBody>
      </p:sp>
      <p:sp>
        <p:nvSpPr>
          <p:cNvPr id="500" name="!!kcard500"/>
          <p:cNvSpPr/>
          <p:nvPr/>
        </p:nvSpPr>
        <p:spPr>
          <a:xfrm>
            <a:off x="927100" y="5105400"/>
            <a:ext cx="5003800" cy="1295400"/>
          </a:xfrm>
          <a:prstGeom prst="roundRect">
            <a:avLst>
              <a:gd name="adj" fmla="val 1853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a:lstStyle/>
          <a:p>
            <a:endParaRPr lang="en-US" dirty="0"/>
          </a:p>
        </p:txBody>
      </p:sp>
      <p:sp>
        <p:nvSpPr>
          <p:cNvPr id="503" name="!!kcard503"/>
          <p:cNvSpPr/>
          <p:nvPr/>
        </p:nvSpPr>
        <p:spPr>
          <a:xfrm>
            <a:off x="6235700" y="5105400"/>
            <a:ext cx="5003800" cy="1295400"/>
          </a:xfrm>
          <a:prstGeom prst="roundRect">
            <a:avLst>
              <a:gd name="adj" fmla="val 1853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a:lstStyle/>
          <a:p>
            <a:endParaRPr lang="en-US" dirty="0"/>
          </a:p>
        </p:txBody>
      </p:sp>
      <p:sp>
        <p:nvSpPr>
          <p:cNvPr id="520" name="!!k520"/>
          <p:cNvSpPr txBox="1"/>
          <p:nvPr/>
        </p:nvSpPr>
        <p:spPr>
          <a:xfrm>
            <a:off x="1130300" y="5232400"/>
            <a:ext cx="2286000" cy="1041400"/>
          </a:xfrm>
          <a:prstGeom prst="rect">
            <a:avLst/>
          </a:prstGeom>
          <a:noFill/>
        </p:spPr>
        <p:txBody>
          <a:bodyPr wrap="square" lIns="0" tIns="0" rIns="0" bIns="0" anchor="ctr">
            <a:noAutofit/>
          </a:bodyPr>
          <a:lstStyle/>
          <a:p>
            <a:pPr algn="ctr">
              <a:lnSpc>
                <a:spcPct val="85000"/>
              </a:lnSpc>
            </a:pPr>
            <a:r>
              <a:rPr lang="en-US" sz="5400" dirty="0">
                <a:solidFill>
                  <a:srgbClr val="00B050"/>
                </a:solidFill>
                <a:latin typeface="Google Sans Flex SemiBold"/>
                <a:ea typeface="Google Sans Flex SemiBold"/>
                <a:cs typeface="Google Sans Flex SemiBold"/>
              </a:rPr>
              <a:t>56</a:t>
            </a:r>
          </a:p>
          <a:p>
            <a:pPr algn="ctr"/>
            <a:r>
              <a:rPr lang="en-US" sz="1200" dirty="0">
                <a:solidFill>
                  <a:srgbClr val="595959"/>
                </a:solidFill>
                <a:latin typeface="Google Sans Flex"/>
                <a:ea typeface="Google Sans Flex"/>
                <a:cs typeface="Google Sans Flex"/>
              </a:rPr>
              <a:t>out of every 100</a:t>
            </a:r>
          </a:p>
        </p:txBody>
      </p:sp>
      <p:cxnSp>
        <p:nvCxnSpPr>
          <p:cNvPr id="521" name="!!kdiv521"/>
          <p:cNvCxnSpPr/>
          <p:nvPr/>
        </p:nvCxnSpPr>
        <p:spPr>
          <a:xfrm>
            <a:off x="3543300" y="5384800"/>
            <a:ext cx="0" cy="736600"/>
          </a:xfrm>
          <a:prstGeom prst="line">
            <a:avLst/>
          </a:prstGeom>
          <a:ln w="9525">
            <a:solidFill>
              <a:srgbClr val="D9E5E0"/>
            </a:solidFill>
          </a:ln>
        </p:spPr>
      </p:cxnSp>
      <p:sp>
        <p:nvSpPr>
          <p:cNvPr id="522" name="!!k522"/>
          <p:cNvSpPr txBox="1"/>
          <p:nvPr/>
        </p:nvSpPr>
        <p:spPr>
          <a:xfrm>
            <a:off x="3771900" y="5257800"/>
            <a:ext cx="1981200" cy="990600"/>
          </a:xfrm>
          <a:prstGeom prst="rect">
            <a:avLst/>
          </a:prstGeom>
          <a:noFill/>
        </p:spPr>
        <p:txBody>
          <a:bodyPr wrap="square" lIns="0" tIns="0" rIns="0" bIns="0" anchor="ctr">
            <a:noAutofit/>
          </a:bodyPr>
          <a:lstStyle/>
          <a:p>
            <a:pPr algn="l"/>
            <a:r>
              <a:rPr lang="en-US" sz="1400" dirty="0">
                <a:solidFill>
                  <a:srgbClr val="595959"/>
                </a:solidFill>
                <a:latin typeface="Google Sans Flex"/>
                <a:ea typeface="Google Sans Flex"/>
                <a:cs typeface="Google Sans Flex"/>
              </a:rPr>
              <a:t>late deliveries</a:t>
            </a:r>
          </a:p>
          <a:p>
            <a:pPr algn="l">
              <a:lnSpc>
                <a:spcPct val="90000"/>
              </a:lnSpc>
            </a:pPr>
            <a:r>
              <a:rPr lang="en-US" sz="2800" dirty="0">
                <a:solidFill>
                  <a:srgbClr val="001B09"/>
                </a:solidFill>
                <a:latin typeface="Google Sans Flex SemiBold"/>
                <a:ea typeface="Google Sans Flex SemiBold"/>
                <a:cs typeface="Google Sans Flex SemiBold"/>
              </a:rPr>
              <a:t>SAVED</a:t>
            </a:r>
          </a:p>
        </p:txBody>
      </p:sp>
      <p:sp>
        <p:nvSpPr>
          <p:cNvPr id="530" name="!!k530"/>
          <p:cNvSpPr txBox="1"/>
          <p:nvPr/>
        </p:nvSpPr>
        <p:spPr>
          <a:xfrm>
            <a:off x="6438900" y="5232400"/>
            <a:ext cx="2286000" cy="1041400"/>
          </a:xfrm>
          <a:prstGeom prst="rect">
            <a:avLst/>
          </a:prstGeom>
          <a:noFill/>
        </p:spPr>
        <p:txBody>
          <a:bodyPr wrap="square" lIns="0" tIns="0" rIns="0" bIns="0" anchor="ctr">
            <a:noAutofit/>
          </a:bodyPr>
          <a:lstStyle/>
          <a:p>
            <a:pPr algn="ctr">
              <a:lnSpc>
                <a:spcPct val="85000"/>
              </a:lnSpc>
            </a:pPr>
            <a:r>
              <a:rPr lang="en-US" sz="4400" dirty="0">
                <a:solidFill>
                  <a:srgbClr val="00B050"/>
                </a:solidFill>
                <a:latin typeface="Google Sans Flex SemiBold"/>
                <a:ea typeface="Google Sans Flex SemiBold"/>
                <a:cs typeface="Google Sans Flex SemiBold"/>
              </a:rPr>
              <a:t>&lt; 4 min</a:t>
            </a:r>
          </a:p>
          <a:p>
            <a:pPr algn="ctr"/>
            <a:r>
              <a:rPr lang="en-US" sz="1200" dirty="0">
                <a:solidFill>
                  <a:srgbClr val="595959"/>
                </a:solidFill>
                <a:latin typeface="Google Sans Flex"/>
                <a:ea typeface="Google Sans Flex"/>
                <a:cs typeface="Google Sans Flex"/>
              </a:rPr>
              <a:t>unloading-time error</a:t>
            </a:r>
          </a:p>
        </p:txBody>
      </p:sp>
      <p:cxnSp>
        <p:nvCxnSpPr>
          <p:cNvPr id="531" name="!!kdiv531"/>
          <p:cNvCxnSpPr/>
          <p:nvPr/>
        </p:nvCxnSpPr>
        <p:spPr>
          <a:xfrm>
            <a:off x="8851900" y="5384800"/>
            <a:ext cx="0" cy="736600"/>
          </a:xfrm>
          <a:prstGeom prst="line">
            <a:avLst/>
          </a:prstGeom>
          <a:ln w="9525">
            <a:solidFill>
              <a:srgbClr val="D9E5E0"/>
            </a:solidFill>
          </a:ln>
        </p:spPr>
      </p:cxnSp>
      <p:sp>
        <p:nvSpPr>
          <p:cNvPr id="532" name="!!k532"/>
          <p:cNvSpPr txBox="1"/>
          <p:nvPr/>
        </p:nvSpPr>
        <p:spPr>
          <a:xfrm>
            <a:off x="9080500" y="5257800"/>
            <a:ext cx="1905000" cy="990600"/>
          </a:xfrm>
          <a:prstGeom prst="rect">
            <a:avLst/>
          </a:prstGeom>
          <a:noFill/>
        </p:spPr>
        <p:txBody>
          <a:bodyPr wrap="square" lIns="0" tIns="0" rIns="0" bIns="0" anchor="ctr">
            <a:noAutofit/>
          </a:bodyPr>
          <a:lstStyle/>
          <a:p>
            <a:pPr marL="171450" indent="-171450" algn="l">
              <a:spcBef>
                <a:spcPts val="200"/>
              </a:spcBef>
              <a:buClr>
                <a:srgbClr val="00B050"/>
              </a:buClr>
              <a:buSzPct val="120000"/>
              <a:buFont typeface="Arial"/>
              <a:buChar char="•"/>
            </a:pPr>
            <a:r>
              <a:rPr lang="en-US" sz="1600" dirty="0">
                <a:solidFill>
                  <a:srgbClr val="001B09"/>
                </a:solidFill>
                <a:latin typeface="Google Sans Flex SemiBold"/>
                <a:ea typeface="Google Sans Flex SemiBold"/>
                <a:cs typeface="Google Sans Flex SemiBold"/>
              </a:rPr>
              <a:t>Staff ready</a:t>
            </a:r>
          </a:p>
          <a:p>
            <a:pPr marL="171450" indent="-171450" algn="l">
              <a:spcBef>
                <a:spcPts val="200"/>
              </a:spcBef>
              <a:buClr>
                <a:srgbClr val="00B050"/>
              </a:buClr>
              <a:buSzPct val="120000"/>
              <a:buFont typeface="Arial"/>
              <a:buChar char="•"/>
            </a:pPr>
            <a:r>
              <a:rPr lang="en-US" sz="1600" dirty="0">
                <a:solidFill>
                  <a:srgbClr val="001B09"/>
                </a:solidFill>
                <a:latin typeface="Google Sans Flex SemiBold"/>
                <a:ea typeface="Google Sans Flex SemiBold"/>
                <a:cs typeface="Google Sans Flex SemiBold"/>
              </a:rPr>
              <a:t>Dock ready</a:t>
            </a:r>
          </a:p>
          <a:p>
            <a:pPr marL="171450" indent="-171450" algn="l">
              <a:spcBef>
                <a:spcPts val="200"/>
              </a:spcBef>
              <a:buClr>
                <a:srgbClr val="00B050"/>
              </a:buClr>
              <a:buSzPct val="120000"/>
              <a:buFont typeface="Arial"/>
              <a:buChar char="•"/>
            </a:pPr>
            <a:r>
              <a:rPr lang="en-US" sz="1600" dirty="0">
                <a:solidFill>
                  <a:srgbClr val="001B09"/>
                </a:solidFill>
                <a:latin typeface="Google Sans Flex SemiBold"/>
                <a:ea typeface="Google Sans Flex SemiBold"/>
                <a:cs typeface="Google Sans Flex SemiBold"/>
              </a:rPr>
              <a:t>Gate ready</a:t>
            </a:r>
          </a:p>
        </p:txBody>
      </p:sp>
    </p:spTree>
    <p:extLst>
      <p:ext uri="{BB962C8B-B14F-4D97-AF65-F5344CB8AC3E}">
        <p14:creationId xmlns:p14="http://schemas.microsoft.com/office/powerpoint/2010/main" val="3830193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8CDEA-F7D1-1F83-9D44-CE2CFE464D2A}"/>
            </a:ext>
          </a:extLst>
        </p:cNvPr>
        <p:cNvGrpSpPr/>
        <p:nvPr/>
      </p:nvGrpSpPr>
      <p:grpSpPr>
        <a:xfrm>
          <a:off x="0" y="0"/>
          <a:ext cx="0" cy="0"/>
          <a:chOff x="0" y="0"/>
          <a:chExt cx="0" cy="0"/>
        </a:xfrm>
      </p:grpSpPr>
      <p:sp>
        <p:nvSpPr>
          <p:cNvPr id="2" name="!!pill"/>
          <p:cNvSpPr/>
          <p:nvPr/>
        </p:nvSpPr>
        <p:spPr>
          <a:xfrm>
            <a:off x="927100" y="508000"/>
            <a:ext cx="1905000" cy="3810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wrap="none" lIns="203200" tIns="0" rIns="203200" bIns="0" rtlCol="0" anchor="ctr">
            <a:noAutofit/>
          </a:bodyPr>
          <a:lstStyle/>
          <a:p>
            <a:r>
              <a:rPr lang="en-US" sz="1200"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Task 2A · Foresee</a:t>
            </a:r>
          </a:p>
        </p:txBody>
      </p:sp>
      <p:sp>
        <p:nvSpPr>
          <p:cNvPr id="3" name="!!title"/>
          <p:cNvSpPr txBox="1"/>
          <p:nvPr/>
        </p:nvSpPr>
        <p:spPr>
          <a:xfrm>
            <a:off x="838200" y="965200"/>
            <a:ext cx="10541000" cy="660400"/>
          </a:xfrm>
          <a:prstGeom prst="rect">
            <a:avLst/>
          </a:prstGeom>
          <a:noFill/>
        </p:spPr>
        <p:txBody>
          <a:bodyPr wrap="square" lIns="91440" tIns="45720" rIns="91440" bIns="45720" rtlCol="0" anchor="t">
            <a:normAutofit/>
          </a:bodyPr>
          <a:lstStyle/>
          <a:p>
            <a:r>
              <a:rPr lang="en-US" sz="32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Every demand peak </a:t>
            </a:r>
            <a:r>
              <a:rPr lang="en-US" sz="3200" dirty="0">
                <a:latin typeface="Google Sans Flex Light" panose="020B0503030502040204" pitchFamily="34" charset="0"/>
                <a:ea typeface="Google Sans Flex Light" panose="020B0503030502040204" pitchFamily="34" charset="0"/>
                <a:cs typeface="Google Sans Flex Light" panose="020B0503030502040204" pitchFamily="34" charset="0"/>
              </a:rPr>
              <a:t>has a cause</a:t>
            </a:r>
          </a:p>
        </p:txBody>
      </p:sp>
      <p:pic>
        <p:nvPicPr>
          <p:cNvPr id="11" name="!!figC1" descr="Fresh weekly demand Jan 2024 to Mar 2026, every large spike labelled with its cause: festival build-ups, paydays, closed days"/>
          <p:cNvPicPr>
            <a:picLocks noChangeAspect="1"/>
          </p:cNvPicPr>
          <p:nvPr/>
        </p:nvPicPr>
        <p:blipFill>
          <a:blip r:embed="rId2"/>
          <a:srcRect t="8500"/>
          <a:stretch>
            <a:fillRect/>
          </a:stretch>
        </p:blipFill>
        <p:spPr>
          <a:xfrm>
            <a:off x="927100" y="2057400"/>
            <a:ext cx="5676900" cy="2324100"/>
          </a:xfrm>
          <a:prstGeom prst="rect">
            <a:avLst/>
          </a:prstGeom>
        </p:spPr>
      </p:pic>
      <p:pic>
        <p:nvPicPr>
          <p:cNvPr id="15" name="!!figD1" descr="Festival lift by brand: New Year +92% Fresh, Christmas +69%, Deepavali +47%, Vesak +36%; hidden Style peak weeks 10 and 32"/>
          <p:cNvPicPr>
            <a:picLocks noChangeAspect="1"/>
          </p:cNvPicPr>
          <p:nvPr/>
        </p:nvPicPr>
        <p:blipFill>
          <a:blip r:embed="rId3"/>
          <a:srcRect t="10000" r="44168"/>
          <a:stretch>
            <a:fillRect/>
          </a:stretch>
        </p:blipFill>
        <p:spPr>
          <a:xfrm>
            <a:off x="6959600" y="2057400"/>
            <a:ext cx="4394200" cy="3073400"/>
          </a:xfrm>
          <a:prstGeom prst="rect">
            <a:avLst/>
          </a:prstGeom>
        </p:spPr>
      </p:pic>
      <p:sp>
        <p:nvSpPr>
          <p:cNvPr id="10" name="!!lbl11"/>
          <p:cNvSpPr txBox="1"/>
          <p:nvPr/>
        </p:nvSpPr>
        <p:spPr>
          <a:xfrm>
            <a:off x="927100" y="1752600"/>
            <a:ext cx="5676900" cy="228600"/>
          </a:xfrm>
          <a:prstGeom prst="rect">
            <a:avLst/>
          </a:prstGeom>
          <a:noFill/>
        </p:spPr>
        <p:txBody>
          <a:bodyPr wrap="none" lIns="0" tIns="0" rIns="0" bIns="0" rtlCol="0" anchor="b">
            <a:noAutofit/>
          </a:bodyPr>
          <a:lstStyle/>
          <a:p>
            <a:r>
              <a:rPr lang="en-US" sz="1400"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Weekly demand over two years, every peak labelled</a:t>
            </a:r>
          </a:p>
        </p:txBody>
      </p:sp>
      <p:sp>
        <p:nvSpPr>
          <p:cNvPr id="14" name="!!lbl15"/>
          <p:cNvSpPr txBox="1"/>
          <p:nvPr/>
        </p:nvSpPr>
        <p:spPr>
          <a:xfrm>
            <a:off x="6959600" y="1752600"/>
            <a:ext cx="4394200" cy="228600"/>
          </a:xfrm>
          <a:prstGeom prst="rect">
            <a:avLst/>
          </a:prstGeom>
          <a:noFill/>
        </p:spPr>
        <p:txBody>
          <a:bodyPr wrap="none" lIns="0" tIns="0" rIns="0" bIns="0" rtlCol="0" anchor="b">
            <a:noAutofit/>
          </a:bodyPr>
          <a:lstStyle/>
          <a:p>
            <a:r>
              <a:rPr lang="en-US" sz="1400"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Festival lift, measured per brand</a:t>
            </a:r>
          </a:p>
        </p:txBody>
      </p:sp>
      <p:sp>
        <p:nvSpPr>
          <p:cNvPr id="16" name="!!lbl17"/>
          <p:cNvSpPr txBox="1"/>
          <p:nvPr/>
        </p:nvSpPr>
        <p:spPr>
          <a:xfrm>
            <a:off x="927100" y="4546600"/>
            <a:ext cx="5676900" cy="228600"/>
          </a:xfrm>
          <a:prstGeom prst="rect">
            <a:avLst/>
          </a:prstGeom>
          <a:noFill/>
        </p:spPr>
        <p:txBody>
          <a:bodyPr wrap="none" lIns="0" tIns="0" rIns="0" bIns="0" rtlCol="0" anchor="b">
            <a:noAutofit/>
          </a:bodyPr>
          <a:lstStyle/>
          <a:p>
            <a:r>
              <a:rPr lang="en-US" sz="1400"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How it forecasts</a:t>
            </a:r>
          </a:p>
        </p:txBody>
      </p:sp>
      <p:sp>
        <p:nvSpPr>
          <p:cNvPr id="230" name="!!driverCard"/>
          <p:cNvSpPr/>
          <p:nvPr/>
        </p:nvSpPr>
        <p:spPr>
          <a:xfrm>
            <a:off x="6959600" y="5308600"/>
            <a:ext cx="4394200" cy="1092200"/>
          </a:xfrm>
          <a:prstGeom prst="roundRect">
            <a:avLst>
              <a:gd name="adj" fmla="val 22000"/>
            </a:avLst>
          </a:prstGeom>
          <a:solidFill>
            <a:srgbClr val="006A62"/>
          </a:solidFill>
          <a:ln>
            <a:noFill/>
          </a:ln>
          <a:effectLst>
            <a:outerShdw blurRad="1270000" dist="177800" dir="4800000" sx="102000" sy="102000" algn="l" rotWithShape="0">
              <a:prstClr val="black">
                <a:alpha val="12000"/>
              </a:prstClr>
            </a:outerShdw>
          </a:effectLst>
        </p:spPr>
        <p:txBody>
          <a:bodyPr wrap="square" lIns="152400" tIns="76200" rIns="152400" bIns="76200" anchor="ctr">
            <a:noAutofit/>
          </a:bodyPr>
          <a:lstStyle/>
          <a:p>
            <a:r>
              <a:rPr lang="en-US" sz="1400" dirty="0">
                <a:solidFill>
                  <a:srgbClr val="FFFFFF"/>
                </a:solidFill>
                <a:latin typeface="Google Sans Flex SemiBold"/>
                <a:ea typeface="Google Sans Flex SemiBold"/>
                <a:cs typeface="Google Sans Flex SemiBold"/>
              </a:rPr>
              <a:t>Each cause becomes a forecast input</a:t>
            </a:r>
          </a:p>
          <a:p>
            <a:r>
              <a:rPr lang="en-US" sz="1400" dirty="0">
                <a:solidFill>
                  <a:srgbClr val="FFFFFF"/>
                </a:solidFill>
                <a:latin typeface="Google Sans Flex"/>
                <a:ea typeface="Google Sans Flex"/>
                <a:cs typeface="Google Sans Flex"/>
              </a:rPr>
              <a:t>Festival ramps, payday, monsoon and season. Holidays with no lift are left out.</a:t>
            </a:r>
          </a:p>
        </p:txBody>
      </p:sp>
      <p:sp>
        <p:nvSpPr>
          <p:cNvPr id="240" name="!!f240"/>
          <p:cNvSpPr/>
          <p:nvPr/>
        </p:nvSpPr>
        <p:spPr>
          <a:xfrm>
            <a:off x="927100" y="4851400"/>
            <a:ext cx="1778000" cy="711200"/>
          </a:xfrm>
          <a:prstGeom prst="roundRect">
            <a:avLst>
              <a:gd name="adj" fmla="val 1853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wrap="square" lIns="45720" tIns="0" rIns="45720" bIns="0" anchor="ctr">
            <a:noAutofit/>
          </a:bodyPr>
          <a:lstStyle/>
          <a:p>
            <a:pPr algn="ctr"/>
            <a:r>
              <a:rPr lang="en-US" sz="1400" dirty="0">
                <a:solidFill>
                  <a:srgbClr val="001B09"/>
                </a:solidFill>
                <a:latin typeface="Google Sans Flex SemiBold"/>
                <a:ea typeface="Google Sans Flex SemiBold"/>
                <a:cs typeface="Google Sans Flex SemiBold"/>
              </a:rPr>
              <a:t>Orders per store</a:t>
            </a:r>
          </a:p>
        </p:txBody>
      </p:sp>
      <p:sp>
        <p:nvSpPr>
          <p:cNvPr id="241" name="!!f241"/>
          <p:cNvSpPr/>
          <p:nvPr/>
        </p:nvSpPr>
        <p:spPr>
          <a:xfrm>
            <a:off x="2705100" y="4851400"/>
            <a:ext cx="304800" cy="711200"/>
          </a:xfrm>
          <a:prstGeom prst="rect">
            <a:avLst/>
          </a:prstGeom>
          <a:noFill/>
          <a:ln>
            <a:noFill/>
          </a:ln>
        </p:spPr>
        <p:txBody>
          <a:bodyPr wrap="square" lIns="45720" tIns="0" rIns="45720" bIns="0" anchor="ctr">
            <a:noAutofit/>
          </a:bodyPr>
          <a:lstStyle/>
          <a:p>
            <a:pPr algn="ctr"/>
            <a:r>
              <a:rPr lang="en-US" sz="2000" dirty="0">
                <a:solidFill>
                  <a:srgbClr val="006A62"/>
                </a:solidFill>
                <a:latin typeface="Google Sans Flex SemiBold"/>
                <a:ea typeface="Google Sans Flex SemiBold"/>
                <a:cs typeface="Google Sans Flex SemiBold"/>
              </a:rPr>
              <a:t>×</a:t>
            </a:r>
          </a:p>
        </p:txBody>
      </p:sp>
      <p:sp>
        <p:nvSpPr>
          <p:cNvPr id="242" name="!!f242"/>
          <p:cNvSpPr/>
          <p:nvPr/>
        </p:nvSpPr>
        <p:spPr>
          <a:xfrm>
            <a:off x="3009900" y="4851400"/>
            <a:ext cx="1778000" cy="711200"/>
          </a:xfrm>
          <a:prstGeom prst="roundRect">
            <a:avLst>
              <a:gd name="adj" fmla="val 1853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wrap="square" lIns="45720" tIns="0" rIns="45720" bIns="0" anchor="ctr">
            <a:noAutofit/>
          </a:bodyPr>
          <a:lstStyle/>
          <a:p>
            <a:pPr algn="ctr"/>
            <a:r>
              <a:rPr lang="en-US" sz="1400" dirty="0">
                <a:solidFill>
                  <a:srgbClr val="001B09"/>
                </a:solidFill>
                <a:latin typeface="Google Sans Flex SemiBold"/>
                <a:ea typeface="Google Sans Flex SemiBold"/>
                <a:cs typeface="Google Sans Flex SemiBold"/>
              </a:rPr>
              <a:t>Size per order</a:t>
            </a:r>
          </a:p>
        </p:txBody>
      </p:sp>
      <p:sp>
        <p:nvSpPr>
          <p:cNvPr id="243" name="!!f243"/>
          <p:cNvSpPr/>
          <p:nvPr/>
        </p:nvSpPr>
        <p:spPr>
          <a:xfrm>
            <a:off x="4787900" y="4851400"/>
            <a:ext cx="304800" cy="711200"/>
          </a:xfrm>
          <a:prstGeom prst="rect">
            <a:avLst/>
          </a:prstGeom>
          <a:noFill/>
          <a:ln>
            <a:noFill/>
          </a:ln>
        </p:spPr>
        <p:txBody>
          <a:bodyPr wrap="square" lIns="45720" tIns="0" rIns="45720" bIns="0" anchor="ctr">
            <a:noAutofit/>
          </a:bodyPr>
          <a:lstStyle/>
          <a:p>
            <a:pPr algn="ctr"/>
            <a:r>
              <a:rPr lang="en-US" sz="2000" dirty="0">
                <a:solidFill>
                  <a:srgbClr val="006A62"/>
                </a:solidFill>
                <a:latin typeface="Google Sans Flex SemiBold"/>
                <a:ea typeface="Google Sans Flex SemiBold"/>
                <a:cs typeface="Google Sans Flex SemiBold"/>
              </a:rPr>
              <a:t>=</a:t>
            </a:r>
          </a:p>
        </p:txBody>
      </p:sp>
      <p:sp>
        <p:nvSpPr>
          <p:cNvPr id="244" name="!!f244"/>
          <p:cNvSpPr/>
          <p:nvPr/>
        </p:nvSpPr>
        <p:spPr>
          <a:xfrm>
            <a:off x="5092700" y="4851400"/>
            <a:ext cx="1511300" cy="711200"/>
          </a:xfrm>
          <a:prstGeom prst="roundRect">
            <a:avLst>
              <a:gd name="adj" fmla="val 22000"/>
            </a:avLst>
          </a:prstGeom>
          <a:solidFill>
            <a:srgbClr val="006A62"/>
          </a:solidFill>
          <a:ln>
            <a:noFill/>
          </a:ln>
          <a:effectLst>
            <a:outerShdw blurRad="1270000" dist="177800" dir="4800000" sx="102000" sy="102000" algn="l" rotWithShape="0">
              <a:prstClr val="black">
                <a:alpha val="12000"/>
              </a:prstClr>
            </a:outerShdw>
          </a:effectLst>
        </p:spPr>
        <p:txBody>
          <a:bodyPr wrap="square" lIns="45720" tIns="0" rIns="45720" bIns="0" anchor="ctr">
            <a:noAutofit/>
          </a:bodyPr>
          <a:lstStyle/>
          <a:p>
            <a:pPr algn="ctr"/>
            <a:r>
              <a:rPr lang="en-US" sz="1400" dirty="0">
                <a:solidFill>
                  <a:srgbClr val="FFFFFF"/>
                </a:solidFill>
                <a:latin typeface="Google Sans Flex SemiBold"/>
                <a:ea typeface="Google Sans Flex SemiBold"/>
                <a:cs typeface="Google Sans Flex SemiBold"/>
              </a:rPr>
              <a:t>Weekly forecast</a:t>
            </a:r>
          </a:p>
        </p:txBody>
      </p:sp>
      <p:sp>
        <p:nvSpPr>
          <p:cNvPr id="245" name="!!feeds"/>
          <p:cNvSpPr txBox="1"/>
          <p:nvPr/>
        </p:nvSpPr>
        <p:spPr>
          <a:xfrm>
            <a:off x="927100" y="5689600"/>
            <a:ext cx="5676900" cy="711200"/>
          </a:xfrm>
          <a:prstGeom prst="rect">
            <a:avLst/>
          </a:prstGeom>
          <a:noFill/>
        </p:spPr>
        <p:txBody>
          <a:bodyPr wrap="square" lIns="0" tIns="0" rIns="0" bIns="0" anchor="t">
            <a:noAutofit/>
          </a:bodyPr>
          <a:lstStyle/>
          <a:p>
            <a:r>
              <a:rPr lang="en-US" sz="1400" dirty="0">
                <a:solidFill>
                  <a:srgbClr val="001B09"/>
                </a:solidFill>
                <a:latin typeface="Google Sans Flex SemiBold"/>
                <a:ea typeface="Google Sans Flex SemiBold"/>
                <a:cs typeface="Google Sans Flex SemiBold"/>
              </a:rPr>
              <a:t>Orders: </a:t>
            </a:r>
            <a:r>
              <a:rPr lang="en-US" sz="1400" dirty="0">
                <a:solidFill>
                  <a:srgbClr val="595959"/>
                </a:solidFill>
                <a:latin typeface="Google Sans Flex"/>
                <a:ea typeface="Google Sans Flex"/>
                <a:cs typeface="Google Sans Flex"/>
              </a:rPr>
              <a:t>each store’s ordering days, from its history</a:t>
            </a:r>
          </a:p>
          <a:p>
            <a:r>
              <a:rPr lang="en-US" sz="1400" dirty="0">
                <a:solidFill>
                  <a:srgbClr val="001B09"/>
                </a:solidFill>
                <a:latin typeface="Google Sans Flex SemiBold"/>
                <a:ea typeface="Google Sans Flex SemiBold"/>
                <a:cs typeface="Google Sans Flex SemiBold"/>
              </a:rPr>
              <a:t>Size: </a:t>
            </a:r>
            <a:r>
              <a:rPr lang="en-US" sz="1400" dirty="0">
                <a:solidFill>
                  <a:srgbClr val="595959"/>
                </a:solidFill>
                <a:latin typeface="Google Sans Flex"/>
                <a:ea typeface="Google Sans Flex"/>
                <a:cs typeface="Google Sans Flex"/>
              </a:rPr>
              <a:t>one model per load: Fresh ambient, Fresh chilled, Style, Tech</a:t>
            </a:r>
          </a:p>
        </p:txBody>
      </p:sp>
    </p:spTree>
    <p:extLst>
      <p:ext uri="{BB962C8B-B14F-4D97-AF65-F5344CB8AC3E}">
        <p14:creationId xmlns:p14="http://schemas.microsoft.com/office/powerpoint/2010/main" val="2065986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8CDEA-F7D1-1F83-9D44-CE2CFE464D2A}"/>
            </a:ext>
          </a:extLst>
        </p:cNvPr>
        <p:cNvGrpSpPr/>
        <p:nvPr/>
      </p:nvGrpSpPr>
      <p:grpSpPr>
        <a:xfrm>
          <a:off x="0" y="0"/>
          <a:ext cx="0" cy="0"/>
          <a:chOff x="0" y="0"/>
          <a:chExt cx="0" cy="0"/>
        </a:xfrm>
      </p:grpSpPr>
      <p:sp>
        <p:nvSpPr>
          <p:cNvPr id="2" name="!!pill"/>
          <p:cNvSpPr/>
          <p:nvPr/>
        </p:nvSpPr>
        <p:spPr>
          <a:xfrm>
            <a:off x="927100" y="508000"/>
            <a:ext cx="1905000" cy="3810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wrap="none" lIns="203200" tIns="0" rIns="203200" bIns="0" rtlCol="0" anchor="ctr">
            <a:noAutofit/>
          </a:bodyPr>
          <a:lstStyle/>
          <a:p>
            <a:r>
              <a:rPr lang="en-US" sz="1200"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Task 2A · Foresee</a:t>
            </a:r>
          </a:p>
        </p:txBody>
      </p:sp>
      <p:sp>
        <p:nvSpPr>
          <p:cNvPr id="3" name="!!title"/>
          <p:cNvSpPr txBox="1"/>
          <p:nvPr/>
        </p:nvSpPr>
        <p:spPr>
          <a:xfrm>
            <a:off x="838200" y="965200"/>
            <a:ext cx="10541000" cy="660400"/>
          </a:xfrm>
          <a:prstGeom prst="rect">
            <a:avLst/>
          </a:prstGeom>
          <a:noFill/>
        </p:spPr>
        <p:txBody>
          <a:bodyPr wrap="square" lIns="91440" tIns="45720" rIns="91440" bIns="45720" rtlCol="0" anchor="t">
            <a:normAutofit/>
          </a:bodyPr>
          <a:lstStyle/>
          <a:p>
            <a:r>
              <a:rPr lang="en-US" sz="32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Off by about 3%, </a:t>
            </a:r>
            <a:r>
              <a:rPr lang="en-US" sz="3200" dirty="0">
                <a:latin typeface="Google Sans Flex Light" panose="020B0503030502040204" pitchFamily="34" charset="0"/>
                <a:ea typeface="Google Sans Flex Light" panose="020B0503030502040204" pitchFamily="34" charset="0"/>
                <a:cs typeface="Google Sans Flex Light" panose="020B0503030502040204" pitchFamily="34" charset="0"/>
              </a:rPr>
              <a:t>ten weeks ahead</a:t>
            </a:r>
          </a:p>
        </p:txBody>
      </p:sp>
      <p:sp>
        <p:nvSpPr>
          <p:cNvPr id="11" name="!!lbl12"/>
          <p:cNvSpPr txBox="1"/>
          <p:nvPr/>
        </p:nvSpPr>
        <p:spPr>
          <a:xfrm>
            <a:off x="927100" y="1752600"/>
            <a:ext cx="5969000" cy="228600"/>
          </a:xfrm>
          <a:prstGeom prst="rect">
            <a:avLst/>
          </a:prstGeom>
          <a:noFill/>
        </p:spPr>
        <p:txBody>
          <a:bodyPr wrap="square" lIns="0" tIns="0" rIns="0" bIns="0" rtlCol="0" anchor="b">
            <a:noAutofit/>
          </a:bodyPr>
          <a:lstStyle/>
          <a:p>
            <a:r>
              <a:rPr lang="en-US" sz="1400"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Fresh, by depot: total and chilled, m³ a week</a:t>
            </a:r>
          </a:p>
        </p:txBody>
      </p:sp>
      <p:sp>
        <p:nvSpPr>
          <p:cNvPr id="280" name="!!lbl280"/>
          <p:cNvSpPr txBox="1"/>
          <p:nvPr/>
        </p:nvSpPr>
        <p:spPr>
          <a:xfrm>
            <a:off x="7213600" y="1752600"/>
            <a:ext cx="4521200" cy="228600"/>
          </a:xfrm>
          <a:prstGeom prst="rect">
            <a:avLst/>
          </a:prstGeom>
          <a:noFill/>
        </p:spPr>
        <p:txBody>
          <a:bodyPr wrap="square" lIns="0" tIns="0" rIns="0" bIns="0" rtlCol="0" anchor="b">
            <a:noAutofit/>
          </a:bodyPr>
          <a:lstStyle/>
          <a:p>
            <a:r>
              <a:rPr lang="en-US" sz="1400"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Style and Tech, by depot: m³ a week</a:t>
            </a:r>
          </a:p>
        </p:txBody>
      </p:sp>
      <p:pic>
        <p:nvPicPr>
          <p:cNvPr id="283" name="Copied Picture 283" descr="Fresh weekly forecast by depot, total and chilled m3">
            <a:extLst>
              <a:ext uri="{FF2B5EF4-FFF2-40B4-BE49-F238E27FC236}">
                <a16:creationId xmlns:a16="http://schemas.microsoft.com/office/drawing/2014/main" id="{9526DCEA-1551-133E-519C-07C62ADA6F76}"/>
              </a:ext>
            </a:extLst>
          </p:cNvPr>
          <p:cNvPicPr>
            <a:picLocks noChangeAspect="1"/>
          </p:cNvPicPr>
          <p:nvPr/>
        </p:nvPicPr>
        <p:blipFill>
          <a:blip r:embed="rId2"/>
          <a:srcRect t="8000"/>
          <a:stretch>
            <a:fillRect/>
          </a:stretch>
        </p:blipFill>
        <p:spPr>
          <a:xfrm>
            <a:off x="711200" y="2032000"/>
            <a:ext cx="5168900" cy="3124200"/>
          </a:xfrm>
          <a:prstGeom prst="rect">
            <a:avLst/>
          </a:prstGeom>
        </p:spPr>
      </p:pic>
      <p:pic>
        <p:nvPicPr>
          <p:cNvPr id="284" name="Copied Picture 284" descr="Style and Tech weekly forecast by depot, total m3">
            <a:extLst>
              <a:ext uri="{FF2B5EF4-FFF2-40B4-BE49-F238E27FC236}">
                <a16:creationId xmlns:a16="http://schemas.microsoft.com/office/drawing/2014/main" id="{D75675CC-C48B-9346-A1D5-8D282478252A}"/>
              </a:ext>
            </a:extLst>
          </p:cNvPr>
          <p:cNvPicPr>
            <a:picLocks noChangeAspect="1"/>
          </p:cNvPicPr>
          <p:nvPr/>
        </p:nvPicPr>
        <p:blipFill>
          <a:blip r:embed="rId3"/>
          <a:srcRect t="9500"/>
          <a:stretch>
            <a:fillRect/>
          </a:stretch>
        </p:blipFill>
        <p:spPr>
          <a:xfrm>
            <a:off x="7112000" y="2057400"/>
            <a:ext cx="4343400" cy="4343400"/>
          </a:xfrm>
          <a:prstGeom prst="rect">
            <a:avLst/>
          </a:prstGeom>
        </p:spPr>
      </p:pic>
      <p:sp>
        <p:nvSpPr>
          <p:cNvPr id="340" name="!!kcard340"/>
          <p:cNvSpPr/>
          <p:nvPr/>
        </p:nvSpPr>
        <p:spPr>
          <a:xfrm>
            <a:off x="927100" y="5334000"/>
            <a:ext cx="5676900" cy="1066800"/>
          </a:xfrm>
          <a:prstGeom prst="roundRect">
            <a:avLst>
              <a:gd name="adj" fmla="val 1853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a:lstStyle/>
          <a:p>
            <a:endParaRPr lang="en-US" dirty="0"/>
          </a:p>
        </p:txBody>
      </p:sp>
      <p:sp>
        <p:nvSpPr>
          <p:cNvPr id="341" name="!!k341"/>
          <p:cNvSpPr txBox="1"/>
          <p:nvPr/>
        </p:nvSpPr>
        <p:spPr>
          <a:xfrm>
            <a:off x="1181100" y="5334000"/>
            <a:ext cx="1651000" cy="1066800"/>
          </a:xfrm>
          <a:prstGeom prst="rect">
            <a:avLst/>
          </a:prstGeom>
          <a:noFill/>
        </p:spPr>
        <p:txBody>
          <a:bodyPr wrap="square" lIns="0" tIns="0" rIns="0" bIns="0" anchor="ctr">
            <a:noAutofit/>
          </a:bodyPr>
          <a:lstStyle/>
          <a:p>
            <a:pPr algn="ctr">
              <a:lnSpc>
                <a:spcPct val="85000"/>
              </a:lnSpc>
            </a:pPr>
            <a:r>
              <a:rPr lang="en-US" sz="6000" dirty="0">
                <a:solidFill>
                  <a:srgbClr val="00B050"/>
                </a:solidFill>
                <a:latin typeface="Google Sans Flex SemiBold"/>
                <a:ea typeface="Google Sans Flex SemiBold"/>
                <a:cs typeface="Google Sans Flex SemiBold"/>
              </a:rPr>
              <a:t>3%</a:t>
            </a:r>
          </a:p>
        </p:txBody>
      </p:sp>
      <p:sp>
        <p:nvSpPr>
          <p:cNvPr id="342" name="!!k342"/>
          <p:cNvSpPr txBox="1"/>
          <p:nvPr/>
        </p:nvSpPr>
        <p:spPr>
          <a:xfrm>
            <a:off x="2984500" y="5435600"/>
            <a:ext cx="3429000" cy="863600"/>
          </a:xfrm>
          <a:prstGeom prst="rect">
            <a:avLst/>
          </a:prstGeom>
          <a:noFill/>
        </p:spPr>
        <p:txBody>
          <a:bodyPr wrap="square" lIns="0" tIns="0" rIns="0" bIns="0" anchor="ctr">
            <a:noAutofit/>
          </a:bodyPr>
          <a:lstStyle/>
          <a:p>
            <a:pPr algn="l"/>
            <a:r>
              <a:rPr lang="en-US" sz="1400" dirty="0">
                <a:solidFill>
                  <a:srgbClr val="595959"/>
                </a:solidFill>
                <a:latin typeface="Google Sans Flex"/>
                <a:ea typeface="Google Sans Flex"/>
                <a:cs typeface="Google Sans Flex"/>
              </a:rPr>
              <a:t>Forecast error, ten weeks ahead</a:t>
            </a:r>
          </a:p>
          <a:p>
            <a:pPr algn="l">
              <a:lnSpc>
                <a:spcPct val="90000"/>
              </a:lnSpc>
            </a:pPr>
            <a:r>
              <a:rPr lang="en-US" sz="3200" dirty="0">
                <a:solidFill>
                  <a:srgbClr val="001B09"/>
                </a:solidFill>
                <a:latin typeface="Google Sans Flex SemiBold"/>
                <a:ea typeface="Google Sans Flex SemiBold"/>
                <a:cs typeface="Google Sans Flex SemiBold"/>
              </a:rPr>
              <a:t>WAPE</a:t>
            </a:r>
          </a:p>
          <a:p>
            <a:pPr algn="l"/>
            <a:r>
              <a:rPr lang="en-US" sz="1200" dirty="0">
                <a:solidFill>
                  <a:srgbClr val="595959"/>
                </a:solidFill>
                <a:latin typeface="Google Sans Flex"/>
                <a:ea typeface="Google Sans Flex"/>
                <a:cs typeface="Google Sans Flex"/>
              </a:rPr>
              <a:t>Weighted Absolute Percentage Error</a:t>
            </a:r>
          </a:p>
        </p:txBody>
      </p:sp>
    </p:spTree>
    <p:extLst>
      <p:ext uri="{BB962C8B-B14F-4D97-AF65-F5344CB8AC3E}">
        <p14:creationId xmlns:p14="http://schemas.microsoft.com/office/powerpoint/2010/main" val="36049203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8CDEA-F7D1-1F83-9D44-CE2CFE464D2A}"/>
            </a:ext>
          </a:extLst>
        </p:cNvPr>
        <p:cNvGrpSpPr/>
        <p:nvPr/>
      </p:nvGrpSpPr>
      <p:grpSpPr>
        <a:xfrm>
          <a:off x="0" y="0"/>
          <a:ext cx="0" cy="0"/>
          <a:chOff x="0" y="0"/>
          <a:chExt cx="0" cy="0"/>
        </a:xfrm>
      </p:grpSpPr>
      <p:sp>
        <p:nvSpPr>
          <p:cNvPr id="2" name="!!pill"/>
          <p:cNvSpPr/>
          <p:nvPr/>
        </p:nvSpPr>
        <p:spPr>
          <a:xfrm>
            <a:off x="927100" y="508000"/>
            <a:ext cx="1841500" cy="3810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wrap="none" lIns="203200" tIns="0" rIns="203200" bIns="0" rtlCol="0" anchor="ctr">
            <a:noAutofit/>
          </a:bodyPr>
          <a:lstStyle/>
          <a:p>
            <a:r>
              <a:rPr lang="en-US" sz="1200"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Task 2B · Decide</a:t>
            </a:r>
          </a:p>
        </p:txBody>
      </p:sp>
      <p:sp>
        <p:nvSpPr>
          <p:cNvPr id="3" name="!!title"/>
          <p:cNvSpPr txBox="1"/>
          <p:nvPr/>
        </p:nvSpPr>
        <p:spPr>
          <a:xfrm>
            <a:off x="838200" y="965200"/>
            <a:ext cx="10541000" cy="660400"/>
          </a:xfrm>
          <a:prstGeom prst="rect">
            <a:avLst/>
          </a:prstGeom>
          <a:noFill/>
        </p:spPr>
        <p:txBody>
          <a:bodyPr wrap="square" lIns="91440" tIns="45720" rIns="91440" bIns="45720" rtlCol="0" anchor="t">
            <a:normAutofit/>
          </a:bodyPr>
          <a:lstStyle/>
          <a:p>
            <a:r>
              <a:rPr lang="en-US" sz="3200" dirty="0">
                <a:solidFill>
                  <a:srgbClr val="00B050"/>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Priority Orders, </a:t>
            </a:r>
            <a:r>
              <a:rPr lang="en-US" sz="32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Practical Plans</a:t>
            </a:r>
            <a:endParaRPr lang="en-US" sz="3200" dirty="0">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4" name="!!sub"/>
          <p:cNvSpPr txBox="1"/>
          <p:nvPr/>
        </p:nvSpPr>
        <p:spPr>
          <a:xfrm>
            <a:off x="927100" y="1651000"/>
            <a:ext cx="10312400" cy="279400"/>
          </a:xfrm>
          <a:prstGeom prst="rect">
            <a:avLst/>
          </a:prstGeom>
          <a:noFill/>
        </p:spPr>
        <p:txBody>
          <a:bodyPr wrap="square" lIns="0" tIns="0" rIns="0" bIns="0" rtlCol="0" anchor="t">
            <a:noAutofit/>
          </a:bodyPr>
          <a:lstStyle/>
          <a:p>
            <a:pPr algn="l"/>
            <a:r>
              <a:rPr lang="en-US" sz="1400" dirty="0">
                <a:solidFill>
                  <a:srgbClr val="595959"/>
                </a:solidFill>
                <a:latin typeface="Google Sans Flex" panose="020B0503030502040204" pitchFamily="34" charset="0"/>
                <a:ea typeface="Google Sans Flex" panose="020B0503030502040204" pitchFamily="34" charset="0"/>
                <a:cs typeface="Google Sans Flex" panose="020B0503030502040204" pitchFamily="34" charset="0"/>
              </a:rPr>
              <a:t>September 2025 simulation </a:t>
            </a:r>
            <a:r>
              <a:rPr lang="en-US" sz="1400" b="1" dirty="0">
                <a:solidFill>
                  <a:srgbClr val="595959"/>
                </a:solidFill>
                <a:latin typeface="Google Sans Flex" panose="020B0503030502040204" pitchFamily="34" charset="0"/>
                <a:ea typeface="Google Sans Flex" panose="020B0503030502040204" pitchFamily="34" charset="0"/>
                <a:cs typeface="Google Sans Flex" panose="020B0503030502040204" pitchFamily="34" charset="0"/>
              </a:rPr>
              <a:t>. </a:t>
            </a:r>
            <a:r>
              <a:rPr lang="en-US" sz="1400" dirty="0">
                <a:solidFill>
                  <a:srgbClr val="595959"/>
                </a:solidFill>
                <a:latin typeface="Google Sans Flex" panose="020B0503030502040204" pitchFamily="34" charset="0"/>
                <a:ea typeface="Google Sans Flex" panose="020B0503030502040204" pitchFamily="34" charset="0"/>
                <a:cs typeface="Google Sans Flex" panose="020B0503030502040204" pitchFamily="34" charset="0"/>
              </a:rPr>
              <a:t>26 Operating Days </a:t>
            </a:r>
            <a:r>
              <a:rPr lang="en-US" sz="1400" b="1" dirty="0">
                <a:solidFill>
                  <a:srgbClr val="595959"/>
                </a:solidFill>
                <a:latin typeface="Google Sans Flex" panose="020B0503030502040204" pitchFamily="34" charset="0"/>
                <a:ea typeface="Google Sans Flex" panose="020B0503030502040204" pitchFamily="34" charset="0"/>
                <a:cs typeface="Google Sans Flex" panose="020B0503030502040204" pitchFamily="34" charset="0"/>
              </a:rPr>
              <a:t>. </a:t>
            </a:r>
            <a:r>
              <a:rPr lang="en-US" sz="1400" dirty="0">
                <a:solidFill>
                  <a:srgbClr val="595959"/>
                </a:solidFill>
                <a:latin typeface="Google Sans Flex" panose="020B0503030502040204" pitchFamily="34" charset="0"/>
                <a:ea typeface="Google Sans Flex" panose="020B0503030502040204" pitchFamily="34" charset="0"/>
                <a:cs typeface="Google Sans Flex" panose="020B0503030502040204" pitchFamily="34" charset="0"/>
              </a:rPr>
              <a:t>Daily averages </a:t>
            </a:r>
            <a:endParaRPr lang="en-US" sz="1400" b="1" dirty="0">
              <a:solidFill>
                <a:srgbClr val="595959"/>
              </a:solidFill>
              <a:latin typeface="Google Sans Flex" panose="020B0503030502040204" pitchFamily="34" charset="0"/>
              <a:ea typeface="Google Sans Flex" panose="020B0503030502040204" pitchFamily="34" charset="0"/>
              <a:cs typeface="Google Sans Flex" panose="020B0503030502040204" pitchFamily="34" charset="0"/>
            </a:endParaRPr>
          </a:p>
        </p:txBody>
      </p:sp>
      <p:sp>
        <p:nvSpPr>
          <p:cNvPr id="40" name="!!hL"/>
          <p:cNvSpPr/>
          <p:nvPr/>
        </p:nvSpPr>
        <p:spPr>
          <a:xfrm>
            <a:off x="927100" y="2108200"/>
            <a:ext cx="3886200" cy="381000"/>
          </a:xfrm>
          <a:prstGeom prst="rect">
            <a:avLst/>
          </a:prstGeom>
          <a:noFill/>
          <a:ln>
            <a:noFill/>
          </a:ln>
        </p:spPr>
        <p:txBody>
          <a:bodyPr wrap="square" lIns="0" tIns="0" rIns="0" bIns="0" rtlCol="0" anchor="ctr">
            <a:noAutofit/>
          </a:bodyPr>
          <a:lstStyle/>
          <a:p>
            <a:pPr algn="ctr"/>
            <a:r>
              <a:rPr lang="en-US" sz="2000" b="1" dirty="0">
                <a:solidFill>
                  <a:srgbClr val="595959"/>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Conventional plan</a:t>
            </a:r>
          </a:p>
        </p:txBody>
      </p:sp>
      <p:sp>
        <p:nvSpPr>
          <p:cNvPr id="41" name="!!hR"/>
          <p:cNvSpPr/>
          <p:nvPr/>
        </p:nvSpPr>
        <p:spPr>
          <a:xfrm>
            <a:off x="7378700" y="2108200"/>
            <a:ext cx="3860800" cy="381000"/>
          </a:xfrm>
          <a:prstGeom prst="rect">
            <a:avLst/>
          </a:prstGeom>
          <a:noFill/>
          <a:ln>
            <a:noFill/>
          </a:ln>
        </p:spPr>
        <p:txBody>
          <a:bodyPr wrap="square" lIns="0" tIns="0" rIns="0" bIns="0" rtlCol="0" anchor="ctr">
            <a:noAutofit/>
          </a:bodyPr>
          <a:lstStyle/>
          <a:p>
            <a:pPr algn="ctr"/>
            <a:r>
              <a:rPr lang="en-US" sz="2000" b="1"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GO planner</a:t>
            </a:r>
          </a:p>
        </p:txBody>
      </p:sp>
      <p:sp>
        <p:nvSpPr>
          <p:cNvPr id="42" name="!!tL0"/>
          <p:cNvSpPr/>
          <p:nvPr/>
        </p:nvSpPr>
        <p:spPr>
          <a:xfrm>
            <a:off x="927100" y="3098800"/>
            <a:ext cx="3886200" cy="558800"/>
          </a:xfrm>
          <a:prstGeom prst="roundRect">
            <a:avLst>
              <a:gd name="adj" fmla="val 50000"/>
            </a:avLst>
          </a:prstGeom>
          <a:solidFill>
            <a:srgbClr val="F0F0F0"/>
          </a:solidFill>
          <a:ln>
            <a:noFill/>
          </a:ln>
        </p:spPr>
        <p:txBody>
          <a:bodyPr wrap="square" lIns="152400" tIns="0" rIns="152400" bIns="0" rtlCol="0" anchor="ctr">
            <a:noAutofit/>
          </a:bodyPr>
          <a:lstStyle/>
          <a:p>
            <a:pPr algn="ctr"/>
            <a:endParaRPr lang="en-US"/>
          </a:p>
        </p:txBody>
      </p:sp>
      <p:sp>
        <p:nvSpPr>
          <p:cNvPr id="43" name="!!tR0"/>
          <p:cNvSpPr/>
          <p:nvPr/>
        </p:nvSpPr>
        <p:spPr>
          <a:xfrm>
            <a:off x="7378700" y="3098800"/>
            <a:ext cx="3860800" cy="558800"/>
          </a:xfrm>
          <a:prstGeom prst="roundRect">
            <a:avLst>
              <a:gd name="adj" fmla="val 50000"/>
            </a:avLst>
          </a:prstGeom>
          <a:solidFill>
            <a:srgbClr val="F0F0F0"/>
          </a:solidFill>
          <a:ln>
            <a:noFill/>
          </a:ln>
        </p:spPr>
        <p:txBody>
          <a:bodyPr wrap="square" lIns="152400" tIns="0" rIns="152400" bIns="0" rtlCol="0" anchor="ctr">
            <a:noAutofit/>
          </a:bodyPr>
          <a:lstStyle/>
          <a:p>
            <a:pPr algn="ctr"/>
            <a:endParaRPr lang="en-US"/>
          </a:p>
        </p:txBody>
      </p:sp>
      <p:sp>
        <p:nvSpPr>
          <p:cNvPr id="44" name="!!bL0"/>
          <p:cNvSpPr/>
          <p:nvPr/>
        </p:nvSpPr>
        <p:spPr>
          <a:xfrm>
            <a:off x="1315720" y="3098800"/>
            <a:ext cx="3497580" cy="558800"/>
          </a:xfrm>
          <a:prstGeom prst="roundRect">
            <a:avLst>
              <a:gd name="adj" fmla="val 50000"/>
            </a:avLst>
          </a:prstGeom>
          <a:solidFill>
            <a:srgbClr val="6B6B6B"/>
          </a:solidFill>
          <a:ln>
            <a:noFill/>
          </a:ln>
        </p:spPr>
        <p:txBody>
          <a:bodyPr wrap="square" lIns="177800" tIns="0" rIns="177800" bIns="0" rtlCol="0" anchor="ctr">
            <a:noAutofit/>
          </a:bodyPr>
          <a:lstStyle/>
          <a:p>
            <a:pPr algn="r"/>
            <a:r>
              <a:rPr lang="en-US" sz="1600" dirty="0">
                <a:solidFill>
                  <a:srgbClr val="FFFFFF"/>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81</a:t>
            </a:r>
          </a:p>
        </p:txBody>
      </p:sp>
      <p:sp>
        <p:nvSpPr>
          <p:cNvPr id="45" name="!!bR0"/>
          <p:cNvSpPr/>
          <p:nvPr/>
        </p:nvSpPr>
        <p:spPr>
          <a:xfrm>
            <a:off x="7378700" y="3098800"/>
            <a:ext cx="3474720" cy="558800"/>
          </a:xfrm>
          <a:prstGeom prst="roundRect">
            <a:avLst>
              <a:gd name="adj" fmla="val 50000"/>
            </a:avLst>
          </a:prstGeom>
          <a:solidFill>
            <a:srgbClr val="00B050"/>
          </a:solidFill>
          <a:ln>
            <a:noFill/>
          </a:ln>
        </p:spPr>
        <p:txBody>
          <a:bodyPr wrap="square" lIns="177800" tIns="0" rIns="177800" bIns="0" rtlCol="0" anchor="ctr">
            <a:noAutofit/>
          </a:bodyPr>
          <a:lstStyle/>
          <a:p>
            <a:pPr algn="l"/>
            <a:r>
              <a:rPr lang="en-US" sz="1600" dirty="0">
                <a:solidFill>
                  <a:srgbClr val="FFFFFF"/>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81</a:t>
            </a:r>
          </a:p>
        </p:txBody>
      </p:sp>
      <p:sp>
        <p:nvSpPr>
          <p:cNvPr id="46" name="!!c0"/>
          <p:cNvSpPr/>
          <p:nvPr/>
        </p:nvSpPr>
        <p:spPr>
          <a:xfrm>
            <a:off x="4813300" y="3098800"/>
            <a:ext cx="2565400" cy="558800"/>
          </a:xfrm>
          <a:prstGeom prst="rect">
            <a:avLst/>
          </a:prstGeom>
          <a:noFill/>
          <a:ln>
            <a:noFill/>
          </a:ln>
        </p:spPr>
        <p:txBody>
          <a:bodyPr wrap="square" lIns="76200" tIns="0" rIns="76200" bIns="0" rtlCol="0" anchor="ctr">
            <a:noAutofit/>
          </a:bodyPr>
          <a:lstStyle/>
          <a:p>
            <a:pPr algn="ctr"/>
            <a:r>
              <a:rPr lang="en-US" sz="1600" b="1" dirty="0">
                <a:solidFill>
                  <a:srgbClr val="001B09"/>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Fresh orders</a:t>
            </a:r>
          </a:p>
        </p:txBody>
      </p:sp>
      <p:sp>
        <p:nvSpPr>
          <p:cNvPr id="47" name="!!tL1"/>
          <p:cNvSpPr/>
          <p:nvPr/>
        </p:nvSpPr>
        <p:spPr>
          <a:xfrm>
            <a:off x="927100" y="3937000"/>
            <a:ext cx="3886200" cy="558800"/>
          </a:xfrm>
          <a:prstGeom prst="roundRect">
            <a:avLst>
              <a:gd name="adj" fmla="val 50000"/>
            </a:avLst>
          </a:prstGeom>
          <a:solidFill>
            <a:srgbClr val="F0F0F0"/>
          </a:solidFill>
          <a:ln>
            <a:noFill/>
          </a:ln>
        </p:spPr>
        <p:txBody>
          <a:bodyPr wrap="square" lIns="152400" tIns="0" rIns="152400" bIns="0" rtlCol="0" anchor="ctr">
            <a:noAutofit/>
          </a:bodyPr>
          <a:lstStyle/>
          <a:p>
            <a:pPr algn="ctr"/>
            <a:endParaRPr lang="en-US"/>
          </a:p>
        </p:txBody>
      </p:sp>
      <p:sp>
        <p:nvSpPr>
          <p:cNvPr id="48" name="!!tR1"/>
          <p:cNvSpPr/>
          <p:nvPr/>
        </p:nvSpPr>
        <p:spPr>
          <a:xfrm>
            <a:off x="7378700" y="3937000"/>
            <a:ext cx="3860800" cy="558800"/>
          </a:xfrm>
          <a:prstGeom prst="roundRect">
            <a:avLst>
              <a:gd name="adj" fmla="val 50000"/>
            </a:avLst>
          </a:prstGeom>
          <a:solidFill>
            <a:srgbClr val="F0F0F0"/>
          </a:solidFill>
          <a:ln>
            <a:noFill/>
          </a:ln>
        </p:spPr>
        <p:txBody>
          <a:bodyPr wrap="square" lIns="152400" tIns="0" rIns="152400" bIns="0" rtlCol="0" anchor="ctr">
            <a:noAutofit/>
          </a:bodyPr>
          <a:lstStyle/>
          <a:p>
            <a:pPr algn="ctr"/>
            <a:endParaRPr lang="en-US"/>
          </a:p>
        </p:txBody>
      </p:sp>
      <p:sp>
        <p:nvSpPr>
          <p:cNvPr id="49" name="!!bL1"/>
          <p:cNvSpPr/>
          <p:nvPr/>
        </p:nvSpPr>
        <p:spPr>
          <a:xfrm>
            <a:off x="1315720" y="3937000"/>
            <a:ext cx="3497580" cy="558800"/>
          </a:xfrm>
          <a:prstGeom prst="roundRect">
            <a:avLst>
              <a:gd name="adj" fmla="val 50000"/>
            </a:avLst>
          </a:prstGeom>
          <a:solidFill>
            <a:srgbClr val="6B6B6B"/>
          </a:solidFill>
          <a:ln>
            <a:noFill/>
          </a:ln>
        </p:spPr>
        <p:txBody>
          <a:bodyPr wrap="square" lIns="177800" tIns="0" rIns="177800" bIns="0" rtlCol="0" anchor="ctr">
            <a:noAutofit/>
          </a:bodyPr>
          <a:lstStyle/>
          <a:p>
            <a:pPr algn="r"/>
            <a:r>
              <a:rPr lang="en-US" sz="1600" dirty="0">
                <a:solidFill>
                  <a:srgbClr val="FFFFFF"/>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4</a:t>
            </a:r>
          </a:p>
        </p:txBody>
      </p:sp>
      <p:sp>
        <p:nvSpPr>
          <p:cNvPr id="50" name="!!bR1"/>
          <p:cNvSpPr/>
          <p:nvPr/>
        </p:nvSpPr>
        <p:spPr>
          <a:xfrm>
            <a:off x="7378700" y="3937000"/>
            <a:ext cx="1016000" cy="558800"/>
          </a:xfrm>
          <a:prstGeom prst="rect">
            <a:avLst/>
          </a:prstGeom>
          <a:noFill/>
          <a:ln>
            <a:noFill/>
          </a:ln>
        </p:spPr>
        <p:txBody>
          <a:bodyPr wrap="square" lIns="177800" tIns="0" rIns="177800" bIns="0" rtlCol="0" anchor="ctr">
            <a:noAutofit/>
          </a:bodyPr>
          <a:lstStyle/>
          <a:p>
            <a:pPr algn="l"/>
            <a:r>
              <a:rPr lang="en-US" sz="1600"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0</a:t>
            </a:r>
          </a:p>
        </p:txBody>
      </p:sp>
      <p:sp>
        <p:nvSpPr>
          <p:cNvPr id="51" name="!!c1"/>
          <p:cNvSpPr/>
          <p:nvPr/>
        </p:nvSpPr>
        <p:spPr>
          <a:xfrm>
            <a:off x="4813300" y="3937000"/>
            <a:ext cx="2565400" cy="558800"/>
          </a:xfrm>
          <a:prstGeom prst="rect">
            <a:avLst/>
          </a:prstGeom>
          <a:noFill/>
          <a:ln>
            <a:noFill/>
          </a:ln>
        </p:spPr>
        <p:txBody>
          <a:bodyPr wrap="square" lIns="76200" tIns="0" rIns="76200" bIns="0" rtlCol="0" anchor="ctr">
            <a:noAutofit/>
          </a:bodyPr>
          <a:lstStyle/>
          <a:p>
            <a:pPr algn="ctr"/>
            <a:r>
              <a:rPr lang="en-US" sz="1600" b="1" dirty="0">
                <a:solidFill>
                  <a:srgbClr val="001B09"/>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Impractical Plans</a:t>
            </a:r>
          </a:p>
        </p:txBody>
      </p:sp>
      <p:sp>
        <p:nvSpPr>
          <p:cNvPr id="52" name="!!tL2"/>
          <p:cNvSpPr/>
          <p:nvPr/>
        </p:nvSpPr>
        <p:spPr>
          <a:xfrm>
            <a:off x="927100" y="4775200"/>
            <a:ext cx="3886200" cy="558800"/>
          </a:xfrm>
          <a:prstGeom prst="roundRect">
            <a:avLst>
              <a:gd name="adj" fmla="val 50000"/>
            </a:avLst>
          </a:prstGeom>
          <a:solidFill>
            <a:srgbClr val="F0F0F0"/>
          </a:solidFill>
          <a:ln>
            <a:noFill/>
          </a:ln>
        </p:spPr>
        <p:txBody>
          <a:bodyPr wrap="square" lIns="152400" tIns="0" rIns="152400" bIns="0" rtlCol="0" anchor="ctr">
            <a:noAutofit/>
          </a:bodyPr>
          <a:lstStyle/>
          <a:p>
            <a:pPr algn="ctr"/>
            <a:endParaRPr lang="en-US"/>
          </a:p>
        </p:txBody>
      </p:sp>
      <p:sp>
        <p:nvSpPr>
          <p:cNvPr id="53" name="!!tR2"/>
          <p:cNvSpPr/>
          <p:nvPr/>
        </p:nvSpPr>
        <p:spPr>
          <a:xfrm>
            <a:off x="7378700" y="4775200"/>
            <a:ext cx="3860800" cy="558800"/>
          </a:xfrm>
          <a:prstGeom prst="roundRect">
            <a:avLst>
              <a:gd name="adj" fmla="val 50000"/>
            </a:avLst>
          </a:prstGeom>
          <a:solidFill>
            <a:srgbClr val="F0F0F0"/>
          </a:solidFill>
          <a:ln>
            <a:noFill/>
          </a:ln>
        </p:spPr>
        <p:txBody>
          <a:bodyPr wrap="square" lIns="152400" tIns="0" rIns="152400" bIns="0" rtlCol="0" anchor="ctr">
            <a:noAutofit/>
          </a:bodyPr>
          <a:lstStyle/>
          <a:p>
            <a:pPr algn="ctr"/>
            <a:endParaRPr lang="en-US"/>
          </a:p>
        </p:txBody>
      </p:sp>
      <p:sp>
        <p:nvSpPr>
          <p:cNvPr id="54" name="!!bL2"/>
          <p:cNvSpPr/>
          <p:nvPr/>
        </p:nvSpPr>
        <p:spPr>
          <a:xfrm>
            <a:off x="3064510" y="4775200"/>
            <a:ext cx="1748790" cy="558800"/>
          </a:xfrm>
          <a:prstGeom prst="roundRect">
            <a:avLst>
              <a:gd name="adj" fmla="val 50000"/>
            </a:avLst>
          </a:prstGeom>
          <a:solidFill>
            <a:srgbClr val="6B6B6B"/>
          </a:solidFill>
          <a:ln>
            <a:noFill/>
          </a:ln>
        </p:spPr>
        <p:txBody>
          <a:bodyPr wrap="square" lIns="177800" tIns="0" rIns="177800" bIns="0" rtlCol="0" anchor="ctr">
            <a:noAutofit/>
          </a:bodyPr>
          <a:lstStyle/>
          <a:p>
            <a:pPr algn="r"/>
            <a:r>
              <a:rPr lang="en-US" sz="1600" dirty="0">
                <a:solidFill>
                  <a:srgbClr val="FFFFFF"/>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1</a:t>
            </a:r>
          </a:p>
        </p:txBody>
      </p:sp>
      <p:sp>
        <p:nvSpPr>
          <p:cNvPr id="55" name="!!bR2"/>
          <p:cNvSpPr/>
          <p:nvPr/>
        </p:nvSpPr>
        <p:spPr>
          <a:xfrm>
            <a:off x="7378700" y="4775200"/>
            <a:ext cx="3474720" cy="558800"/>
          </a:xfrm>
          <a:prstGeom prst="roundRect">
            <a:avLst>
              <a:gd name="adj" fmla="val 50000"/>
            </a:avLst>
          </a:prstGeom>
          <a:solidFill>
            <a:srgbClr val="00B050"/>
          </a:solidFill>
          <a:ln>
            <a:noFill/>
          </a:ln>
        </p:spPr>
        <p:txBody>
          <a:bodyPr wrap="square" lIns="177800" tIns="0" rIns="177800" bIns="0" rtlCol="0" anchor="ctr">
            <a:noAutofit/>
          </a:bodyPr>
          <a:lstStyle/>
          <a:p>
            <a:pPr algn="l"/>
            <a:r>
              <a:rPr lang="en-US" sz="1600" dirty="0">
                <a:solidFill>
                  <a:srgbClr val="FFFFFF"/>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2</a:t>
            </a:r>
          </a:p>
        </p:txBody>
      </p:sp>
      <p:sp>
        <p:nvSpPr>
          <p:cNvPr id="56" name="!!c2"/>
          <p:cNvSpPr/>
          <p:nvPr/>
        </p:nvSpPr>
        <p:spPr>
          <a:xfrm>
            <a:off x="4813300" y="4775200"/>
            <a:ext cx="2565400" cy="558800"/>
          </a:xfrm>
          <a:prstGeom prst="rect">
            <a:avLst/>
          </a:prstGeom>
          <a:noFill/>
          <a:ln>
            <a:noFill/>
          </a:ln>
        </p:spPr>
        <p:txBody>
          <a:bodyPr wrap="square" lIns="76200" tIns="0" rIns="76200" bIns="0" rtlCol="0" anchor="ctr">
            <a:noAutofit/>
          </a:bodyPr>
          <a:lstStyle/>
          <a:p>
            <a:pPr algn="ctr"/>
            <a:r>
              <a:rPr lang="en-US" sz="1600" b="1" dirty="0">
                <a:solidFill>
                  <a:srgbClr val="001B09"/>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Deferred Recovery</a:t>
            </a:r>
          </a:p>
        </p:txBody>
      </p:sp>
      <p:sp>
        <p:nvSpPr>
          <p:cNvPr id="57" name="!!tL3"/>
          <p:cNvSpPr/>
          <p:nvPr/>
        </p:nvSpPr>
        <p:spPr>
          <a:xfrm>
            <a:off x="927100" y="5613400"/>
            <a:ext cx="3886200" cy="558800"/>
          </a:xfrm>
          <a:prstGeom prst="roundRect">
            <a:avLst>
              <a:gd name="adj" fmla="val 50000"/>
            </a:avLst>
          </a:prstGeom>
          <a:solidFill>
            <a:srgbClr val="F0F0F0"/>
          </a:solidFill>
          <a:ln>
            <a:noFill/>
          </a:ln>
        </p:spPr>
        <p:txBody>
          <a:bodyPr wrap="square" lIns="152400" tIns="0" rIns="152400" bIns="0" rtlCol="0" anchor="ctr">
            <a:noAutofit/>
          </a:bodyPr>
          <a:lstStyle/>
          <a:p>
            <a:pPr algn="ctr"/>
            <a:endParaRPr lang="en-US"/>
          </a:p>
        </p:txBody>
      </p:sp>
      <p:sp>
        <p:nvSpPr>
          <p:cNvPr id="58" name="!!tR3"/>
          <p:cNvSpPr/>
          <p:nvPr/>
        </p:nvSpPr>
        <p:spPr>
          <a:xfrm>
            <a:off x="7378700" y="5613400"/>
            <a:ext cx="3860800" cy="558800"/>
          </a:xfrm>
          <a:prstGeom prst="roundRect">
            <a:avLst>
              <a:gd name="adj" fmla="val 50000"/>
            </a:avLst>
          </a:prstGeom>
          <a:solidFill>
            <a:srgbClr val="F0F0F0"/>
          </a:solidFill>
          <a:ln>
            <a:noFill/>
          </a:ln>
        </p:spPr>
        <p:txBody>
          <a:bodyPr wrap="square" lIns="152400" tIns="0" rIns="152400" bIns="0" rtlCol="0" anchor="ctr">
            <a:noAutofit/>
          </a:bodyPr>
          <a:lstStyle/>
          <a:p>
            <a:pPr algn="ctr"/>
            <a:endParaRPr lang="en-US"/>
          </a:p>
        </p:txBody>
      </p:sp>
      <p:sp>
        <p:nvSpPr>
          <p:cNvPr id="59" name="!!bL3"/>
          <p:cNvSpPr/>
          <p:nvPr/>
        </p:nvSpPr>
        <p:spPr>
          <a:xfrm>
            <a:off x="1315720" y="5613400"/>
            <a:ext cx="3497580" cy="558800"/>
          </a:xfrm>
          <a:prstGeom prst="roundRect">
            <a:avLst>
              <a:gd name="adj" fmla="val 50000"/>
            </a:avLst>
          </a:prstGeom>
          <a:solidFill>
            <a:srgbClr val="6B6B6B"/>
          </a:solidFill>
          <a:ln>
            <a:noFill/>
          </a:ln>
        </p:spPr>
        <p:txBody>
          <a:bodyPr wrap="square" lIns="177800" tIns="0" rIns="177800" bIns="0" rtlCol="0" anchor="ctr">
            <a:noAutofit/>
          </a:bodyPr>
          <a:lstStyle/>
          <a:p>
            <a:pPr algn="r"/>
            <a:r>
              <a:rPr lang="en-US" sz="1600" dirty="0">
                <a:solidFill>
                  <a:srgbClr val="FFFFFF"/>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572 L</a:t>
            </a:r>
          </a:p>
        </p:txBody>
      </p:sp>
      <p:sp>
        <p:nvSpPr>
          <p:cNvPr id="60" name="!!bR3"/>
          <p:cNvSpPr/>
          <p:nvPr/>
        </p:nvSpPr>
        <p:spPr>
          <a:xfrm>
            <a:off x="7378700" y="5613400"/>
            <a:ext cx="3426123" cy="558800"/>
          </a:xfrm>
          <a:prstGeom prst="roundRect">
            <a:avLst>
              <a:gd name="adj" fmla="val 50000"/>
            </a:avLst>
          </a:prstGeom>
          <a:solidFill>
            <a:srgbClr val="00B050"/>
          </a:solidFill>
          <a:ln>
            <a:noFill/>
          </a:ln>
        </p:spPr>
        <p:txBody>
          <a:bodyPr wrap="square" lIns="177800" tIns="0" rIns="177800" bIns="0" rtlCol="0" anchor="ctr">
            <a:noAutofit/>
          </a:bodyPr>
          <a:lstStyle/>
          <a:p>
            <a:pPr algn="l"/>
            <a:r>
              <a:rPr lang="en-US" sz="1600" dirty="0">
                <a:solidFill>
                  <a:srgbClr val="FFFFFF"/>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564 L</a:t>
            </a:r>
          </a:p>
        </p:txBody>
      </p:sp>
      <p:sp>
        <p:nvSpPr>
          <p:cNvPr id="61" name="!!c3"/>
          <p:cNvSpPr/>
          <p:nvPr/>
        </p:nvSpPr>
        <p:spPr>
          <a:xfrm>
            <a:off x="4813300" y="5613400"/>
            <a:ext cx="2565400" cy="558800"/>
          </a:xfrm>
          <a:prstGeom prst="rect">
            <a:avLst/>
          </a:prstGeom>
          <a:noFill/>
          <a:ln>
            <a:noFill/>
          </a:ln>
        </p:spPr>
        <p:txBody>
          <a:bodyPr wrap="square" lIns="76200" tIns="0" rIns="76200" bIns="0" rtlCol="0" anchor="ctr">
            <a:noAutofit/>
          </a:bodyPr>
          <a:lstStyle/>
          <a:p>
            <a:pPr algn="ctr"/>
            <a:r>
              <a:rPr lang="en-US" sz="1600" b="1" dirty="0">
                <a:solidFill>
                  <a:srgbClr val="001B09"/>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Fuel Efficiency</a:t>
            </a:r>
          </a:p>
        </p:txBody>
      </p:sp>
      <p:sp>
        <p:nvSpPr>
          <p:cNvPr id="120" name="!!dL"/>
          <p:cNvSpPr txBox="1"/>
          <p:nvPr/>
        </p:nvSpPr>
        <p:spPr>
          <a:xfrm>
            <a:off x="673100" y="2514600"/>
            <a:ext cx="4394200" cy="279400"/>
          </a:xfrm>
          <a:prstGeom prst="rect">
            <a:avLst/>
          </a:prstGeom>
          <a:noFill/>
        </p:spPr>
        <p:txBody>
          <a:bodyPr wrap="square" lIns="0" tIns="0" rIns="0" bIns="0" rtlCol="0" anchor="t">
            <a:noAutofit/>
          </a:bodyPr>
          <a:lstStyle/>
          <a:p>
            <a:pPr algn="ctr"/>
            <a:r>
              <a:rPr lang="en-US" sz="1400" dirty="0">
                <a:solidFill>
                  <a:srgbClr val="595959"/>
                </a:solidFill>
                <a:latin typeface="Google Sans Flex" panose="020B0503030502040204" pitchFamily="34" charset="0"/>
                <a:ea typeface="Google Sans Flex" panose="020B0503030502040204" pitchFamily="34" charset="0"/>
                <a:cs typeface="Google Sans Flex" panose="020B0503030502040204" pitchFamily="34" charset="0"/>
              </a:rPr>
              <a:t> The existing approach used to organize deliveries </a:t>
            </a:r>
          </a:p>
        </p:txBody>
      </p:sp>
      <p:sp>
        <p:nvSpPr>
          <p:cNvPr id="121" name="!!dR"/>
          <p:cNvSpPr txBox="1"/>
          <p:nvPr/>
        </p:nvSpPr>
        <p:spPr>
          <a:xfrm>
            <a:off x="6870700" y="2514600"/>
            <a:ext cx="4876800" cy="279400"/>
          </a:xfrm>
          <a:prstGeom prst="rect">
            <a:avLst/>
          </a:prstGeom>
          <a:noFill/>
        </p:spPr>
        <p:txBody>
          <a:bodyPr wrap="square" lIns="0" tIns="0" rIns="0" bIns="0" rtlCol="0" anchor="t">
            <a:noAutofit/>
          </a:bodyPr>
          <a:lstStyle/>
          <a:p>
            <a:pPr algn="ctr"/>
            <a:r>
              <a:rPr lang="en-US" sz="1400" dirty="0">
                <a:solidFill>
                  <a:srgbClr val="595959"/>
                </a:solidFill>
                <a:latin typeface="Google Sans Flex" panose="020B0503030502040204" pitchFamily="34" charset="0"/>
                <a:ea typeface="Google Sans Flex" panose="020B0503030502040204" pitchFamily="34" charset="0"/>
                <a:cs typeface="Google Sans Flex" panose="020B0503030502040204" pitchFamily="34" charset="0"/>
              </a:rPr>
              <a:t>Our automated delivery planning system</a:t>
            </a:r>
          </a:p>
        </p:txBody>
      </p:sp>
    </p:spTree>
    <p:extLst>
      <p:ext uri="{BB962C8B-B14F-4D97-AF65-F5344CB8AC3E}">
        <p14:creationId xmlns:p14="http://schemas.microsoft.com/office/powerpoint/2010/main" val="42482450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p:nvPr/>
        </p:nvSpPr>
        <p:spPr>
          <a:xfrm>
            <a:off x="923544" y="688848"/>
            <a:ext cx="160020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ag text"/>
          <p:cNvSpPr txBox="1"/>
          <p:nvPr/>
        </p:nvSpPr>
        <p:spPr>
          <a:xfrm>
            <a:off x="923544" y="688848"/>
            <a:ext cx="1600200" cy="310896"/>
          </a:xfrm>
          <a:prstGeom prst="rect">
            <a:avLst/>
          </a:prstGeom>
          <a:noFill/>
        </p:spPr>
        <p:txBody>
          <a:bodyPr wrap="square" lIns="0" tIns="0" rIns="0" bIns="0" anchor="ctr">
            <a:noAutofit/>
          </a:bodyPr>
          <a:lstStyle/>
          <a:p>
            <a:pPr algn="ctr"/>
            <a:r>
              <a:rPr lang="en-US" sz="1200" dirty="0">
                <a:solidFill>
                  <a:srgbClr val="000000"/>
                </a:solidFill>
                <a:latin typeface="Google Sans Flex"/>
                <a:ea typeface="Google Sans Flex"/>
                <a:cs typeface="Google Sans Flex"/>
              </a:rPr>
              <a:t>MCP · Your own AI</a:t>
            </a:r>
          </a:p>
        </p:txBody>
      </p:sp>
      <p:sp>
        <p:nvSpPr>
          <p:cNvPr id="4" name="Title"/>
          <p:cNvSpPr txBox="1"/>
          <p:nvPr/>
        </p:nvSpPr>
        <p:spPr>
          <a:xfrm>
            <a:off x="923544" y="1091184"/>
            <a:ext cx="10314432" cy="603504"/>
          </a:xfrm>
          <a:prstGeom prst="rect">
            <a:avLst/>
          </a:prstGeom>
          <a:noFill/>
        </p:spPr>
        <p:txBody>
          <a:bodyPr wrap="square" lIns="0" tIns="0" rIns="0" bIns="0" anchor="t">
            <a:noAutofit/>
          </a:bodyPr>
          <a:lstStyle/>
          <a:p>
            <a:pPr algn="l"/>
            <a:r>
              <a:rPr lang="en-US" sz="3400" dirty="0">
                <a:solidFill>
                  <a:srgbClr val="00B050"/>
                </a:solidFill>
                <a:latin typeface="Google Sans Flex SemiBold"/>
                <a:ea typeface="Google Sans Flex SemiBold"/>
                <a:cs typeface="Google Sans Flex SemiBold"/>
              </a:rPr>
              <a:t>Ask GO </a:t>
            </a:r>
            <a:r>
              <a:rPr lang="en-US" sz="3400" dirty="0">
                <a:solidFill>
                  <a:srgbClr val="000000"/>
                </a:solidFill>
                <a:latin typeface="Google Sans Flex Light"/>
                <a:ea typeface="Google Sans Flex Light"/>
                <a:cs typeface="Google Sans Flex Light"/>
              </a:rPr>
              <a:t>with your own AI</a:t>
            </a:r>
          </a:p>
        </p:txBody>
      </p:sp>
      <p:sp>
        <p:nvSpPr>
          <p:cNvPr id="5" name="Subtitle"/>
          <p:cNvSpPr txBox="1"/>
          <p:nvPr/>
        </p:nvSpPr>
        <p:spPr>
          <a:xfrm>
            <a:off x="923544" y="1676400"/>
            <a:ext cx="10314432" cy="292608"/>
          </a:xfrm>
          <a:prstGeom prst="rect">
            <a:avLst/>
          </a:prstGeom>
          <a:noFill/>
        </p:spPr>
        <p:txBody>
          <a:bodyPr wrap="square" lIns="0" tIns="0" rIns="0" bIns="0" anchor="t">
            <a:noAutofit/>
          </a:bodyPr>
          <a:lstStyle/>
          <a:p>
            <a:pPr algn="l"/>
            <a:r>
              <a:rPr lang="en-US" sz="1400" dirty="0">
                <a:solidFill>
                  <a:srgbClr val="595959"/>
                </a:solidFill>
                <a:latin typeface="Google Sans Flex"/>
                <a:ea typeface="Google Sans Flex"/>
                <a:cs typeface="Google Sans Flex"/>
              </a:rPr>
              <a:t>Connect Claude or ChatGPT through MCP and ask GO in plain words</a:t>
            </a:r>
          </a:p>
        </p:txBody>
      </p:sp>
      <p:sp>
        <p:nvSpPr>
          <p:cNvPr id="6" name="Chat card"/>
          <p:cNvSpPr/>
          <p:nvPr/>
        </p:nvSpPr>
        <p:spPr>
          <a:xfrm>
            <a:off x="923544" y="2179320"/>
            <a:ext cx="5020056" cy="3044952"/>
          </a:xfrm>
          <a:prstGeom prst="roundRect">
            <a:avLst>
              <a:gd name="adj" fmla="val 769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AI pill"/>
          <p:cNvSpPr/>
          <p:nvPr/>
        </p:nvSpPr>
        <p:spPr>
          <a:xfrm>
            <a:off x="1152144" y="2407920"/>
            <a:ext cx="146304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AI pill text"/>
          <p:cNvSpPr txBox="1"/>
          <p:nvPr/>
        </p:nvSpPr>
        <p:spPr>
          <a:xfrm>
            <a:off x="1152144" y="2407920"/>
            <a:ext cx="1463040" cy="310896"/>
          </a:xfrm>
          <a:prstGeom prst="rect">
            <a:avLst/>
          </a:prstGeom>
          <a:noFill/>
        </p:spPr>
        <p:txBody>
          <a:bodyPr wrap="square" lIns="0" tIns="0" rIns="0" bIns="0" anchor="ctr">
            <a:noAutofit/>
          </a:bodyPr>
          <a:lstStyle/>
          <a:p>
            <a:pPr algn="ctr"/>
            <a:r>
              <a:rPr lang="en-US" sz="1200" dirty="0">
                <a:solidFill>
                  <a:srgbClr val="000000"/>
                </a:solidFill>
                <a:latin typeface="Google Sans Flex"/>
                <a:ea typeface="Google Sans Flex"/>
                <a:cs typeface="Google Sans Flex"/>
              </a:rPr>
              <a:t>Claude · ChatGPT</a:t>
            </a:r>
          </a:p>
        </p:txBody>
      </p:sp>
      <p:sp>
        <p:nvSpPr>
          <p:cNvPr id="9" name="Question bubble"/>
          <p:cNvSpPr/>
          <p:nvPr/>
        </p:nvSpPr>
        <p:spPr>
          <a:xfrm>
            <a:off x="1152144" y="3093720"/>
            <a:ext cx="4023360" cy="868680"/>
          </a:xfrm>
          <a:prstGeom prst="roundRect">
            <a:avLst>
              <a:gd name="adj" fmla="val 20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Question"/>
          <p:cNvSpPr txBox="1"/>
          <p:nvPr/>
        </p:nvSpPr>
        <p:spPr>
          <a:xfrm>
            <a:off x="1380744" y="3093720"/>
            <a:ext cx="3566160" cy="868680"/>
          </a:xfrm>
          <a:prstGeom prst="rect">
            <a:avLst/>
          </a:prstGeom>
          <a:noFill/>
        </p:spPr>
        <p:txBody>
          <a:bodyPr wrap="square" lIns="0" tIns="0" rIns="0" bIns="0" anchor="ctr">
            <a:noAutofit/>
          </a:bodyPr>
          <a:lstStyle/>
          <a:p>
            <a:pPr algn="l"/>
            <a:r>
              <a:rPr lang="en-US" sz="1800" dirty="0">
                <a:solidFill>
                  <a:srgbClr val="000000"/>
                </a:solidFill>
                <a:latin typeface="Google Sans Flex Light"/>
                <a:ea typeface="Google Sans Flex Light"/>
                <a:cs typeface="Google Sans Flex Light"/>
              </a:rPr>
              <a:t>“Which trips are at risk this morning?”</a:t>
            </a:r>
          </a:p>
        </p:txBody>
      </p:sp>
      <p:sp>
        <p:nvSpPr>
          <p:cNvPr id="11" name="Answer bubble"/>
          <p:cNvSpPr/>
          <p:nvPr/>
        </p:nvSpPr>
        <p:spPr>
          <a:xfrm>
            <a:off x="2148840" y="4236720"/>
            <a:ext cx="3566160" cy="685800"/>
          </a:xfrm>
          <a:prstGeom prst="roundRect">
            <a:avLst>
              <a:gd name="adj" fmla="val 25000"/>
            </a:avLst>
          </a:prstGeom>
          <a:solidFill>
            <a:srgbClr val="006A6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Answer"/>
          <p:cNvSpPr txBox="1"/>
          <p:nvPr/>
        </p:nvSpPr>
        <p:spPr>
          <a:xfrm>
            <a:off x="2377440" y="4236720"/>
            <a:ext cx="3108960" cy="685800"/>
          </a:xfrm>
          <a:prstGeom prst="rect">
            <a:avLst/>
          </a:prstGeom>
          <a:noFill/>
        </p:spPr>
        <p:txBody>
          <a:bodyPr wrap="square" lIns="0" tIns="0" rIns="0" bIns="0" anchor="ctr">
            <a:noAutofit/>
          </a:bodyPr>
          <a:lstStyle/>
          <a:p>
            <a:pPr algn="l"/>
            <a:r>
              <a:rPr lang="en-US" sz="1400" dirty="0">
                <a:solidFill>
                  <a:srgbClr val="FFFFFF"/>
                </a:solidFill>
                <a:latin typeface="Google Sans Flex SemiBold"/>
                <a:ea typeface="Google Sans Flex SemiBold"/>
                <a:cs typeface="Google Sans Flex SemiBold"/>
              </a:rPr>
              <a:t>GO answers from the day's records</a:t>
            </a:r>
          </a:p>
        </p:txBody>
      </p:sp>
      <p:sp>
        <p:nvSpPr>
          <p:cNvPr id="13" name="Read-only card"/>
          <p:cNvSpPr/>
          <p:nvPr/>
        </p:nvSpPr>
        <p:spPr>
          <a:xfrm>
            <a:off x="6208776" y="2179320"/>
            <a:ext cx="5029200" cy="1783080"/>
          </a:xfrm>
          <a:prstGeom prst="roundRect">
            <a:avLst>
              <a:gd name="adj" fmla="val 7692"/>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ad-only"/>
          <p:cNvSpPr txBox="1"/>
          <p:nvPr/>
        </p:nvSpPr>
        <p:spPr>
          <a:xfrm>
            <a:off x="6483096" y="2380488"/>
            <a:ext cx="4480560" cy="548640"/>
          </a:xfrm>
          <a:prstGeom prst="rect">
            <a:avLst/>
          </a:prstGeom>
          <a:noFill/>
        </p:spPr>
        <p:txBody>
          <a:bodyPr wrap="square" lIns="0" tIns="0" rIns="0" bIns="0" anchor="t">
            <a:noAutofit/>
          </a:bodyPr>
          <a:lstStyle/>
          <a:p>
            <a:pPr algn="l"/>
            <a:r>
              <a:rPr lang="en-US" sz="3600" dirty="0">
                <a:solidFill>
                  <a:srgbClr val="FFFFFF"/>
                </a:solidFill>
                <a:latin typeface="Google Sans Flex SemiBold"/>
                <a:ea typeface="Google Sans Flex SemiBold"/>
                <a:cs typeface="Google Sans Flex SemiBold"/>
              </a:rPr>
              <a:t>Read-only</a:t>
            </a:r>
          </a:p>
        </p:txBody>
      </p:sp>
      <p:sp>
        <p:nvSpPr>
          <p:cNvPr id="15" name="Read-only line"/>
          <p:cNvSpPr txBox="1"/>
          <p:nvPr/>
        </p:nvSpPr>
        <p:spPr>
          <a:xfrm>
            <a:off x="6483096" y="2956560"/>
            <a:ext cx="4480560" cy="329184"/>
          </a:xfrm>
          <a:prstGeom prst="rect">
            <a:avLst/>
          </a:prstGeom>
          <a:noFill/>
        </p:spPr>
        <p:txBody>
          <a:bodyPr wrap="square" lIns="0" tIns="0" rIns="0" bIns="0" anchor="t">
            <a:noAutofit/>
          </a:bodyPr>
          <a:lstStyle/>
          <a:p>
            <a:pPr algn="l"/>
            <a:r>
              <a:rPr lang="en-US" sz="1800" dirty="0">
                <a:solidFill>
                  <a:srgbClr val="CFE8E5"/>
                </a:solidFill>
                <a:latin typeface="Google Sans Flex Light"/>
                <a:ea typeface="Google Sans Flex Light"/>
                <a:cs typeface="Google Sans Flex Light"/>
              </a:rPr>
              <a:t>Your AI can look, never change.</a:t>
            </a:r>
          </a:p>
        </p:txBody>
      </p:sp>
      <p:sp>
        <p:nvSpPr>
          <p:cNvPr id="16" name="Read-only detail"/>
          <p:cNvSpPr txBox="1"/>
          <p:nvPr/>
        </p:nvSpPr>
        <p:spPr>
          <a:xfrm>
            <a:off x="6483096" y="3368040"/>
            <a:ext cx="4480560" cy="411480"/>
          </a:xfrm>
          <a:prstGeom prst="rect">
            <a:avLst/>
          </a:prstGeom>
          <a:noFill/>
        </p:spPr>
        <p:txBody>
          <a:bodyPr wrap="square" lIns="0" tIns="0" rIns="0" bIns="0" anchor="t">
            <a:noAutofit/>
          </a:bodyPr>
          <a:lstStyle/>
          <a:p>
            <a:pPr algn="l"/>
            <a:r>
              <a:rPr lang="en-US" sz="1200" dirty="0">
                <a:solidFill>
                  <a:srgbClr val="FFFFFF"/>
                </a:solidFill>
                <a:latin typeface="Google Sans Flex"/>
                <a:ea typeface="Google Sans Flex"/>
                <a:cs typeface="Google Sans Flex"/>
              </a:rPr>
              <a:t>Trips, plans, issues and the audit trail, only within the permissions you already have</a:t>
            </a:r>
          </a:p>
        </p:txBody>
      </p:sp>
      <p:sp>
        <p:nvSpPr>
          <p:cNvPr id="17" name="Guard card 1"/>
          <p:cNvSpPr/>
          <p:nvPr/>
        </p:nvSpPr>
        <p:spPr>
          <a:xfrm>
            <a:off x="6208776" y="4191000"/>
            <a:ext cx="2382012" cy="1033272"/>
          </a:xfrm>
          <a:prstGeom prst="roundRect">
            <a:avLst>
              <a:gd name="adj" fmla="val 12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Guard 1 title"/>
          <p:cNvSpPr txBox="1"/>
          <p:nvPr/>
        </p:nvSpPr>
        <p:spPr>
          <a:xfrm>
            <a:off x="6373368" y="4328160"/>
            <a:ext cx="2052828" cy="246888"/>
          </a:xfrm>
          <a:prstGeom prst="rect">
            <a:avLst/>
          </a:prstGeom>
          <a:noFill/>
        </p:spPr>
        <p:txBody>
          <a:bodyPr wrap="square" lIns="0" tIns="0" rIns="0" bIns="0" anchor="t">
            <a:noAutofit/>
          </a:bodyPr>
          <a:lstStyle/>
          <a:p>
            <a:pPr algn="l"/>
            <a:r>
              <a:rPr lang="en-US" sz="1400" dirty="0">
                <a:solidFill>
                  <a:srgbClr val="000000"/>
                </a:solidFill>
                <a:latin typeface="Google Sans Flex SemiBold"/>
                <a:ea typeface="Google Sans Flex SemiBold"/>
                <a:cs typeface="Google Sans Flex SemiBold"/>
              </a:rPr>
              <a:t>Your permissions only</a:t>
            </a:r>
          </a:p>
        </p:txBody>
      </p:sp>
      <p:cxnSp>
        <p:nvCxnSpPr>
          <p:cNvPr id="19" name="Guard 1 divider"/>
          <p:cNvCxnSpPr/>
          <p:nvPr/>
        </p:nvCxnSpPr>
        <p:spPr>
          <a:xfrm>
            <a:off x="6307531" y="4648200"/>
            <a:ext cx="2184502"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0" name="Guard 1 text"/>
          <p:cNvSpPr txBox="1"/>
          <p:nvPr/>
        </p:nvSpPr>
        <p:spPr>
          <a:xfrm>
            <a:off x="6373368" y="4721352"/>
            <a:ext cx="2052828" cy="411480"/>
          </a:xfrm>
          <a:prstGeom prst="rect">
            <a:avLst/>
          </a:prstGeom>
          <a:noFill/>
        </p:spPr>
        <p:txBody>
          <a:bodyPr wrap="square" lIns="0" tIns="0" rIns="0" bIns="0" anchor="t">
            <a:noAutofit/>
          </a:bodyPr>
          <a:lstStyle/>
          <a:p>
            <a:pPr algn="l"/>
            <a:r>
              <a:rPr lang="en-US" sz="1200" dirty="0">
                <a:solidFill>
                  <a:srgbClr val="000000"/>
                </a:solidFill>
                <a:latin typeface="Google Sans Flex"/>
                <a:ea typeface="Google Sans Flex"/>
                <a:cs typeface="Google Sans Flex"/>
              </a:rPr>
              <a:t>it sees only what that person can already see</a:t>
            </a:r>
          </a:p>
        </p:txBody>
      </p:sp>
      <p:sp>
        <p:nvSpPr>
          <p:cNvPr id="21" name="Guard card 2"/>
          <p:cNvSpPr/>
          <p:nvPr/>
        </p:nvSpPr>
        <p:spPr>
          <a:xfrm>
            <a:off x="8855964" y="4191000"/>
            <a:ext cx="2382012" cy="1033272"/>
          </a:xfrm>
          <a:prstGeom prst="roundRect">
            <a:avLst>
              <a:gd name="adj" fmla="val 12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Guard 2 title"/>
          <p:cNvSpPr txBox="1"/>
          <p:nvPr/>
        </p:nvSpPr>
        <p:spPr>
          <a:xfrm>
            <a:off x="9020556" y="4328160"/>
            <a:ext cx="2052828" cy="246888"/>
          </a:xfrm>
          <a:prstGeom prst="rect">
            <a:avLst/>
          </a:prstGeom>
          <a:noFill/>
        </p:spPr>
        <p:txBody>
          <a:bodyPr wrap="square" lIns="0" tIns="0" rIns="0" bIns="0" anchor="t">
            <a:noAutofit/>
          </a:bodyPr>
          <a:lstStyle/>
          <a:p>
            <a:pPr algn="l"/>
            <a:r>
              <a:rPr lang="en-US" sz="1400" dirty="0">
                <a:solidFill>
                  <a:srgbClr val="000000"/>
                </a:solidFill>
                <a:latin typeface="Google Sans Flex SemiBold"/>
                <a:ea typeface="Google Sans Flex SemiBold"/>
                <a:cs typeface="Google Sans Flex SemiBold"/>
              </a:rPr>
              <a:t>Every call audited</a:t>
            </a:r>
          </a:p>
        </p:txBody>
      </p:sp>
      <p:cxnSp>
        <p:nvCxnSpPr>
          <p:cNvPr id="23" name="Guard 2 divider"/>
          <p:cNvCxnSpPr/>
          <p:nvPr/>
        </p:nvCxnSpPr>
        <p:spPr>
          <a:xfrm>
            <a:off x="8954719" y="4648200"/>
            <a:ext cx="2184502"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4" name="Guard 2 text"/>
          <p:cNvSpPr txBox="1"/>
          <p:nvPr/>
        </p:nvSpPr>
        <p:spPr>
          <a:xfrm>
            <a:off x="9020556" y="4721352"/>
            <a:ext cx="2052828" cy="411480"/>
          </a:xfrm>
          <a:prstGeom prst="rect">
            <a:avLst/>
          </a:prstGeom>
          <a:noFill/>
        </p:spPr>
        <p:txBody>
          <a:bodyPr wrap="square" lIns="0" tIns="0" rIns="0" bIns="0" anchor="t">
            <a:noAutofit/>
          </a:bodyPr>
          <a:lstStyle/>
          <a:p>
            <a:pPr algn="l"/>
            <a:r>
              <a:rPr lang="en-US" sz="1200" dirty="0">
                <a:solidFill>
                  <a:srgbClr val="000000"/>
                </a:solidFill>
                <a:latin typeface="Google Sans Flex"/>
                <a:ea typeface="Google Sans Flex"/>
                <a:cs typeface="Google Sans Flex"/>
              </a:rPr>
              <a:t>who asked, what was read and when</a:t>
            </a:r>
          </a:p>
        </p:txBody>
      </p:sp>
      <p:sp>
        <p:nvSpPr>
          <p:cNvPr id="25" name="Tagline"/>
          <p:cNvSpPr/>
          <p:nvPr/>
        </p:nvSpPr>
        <p:spPr>
          <a:xfrm>
            <a:off x="923544" y="5562600"/>
            <a:ext cx="10314432" cy="566928"/>
          </a:xfrm>
          <a:prstGeom prst="roundRect">
            <a:avLst>
              <a:gd name="adj" fmla="val 50000"/>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agline text"/>
          <p:cNvSpPr txBox="1"/>
          <p:nvPr/>
        </p:nvSpPr>
        <p:spPr>
          <a:xfrm>
            <a:off x="1152144" y="5562600"/>
            <a:ext cx="9857232" cy="566928"/>
          </a:xfrm>
          <a:prstGeom prst="rect">
            <a:avLst/>
          </a:prstGeom>
          <a:noFill/>
        </p:spPr>
        <p:txBody>
          <a:bodyPr wrap="square" lIns="0" tIns="0" rIns="0" bIns="0" anchor="ctr">
            <a:noAutofit/>
          </a:bodyPr>
          <a:lstStyle/>
          <a:p>
            <a:pPr algn="l"/>
            <a:r>
              <a:rPr lang="en-US" sz="1600" dirty="0">
                <a:solidFill>
                  <a:srgbClr val="FFFFFF"/>
                </a:solidFill>
                <a:latin typeface="Google Sans Flex SemiBold"/>
                <a:ea typeface="Google Sans Flex SemiBold"/>
                <a:cs typeface="Google Sans Flex SemiBold"/>
              </a:rPr>
              <a:t>By default, every AI connection is read-only.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p:nvPr/>
        </p:nvSpPr>
        <p:spPr>
          <a:xfrm>
            <a:off x="923544" y="688848"/>
            <a:ext cx="132588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ag text"/>
          <p:cNvSpPr txBox="1"/>
          <p:nvPr/>
        </p:nvSpPr>
        <p:spPr>
          <a:xfrm>
            <a:off x="923544" y="688848"/>
            <a:ext cx="1325880" cy="310896"/>
          </a:xfrm>
          <a:prstGeom prst="rect">
            <a:avLst/>
          </a:prstGeom>
          <a:noFill/>
        </p:spPr>
        <p:txBody>
          <a:bodyPr wrap="square" lIns="0" tIns="0" rIns="0" bIns="0" anchor="ctr">
            <a:noAutofit/>
          </a:bodyPr>
          <a:lstStyle/>
          <a:p>
            <a:pPr algn="ctr"/>
            <a:r>
              <a:rPr lang="en-US" sz="1200" dirty="0">
                <a:solidFill>
                  <a:srgbClr val="000000"/>
                </a:solidFill>
                <a:latin typeface="Google Sans Flex"/>
                <a:ea typeface="Google Sans Flex"/>
                <a:cs typeface="Google Sans Flex"/>
              </a:rPr>
              <a:t>Business value</a:t>
            </a:r>
          </a:p>
        </p:txBody>
      </p:sp>
      <p:sp>
        <p:nvSpPr>
          <p:cNvPr id="4" name="Title"/>
          <p:cNvSpPr txBox="1"/>
          <p:nvPr/>
        </p:nvSpPr>
        <p:spPr>
          <a:xfrm>
            <a:off x="923544" y="1091184"/>
            <a:ext cx="10314432" cy="603504"/>
          </a:xfrm>
          <a:prstGeom prst="rect">
            <a:avLst/>
          </a:prstGeom>
          <a:noFill/>
        </p:spPr>
        <p:txBody>
          <a:bodyPr wrap="square" lIns="0" tIns="0" rIns="0" bIns="0" anchor="t">
            <a:noAutofit/>
          </a:bodyPr>
          <a:lstStyle/>
          <a:p>
            <a:pPr algn="l"/>
            <a:r>
              <a:rPr lang="en-US" sz="3400" dirty="0">
                <a:solidFill>
                  <a:srgbClr val="00B050"/>
                </a:solidFill>
                <a:latin typeface="Google Sans Flex SemiBold"/>
                <a:ea typeface="Google Sans Flex SemiBold"/>
                <a:cs typeface="Google Sans Flex SemiBold"/>
              </a:rPr>
              <a:t>What changes </a:t>
            </a:r>
            <a:r>
              <a:rPr lang="en-US" sz="3400" dirty="0">
                <a:solidFill>
                  <a:srgbClr val="000000"/>
                </a:solidFill>
                <a:latin typeface="Google Sans Flex Light"/>
                <a:ea typeface="Google Sans Flex Light"/>
                <a:cs typeface="Google Sans Flex Light"/>
              </a:rPr>
              <a:t>for Waypoint</a:t>
            </a:r>
          </a:p>
        </p:txBody>
      </p:sp>
      <p:sp>
        <p:nvSpPr>
          <p:cNvPr id="5" name="Subtitle"/>
          <p:cNvSpPr txBox="1"/>
          <p:nvPr/>
        </p:nvSpPr>
        <p:spPr>
          <a:xfrm>
            <a:off x="923544" y="1676400"/>
            <a:ext cx="10314432" cy="292608"/>
          </a:xfrm>
          <a:prstGeom prst="rect">
            <a:avLst/>
          </a:prstGeom>
          <a:noFill/>
        </p:spPr>
        <p:txBody>
          <a:bodyPr wrap="square" lIns="0" tIns="0" rIns="0" bIns="0" anchor="t">
            <a:noAutofit/>
          </a:bodyPr>
          <a:lstStyle/>
          <a:p>
            <a:pPr algn="l"/>
            <a:r>
              <a:rPr lang="en-US" sz="1400" dirty="0">
                <a:solidFill>
                  <a:srgbClr val="595959"/>
                </a:solidFill>
                <a:latin typeface="Google Sans Flex"/>
                <a:ea typeface="Google Sans Flex"/>
                <a:cs typeface="Google Sans Flex"/>
              </a:rPr>
              <a:t>Four problems people live with today, and what GO changes for each</a:t>
            </a:r>
          </a:p>
        </p:txBody>
      </p:sp>
      <p:sp>
        <p:nvSpPr>
          <p:cNvPr id="6" name="Card 1"/>
          <p:cNvSpPr/>
          <p:nvPr/>
        </p:nvSpPr>
        <p:spPr>
          <a:xfrm>
            <a:off x="923544" y="2364422"/>
            <a:ext cx="2377440" cy="2859849"/>
          </a:xfrm>
          <a:prstGeom prst="roundRect">
            <a:avLst>
              <a:gd name="adj" fmla="val 769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Card 1 today label"/>
          <p:cNvSpPr txBox="1"/>
          <p:nvPr/>
        </p:nvSpPr>
        <p:spPr>
          <a:xfrm>
            <a:off x="1088136" y="2618232"/>
            <a:ext cx="2048256" cy="201168"/>
          </a:xfrm>
          <a:prstGeom prst="rect">
            <a:avLst/>
          </a:prstGeom>
          <a:noFill/>
        </p:spPr>
        <p:txBody>
          <a:bodyPr wrap="square" lIns="0" tIns="0" rIns="0" bIns="0" anchor="t">
            <a:noAutofit/>
          </a:bodyPr>
          <a:lstStyle/>
          <a:p>
            <a:pPr algn="l"/>
            <a:r>
              <a:rPr lang="en-US" sz="1200" dirty="0">
                <a:solidFill>
                  <a:srgbClr val="595959"/>
                </a:solidFill>
                <a:latin typeface="Google Sans Flex"/>
                <a:ea typeface="Google Sans Flex"/>
                <a:cs typeface="Google Sans Flex"/>
              </a:rPr>
              <a:t>Today</a:t>
            </a:r>
          </a:p>
        </p:txBody>
      </p:sp>
      <p:sp>
        <p:nvSpPr>
          <p:cNvPr id="8" name="Card 1 today"/>
          <p:cNvSpPr txBox="1"/>
          <p:nvPr/>
        </p:nvSpPr>
        <p:spPr>
          <a:xfrm>
            <a:off x="1088136" y="2837688"/>
            <a:ext cx="2048256" cy="457200"/>
          </a:xfrm>
          <a:prstGeom prst="rect">
            <a:avLst/>
          </a:prstGeom>
          <a:noFill/>
        </p:spPr>
        <p:txBody>
          <a:bodyPr wrap="square" lIns="0" tIns="0" rIns="0" bIns="0" anchor="t">
            <a:noAutofit/>
          </a:bodyPr>
          <a:lstStyle/>
          <a:p>
            <a:pPr algn="l"/>
            <a:r>
              <a:rPr lang="en-US" sz="1400" dirty="0">
                <a:solidFill>
                  <a:srgbClr val="000000"/>
                </a:solidFill>
                <a:latin typeface="Google Sans Flex Light"/>
                <a:ea typeface="Google Sans Flex Light"/>
                <a:cs typeface="Google Sans Flex Light"/>
              </a:rPr>
              <a:t>One spreadsheet, one person</a:t>
            </a:r>
          </a:p>
        </p:txBody>
      </p:sp>
      <p:cxnSp>
        <p:nvCxnSpPr>
          <p:cNvPr id="9" name="Card 1 divider"/>
          <p:cNvCxnSpPr/>
          <p:nvPr/>
        </p:nvCxnSpPr>
        <p:spPr>
          <a:xfrm>
            <a:off x="1022299" y="3413760"/>
            <a:ext cx="2179930"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0" name="Card 1 GO label"/>
          <p:cNvSpPr txBox="1"/>
          <p:nvPr/>
        </p:nvSpPr>
        <p:spPr>
          <a:xfrm>
            <a:off x="1088136" y="3550920"/>
            <a:ext cx="2048256" cy="201168"/>
          </a:xfrm>
          <a:prstGeom prst="rect">
            <a:avLst/>
          </a:prstGeom>
          <a:noFill/>
        </p:spPr>
        <p:txBody>
          <a:bodyPr wrap="square" lIns="0" tIns="0" rIns="0" bIns="0" anchor="t">
            <a:noAutofit/>
          </a:bodyPr>
          <a:lstStyle/>
          <a:p>
            <a:pPr algn="l"/>
            <a:r>
              <a:rPr lang="en-US" sz="1200" dirty="0">
                <a:solidFill>
                  <a:srgbClr val="006A62"/>
                </a:solidFill>
                <a:latin typeface="Google Sans Flex SemiBold"/>
                <a:ea typeface="Google Sans Flex SemiBold"/>
                <a:cs typeface="Google Sans Flex SemiBold"/>
              </a:rPr>
              <a:t>With GO</a:t>
            </a:r>
          </a:p>
        </p:txBody>
      </p:sp>
      <p:sp>
        <p:nvSpPr>
          <p:cNvPr id="11" name="Card 1 outcome"/>
          <p:cNvSpPr txBox="1"/>
          <p:nvPr/>
        </p:nvSpPr>
        <p:spPr>
          <a:xfrm>
            <a:off x="1088136" y="3788664"/>
            <a:ext cx="2048256" cy="566928"/>
          </a:xfrm>
          <a:prstGeom prst="rect">
            <a:avLst/>
          </a:prstGeom>
          <a:noFill/>
        </p:spPr>
        <p:txBody>
          <a:bodyPr wrap="square" lIns="0" tIns="0" rIns="0" bIns="0" anchor="t">
            <a:noAutofit/>
          </a:bodyPr>
          <a:lstStyle/>
          <a:p>
            <a:pPr algn="l"/>
            <a:r>
              <a:rPr lang="en-US" sz="1800" dirty="0">
                <a:solidFill>
                  <a:srgbClr val="00B050"/>
                </a:solidFill>
                <a:latin typeface="Google Sans Flex SemiBold"/>
                <a:ea typeface="Google Sans Flex SemiBold"/>
                <a:cs typeface="Google Sans Flex SemiBold"/>
              </a:rPr>
              <a:t>More orders, same fleet</a:t>
            </a:r>
          </a:p>
        </p:txBody>
      </p:sp>
      <p:sp>
        <p:nvSpPr>
          <p:cNvPr id="12" name="Card 1 detail"/>
          <p:cNvSpPr txBox="1"/>
          <p:nvPr/>
        </p:nvSpPr>
        <p:spPr>
          <a:xfrm>
            <a:off x="1088136" y="4465320"/>
            <a:ext cx="2048256" cy="822960"/>
          </a:xfrm>
          <a:prstGeom prst="rect">
            <a:avLst/>
          </a:prstGeom>
          <a:noFill/>
        </p:spPr>
        <p:txBody>
          <a:bodyPr wrap="square" lIns="0" tIns="0" rIns="0" bIns="0" anchor="t">
            <a:noAutofit/>
          </a:bodyPr>
          <a:lstStyle/>
          <a:p>
            <a:pPr algn="l"/>
            <a:r>
              <a:rPr lang="en-US" sz="1200" dirty="0">
                <a:solidFill>
                  <a:srgbClr val="000000"/>
                </a:solidFill>
                <a:latin typeface="Google Sans Flex"/>
                <a:ea typeface="Google Sans Flex"/>
                <a:cs typeface="Google Sans Flex"/>
              </a:rPr>
              <a:t>every order checked against every rule; fewer trips and litres</a:t>
            </a:r>
          </a:p>
        </p:txBody>
      </p:sp>
      <p:sp>
        <p:nvSpPr>
          <p:cNvPr id="13" name="Card 2"/>
          <p:cNvSpPr/>
          <p:nvPr/>
        </p:nvSpPr>
        <p:spPr>
          <a:xfrm>
            <a:off x="3569208" y="2364422"/>
            <a:ext cx="2377440" cy="2859849"/>
          </a:xfrm>
          <a:prstGeom prst="roundRect">
            <a:avLst>
              <a:gd name="adj" fmla="val 769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Card 2 today label"/>
          <p:cNvSpPr txBox="1"/>
          <p:nvPr/>
        </p:nvSpPr>
        <p:spPr>
          <a:xfrm>
            <a:off x="3733800" y="2618232"/>
            <a:ext cx="2048256" cy="201168"/>
          </a:xfrm>
          <a:prstGeom prst="rect">
            <a:avLst/>
          </a:prstGeom>
          <a:noFill/>
        </p:spPr>
        <p:txBody>
          <a:bodyPr wrap="square" lIns="0" tIns="0" rIns="0" bIns="0" anchor="t">
            <a:noAutofit/>
          </a:bodyPr>
          <a:lstStyle/>
          <a:p>
            <a:pPr algn="l"/>
            <a:r>
              <a:rPr lang="en-US" sz="1200" dirty="0">
                <a:solidFill>
                  <a:srgbClr val="595959"/>
                </a:solidFill>
                <a:latin typeface="Google Sans Flex"/>
                <a:ea typeface="Google Sans Flex"/>
                <a:cs typeface="Google Sans Flex"/>
              </a:rPr>
              <a:t>Today</a:t>
            </a:r>
          </a:p>
        </p:txBody>
      </p:sp>
      <p:sp>
        <p:nvSpPr>
          <p:cNvPr id="15" name="Card 2 today"/>
          <p:cNvSpPr txBox="1"/>
          <p:nvPr/>
        </p:nvSpPr>
        <p:spPr>
          <a:xfrm>
            <a:off x="3733800" y="2837688"/>
            <a:ext cx="2048256" cy="457200"/>
          </a:xfrm>
          <a:prstGeom prst="rect">
            <a:avLst/>
          </a:prstGeom>
          <a:noFill/>
        </p:spPr>
        <p:txBody>
          <a:bodyPr wrap="square" lIns="0" tIns="0" rIns="0" bIns="0" anchor="t">
            <a:noAutofit/>
          </a:bodyPr>
          <a:lstStyle/>
          <a:p>
            <a:pPr algn="l"/>
            <a:r>
              <a:rPr lang="en-US" sz="1400" dirty="0">
                <a:solidFill>
                  <a:srgbClr val="000000"/>
                </a:solidFill>
                <a:latin typeface="Google Sans Flex Light"/>
                <a:ea typeface="Google Sans Flex Light"/>
                <a:cs typeface="Google Sans Flex Light"/>
              </a:rPr>
              <a:t>Fresh misses 08:00</a:t>
            </a:r>
          </a:p>
        </p:txBody>
      </p:sp>
      <p:cxnSp>
        <p:nvCxnSpPr>
          <p:cNvPr id="16" name="Card 2 divider"/>
          <p:cNvCxnSpPr/>
          <p:nvPr/>
        </p:nvCxnSpPr>
        <p:spPr>
          <a:xfrm>
            <a:off x="3667963" y="3413760"/>
            <a:ext cx="2179930"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7" name="Card 2 GO label"/>
          <p:cNvSpPr txBox="1"/>
          <p:nvPr/>
        </p:nvSpPr>
        <p:spPr>
          <a:xfrm>
            <a:off x="3733800" y="3550920"/>
            <a:ext cx="2048256" cy="201168"/>
          </a:xfrm>
          <a:prstGeom prst="rect">
            <a:avLst/>
          </a:prstGeom>
          <a:noFill/>
        </p:spPr>
        <p:txBody>
          <a:bodyPr wrap="square" lIns="0" tIns="0" rIns="0" bIns="0" anchor="t">
            <a:noAutofit/>
          </a:bodyPr>
          <a:lstStyle/>
          <a:p>
            <a:pPr algn="l"/>
            <a:r>
              <a:rPr lang="en-US" sz="1200" dirty="0">
                <a:solidFill>
                  <a:srgbClr val="006A62"/>
                </a:solidFill>
                <a:latin typeface="Google Sans Flex SemiBold"/>
                <a:ea typeface="Google Sans Flex SemiBold"/>
                <a:cs typeface="Google Sans Flex SemiBold"/>
              </a:rPr>
              <a:t>With GO</a:t>
            </a:r>
          </a:p>
        </p:txBody>
      </p:sp>
      <p:sp>
        <p:nvSpPr>
          <p:cNvPr id="18" name="Card 2 outcome"/>
          <p:cNvSpPr txBox="1"/>
          <p:nvPr/>
        </p:nvSpPr>
        <p:spPr>
          <a:xfrm>
            <a:off x="3733800" y="3788664"/>
            <a:ext cx="2048256" cy="566928"/>
          </a:xfrm>
          <a:prstGeom prst="rect">
            <a:avLst/>
          </a:prstGeom>
          <a:noFill/>
        </p:spPr>
        <p:txBody>
          <a:bodyPr wrap="square" lIns="0" tIns="0" rIns="0" bIns="0" anchor="t">
            <a:noAutofit/>
          </a:bodyPr>
          <a:lstStyle/>
          <a:p>
            <a:pPr algn="l"/>
            <a:r>
              <a:rPr lang="en-US" sz="1800" dirty="0">
                <a:solidFill>
                  <a:srgbClr val="00B050"/>
                </a:solidFill>
                <a:latin typeface="Google Sans Flex SemiBold"/>
                <a:ea typeface="Google Sans Flex SemiBold"/>
                <a:cs typeface="Google Sans Flex SemiBold"/>
              </a:rPr>
              <a:t>Fresh on shelves by 08:00</a:t>
            </a:r>
          </a:p>
        </p:txBody>
      </p:sp>
      <p:sp>
        <p:nvSpPr>
          <p:cNvPr id="19" name="Card 2 detail"/>
          <p:cNvSpPr txBox="1"/>
          <p:nvPr/>
        </p:nvSpPr>
        <p:spPr>
          <a:xfrm>
            <a:off x="3733800" y="4465320"/>
            <a:ext cx="2048256" cy="822960"/>
          </a:xfrm>
          <a:prstGeom prst="rect">
            <a:avLst/>
          </a:prstGeom>
          <a:noFill/>
        </p:spPr>
        <p:txBody>
          <a:bodyPr wrap="square" lIns="0" tIns="0" rIns="0" bIns="0" anchor="t">
            <a:noAutofit/>
          </a:bodyPr>
          <a:lstStyle/>
          <a:p>
            <a:pPr algn="l"/>
            <a:r>
              <a:rPr lang="en-US" sz="1200" dirty="0">
                <a:solidFill>
                  <a:srgbClr val="000000"/>
                </a:solidFill>
                <a:latin typeface="Google Sans Flex"/>
                <a:ea typeface="Google Sans Flex"/>
                <a:cs typeface="Google Sans Flex"/>
              </a:rPr>
              <a:t>late risk seen before the truck leaves</a:t>
            </a:r>
          </a:p>
        </p:txBody>
      </p:sp>
      <p:sp>
        <p:nvSpPr>
          <p:cNvPr id="20" name="Card 3"/>
          <p:cNvSpPr/>
          <p:nvPr/>
        </p:nvSpPr>
        <p:spPr>
          <a:xfrm>
            <a:off x="6214872" y="2364422"/>
            <a:ext cx="2377440" cy="2859849"/>
          </a:xfrm>
          <a:prstGeom prst="roundRect">
            <a:avLst>
              <a:gd name="adj" fmla="val 769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Card 3 today label"/>
          <p:cNvSpPr txBox="1"/>
          <p:nvPr/>
        </p:nvSpPr>
        <p:spPr>
          <a:xfrm>
            <a:off x="6379464" y="2618232"/>
            <a:ext cx="2048256" cy="201168"/>
          </a:xfrm>
          <a:prstGeom prst="rect">
            <a:avLst/>
          </a:prstGeom>
          <a:noFill/>
        </p:spPr>
        <p:txBody>
          <a:bodyPr wrap="square" lIns="0" tIns="0" rIns="0" bIns="0" anchor="t">
            <a:noAutofit/>
          </a:bodyPr>
          <a:lstStyle/>
          <a:p>
            <a:pPr algn="l"/>
            <a:r>
              <a:rPr lang="en-US" sz="1200" dirty="0">
                <a:solidFill>
                  <a:srgbClr val="595959"/>
                </a:solidFill>
                <a:latin typeface="Google Sans Flex"/>
                <a:ea typeface="Google Sans Flex"/>
                <a:cs typeface="Google Sans Flex"/>
              </a:rPr>
              <a:t>Today</a:t>
            </a:r>
          </a:p>
        </p:txBody>
      </p:sp>
      <p:sp>
        <p:nvSpPr>
          <p:cNvPr id="22" name="Card 3 today"/>
          <p:cNvSpPr txBox="1"/>
          <p:nvPr/>
        </p:nvSpPr>
        <p:spPr>
          <a:xfrm>
            <a:off x="6379464" y="2837688"/>
            <a:ext cx="2048256" cy="457200"/>
          </a:xfrm>
          <a:prstGeom prst="rect">
            <a:avLst/>
          </a:prstGeom>
          <a:noFill/>
        </p:spPr>
        <p:txBody>
          <a:bodyPr wrap="square" lIns="0" tIns="0" rIns="0" bIns="0" anchor="t">
            <a:noAutofit/>
          </a:bodyPr>
          <a:lstStyle/>
          <a:p>
            <a:pPr algn="l"/>
            <a:r>
              <a:rPr lang="en-US" sz="1400" dirty="0">
                <a:solidFill>
                  <a:srgbClr val="000000"/>
                </a:solidFill>
                <a:latin typeface="Google Sans Flex Light"/>
                <a:ea typeface="Google Sans Flex Light"/>
                <a:cs typeface="Google Sans Flex Light"/>
              </a:rPr>
              <a:t>The peak is a surprise</a:t>
            </a:r>
          </a:p>
        </p:txBody>
      </p:sp>
      <p:cxnSp>
        <p:nvCxnSpPr>
          <p:cNvPr id="23" name="Card 3 divider"/>
          <p:cNvCxnSpPr/>
          <p:nvPr/>
        </p:nvCxnSpPr>
        <p:spPr>
          <a:xfrm>
            <a:off x="6313627" y="3413760"/>
            <a:ext cx="2179930"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4" name="Card 3 GO label"/>
          <p:cNvSpPr txBox="1"/>
          <p:nvPr/>
        </p:nvSpPr>
        <p:spPr>
          <a:xfrm>
            <a:off x="6379464" y="3550920"/>
            <a:ext cx="2048256" cy="201168"/>
          </a:xfrm>
          <a:prstGeom prst="rect">
            <a:avLst/>
          </a:prstGeom>
          <a:noFill/>
        </p:spPr>
        <p:txBody>
          <a:bodyPr wrap="square" lIns="0" tIns="0" rIns="0" bIns="0" anchor="t">
            <a:noAutofit/>
          </a:bodyPr>
          <a:lstStyle/>
          <a:p>
            <a:pPr algn="l"/>
            <a:r>
              <a:rPr lang="en-US" sz="1200" dirty="0">
                <a:solidFill>
                  <a:srgbClr val="006A62"/>
                </a:solidFill>
                <a:latin typeface="Google Sans Flex SemiBold"/>
                <a:ea typeface="Google Sans Flex SemiBold"/>
                <a:cs typeface="Google Sans Flex SemiBold"/>
              </a:rPr>
              <a:t>With GO</a:t>
            </a:r>
          </a:p>
        </p:txBody>
      </p:sp>
      <p:sp>
        <p:nvSpPr>
          <p:cNvPr id="25" name="Card 3 outcome"/>
          <p:cNvSpPr txBox="1"/>
          <p:nvPr/>
        </p:nvSpPr>
        <p:spPr>
          <a:xfrm>
            <a:off x="6379464" y="3788664"/>
            <a:ext cx="2048256" cy="566928"/>
          </a:xfrm>
          <a:prstGeom prst="rect">
            <a:avLst/>
          </a:prstGeom>
          <a:noFill/>
        </p:spPr>
        <p:txBody>
          <a:bodyPr wrap="square" lIns="0" tIns="0" rIns="0" bIns="0" anchor="t">
            <a:noAutofit/>
          </a:bodyPr>
          <a:lstStyle/>
          <a:p>
            <a:pPr algn="l"/>
            <a:r>
              <a:rPr lang="en-US" sz="1800" dirty="0">
                <a:solidFill>
                  <a:srgbClr val="00B050"/>
                </a:solidFill>
                <a:latin typeface="Google Sans Flex SemiBold"/>
                <a:ea typeface="Google Sans Flex SemiBold"/>
                <a:cs typeface="Google Sans Flex SemiBold"/>
              </a:rPr>
              <a:t>Hire before the peak</a:t>
            </a:r>
          </a:p>
        </p:txBody>
      </p:sp>
      <p:sp>
        <p:nvSpPr>
          <p:cNvPr id="26" name="Card 3 detail"/>
          <p:cNvSpPr txBox="1"/>
          <p:nvPr/>
        </p:nvSpPr>
        <p:spPr>
          <a:xfrm>
            <a:off x="6379464" y="4465320"/>
            <a:ext cx="2048256" cy="822960"/>
          </a:xfrm>
          <a:prstGeom prst="rect">
            <a:avLst/>
          </a:prstGeom>
          <a:noFill/>
        </p:spPr>
        <p:txBody>
          <a:bodyPr wrap="square" lIns="0" tIns="0" rIns="0" bIns="0" anchor="t">
            <a:noAutofit/>
          </a:bodyPr>
          <a:lstStyle/>
          <a:p>
            <a:pPr algn="l"/>
            <a:r>
              <a:rPr lang="en-US" sz="1200" dirty="0">
                <a:solidFill>
                  <a:srgbClr val="000000"/>
                </a:solidFill>
                <a:latin typeface="Google Sans Flex"/>
                <a:ea typeface="Google Sans Flex"/>
                <a:cs typeface="Google Sans Flex"/>
              </a:rPr>
              <a:t>the forecast turns weeks into vehicles, reefers and drivers</a:t>
            </a:r>
          </a:p>
        </p:txBody>
      </p:sp>
      <p:sp>
        <p:nvSpPr>
          <p:cNvPr id="27" name="Card 4"/>
          <p:cNvSpPr/>
          <p:nvPr/>
        </p:nvSpPr>
        <p:spPr>
          <a:xfrm>
            <a:off x="8860536" y="2364422"/>
            <a:ext cx="2377440" cy="2859849"/>
          </a:xfrm>
          <a:prstGeom prst="roundRect">
            <a:avLst>
              <a:gd name="adj" fmla="val 769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Card 4 today label"/>
          <p:cNvSpPr txBox="1"/>
          <p:nvPr/>
        </p:nvSpPr>
        <p:spPr>
          <a:xfrm>
            <a:off x="9025128" y="2618232"/>
            <a:ext cx="2048256" cy="201168"/>
          </a:xfrm>
          <a:prstGeom prst="rect">
            <a:avLst/>
          </a:prstGeom>
          <a:noFill/>
        </p:spPr>
        <p:txBody>
          <a:bodyPr wrap="square" lIns="0" tIns="0" rIns="0" bIns="0" anchor="t">
            <a:noAutofit/>
          </a:bodyPr>
          <a:lstStyle/>
          <a:p>
            <a:pPr algn="l"/>
            <a:r>
              <a:rPr lang="en-US" sz="1200" dirty="0">
                <a:solidFill>
                  <a:srgbClr val="595959"/>
                </a:solidFill>
                <a:latin typeface="Google Sans Flex"/>
                <a:ea typeface="Google Sans Flex"/>
                <a:cs typeface="Google Sans Flex"/>
              </a:rPr>
              <a:t>Today</a:t>
            </a:r>
          </a:p>
        </p:txBody>
      </p:sp>
      <p:sp>
        <p:nvSpPr>
          <p:cNvPr id="29" name="Card 4 today"/>
          <p:cNvSpPr txBox="1"/>
          <p:nvPr/>
        </p:nvSpPr>
        <p:spPr>
          <a:xfrm>
            <a:off x="9025128" y="2837688"/>
            <a:ext cx="2048256" cy="457200"/>
          </a:xfrm>
          <a:prstGeom prst="rect">
            <a:avLst/>
          </a:prstGeom>
          <a:noFill/>
        </p:spPr>
        <p:txBody>
          <a:bodyPr wrap="square" lIns="0" tIns="0" rIns="0" bIns="0" anchor="t">
            <a:noAutofit/>
          </a:bodyPr>
          <a:lstStyle/>
          <a:p>
            <a:pPr algn="l"/>
            <a:r>
              <a:rPr lang="en-US" sz="1400" dirty="0">
                <a:solidFill>
                  <a:srgbClr val="000000"/>
                </a:solidFill>
                <a:latin typeface="Google Sans Flex Light"/>
                <a:ea typeface="Google Sans Flex Light"/>
                <a:cs typeface="Google Sans Flex Light"/>
              </a:rPr>
              <a:t>Disputes rest on memory</a:t>
            </a:r>
          </a:p>
        </p:txBody>
      </p:sp>
      <p:cxnSp>
        <p:nvCxnSpPr>
          <p:cNvPr id="30" name="Card 4 divider"/>
          <p:cNvCxnSpPr/>
          <p:nvPr/>
        </p:nvCxnSpPr>
        <p:spPr>
          <a:xfrm>
            <a:off x="8959291" y="3413760"/>
            <a:ext cx="2179930"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1" name="Card 4 GO label"/>
          <p:cNvSpPr txBox="1"/>
          <p:nvPr/>
        </p:nvSpPr>
        <p:spPr>
          <a:xfrm>
            <a:off x="9025128" y="3550920"/>
            <a:ext cx="2048256" cy="201168"/>
          </a:xfrm>
          <a:prstGeom prst="rect">
            <a:avLst/>
          </a:prstGeom>
          <a:noFill/>
        </p:spPr>
        <p:txBody>
          <a:bodyPr wrap="square" lIns="0" tIns="0" rIns="0" bIns="0" anchor="t">
            <a:noAutofit/>
          </a:bodyPr>
          <a:lstStyle/>
          <a:p>
            <a:pPr algn="l"/>
            <a:r>
              <a:rPr lang="en-US" sz="1200" dirty="0">
                <a:solidFill>
                  <a:srgbClr val="006A62"/>
                </a:solidFill>
                <a:latin typeface="Google Sans Flex SemiBold"/>
                <a:ea typeface="Google Sans Flex SemiBold"/>
                <a:cs typeface="Google Sans Flex SemiBold"/>
              </a:rPr>
              <a:t>With GO</a:t>
            </a:r>
          </a:p>
        </p:txBody>
      </p:sp>
      <p:sp>
        <p:nvSpPr>
          <p:cNvPr id="32" name="Card 4 outcome"/>
          <p:cNvSpPr txBox="1"/>
          <p:nvPr/>
        </p:nvSpPr>
        <p:spPr>
          <a:xfrm>
            <a:off x="9025128" y="3788664"/>
            <a:ext cx="2048256" cy="566928"/>
          </a:xfrm>
          <a:prstGeom prst="rect">
            <a:avLst/>
          </a:prstGeom>
          <a:noFill/>
        </p:spPr>
        <p:txBody>
          <a:bodyPr wrap="square" lIns="0" tIns="0" rIns="0" bIns="0" anchor="t">
            <a:noAutofit/>
          </a:bodyPr>
          <a:lstStyle/>
          <a:p>
            <a:pPr algn="l"/>
            <a:r>
              <a:rPr lang="en-US" sz="1800" dirty="0">
                <a:solidFill>
                  <a:srgbClr val="00B050"/>
                </a:solidFill>
                <a:latin typeface="Google Sans Flex SemiBold"/>
                <a:ea typeface="Google Sans Flex SemiBold"/>
                <a:cs typeface="Google Sans Flex SemiBold"/>
              </a:rPr>
              <a:t>Nothing lost, nothing argued</a:t>
            </a:r>
          </a:p>
        </p:txBody>
      </p:sp>
      <p:sp>
        <p:nvSpPr>
          <p:cNvPr id="33" name="Card 4 detail"/>
          <p:cNvSpPr txBox="1"/>
          <p:nvPr/>
        </p:nvSpPr>
        <p:spPr>
          <a:xfrm>
            <a:off x="9025128" y="4465320"/>
            <a:ext cx="2048256" cy="822960"/>
          </a:xfrm>
          <a:prstGeom prst="rect">
            <a:avLst/>
          </a:prstGeom>
          <a:noFill/>
        </p:spPr>
        <p:txBody>
          <a:bodyPr wrap="square" lIns="0" tIns="0" rIns="0" bIns="0" anchor="t">
            <a:noAutofit/>
          </a:bodyPr>
          <a:lstStyle/>
          <a:p>
            <a:pPr algn="l"/>
            <a:r>
              <a:rPr lang="en-US" sz="1200" dirty="0">
                <a:solidFill>
                  <a:srgbClr val="000000"/>
                </a:solidFill>
                <a:latin typeface="Google Sans Flex"/>
                <a:ea typeface="Google Sans Flex"/>
                <a:cs typeface="Google Sans Flex"/>
              </a:rPr>
              <a:t>every handoff on record, even with no signal</a:t>
            </a:r>
          </a:p>
        </p:txBody>
      </p:sp>
      <p:sp>
        <p:nvSpPr>
          <p:cNvPr id="34" name="Tagline"/>
          <p:cNvSpPr/>
          <p:nvPr/>
        </p:nvSpPr>
        <p:spPr>
          <a:xfrm>
            <a:off x="923544" y="5562600"/>
            <a:ext cx="10314432" cy="566928"/>
          </a:xfrm>
          <a:prstGeom prst="roundRect">
            <a:avLst>
              <a:gd name="adj" fmla="val 50000"/>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agline text"/>
          <p:cNvSpPr txBox="1"/>
          <p:nvPr/>
        </p:nvSpPr>
        <p:spPr>
          <a:xfrm>
            <a:off x="1152144" y="5562600"/>
            <a:ext cx="9857232" cy="566928"/>
          </a:xfrm>
          <a:prstGeom prst="rect">
            <a:avLst/>
          </a:prstGeom>
          <a:noFill/>
        </p:spPr>
        <p:txBody>
          <a:bodyPr wrap="square" lIns="0" tIns="0" rIns="0" bIns="0" anchor="ctr">
            <a:noAutofit/>
          </a:bodyPr>
          <a:lstStyle/>
          <a:p>
            <a:pPr algn="l"/>
            <a:r>
              <a:rPr lang="en-US" sz="1600" dirty="0">
                <a:solidFill>
                  <a:srgbClr val="FFFFFF"/>
                </a:solidFill>
                <a:latin typeface="Google Sans Flex SemiBold"/>
                <a:ea typeface="Google Sans Flex SemiBold"/>
                <a:cs typeface="Google Sans Flex SemiBold"/>
              </a:rPr>
              <a:t>Four people, One app. Every handoff on record.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1B09"/>
        </a:solidFill>
        <a:effectLst/>
      </p:bgPr>
    </p:bg>
    <p:spTree>
      <p:nvGrpSpPr>
        <p:cNvPr id="1" name="">
          <a:extLst>
            <a:ext uri="{FF2B5EF4-FFF2-40B4-BE49-F238E27FC236}">
              <a16:creationId xmlns:a16="http://schemas.microsoft.com/office/drawing/2014/main" id="{CA5A0323-2557-9868-3860-B697AFC8F76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E394387-F0A2-2528-ADC9-4930A52F5B08}"/>
              </a:ext>
            </a:extLst>
          </p:cNvPr>
          <p:cNvSpPr txBox="1">
            <a:spLocks/>
          </p:cNvSpPr>
          <p:nvPr/>
        </p:nvSpPr>
        <p:spPr>
          <a:xfrm>
            <a:off x="2839253" y="2615140"/>
            <a:ext cx="6513495" cy="162772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dirty="0">
                <a:solidFill>
                  <a:schemeClr val="bg1"/>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Any Questions?</a:t>
            </a:r>
            <a:endParaRPr lang="en-US" sz="5400" dirty="0">
              <a:solidFill>
                <a:schemeClr val="bg1"/>
              </a:solidFill>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pic>
        <p:nvPicPr>
          <p:cNvPr id="15" name="Picture 14">
            <a:hlinkClick r:id="rId3" action="ppaction://hlinksldjump"/>
            <a:extLst>
              <a:ext uri="{FF2B5EF4-FFF2-40B4-BE49-F238E27FC236}">
                <a16:creationId xmlns:a16="http://schemas.microsoft.com/office/drawing/2014/main" id="{7F3E7CE3-FB05-F5DF-7541-CFF5BB30D7CB}"/>
              </a:ext>
            </a:extLst>
          </p:cNvPr>
          <p:cNvPicPr>
            <a:picLocks noChangeAspect="1"/>
          </p:cNvPicPr>
          <p:nvPr/>
        </p:nvPicPr>
        <p:blipFill>
          <a:blip r:embed="rId4"/>
          <a:stretch>
            <a:fillRect/>
          </a:stretch>
        </p:blipFill>
        <p:spPr>
          <a:xfrm>
            <a:off x="5405051" y="3974613"/>
            <a:ext cx="1585097" cy="536494"/>
          </a:xfrm>
          <a:prstGeom prst="rect">
            <a:avLst/>
          </a:prstGeom>
        </p:spPr>
      </p:pic>
    </p:spTree>
    <p:extLst>
      <p:ext uri="{BB962C8B-B14F-4D97-AF65-F5344CB8AC3E}">
        <p14:creationId xmlns:p14="http://schemas.microsoft.com/office/powerpoint/2010/main" val="1062230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1B09"/>
        </a:solidFill>
        <a:effectLst/>
      </p:bgPr>
    </p:bg>
    <p:spTree>
      <p:nvGrpSpPr>
        <p:cNvPr id="1" name="">
          <a:extLst>
            <a:ext uri="{FF2B5EF4-FFF2-40B4-BE49-F238E27FC236}">
              <a16:creationId xmlns:a16="http://schemas.microsoft.com/office/drawing/2014/main" id="{216CE4A1-045C-E3C1-AB49-C501202C3FC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ED058D6-964C-B104-97CC-E19A8A817F23}"/>
              </a:ext>
            </a:extLst>
          </p:cNvPr>
          <p:cNvSpPr txBox="1">
            <a:spLocks/>
          </p:cNvSpPr>
          <p:nvPr/>
        </p:nvSpPr>
        <p:spPr>
          <a:xfrm>
            <a:off x="2839253" y="2615140"/>
            <a:ext cx="6513495" cy="162772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dirty="0">
                <a:solidFill>
                  <a:schemeClr val="bg1"/>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Thank you!</a:t>
            </a:r>
            <a:endParaRPr lang="en-US" sz="5400" dirty="0">
              <a:solidFill>
                <a:schemeClr val="bg1"/>
              </a:solidFill>
              <a:latin typeface="Google Sans Flex Light" panose="020B0503030502040204" pitchFamily="34" charset="0"/>
              <a:ea typeface="Google Sans Flex Light" panose="020B0503030502040204" pitchFamily="34" charset="0"/>
              <a:cs typeface="Google Sans Flex Light" panose="020B0503030502040204" pitchFamily="34" charset="0"/>
            </a:endParaRPr>
          </a:p>
        </p:txBody>
      </p:sp>
      <p:sp>
        <p:nvSpPr>
          <p:cNvPr id="16" name="Rectangle: Rounded Corners 15">
            <a:extLst>
              <a:ext uri="{FF2B5EF4-FFF2-40B4-BE49-F238E27FC236}">
                <a16:creationId xmlns:a16="http://schemas.microsoft.com/office/drawing/2014/main" id="{05CC0A96-9FE2-48A3-50B6-65B34205D0D0}"/>
              </a:ext>
            </a:extLst>
          </p:cNvPr>
          <p:cNvSpPr/>
          <p:nvPr/>
        </p:nvSpPr>
        <p:spPr>
          <a:xfrm>
            <a:off x="9352748" y="5753100"/>
            <a:ext cx="2020888" cy="457534"/>
          </a:xfrm>
          <a:prstGeom prst="roundRect">
            <a:avLst>
              <a:gd name="adj" fmla="val 50000"/>
            </a:avLst>
          </a:prstGeom>
          <a:noFill/>
          <a:ln>
            <a:gradFill>
              <a:gsLst>
                <a:gs pos="0">
                  <a:schemeClr val="accent1">
                    <a:lumMod val="5000"/>
                    <a:lumOff val="95000"/>
                  </a:schemeClr>
                </a:gs>
                <a:gs pos="35000">
                  <a:srgbClr val="001B09"/>
                </a:gs>
                <a:gs pos="72000">
                  <a:srgbClr val="001B09"/>
                </a:gs>
                <a:gs pos="100000">
                  <a:schemeClr val="bg1"/>
                </a:gs>
              </a:gsLst>
              <a:lin ang="2700000" scaled="0"/>
            </a:gradFill>
          </a:ln>
          <a:effectLst>
            <a:outerShdw blurRad="1270000" dist="177800" dir="4800000" sx="102000" sy="1020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4D028611-9257-73E5-17DE-304285BCBE9F}"/>
              </a:ext>
            </a:extLst>
          </p:cNvPr>
          <p:cNvSpPr txBox="1">
            <a:spLocks/>
          </p:cNvSpPr>
          <p:nvPr/>
        </p:nvSpPr>
        <p:spPr>
          <a:xfrm>
            <a:off x="10121892" y="5824010"/>
            <a:ext cx="1136650" cy="386624"/>
          </a:xfrm>
          <a:prstGeom prst="rect">
            <a:avLst/>
          </a:prstGeom>
        </p:spPr>
        <p:txBody>
          <a:bodyPr vert="horz" lIns="91440" tIns="45720" rIns="91440" bIns="45720" rtlCol="0" anchor="ctr">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000" dirty="0">
                <a:solidFill>
                  <a:schemeClr val="bg1"/>
                </a:solidFill>
                <a:latin typeface="Google Sans Flex ExtraBold" panose="020B0503030502040204" pitchFamily="34" charset="0"/>
                <a:ea typeface="Google Sans Flex ExtraBold" panose="020B0503030502040204" pitchFamily="34" charset="0"/>
                <a:cs typeface="Google Sans Flex ExtraBold" panose="020B0503030502040204" pitchFamily="34" charset="0"/>
              </a:rPr>
              <a:t>Xception</a:t>
            </a:r>
            <a:endParaRPr lang="en-US" sz="2000" dirty="0">
              <a:solidFill>
                <a:schemeClr val="bg1"/>
              </a:solidFill>
              <a:latin typeface="Google Sans Flex ExtraBold" panose="020B0503030502040204" pitchFamily="34" charset="0"/>
              <a:ea typeface="Google Sans Flex ExtraBold" panose="020B0503030502040204" pitchFamily="34" charset="0"/>
              <a:cs typeface="Google Sans Flex ExtraBold" panose="020B0503030502040204" pitchFamily="34" charset="0"/>
            </a:endParaRPr>
          </a:p>
        </p:txBody>
      </p:sp>
      <p:sp>
        <p:nvSpPr>
          <p:cNvPr id="14" name="Title 1">
            <a:extLst>
              <a:ext uri="{FF2B5EF4-FFF2-40B4-BE49-F238E27FC236}">
                <a16:creationId xmlns:a16="http://schemas.microsoft.com/office/drawing/2014/main" id="{322135DE-D686-4437-E5A8-E975CE00FC10}"/>
              </a:ext>
            </a:extLst>
          </p:cNvPr>
          <p:cNvSpPr txBox="1">
            <a:spLocks/>
          </p:cNvSpPr>
          <p:nvPr/>
        </p:nvSpPr>
        <p:spPr>
          <a:xfrm>
            <a:off x="9532663" y="5811736"/>
            <a:ext cx="1071914" cy="38662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200" dirty="0">
                <a:solidFill>
                  <a:schemeClr val="bg1"/>
                </a:solidFill>
                <a:latin typeface="Google Sans Flex" panose="020B0503030502040204" pitchFamily="34" charset="0"/>
                <a:ea typeface="Google Sans Flex" panose="020B0503030502040204" pitchFamily="34" charset="0"/>
                <a:cs typeface="Google Sans Flex" panose="020B0503030502040204" pitchFamily="34" charset="0"/>
              </a:rPr>
              <a:t>Team  |</a:t>
            </a:r>
            <a:endParaRPr lang="en-US" sz="1200" dirty="0">
              <a:solidFill>
                <a:schemeClr val="bg1"/>
              </a:solidFill>
              <a:latin typeface="Google Sans Flex" panose="020B0503030502040204" pitchFamily="34" charset="0"/>
              <a:ea typeface="Google Sans Flex" panose="020B0503030502040204" pitchFamily="34" charset="0"/>
              <a:cs typeface="Google Sans Flex" panose="020B0503030502040204" pitchFamily="34" charset="0"/>
            </a:endParaRPr>
          </a:p>
        </p:txBody>
      </p:sp>
    </p:spTree>
    <p:extLst>
      <p:ext uri="{BB962C8B-B14F-4D97-AF65-F5344CB8AC3E}">
        <p14:creationId xmlns:p14="http://schemas.microsoft.com/office/powerpoint/2010/main" val="36128956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1060704" y="786384"/>
            <a:ext cx="10314432" cy="523220"/>
          </a:xfrm>
          <a:prstGeom prst="rect">
            <a:avLst/>
          </a:prstGeom>
          <a:noFill/>
        </p:spPr>
        <p:txBody>
          <a:bodyPr wrap="square" lIns="0" tIns="0" rIns="0" bIns="0" anchor="t">
            <a:spAutoFit/>
          </a:bodyPr>
          <a:lstStyle/>
          <a:p>
            <a:pPr algn="l"/>
            <a:r>
              <a:rPr lang="en-GB" sz="3400" dirty="0">
                <a:solidFill>
                  <a:srgbClr val="00B050"/>
                </a:solidFill>
                <a:latin typeface="Google Sans Flex SemiBold"/>
                <a:ea typeface="Google Sans Flex SemiBold"/>
                <a:cs typeface="Google Sans Flex SemiBold"/>
              </a:rPr>
              <a:t>Appendix</a:t>
            </a:r>
            <a:endParaRPr sz="3400" dirty="0">
              <a:solidFill>
                <a:srgbClr val="000000"/>
              </a:solidFill>
              <a:latin typeface="Google Sans Flex Light"/>
              <a:ea typeface="Google Sans Flex Light"/>
              <a:cs typeface="Google Sans Flex Light"/>
            </a:endParaRPr>
          </a:p>
        </p:txBody>
      </p:sp>
      <p:sp>
        <p:nvSpPr>
          <p:cNvPr id="3" name="TextBox 2"/>
          <p:cNvSpPr txBox="1"/>
          <p:nvPr/>
        </p:nvSpPr>
        <p:spPr>
          <a:xfrm>
            <a:off x="1060704" y="1371600"/>
            <a:ext cx="10314432" cy="292608"/>
          </a:xfrm>
          <a:prstGeom prst="rect">
            <a:avLst/>
          </a:prstGeom>
          <a:noFill/>
        </p:spPr>
        <p:txBody>
          <a:bodyPr wrap="square" lIns="0" tIns="0" rIns="0" bIns="0" anchor="t">
            <a:spAutoFit/>
          </a:bodyPr>
          <a:lstStyle/>
          <a:p>
            <a:pPr algn="l"/>
            <a:r>
              <a:rPr sz="1400">
                <a:solidFill>
                  <a:srgbClr val="595959"/>
                </a:solidFill>
                <a:latin typeface="Google Sans Flex"/>
                <a:ea typeface="Google Sans Flex"/>
                <a:cs typeface="Google Sans Flex"/>
              </a:rPr>
              <a:t>Click a topic to jump to it · every backup slide has an Index button to come back</a:t>
            </a:r>
          </a:p>
        </p:txBody>
      </p:sp>
      <p:sp>
        <p:nvSpPr>
          <p:cNvPr id="7" name="Rounded Rectangle 6">
            <a:hlinkClick r:id="rId3" action="ppaction://hlinksldjump"/>
          </p:cNvPr>
          <p:cNvSpPr/>
          <p:nvPr/>
        </p:nvSpPr>
        <p:spPr>
          <a:xfrm>
            <a:off x="923544" y="1938528"/>
            <a:ext cx="5020056"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a:hlinkClick r:id="rId3" action="ppaction://hlinksldjump"/>
          </p:cNvPr>
          <p:cNvSpPr/>
          <p:nvPr/>
        </p:nvSpPr>
        <p:spPr>
          <a:xfrm>
            <a:off x="1014984" y="2011680"/>
            <a:ext cx="54864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hlinkClick r:id="rId3" action="ppaction://hlinksldjump"/>
          </p:cNvPr>
          <p:cNvSpPr txBox="1"/>
          <p:nvPr/>
        </p:nvSpPr>
        <p:spPr>
          <a:xfrm>
            <a:off x="1014984" y="2011680"/>
            <a:ext cx="54864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12</a:t>
            </a:r>
          </a:p>
        </p:txBody>
      </p:sp>
      <p:sp>
        <p:nvSpPr>
          <p:cNvPr id="10" name="TextBox 9">
            <a:hlinkClick r:id="rId3" action="ppaction://hlinksldjump"/>
          </p:cNvPr>
          <p:cNvSpPr txBox="1"/>
          <p:nvPr/>
        </p:nvSpPr>
        <p:spPr>
          <a:xfrm>
            <a:off x="1728216" y="1938528"/>
            <a:ext cx="4023360" cy="457200"/>
          </a:xfrm>
          <a:prstGeom prst="rect">
            <a:avLst/>
          </a:prstGeom>
          <a:noFill/>
        </p:spPr>
        <p:txBody>
          <a:bodyPr wrap="square" lIns="0" tIns="0" rIns="0" bIns="0" anchor="ctr">
            <a:spAutoFit/>
          </a:bodyPr>
          <a:lstStyle/>
          <a:p>
            <a:pPr algn="l"/>
            <a:r>
              <a:rPr sz="1400">
                <a:solidFill>
                  <a:srgbClr val="000000"/>
                </a:solidFill>
                <a:latin typeface="Google Sans Flex"/>
                <a:ea typeface="Google Sans Flex"/>
                <a:cs typeface="Google Sans Flex"/>
              </a:rPr>
              <a:t>How GO is built</a:t>
            </a:r>
          </a:p>
        </p:txBody>
      </p:sp>
      <p:sp>
        <p:nvSpPr>
          <p:cNvPr id="11" name="Rounded Rectangle 10">
            <a:hlinkClick r:id="rId4" action="ppaction://hlinksldjump"/>
          </p:cNvPr>
          <p:cNvSpPr/>
          <p:nvPr/>
        </p:nvSpPr>
        <p:spPr>
          <a:xfrm>
            <a:off x="923544" y="2505456"/>
            <a:ext cx="5020056"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a:hlinkClick r:id="rId4" action="ppaction://hlinksldjump"/>
          </p:cNvPr>
          <p:cNvSpPr/>
          <p:nvPr/>
        </p:nvSpPr>
        <p:spPr>
          <a:xfrm>
            <a:off x="1014984" y="2578608"/>
            <a:ext cx="54864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hlinkClick r:id="rId4" action="ppaction://hlinksldjump"/>
          </p:cNvPr>
          <p:cNvSpPr txBox="1"/>
          <p:nvPr/>
        </p:nvSpPr>
        <p:spPr>
          <a:xfrm>
            <a:off x="1014984" y="2578608"/>
            <a:ext cx="54864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13</a:t>
            </a:r>
          </a:p>
        </p:txBody>
      </p:sp>
      <p:sp>
        <p:nvSpPr>
          <p:cNvPr id="14" name="TextBox 13">
            <a:hlinkClick r:id="rId4" action="ppaction://hlinksldjump"/>
          </p:cNvPr>
          <p:cNvSpPr txBox="1"/>
          <p:nvPr/>
        </p:nvSpPr>
        <p:spPr>
          <a:xfrm>
            <a:off x="1728216" y="2505456"/>
            <a:ext cx="4023360" cy="457200"/>
          </a:xfrm>
          <a:prstGeom prst="rect">
            <a:avLst/>
          </a:prstGeom>
          <a:noFill/>
        </p:spPr>
        <p:txBody>
          <a:bodyPr wrap="square" lIns="0" tIns="0" rIns="0" bIns="0" anchor="ctr">
            <a:spAutoFit/>
          </a:bodyPr>
          <a:lstStyle/>
          <a:p>
            <a:pPr algn="l"/>
            <a:r>
              <a:rPr sz="1400">
                <a:solidFill>
                  <a:srgbClr val="000000"/>
                </a:solidFill>
                <a:latin typeface="Google Sans Flex"/>
                <a:ea typeface="Google Sans Flex"/>
                <a:cs typeface="Google Sans Flex"/>
              </a:rPr>
              <a:t>The planning engine</a:t>
            </a:r>
          </a:p>
        </p:txBody>
      </p:sp>
      <p:sp>
        <p:nvSpPr>
          <p:cNvPr id="15" name="Rounded Rectangle 14">
            <a:hlinkClick r:id="rId5" action="ppaction://hlinksldjump"/>
          </p:cNvPr>
          <p:cNvSpPr/>
          <p:nvPr/>
        </p:nvSpPr>
        <p:spPr>
          <a:xfrm>
            <a:off x="923544" y="3072384"/>
            <a:ext cx="5020056"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a:hlinkClick r:id="rId5" action="ppaction://hlinksldjump"/>
          </p:cNvPr>
          <p:cNvSpPr/>
          <p:nvPr/>
        </p:nvSpPr>
        <p:spPr>
          <a:xfrm>
            <a:off x="1014984" y="3145536"/>
            <a:ext cx="54864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a:hlinkClick r:id="rId5" action="ppaction://hlinksldjump"/>
          </p:cNvPr>
          <p:cNvSpPr txBox="1"/>
          <p:nvPr/>
        </p:nvSpPr>
        <p:spPr>
          <a:xfrm>
            <a:off x="1014984" y="3145536"/>
            <a:ext cx="54864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14</a:t>
            </a:r>
          </a:p>
        </p:txBody>
      </p:sp>
      <p:sp>
        <p:nvSpPr>
          <p:cNvPr id="18" name="TextBox 17">
            <a:hlinkClick r:id="rId5" action="ppaction://hlinksldjump"/>
          </p:cNvPr>
          <p:cNvSpPr txBox="1"/>
          <p:nvPr/>
        </p:nvSpPr>
        <p:spPr>
          <a:xfrm>
            <a:off x="1728216" y="3072384"/>
            <a:ext cx="4023360" cy="457200"/>
          </a:xfrm>
          <a:prstGeom prst="rect">
            <a:avLst/>
          </a:prstGeom>
          <a:noFill/>
        </p:spPr>
        <p:txBody>
          <a:bodyPr wrap="square" lIns="0" tIns="0" rIns="0" bIns="0" anchor="ctr">
            <a:spAutoFit/>
          </a:bodyPr>
          <a:lstStyle/>
          <a:p>
            <a:pPr algn="l"/>
            <a:r>
              <a:rPr sz="1400">
                <a:solidFill>
                  <a:srgbClr val="000000"/>
                </a:solidFill>
                <a:latin typeface="Google Sans Flex"/>
                <a:ea typeface="Google Sans Flex"/>
                <a:cs typeface="Google Sans Flex"/>
              </a:rPr>
              <a:t>Task 1 · Late risk and unloading time</a:t>
            </a:r>
          </a:p>
        </p:txBody>
      </p:sp>
      <p:sp>
        <p:nvSpPr>
          <p:cNvPr id="19" name="Rounded Rectangle 18">
            <a:hlinkClick r:id="rId6" action="ppaction://hlinksldjump"/>
          </p:cNvPr>
          <p:cNvSpPr/>
          <p:nvPr/>
        </p:nvSpPr>
        <p:spPr>
          <a:xfrm>
            <a:off x="923544" y="3639312"/>
            <a:ext cx="5020056"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a:hlinkClick r:id="rId6" action="ppaction://hlinksldjump"/>
          </p:cNvPr>
          <p:cNvSpPr/>
          <p:nvPr/>
        </p:nvSpPr>
        <p:spPr>
          <a:xfrm>
            <a:off x="1014984" y="3712463"/>
            <a:ext cx="54864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hlinkClick r:id="rId6" action="ppaction://hlinksldjump"/>
          </p:cNvPr>
          <p:cNvSpPr txBox="1"/>
          <p:nvPr/>
        </p:nvSpPr>
        <p:spPr>
          <a:xfrm>
            <a:off x="1014984" y="3712463"/>
            <a:ext cx="54864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15</a:t>
            </a:r>
          </a:p>
        </p:txBody>
      </p:sp>
      <p:sp>
        <p:nvSpPr>
          <p:cNvPr id="22" name="TextBox 21">
            <a:hlinkClick r:id="rId6" action="ppaction://hlinksldjump"/>
          </p:cNvPr>
          <p:cNvSpPr txBox="1"/>
          <p:nvPr/>
        </p:nvSpPr>
        <p:spPr>
          <a:xfrm>
            <a:off x="1728216" y="3639312"/>
            <a:ext cx="4023360" cy="457200"/>
          </a:xfrm>
          <a:prstGeom prst="rect">
            <a:avLst/>
          </a:prstGeom>
          <a:noFill/>
        </p:spPr>
        <p:txBody>
          <a:bodyPr wrap="square" lIns="0" tIns="0" rIns="0" bIns="0" anchor="ctr">
            <a:spAutoFit/>
          </a:bodyPr>
          <a:lstStyle/>
          <a:p>
            <a:pPr algn="l"/>
            <a:r>
              <a:rPr sz="1400">
                <a:solidFill>
                  <a:srgbClr val="000000"/>
                </a:solidFill>
                <a:latin typeface="Google Sans Flex"/>
                <a:ea typeface="Google Sans Flex"/>
                <a:cs typeface="Google Sans Flex"/>
              </a:rPr>
              <a:t>Task 2A · Demand forecast</a:t>
            </a:r>
          </a:p>
        </p:txBody>
      </p:sp>
      <p:sp>
        <p:nvSpPr>
          <p:cNvPr id="23" name="Rounded Rectangle 22">
            <a:hlinkClick r:id="rId7" action="ppaction://hlinksldjump"/>
          </p:cNvPr>
          <p:cNvSpPr/>
          <p:nvPr/>
        </p:nvSpPr>
        <p:spPr>
          <a:xfrm>
            <a:off x="923544" y="4206240"/>
            <a:ext cx="5020056"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a:hlinkClick r:id="rId7" action="ppaction://hlinksldjump"/>
          </p:cNvPr>
          <p:cNvSpPr/>
          <p:nvPr/>
        </p:nvSpPr>
        <p:spPr>
          <a:xfrm>
            <a:off x="1014984" y="4279392"/>
            <a:ext cx="54864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a:hlinkClick r:id="rId7" action="ppaction://hlinksldjump"/>
          </p:cNvPr>
          <p:cNvSpPr txBox="1"/>
          <p:nvPr/>
        </p:nvSpPr>
        <p:spPr>
          <a:xfrm>
            <a:off x="1014984" y="4279392"/>
            <a:ext cx="54864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16</a:t>
            </a:r>
          </a:p>
        </p:txBody>
      </p:sp>
      <p:sp>
        <p:nvSpPr>
          <p:cNvPr id="26" name="TextBox 25">
            <a:hlinkClick r:id="rId7" action="ppaction://hlinksldjump"/>
          </p:cNvPr>
          <p:cNvSpPr txBox="1"/>
          <p:nvPr/>
        </p:nvSpPr>
        <p:spPr>
          <a:xfrm>
            <a:off x="1728216" y="4206240"/>
            <a:ext cx="4023360" cy="457200"/>
          </a:xfrm>
          <a:prstGeom prst="rect">
            <a:avLst/>
          </a:prstGeom>
          <a:noFill/>
        </p:spPr>
        <p:txBody>
          <a:bodyPr wrap="square" lIns="0" tIns="0" rIns="0" bIns="0" anchor="ctr">
            <a:spAutoFit/>
          </a:bodyPr>
          <a:lstStyle/>
          <a:p>
            <a:pPr algn="l"/>
            <a:r>
              <a:rPr sz="1400">
                <a:solidFill>
                  <a:srgbClr val="000000"/>
                </a:solidFill>
                <a:latin typeface="Google Sans Flex"/>
                <a:ea typeface="Google Sans Flex"/>
                <a:cs typeface="Google Sans Flex"/>
              </a:rPr>
              <a:t>Task 2B · The peak-day plan</a:t>
            </a:r>
          </a:p>
        </p:txBody>
      </p:sp>
      <p:sp>
        <p:nvSpPr>
          <p:cNvPr id="27" name="Rounded Rectangle 26">
            <a:hlinkClick r:id="rId8" action="ppaction://hlinksldjump"/>
          </p:cNvPr>
          <p:cNvSpPr/>
          <p:nvPr/>
        </p:nvSpPr>
        <p:spPr>
          <a:xfrm>
            <a:off x="923544" y="4773168"/>
            <a:ext cx="5020056"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a:hlinkClick r:id="rId8" action="ppaction://hlinksldjump"/>
          </p:cNvPr>
          <p:cNvSpPr/>
          <p:nvPr/>
        </p:nvSpPr>
        <p:spPr>
          <a:xfrm>
            <a:off x="1014984" y="4846320"/>
            <a:ext cx="54864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a:hlinkClick r:id="rId8" action="ppaction://hlinksldjump"/>
          </p:cNvPr>
          <p:cNvSpPr txBox="1"/>
          <p:nvPr/>
        </p:nvSpPr>
        <p:spPr>
          <a:xfrm>
            <a:off x="1014984" y="4846320"/>
            <a:ext cx="54864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17</a:t>
            </a:r>
          </a:p>
        </p:txBody>
      </p:sp>
      <p:sp>
        <p:nvSpPr>
          <p:cNvPr id="30" name="TextBox 29">
            <a:hlinkClick r:id="rId8" action="ppaction://hlinksldjump"/>
          </p:cNvPr>
          <p:cNvSpPr txBox="1"/>
          <p:nvPr/>
        </p:nvSpPr>
        <p:spPr>
          <a:xfrm>
            <a:off x="1728216" y="4773168"/>
            <a:ext cx="4023360" cy="457200"/>
          </a:xfrm>
          <a:prstGeom prst="rect">
            <a:avLst/>
          </a:prstGeom>
          <a:noFill/>
        </p:spPr>
        <p:txBody>
          <a:bodyPr wrap="square" lIns="0" tIns="0" rIns="0" bIns="0" anchor="ctr">
            <a:spAutoFit/>
          </a:bodyPr>
          <a:lstStyle/>
          <a:p>
            <a:pPr algn="l"/>
            <a:r>
              <a:rPr sz="1400">
                <a:solidFill>
                  <a:srgbClr val="000000"/>
                </a:solidFill>
                <a:latin typeface="Google Sans Flex"/>
                <a:ea typeface="Google Sans Flex"/>
                <a:cs typeface="Google Sans Flex"/>
              </a:rPr>
              <a:t>Trust, safety and privacy</a:t>
            </a:r>
          </a:p>
        </p:txBody>
      </p:sp>
      <p:sp>
        <p:nvSpPr>
          <p:cNvPr id="31" name="Rounded Rectangle 30">
            <a:hlinkClick r:id="rId9" action="ppaction://hlinksldjump"/>
          </p:cNvPr>
          <p:cNvSpPr/>
          <p:nvPr/>
        </p:nvSpPr>
        <p:spPr>
          <a:xfrm>
            <a:off x="923544" y="5340096"/>
            <a:ext cx="5020056"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ounded Rectangle 31">
            <a:hlinkClick r:id="rId9" action="ppaction://hlinksldjump"/>
          </p:cNvPr>
          <p:cNvSpPr/>
          <p:nvPr/>
        </p:nvSpPr>
        <p:spPr>
          <a:xfrm>
            <a:off x="1014984" y="5413248"/>
            <a:ext cx="54864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a:hlinkClick r:id="rId9" action="ppaction://hlinksldjump"/>
          </p:cNvPr>
          <p:cNvSpPr txBox="1"/>
          <p:nvPr/>
        </p:nvSpPr>
        <p:spPr>
          <a:xfrm>
            <a:off x="1014984" y="5413248"/>
            <a:ext cx="54864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18</a:t>
            </a:r>
          </a:p>
        </p:txBody>
      </p:sp>
      <p:sp>
        <p:nvSpPr>
          <p:cNvPr id="34" name="TextBox 33">
            <a:hlinkClick r:id="rId9" action="ppaction://hlinksldjump"/>
          </p:cNvPr>
          <p:cNvSpPr txBox="1"/>
          <p:nvPr/>
        </p:nvSpPr>
        <p:spPr>
          <a:xfrm>
            <a:off x="1728216" y="5340096"/>
            <a:ext cx="4023360" cy="457200"/>
          </a:xfrm>
          <a:prstGeom prst="rect">
            <a:avLst/>
          </a:prstGeom>
          <a:noFill/>
        </p:spPr>
        <p:txBody>
          <a:bodyPr wrap="square" lIns="0" tIns="0" rIns="0" bIns="0" anchor="ctr">
            <a:spAutoFit/>
          </a:bodyPr>
          <a:lstStyle/>
          <a:p>
            <a:pPr algn="l"/>
            <a:r>
              <a:rPr sz="1400">
                <a:solidFill>
                  <a:srgbClr val="000000"/>
                </a:solidFill>
                <a:latin typeface="Google Sans Flex"/>
                <a:ea typeface="Google Sans Flex"/>
                <a:cs typeface="Google Sans Flex"/>
              </a:rPr>
              <a:t>Works offline, fails gracefully</a:t>
            </a:r>
          </a:p>
        </p:txBody>
      </p:sp>
      <p:sp>
        <p:nvSpPr>
          <p:cNvPr id="35" name="Rounded Rectangle 34">
            <a:hlinkClick r:id="rId10" action="ppaction://hlinksldjump"/>
          </p:cNvPr>
          <p:cNvSpPr/>
          <p:nvPr/>
        </p:nvSpPr>
        <p:spPr>
          <a:xfrm>
            <a:off x="6217920" y="1938528"/>
            <a:ext cx="5020056"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ounded Rectangle 35">
            <a:hlinkClick r:id="rId10" action="ppaction://hlinksldjump"/>
          </p:cNvPr>
          <p:cNvSpPr/>
          <p:nvPr/>
        </p:nvSpPr>
        <p:spPr>
          <a:xfrm>
            <a:off x="6309359" y="2011680"/>
            <a:ext cx="54864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a:hlinkClick r:id="rId10" action="ppaction://hlinksldjump"/>
          </p:cNvPr>
          <p:cNvSpPr txBox="1"/>
          <p:nvPr/>
        </p:nvSpPr>
        <p:spPr>
          <a:xfrm>
            <a:off x="6309359" y="2011680"/>
            <a:ext cx="54864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19</a:t>
            </a:r>
          </a:p>
        </p:txBody>
      </p:sp>
      <p:sp>
        <p:nvSpPr>
          <p:cNvPr id="38" name="TextBox 37">
            <a:hlinkClick r:id="rId10" action="ppaction://hlinksldjump"/>
          </p:cNvPr>
          <p:cNvSpPr txBox="1"/>
          <p:nvPr/>
        </p:nvSpPr>
        <p:spPr>
          <a:xfrm>
            <a:off x="7022592" y="1938528"/>
            <a:ext cx="4023360" cy="457200"/>
          </a:xfrm>
          <a:prstGeom prst="rect">
            <a:avLst/>
          </a:prstGeom>
          <a:noFill/>
        </p:spPr>
        <p:txBody>
          <a:bodyPr wrap="square" lIns="0" tIns="0" rIns="0" bIns="0" anchor="ctr">
            <a:spAutoFit/>
          </a:bodyPr>
          <a:lstStyle/>
          <a:p>
            <a:pPr algn="l"/>
            <a:r>
              <a:rPr sz="1400">
                <a:solidFill>
                  <a:srgbClr val="000000"/>
                </a:solidFill>
                <a:latin typeface="Google Sans Flex"/>
                <a:ea typeface="Google Sans Flex"/>
                <a:cs typeface="Google Sans Flex"/>
              </a:rPr>
              <a:t>Business case</a:t>
            </a:r>
          </a:p>
        </p:txBody>
      </p:sp>
      <p:sp>
        <p:nvSpPr>
          <p:cNvPr id="39" name="Rounded Rectangle 38">
            <a:hlinkClick r:id="rId11" action="ppaction://hlinksldjump"/>
          </p:cNvPr>
          <p:cNvSpPr/>
          <p:nvPr/>
        </p:nvSpPr>
        <p:spPr>
          <a:xfrm>
            <a:off x="6217920" y="2505456"/>
            <a:ext cx="5020056"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ounded Rectangle 39">
            <a:hlinkClick r:id="rId11" action="ppaction://hlinksldjump"/>
          </p:cNvPr>
          <p:cNvSpPr/>
          <p:nvPr/>
        </p:nvSpPr>
        <p:spPr>
          <a:xfrm>
            <a:off x="6309359" y="2578608"/>
            <a:ext cx="54864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a:hlinkClick r:id="rId11" action="ppaction://hlinksldjump"/>
          </p:cNvPr>
          <p:cNvSpPr txBox="1"/>
          <p:nvPr/>
        </p:nvSpPr>
        <p:spPr>
          <a:xfrm>
            <a:off x="6309359" y="2578608"/>
            <a:ext cx="54864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20</a:t>
            </a:r>
          </a:p>
        </p:txBody>
      </p:sp>
      <p:sp>
        <p:nvSpPr>
          <p:cNvPr id="42" name="TextBox 41">
            <a:hlinkClick r:id="rId11" action="ppaction://hlinksldjump"/>
          </p:cNvPr>
          <p:cNvSpPr txBox="1"/>
          <p:nvPr/>
        </p:nvSpPr>
        <p:spPr>
          <a:xfrm>
            <a:off x="7022592" y="2505456"/>
            <a:ext cx="4023360" cy="457200"/>
          </a:xfrm>
          <a:prstGeom prst="rect">
            <a:avLst/>
          </a:prstGeom>
          <a:noFill/>
        </p:spPr>
        <p:txBody>
          <a:bodyPr wrap="square" lIns="0" tIns="0" rIns="0" bIns="0" anchor="ctr">
            <a:spAutoFit/>
          </a:bodyPr>
          <a:lstStyle/>
          <a:p>
            <a:pPr algn="l"/>
            <a:r>
              <a:rPr sz="1400">
                <a:solidFill>
                  <a:srgbClr val="000000"/>
                </a:solidFill>
                <a:latin typeface="Google Sans Flex"/>
                <a:ea typeface="Google Sans Flex"/>
                <a:cs typeface="Google Sans Flex"/>
              </a:rPr>
              <a:t>Rollout plan and risks</a:t>
            </a:r>
          </a:p>
        </p:txBody>
      </p:sp>
      <p:sp>
        <p:nvSpPr>
          <p:cNvPr id="43" name="Rounded Rectangle 42">
            <a:hlinkClick r:id="rId12" action="ppaction://hlinksldjump"/>
          </p:cNvPr>
          <p:cNvSpPr/>
          <p:nvPr/>
        </p:nvSpPr>
        <p:spPr>
          <a:xfrm>
            <a:off x="6217920" y="3072384"/>
            <a:ext cx="5020056"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ounded Rectangle 43">
            <a:hlinkClick r:id="rId12" action="ppaction://hlinksldjump"/>
          </p:cNvPr>
          <p:cNvSpPr/>
          <p:nvPr/>
        </p:nvSpPr>
        <p:spPr>
          <a:xfrm>
            <a:off x="6309359" y="3145536"/>
            <a:ext cx="54864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a:hlinkClick r:id="rId12" action="ppaction://hlinksldjump"/>
          </p:cNvPr>
          <p:cNvSpPr txBox="1"/>
          <p:nvPr/>
        </p:nvSpPr>
        <p:spPr>
          <a:xfrm>
            <a:off x="6309359" y="3145536"/>
            <a:ext cx="54864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21</a:t>
            </a:r>
          </a:p>
        </p:txBody>
      </p:sp>
      <p:sp>
        <p:nvSpPr>
          <p:cNvPr id="46" name="TextBox 45">
            <a:hlinkClick r:id="rId12" action="ppaction://hlinksldjump"/>
          </p:cNvPr>
          <p:cNvSpPr txBox="1"/>
          <p:nvPr/>
        </p:nvSpPr>
        <p:spPr>
          <a:xfrm>
            <a:off x="7022592" y="3072384"/>
            <a:ext cx="4023360" cy="457200"/>
          </a:xfrm>
          <a:prstGeom prst="rect">
            <a:avLst/>
          </a:prstGeom>
          <a:noFill/>
        </p:spPr>
        <p:txBody>
          <a:bodyPr wrap="square" lIns="0" tIns="0" rIns="0" bIns="0" anchor="ctr">
            <a:spAutoFit/>
          </a:bodyPr>
          <a:lstStyle/>
          <a:p>
            <a:pPr algn="l"/>
            <a:r>
              <a:rPr sz="1400">
                <a:solidFill>
                  <a:srgbClr val="000000"/>
                </a:solidFill>
                <a:latin typeface="Google Sans Flex"/>
                <a:ea typeface="Google Sans Flex"/>
                <a:cs typeface="Google Sans Flex"/>
              </a:rPr>
              <a:t>Beyond Waypoint: market and revenue</a:t>
            </a:r>
          </a:p>
        </p:txBody>
      </p:sp>
      <p:sp>
        <p:nvSpPr>
          <p:cNvPr id="47" name="Rounded Rectangle 46">
            <a:hlinkClick r:id="rId13" action="ppaction://hlinksldjump"/>
          </p:cNvPr>
          <p:cNvSpPr/>
          <p:nvPr/>
        </p:nvSpPr>
        <p:spPr>
          <a:xfrm>
            <a:off x="6217920" y="3639312"/>
            <a:ext cx="5020056"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ounded Rectangle 47">
            <a:hlinkClick r:id="rId13" action="ppaction://hlinksldjump"/>
          </p:cNvPr>
          <p:cNvSpPr/>
          <p:nvPr/>
        </p:nvSpPr>
        <p:spPr>
          <a:xfrm>
            <a:off x="6309359" y="3712463"/>
            <a:ext cx="54864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a:hlinkClick r:id="rId13" action="ppaction://hlinksldjump"/>
          </p:cNvPr>
          <p:cNvSpPr txBox="1"/>
          <p:nvPr/>
        </p:nvSpPr>
        <p:spPr>
          <a:xfrm>
            <a:off x="6309359" y="3712463"/>
            <a:ext cx="54864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22</a:t>
            </a:r>
          </a:p>
        </p:txBody>
      </p:sp>
      <p:sp>
        <p:nvSpPr>
          <p:cNvPr id="50" name="TextBox 49">
            <a:hlinkClick r:id="rId13" action="ppaction://hlinksldjump"/>
          </p:cNvPr>
          <p:cNvSpPr txBox="1"/>
          <p:nvPr/>
        </p:nvSpPr>
        <p:spPr>
          <a:xfrm>
            <a:off x="7022592" y="3639312"/>
            <a:ext cx="4023360" cy="457200"/>
          </a:xfrm>
          <a:prstGeom prst="rect">
            <a:avLst/>
          </a:prstGeom>
          <a:noFill/>
        </p:spPr>
        <p:txBody>
          <a:bodyPr wrap="square" lIns="0" tIns="0" rIns="0" bIns="0" anchor="ctr">
            <a:spAutoFit/>
          </a:bodyPr>
          <a:lstStyle/>
          <a:p>
            <a:pPr algn="l"/>
            <a:r>
              <a:rPr sz="1400">
                <a:solidFill>
                  <a:srgbClr val="000000"/>
                </a:solidFill>
                <a:latin typeface="Google Sans Flex"/>
                <a:ea typeface="Google Sans Flex"/>
                <a:cs typeface="Google Sans Flex"/>
              </a:rPr>
              <a:t>From design to product, and our honest limits</a:t>
            </a:r>
          </a:p>
        </p:txBody>
      </p:sp>
      <p:sp>
        <p:nvSpPr>
          <p:cNvPr id="51" name="Rounded Rectangle 50">
            <a:hlinkClick r:id="rId14" action="ppaction://hlinksldjump"/>
          </p:cNvPr>
          <p:cNvSpPr/>
          <p:nvPr/>
        </p:nvSpPr>
        <p:spPr>
          <a:xfrm>
            <a:off x="6217920" y="4206240"/>
            <a:ext cx="5020056"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Rounded Rectangle 51">
            <a:hlinkClick r:id="rId14" action="ppaction://hlinksldjump"/>
          </p:cNvPr>
          <p:cNvSpPr/>
          <p:nvPr/>
        </p:nvSpPr>
        <p:spPr>
          <a:xfrm>
            <a:off x="6309359" y="4279392"/>
            <a:ext cx="54864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a:hlinkClick r:id="rId14" action="ppaction://hlinksldjump"/>
          </p:cNvPr>
          <p:cNvSpPr txBox="1"/>
          <p:nvPr/>
        </p:nvSpPr>
        <p:spPr>
          <a:xfrm>
            <a:off x="6309359" y="4279392"/>
            <a:ext cx="54864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23</a:t>
            </a:r>
          </a:p>
        </p:txBody>
      </p:sp>
      <p:sp>
        <p:nvSpPr>
          <p:cNvPr id="54" name="TextBox 53">
            <a:hlinkClick r:id="rId14" action="ppaction://hlinksldjump"/>
          </p:cNvPr>
          <p:cNvSpPr txBox="1"/>
          <p:nvPr/>
        </p:nvSpPr>
        <p:spPr>
          <a:xfrm>
            <a:off x="7022592" y="4206240"/>
            <a:ext cx="4023360" cy="457200"/>
          </a:xfrm>
          <a:prstGeom prst="rect">
            <a:avLst/>
          </a:prstGeom>
          <a:noFill/>
        </p:spPr>
        <p:txBody>
          <a:bodyPr wrap="square" lIns="0" tIns="0" rIns="0" bIns="0" anchor="ctr">
            <a:spAutoFit/>
          </a:bodyPr>
          <a:lstStyle/>
          <a:p>
            <a:pPr algn="l"/>
            <a:r>
              <a:rPr sz="1400">
                <a:solidFill>
                  <a:srgbClr val="000000"/>
                </a:solidFill>
                <a:latin typeface="Google Sans Flex"/>
                <a:ea typeface="Google Sans Flex"/>
                <a:cs typeface="Google Sans Flex"/>
              </a:rPr>
              <a:t>Engineering quality</a:t>
            </a:r>
          </a:p>
        </p:txBody>
      </p:sp>
      <p:sp>
        <p:nvSpPr>
          <p:cNvPr id="55" name="Rounded Rectangle 54">
            <a:hlinkClick r:id="rId15" action="ppaction://hlinksldjump"/>
          </p:cNvPr>
          <p:cNvSpPr/>
          <p:nvPr/>
        </p:nvSpPr>
        <p:spPr>
          <a:xfrm>
            <a:off x="6217920" y="4773168"/>
            <a:ext cx="5020056" cy="457200"/>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Rounded Rectangle 55">
            <a:hlinkClick r:id="rId15" action="ppaction://hlinksldjump"/>
          </p:cNvPr>
          <p:cNvSpPr/>
          <p:nvPr/>
        </p:nvSpPr>
        <p:spPr>
          <a:xfrm>
            <a:off x="6309359" y="4846320"/>
            <a:ext cx="54864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a:hlinkClick r:id="rId15" action="ppaction://hlinksldjump"/>
          </p:cNvPr>
          <p:cNvSpPr txBox="1"/>
          <p:nvPr/>
        </p:nvSpPr>
        <p:spPr>
          <a:xfrm>
            <a:off x="6309359" y="4846320"/>
            <a:ext cx="54864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24</a:t>
            </a:r>
          </a:p>
        </p:txBody>
      </p:sp>
      <p:sp>
        <p:nvSpPr>
          <p:cNvPr id="58" name="TextBox 57">
            <a:hlinkClick r:id="rId15" action="ppaction://hlinksldjump"/>
          </p:cNvPr>
          <p:cNvSpPr txBox="1"/>
          <p:nvPr/>
        </p:nvSpPr>
        <p:spPr>
          <a:xfrm>
            <a:off x="7022592" y="4773168"/>
            <a:ext cx="4023360" cy="457200"/>
          </a:xfrm>
          <a:prstGeom prst="rect">
            <a:avLst/>
          </a:prstGeom>
          <a:noFill/>
        </p:spPr>
        <p:txBody>
          <a:bodyPr wrap="square" lIns="0" tIns="0" rIns="0" bIns="0" anchor="ctr">
            <a:spAutoFit/>
          </a:bodyPr>
          <a:lstStyle/>
          <a:p>
            <a:pPr algn="l"/>
            <a:r>
              <a:rPr sz="1400">
                <a:solidFill>
                  <a:srgbClr val="000000"/>
                </a:solidFill>
                <a:latin typeface="Google Sans Flex"/>
                <a:ea typeface="Google Sans Flex"/>
                <a:cs typeface="Google Sans Flex"/>
              </a:rPr>
              <a:t>Numbers at a glance</a:t>
            </a:r>
          </a:p>
        </p:txBody>
      </p:sp>
      <p:sp>
        <p:nvSpPr>
          <p:cNvPr id="59" name="Rounded Rectangle 58"/>
          <p:cNvSpPr/>
          <p:nvPr/>
        </p:nvSpPr>
        <p:spPr>
          <a:xfrm>
            <a:off x="6217920" y="5340096"/>
            <a:ext cx="5020056" cy="457200"/>
          </a:xfrm>
          <a:prstGeom prst="roundRect">
            <a:avLst>
              <a:gd name="adj" fmla="val 50000"/>
            </a:avLst>
          </a:prstGeom>
          <a:solidFill>
            <a:srgbClr val="006A6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6217920" y="5413248"/>
            <a:ext cx="5020056" cy="310896"/>
          </a:xfrm>
          <a:prstGeom prst="rect">
            <a:avLst/>
          </a:prstGeom>
          <a:noFill/>
        </p:spPr>
        <p:txBody>
          <a:bodyPr wrap="square" lIns="0" tIns="0" rIns="0" bIns="0" anchor="ctr">
            <a:spAutoFit/>
          </a:bodyPr>
          <a:lstStyle/>
          <a:p>
            <a:pPr algn="ctr"/>
            <a:r>
              <a:rPr sz="1200" dirty="0">
                <a:solidFill>
                  <a:srgbClr val="FFFFFF"/>
                </a:solidFill>
                <a:latin typeface="Google Sans Flex"/>
                <a:ea typeface="Google Sans Flex"/>
                <a:cs typeface="Google Sans Flex"/>
              </a:rPr>
              <a:t>Use these slides during Q&amp;A only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923544" y="384048"/>
            <a:ext cx="86868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23544" y="384048"/>
            <a:ext cx="86868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Backup</a:t>
            </a:r>
          </a:p>
        </p:txBody>
      </p:sp>
      <p:sp>
        <p:nvSpPr>
          <p:cNvPr id="4" name="Rounded Rectangle 3">
            <a:hlinkClick r:id="rId3" action="ppaction://hlinksldjump"/>
          </p:cNvPr>
          <p:cNvSpPr/>
          <p:nvPr/>
        </p:nvSpPr>
        <p:spPr>
          <a:xfrm>
            <a:off x="10277856" y="384048"/>
            <a:ext cx="960120" cy="310896"/>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action="ppaction://hlinksldjump"/>
          </p:cNvPr>
          <p:cNvSpPr txBox="1"/>
          <p:nvPr/>
        </p:nvSpPr>
        <p:spPr>
          <a:xfrm>
            <a:off x="10277856" y="384048"/>
            <a:ext cx="96012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  Index</a:t>
            </a:r>
          </a:p>
        </p:txBody>
      </p:sp>
      <p:sp>
        <p:nvSpPr>
          <p:cNvPr id="6" name="Title"/>
          <p:cNvSpPr txBox="1"/>
          <p:nvPr/>
        </p:nvSpPr>
        <p:spPr>
          <a:xfrm>
            <a:off x="923544" y="786384"/>
            <a:ext cx="10314432" cy="603504"/>
          </a:xfrm>
          <a:prstGeom prst="rect">
            <a:avLst/>
          </a:prstGeom>
          <a:noFill/>
        </p:spPr>
        <p:txBody>
          <a:bodyPr wrap="square" lIns="0" tIns="0" rIns="0" bIns="0" anchor="t">
            <a:spAutoFit/>
          </a:bodyPr>
          <a:lstStyle/>
          <a:p>
            <a:pPr algn="l"/>
            <a:r>
              <a:rPr sz="3400">
                <a:solidFill>
                  <a:srgbClr val="00B050"/>
                </a:solidFill>
                <a:latin typeface="Google Sans Flex SemiBold"/>
                <a:ea typeface="Google Sans Flex SemiBold"/>
                <a:cs typeface="Google Sans Flex SemiBold"/>
              </a:rPr>
              <a:t>How GO </a:t>
            </a:r>
            <a:r>
              <a:rPr sz="3400">
                <a:solidFill>
                  <a:srgbClr val="000000"/>
                </a:solidFill>
                <a:latin typeface="Google Sans Flex Light"/>
                <a:ea typeface="Google Sans Flex Light"/>
                <a:cs typeface="Google Sans Flex Light"/>
              </a:rPr>
              <a:t>is built</a:t>
            </a:r>
          </a:p>
        </p:txBody>
      </p:sp>
      <p:sp>
        <p:nvSpPr>
          <p:cNvPr id="7" name="TextBox 6"/>
          <p:cNvSpPr txBox="1"/>
          <p:nvPr/>
        </p:nvSpPr>
        <p:spPr>
          <a:xfrm>
            <a:off x="923544" y="1371600"/>
            <a:ext cx="10314432" cy="292608"/>
          </a:xfrm>
          <a:prstGeom prst="rect">
            <a:avLst/>
          </a:prstGeom>
          <a:noFill/>
        </p:spPr>
        <p:txBody>
          <a:bodyPr wrap="square" lIns="0" tIns="0" rIns="0" bIns="0" anchor="t">
            <a:spAutoFit/>
          </a:bodyPr>
          <a:lstStyle/>
          <a:p>
            <a:pPr algn="l"/>
            <a:r>
              <a:rPr sz="1400">
                <a:solidFill>
                  <a:srgbClr val="595959"/>
                </a:solidFill>
                <a:latin typeface="Google Sans Flex"/>
                <a:ea typeface="Google Sans Flex"/>
                <a:cs typeface="Google Sans Flex"/>
              </a:rPr>
              <a:t>One web app for every role, a modular backend, and the models served beside it</a:t>
            </a:r>
          </a:p>
        </p:txBody>
      </p:sp>
      <p:sp>
        <p:nvSpPr>
          <p:cNvPr id="8" name="TextBox 7"/>
          <p:cNvSpPr txBox="1"/>
          <p:nvPr/>
        </p:nvSpPr>
        <p:spPr>
          <a:xfrm>
            <a:off x="585216" y="6382512"/>
            <a:ext cx="1069848" cy="29260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WayPoint  |</a:t>
            </a:r>
          </a:p>
        </p:txBody>
      </p:sp>
      <p:sp>
        <p:nvSpPr>
          <p:cNvPr id="9" name="TextBox 8"/>
          <p:cNvSpPr txBox="1"/>
          <p:nvPr/>
        </p:nvSpPr>
        <p:spPr>
          <a:xfrm>
            <a:off x="1417320" y="6355080"/>
            <a:ext cx="658368" cy="329184"/>
          </a:xfrm>
          <a:prstGeom prst="rect">
            <a:avLst/>
          </a:prstGeom>
          <a:noFill/>
        </p:spPr>
        <p:txBody>
          <a:bodyPr wrap="square" lIns="0" tIns="0" rIns="0" bIns="0" anchor="ctr">
            <a:spAutoFit/>
          </a:bodyPr>
          <a:lstStyle/>
          <a:p>
            <a:pPr algn="l"/>
            <a:r>
              <a:rPr sz="2000">
                <a:solidFill>
                  <a:srgbClr val="000000"/>
                </a:solidFill>
                <a:latin typeface="Google Sans Flex ExtraBold"/>
                <a:ea typeface="Google Sans Flex ExtraBold"/>
                <a:cs typeface="Google Sans Flex ExtraBold"/>
              </a:rPr>
              <a:t>GO</a:t>
            </a:r>
          </a:p>
        </p:txBody>
      </p:sp>
      <p:sp>
        <p:nvSpPr>
          <p:cNvPr id="10" name="TextBox 9"/>
          <p:cNvSpPr txBox="1"/>
          <p:nvPr/>
        </p:nvSpPr>
        <p:spPr>
          <a:xfrm>
            <a:off x="10936224" y="6382512"/>
            <a:ext cx="658368" cy="292608"/>
          </a:xfrm>
          <a:prstGeom prst="rect">
            <a:avLst/>
          </a:prstGeom>
          <a:noFill/>
        </p:spPr>
        <p:txBody>
          <a:bodyPr wrap="square" lIns="0" tIns="0" rIns="0" bIns="0" anchor="ctr">
            <a:spAutoFit/>
          </a:bodyPr>
          <a:lstStyle/>
          <a:p>
            <a:pPr algn="r"/>
            <a:r>
              <a:rPr sz="1400">
                <a:solidFill>
                  <a:srgbClr val="000000"/>
                </a:solidFill>
                <a:latin typeface="Google Sans Flex"/>
                <a:ea typeface="Google Sans Flex"/>
                <a:cs typeface="Google Sans Flex"/>
              </a:rPr>
              <a:t>12</a:t>
            </a:r>
          </a:p>
        </p:txBody>
      </p:sp>
      <p:sp>
        <p:nvSpPr>
          <p:cNvPr id="11" name="Rounded Rectangle 10"/>
          <p:cNvSpPr/>
          <p:nvPr/>
        </p:nvSpPr>
        <p:spPr>
          <a:xfrm>
            <a:off x="923544" y="1874519"/>
            <a:ext cx="2377440" cy="3041904"/>
          </a:xfrm>
          <a:prstGeom prst="roundRect">
            <a:avLst>
              <a:gd name="adj" fmla="val 769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88136" y="2039112"/>
            <a:ext cx="2048256" cy="243840"/>
          </a:xfrm>
          <a:prstGeom prst="rect">
            <a:avLst/>
          </a:prstGeom>
          <a:noFill/>
        </p:spPr>
        <p:txBody>
          <a:bodyPr wrap="square" lIns="0" tIns="0" rIns="0" bIns="0" anchor="t">
            <a:spAutoFit/>
          </a:bodyPr>
          <a:lstStyle/>
          <a:p>
            <a:pPr algn="l"/>
            <a:r>
              <a:rPr sz="1600">
                <a:solidFill>
                  <a:srgbClr val="000000"/>
                </a:solidFill>
                <a:latin typeface="Google Sans Flex SemiBold"/>
                <a:ea typeface="Google Sans Flex SemiBold"/>
                <a:cs typeface="Google Sans Flex SemiBold"/>
              </a:rPr>
              <a:t>People</a:t>
            </a:r>
          </a:p>
        </p:txBody>
      </p:sp>
      <p:cxnSp>
        <p:nvCxnSpPr>
          <p:cNvPr id="13" name="Connector 12"/>
          <p:cNvCxnSpPr/>
          <p:nvPr/>
        </p:nvCxnSpPr>
        <p:spPr>
          <a:xfrm>
            <a:off x="1022299" y="2356104"/>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88136" y="2429256"/>
            <a:ext cx="2048256"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Store manager · desktop or phone</a:t>
            </a:r>
          </a:p>
        </p:txBody>
      </p:sp>
      <p:cxnSp>
        <p:nvCxnSpPr>
          <p:cNvPr id="15" name="Connector 14"/>
          <p:cNvCxnSpPr/>
          <p:nvPr/>
        </p:nvCxnSpPr>
        <p:spPr>
          <a:xfrm>
            <a:off x="1022299" y="2910840"/>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88136" y="2910840"/>
            <a:ext cx="2048256" cy="457200"/>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Dispatcher · desktop</a:t>
            </a:r>
          </a:p>
        </p:txBody>
      </p:sp>
      <p:cxnSp>
        <p:nvCxnSpPr>
          <p:cNvPr id="17" name="Connector 16"/>
          <p:cNvCxnSpPr/>
          <p:nvPr/>
        </p:nvCxnSpPr>
        <p:spPr>
          <a:xfrm>
            <a:off x="1022299" y="3368040"/>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88136" y="3368040"/>
            <a:ext cx="2048256"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Loader · shared tablet, PIN</a:t>
            </a:r>
          </a:p>
        </p:txBody>
      </p:sp>
      <p:cxnSp>
        <p:nvCxnSpPr>
          <p:cNvPr id="19" name="Connector 18"/>
          <p:cNvCxnSpPr/>
          <p:nvPr/>
        </p:nvCxnSpPr>
        <p:spPr>
          <a:xfrm>
            <a:off x="1022299" y="3849624"/>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88136" y="3849624"/>
            <a:ext cx="2048256" cy="457200"/>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Driver · phone, offline</a:t>
            </a:r>
          </a:p>
        </p:txBody>
      </p:sp>
      <p:cxnSp>
        <p:nvCxnSpPr>
          <p:cNvPr id="21" name="Connector 20"/>
          <p:cNvCxnSpPr/>
          <p:nvPr/>
        </p:nvCxnSpPr>
        <p:spPr>
          <a:xfrm>
            <a:off x="1022299" y="4306824"/>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88136" y="4306824"/>
            <a:ext cx="2048256"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AI assistants · Claude, ChatGPT via MCP</a:t>
            </a:r>
          </a:p>
        </p:txBody>
      </p:sp>
      <p:sp>
        <p:nvSpPr>
          <p:cNvPr id="23" name="Rounded Rectangle 22"/>
          <p:cNvSpPr/>
          <p:nvPr/>
        </p:nvSpPr>
        <p:spPr>
          <a:xfrm>
            <a:off x="3566160" y="1874519"/>
            <a:ext cx="2377440" cy="3041904"/>
          </a:xfrm>
          <a:prstGeom prst="roundRect">
            <a:avLst>
              <a:gd name="adj" fmla="val 769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3730752" y="2039112"/>
            <a:ext cx="2048256" cy="487680"/>
          </a:xfrm>
          <a:prstGeom prst="rect">
            <a:avLst/>
          </a:prstGeom>
          <a:noFill/>
        </p:spPr>
        <p:txBody>
          <a:bodyPr wrap="square" lIns="0" tIns="0" rIns="0" bIns="0" anchor="t">
            <a:spAutoFit/>
          </a:bodyPr>
          <a:lstStyle/>
          <a:p>
            <a:pPr algn="l"/>
            <a:r>
              <a:rPr sz="1600">
                <a:solidFill>
                  <a:srgbClr val="000000"/>
                </a:solidFill>
                <a:latin typeface="Google Sans Flex SemiBold"/>
                <a:ea typeface="Google Sans Flex SemiBold"/>
                <a:cs typeface="Google Sans Flex SemiBold"/>
              </a:rPr>
              <a:t>Web app (Next.js PWA)</a:t>
            </a:r>
          </a:p>
        </p:txBody>
      </p:sp>
      <p:cxnSp>
        <p:nvCxnSpPr>
          <p:cNvPr id="25" name="Connector 24"/>
          <p:cNvCxnSpPr/>
          <p:nvPr/>
        </p:nvCxnSpPr>
        <p:spPr>
          <a:xfrm>
            <a:off x="3664915" y="2599944"/>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730752" y="2673096"/>
            <a:ext cx="2048256" cy="457200"/>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Four role workspaces</a:t>
            </a:r>
          </a:p>
        </p:txBody>
      </p:sp>
      <p:cxnSp>
        <p:nvCxnSpPr>
          <p:cNvPr id="27" name="Connector 26"/>
          <p:cNvCxnSpPr/>
          <p:nvPr/>
        </p:nvCxnSpPr>
        <p:spPr>
          <a:xfrm>
            <a:off x="3664915" y="3130296"/>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730752" y="3130296"/>
            <a:ext cx="2048256"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Offline queue, replayed exactly once</a:t>
            </a:r>
          </a:p>
        </p:txBody>
      </p:sp>
      <p:cxnSp>
        <p:nvCxnSpPr>
          <p:cNvPr id="29" name="Connector 28"/>
          <p:cNvCxnSpPr/>
          <p:nvPr/>
        </p:nvCxnSpPr>
        <p:spPr>
          <a:xfrm>
            <a:off x="3664915" y="3611880"/>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730752" y="3611880"/>
            <a:ext cx="2048256" cy="457200"/>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Service worker and caches</a:t>
            </a:r>
          </a:p>
        </p:txBody>
      </p:sp>
      <p:cxnSp>
        <p:nvCxnSpPr>
          <p:cNvPr id="31" name="Connector 30"/>
          <p:cNvCxnSpPr/>
          <p:nvPr/>
        </p:nvCxnSpPr>
        <p:spPr>
          <a:xfrm>
            <a:off x="3664915" y="4069080"/>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730752" y="4069080"/>
            <a:ext cx="2048256" cy="457200"/>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Sinhala, Tamil, English</a:t>
            </a:r>
          </a:p>
        </p:txBody>
      </p:sp>
      <p:sp>
        <p:nvSpPr>
          <p:cNvPr id="33" name="Rounded Rectangle 32"/>
          <p:cNvSpPr/>
          <p:nvPr/>
        </p:nvSpPr>
        <p:spPr>
          <a:xfrm>
            <a:off x="6208776" y="1874519"/>
            <a:ext cx="2377440" cy="3041904"/>
          </a:xfrm>
          <a:prstGeom prst="roundRect">
            <a:avLst>
              <a:gd name="adj" fmla="val 769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6373368" y="2039112"/>
            <a:ext cx="2048256" cy="487680"/>
          </a:xfrm>
          <a:prstGeom prst="rect">
            <a:avLst/>
          </a:prstGeom>
          <a:noFill/>
        </p:spPr>
        <p:txBody>
          <a:bodyPr wrap="square" lIns="0" tIns="0" rIns="0" bIns="0" anchor="t">
            <a:spAutoFit/>
          </a:bodyPr>
          <a:lstStyle/>
          <a:p>
            <a:pPr algn="l"/>
            <a:r>
              <a:rPr sz="1600">
                <a:solidFill>
                  <a:srgbClr val="000000"/>
                </a:solidFill>
                <a:latin typeface="Google Sans Flex SemiBold"/>
                <a:ea typeface="Google Sans Flex SemiBold"/>
                <a:cs typeface="Google Sans Flex SemiBold"/>
              </a:rPr>
              <a:t>Backend (Spring Boot)</a:t>
            </a:r>
          </a:p>
        </p:txBody>
      </p:sp>
      <p:cxnSp>
        <p:nvCxnSpPr>
          <p:cNvPr id="35" name="Connector 34"/>
          <p:cNvCxnSpPr/>
          <p:nvPr/>
        </p:nvCxnSpPr>
        <p:spPr>
          <a:xfrm>
            <a:off x="6307531" y="2599944"/>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373368" y="2673096"/>
            <a:ext cx="2048256"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14 modules, from ordering to intelligence</a:t>
            </a:r>
          </a:p>
        </p:txBody>
      </p:sp>
      <p:cxnSp>
        <p:nvCxnSpPr>
          <p:cNvPr id="37" name="Connector 36"/>
          <p:cNvCxnSpPr/>
          <p:nvPr/>
        </p:nvCxnSpPr>
        <p:spPr>
          <a:xfrm>
            <a:off x="6307531" y="3154680"/>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373368" y="3154680"/>
            <a:ext cx="2048256"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One command path: permission check + audit</a:t>
            </a:r>
          </a:p>
        </p:txBody>
      </p:sp>
      <p:cxnSp>
        <p:nvCxnSpPr>
          <p:cNvPr id="39" name="Connector 38"/>
          <p:cNvCxnSpPr/>
          <p:nvPr/>
        </p:nvCxnSpPr>
        <p:spPr>
          <a:xfrm>
            <a:off x="6307531" y="3636264"/>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73368" y="3636264"/>
            <a:ext cx="2048256"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Events and a live change stream</a:t>
            </a:r>
          </a:p>
        </p:txBody>
      </p:sp>
      <p:sp>
        <p:nvSpPr>
          <p:cNvPr id="41" name="Rounded Rectangle 40"/>
          <p:cNvSpPr/>
          <p:nvPr/>
        </p:nvSpPr>
        <p:spPr>
          <a:xfrm>
            <a:off x="8851392" y="1874519"/>
            <a:ext cx="2377440" cy="3041904"/>
          </a:xfrm>
          <a:prstGeom prst="roundRect">
            <a:avLst>
              <a:gd name="adj" fmla="val 7692"/>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015984" y="2039112"/>
            <a:ext cx="2048256" cy="243840"/>
          </a:xfrm>
          <a:prstGeom prst="rect">
            <a:avLst/>
          </a:prstGeom>
          <a:noFill/>
        </p:spPr>
        <p:txBody>
          <a:bodyPr wrap="square" lIns="0" tIns="0" rIns="0" bIns="0" anchor="t">
            <a:spAutoFit/>
          </a:bodyPr>
          <a:lstStyle/>
          <a:p>
            <a:pPr algn="l"/>
            <a:r>
              <a:rPr sz="1600">
                <a:solidFill>
                  <a:srgbClr val="000000"/>
                </a:solidFill>
                <a:latin typeface="Google Sans Flex SemiBold"/>
                <a:ea typeface="Google Sans Flex SemiBold"/>
                <a:cs typeface="Google Sans Flex SemiBold"/>
              </a:rPr>
              <a:t>Data and models</a:t>
            </a:r>
          </a:p>
        </p:txBody>
      </p:sp>
      <p:cxnSp>
        <p:nvCxnSpPr>
          <p:cNvPr id="43" name="Connector 42"/>
          <p:cNvCxnSpPr/>
          <p:nvPr/>
        </p:nvCxnSpPr>
        <p:spPr>
          <a:xfrm>
            <a:off x="8950147" y="2356104"/>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015984" y="2429256"/>
            <a:ext cx="2048256"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PostgreSQL 16 · row-level security · 188 migrations</a:t>
            </a:r>
          </a:p>
        </p:txBody>
      </p:sp>
      <p:cxnSp>
        <p:nvCxnSpPr>
          <p:cNvPr id="45" name="Connector 44"/>
          <p:cNvCxnSpPr/>
          <p:nvPr/>
        </p:nvCxnSpPr>
        <p:spPr>
          <a:xfrm>
            <a:off x="8950147" y="2910840"/>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9015984" y="2910840"/>
            <a:ext cx="2048256"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Model service (FastAPI): late risk + demand</a:t>
            </a:r>
          </a:p>
        </p:txBody>
      </p:sp>
      <p:cxnSp>
        <p:nvCxnSpPr>
          <p:cNvPr id="47" name="Connector 46"/>
          <p:cNvCxnSpPr/>
          <p:nvPr/>
        </p:nvCxnSpPr>
        <p:spPr>
          <a:xfrm>
            <a:off x="8950147" y="3392424"/>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9015984" y="3392424"/>
            <a:ext cx="2048256"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Checksums and file scan; fallback estimate if down</a:t>
            </a:r>
          </a:p>
        </p:txBody>
      </p:sp>
      <p:cxnSp>
        <p:nvCxnSpPr>
          <p:cNvPr id="49" name="Connector 48"/>
          <p:cNvCxnSpPr/>
          <p:nvPr/>
        </p:nvCxnSpPr>
        <p:spPr>
          <a:xfrm>
            <a:off x="8950147" y="3874007"/>
            <a:ext cx="217992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015984" y="3874007"/>
            <a:ext cx="2048256" cy="667512"/>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Language AI gateway: off by default, masked, capped</a:t>
            </a:r>
          </a:p>
        </p:txBody>
      </p:sp>
      <p:sp>
        <p:nvSpPr>
          <p:cNvPr id="51" name="TextBox 50"/>
          <p:cNvSpPr txBox="1"/>
          <p:nvPr/>
        </p:nvSpPr>
        <p:spPr>
          <a:xfrm>
            <a:off x="3296412" y="1938528"/>
            <a:ext cx="274320" cy="274320"/>
          </a:xfrm>
          <a:prstGeom prst="rect">
            <a:avLst/>
          </a:prstGeom>
          <a:noFill/>
        </p:spPr>
        <p:txBody>
          <a:bodyPr wrap="square" lIns="0" tIns="0" rIns="0" bIns="0" anchor="t">
            <a:spAutoFit/>
          </a:bodyPr>
          <a:lstStyle/>
          <a:p>
            <a:pPr algn="ctr"/>
            <a:r>
              <a:rPr sz="2000">
                <a:solidFill>
                  <a:srgbClr val="595959"/>
                </a:solidFill>
                <a:latin typeface="Google Sans Flex"/>
                <a:ea typeface="Google Sans Flex"/>
                <a:cs typeface="Google Sans Flex"/>
              </a:rPr>
              <a:t>›</a:t>
            </a:r>
          </a:p>
        </p:txBody>
      </p:sp>
      <p:sp>
        <p:nvSpPr>
          <p:cNvPr id="52" name="TextBox 51"/>
          <p:cNvSpPr txBox="1"/>
          <p:nvPr/>
        </p:nvSpPr>
        <p:spPr>
          <a:xfrm>
            <a:off x="5939028" y="1938528"/>
            <a:ext cx="274320" cy="274320"/>
          </a:xfrm>
          <a:prstGeom prst="rect">
            <a:avLst/>
          </a:prstGeom>
          <a:noFill/>
        </p:spPr>
        <p:txBody>
          <a:bodyPr wrap="square" lIns="0" tIns="0" rIns="0" bIns="0" anchor="t">
            <a:spAutoFit/>
          </a:bodyPr>
          <a:lstStyle/>
          <a:p>
            <a:pPr algn="ctr"/>
            <a:r>
              <a:rPr sz="2000">
                <a:solidFill>
                  <a:srgbClr val="595959"/>
                </a:solidFill>
                <a:latin typeface="Google Sans Flex"/>
                <a:ea typeface="Google Sans Flex"/>
                <a:cs typeface="Google Sans Flex"/>
              </a:rPr>
              <a:t>›</a:t>
            </a:r>
          </a:p>
        </p:txBody>
      </p:sp>
      <p:sp>
        <p:nvSpPr>
          <p:cNvPr id="53" name="TextBox 52"/>
          <p:cNvSpPr txBox="1"/>
          <p:nvPr/>
        </p:nvSpPr>
        <p:spPr>
          <a:xfrm>
            <a:off x="8581644" y="1938528"/>
            <a:ext cx="274320" cy="274320"/>
          </a:xfrm>
          <a:prstGeom prst="rect">
            <a:avLst/>
          </a:prstGeom>
          <a:noFill/>
        </p:spPr>
        <p:txBody>
          <a:bodyPr wrap="square" lIns="0" tIns="0" rIns="0" bIns="0" anchor="t">
            <a:spAutoFit/>
          </a:bodyPr>
          <a:lstStyle/>
          <a:p>
            <a:pPr algn="ctr"/>
            <a:r>
              <a:rPr sz="2000">
                <a:solidFill>
                  <a:srgbClr val="595959"/>
                </a:solidFill>
                <a:latin typeface="Google Sans Flex"/>
                <a:ea typeface="Google Sans Flex"/>
                <a:cs typeface="Google Sans Flex"/>
              </a:rPr>
              <a:t>›</a:t>
            </a:r>
          </a:p>
        </p:txBody>
      </p:sp>
      <p:sp>
        <p:nvSpPr>
          <p:cNvPr id="54" name="Rounded Rectangle 53"/>
          <p:cNvSpPr/>
          <p:nvPr/>
        </p:nvSpPr>
        <p:spPr>
          <a:xfrm>
            <a:off x="923544" y="5257800"/>
            <a:ext cx="10314432" cy="566928"/>
          </a:xfrm>
          <a:prstGeom prst="roundRect">
            <a:avLst>
              <a:gd name="adj" fmla="val 50000"/>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1152144" y="5349240"/>
            <a:ext cx="9857232" cy="384048"/>
          </a:xfrm>
          <a:prstGeom prst="rect">
            <a:avLst/>
          </a:prstGeom>
          <a:noFill/>
        </p:spPr>
        <p:txBody>
          <a:bodyPr wrap="square" lIns="0" tIns="0" rIns="0" bIns="0" anchor="ctr">
            <a:spAutoFit/>
          </a:bodyPr>
          <a:lstStyle/>
          <a:p>
            <a:pPr algn="l"/>
            <a:r>
              <a:rPr sz="1200">
                <a:solidFill>
                  <a:srgbClr val="FFFFFF"/>
                </a:solidFill>
                <a:latin typeface="Google Sans Flex"/>
                <a:ea typeface="Google Sans Flex"/>
                <a:cs typeface="Google Sans Flex"/>
              </a:rPr>
              <a:t>Runs on one server (≈ LKR 19,000 a month) with Docker Compose · Prometheus, Grafana, Loki and alerts · tests on every pull request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923544" y="384048"/>
            <a:ext cx="86868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23544" y="384048"/>
            <a:ext cx="86868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Backup</a:t>
            </a:r>
          </a:p>
        </p:txBody>
      </p:sp>
      <p:sp>
        <p:nvSpPr>
          <p:cNvPr id="4" name="Rounded Rectangle 3">
            <a:hlinkClick r:id="rId3" action="ppaction://hlinksldjump"/>
          </p:cNvPr>
          <p:cNvSpPr/>
          <p:nvPr/>
        </p:nvSpPr>
        <p:spPr>
          <a:xfrm>
            <a:off x="10277856" y="384048"/>
            <a:ext cx="960120" cy="310896"/>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action="ppaction://hlinksldjump"/>
          </p:cNvPr>
          <p:cNvSpPr txBox="1"/>
          <p:nvPr/>
        </p:nvSpPr>
        <p:spPr>
          <a:xfrm>
            <a:off x="10277856" y="384048"/>
            <a:ext cx="96012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  Index</a:t>
            </a:r>
          </a:p>
        </p:txBody>
      </p:sp>
      <p:sp>
        <p:nvSpPr>
          <p:cNvPr id="6" name="Title"/>
          <p:cNvSpPr txBox="1"/>
          <p:nvPr/>
        </p:nvSpPr>
        <p:spPr>
          <a:xfrm>
            <a:off x="923544" y="786384"/>
            <a:ext cx="10314432" cy="603504"/>
          </a:xfrm>
          <a:prstGeom prst="rect">
            <a:avLst/>
          </a:prstGeom>
          <a:noFill/>
        </p:spPr>
        <p:txBody>
          <a:bodyPr wrap="square" lIns="0" tIns="0" rIns="0" bIns="0" anchor="t">
            <a:spAutoFit/>
          </a:bodyPr>
          <a:lstStyle/>
          <a:p>
            <a:pPr algn="l"/>
            <a:r>
              <a:rPr sz="3400">
                <a:solidFill>
                  <a:srgbClr val="00B050"/>
                </a:solidFill>
                <a:latin typeface="Google Sans Flex SemiBold"/>
                <a:ea typeface="Google Sans Flex SemiBold"/>
                <a:cs typeface="Google Sans Flex SemiBold"/>
              </a:rPr>
              <a:t>The planning </a:t>
            </a:r>
            <a:r>
              <a:rPr sz="3400">
                <a:solidFill>
                  <a:srgbClr val="000000"/>
                </a:solidFill>
                <a:latin typeface="Google Sans Flex Light"/>
                <a:ea typeface="Google Sans Flex Light"/>
                <a:cs typeface="Google Sans Flex Light"/>
              </a:rPr>
              <a:t>engine</a:t>
            </a:r>
          </a:p>
        </p:txBody>
      </p:sp>
      <p:sp>
        <p:nvSpPr>
          <p:cNvPr id="7" name="TextBox 6"/>
          <p:cNvSpPr txBox="1"/>
          <p:nvPr/>
        </p:nvSpPr>
        <p:spPr>
          <a:xfrm>
            <a:off x="923544" y="1371600"/>
            <a:ext cx="10314432" cy="292608"/>
          </a:xfrm>
          <a:prstGeom prst="rect">
            <a:avLst/>
          </a:prstGeom>
          <a:noFill/>
        </p:spPr>
        <p:txBody>
          <a:bodyPr wrap="square" lIns="0" tIns="0" rIns="0" bIns="0" anchor="t">
            <a:spAutoFit/>
          </a:bodyPr>
          <a:lstStyle/>
          <a:p>
            <a:pPr algn="l"/>
            <a:r>
              <a:rPr sz="1400">
                <a:solidFill>
                  <a:srgbClr val="595959"/>
                </a:solidFill>
                <a:latin typeface="Google Sans Flex"/>
                <a:ea typeface="Google Sans Flex"/>
                <a:cs typeface="Google Sans Flex"/>
              </a:rPr>
              <a:t>Every order checked against every rule; people make the final call, with a reason</a:t>
            </a:r>
          </a:p>
        </p:txBody>
      </p:sp>
      <p:sp>
        <p:nvSpPr>
          <p:cNvPr id="8" name="TextBox 7"/>
          <p:cNvSpPr txBox="1"/>
          <p:nvPr/>
        </p:nvSpPr>
        <p:spPr>
          <a:xfrm>
            <a:off x="585216" y="6382512"/>
            <a:ext cx="1069848" cy="29260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WayPoint  |</a:t>
            </a:r>
          </a:p>
        </p:txBody>
      </p:sp>
      <p:sp>
        <p:nvSpPr>
          <p:cNvPr id="9" name="TextBox 8"/>
          <p:cNvSpPr txBox="1"/>
          <p:nvPr/>
        </p:nvSpPr>
        <p:spPr>
          <a:xfrm>
            <a:off x="1417320" y="6355080"/>
            <a:ext cx="658368" cy="329184"/>
          </a:xfrm>
          <a:prstGeom prst="rect">
            <a:avLst/>
          </a:prstGeom>
          <a:noFill/>
        </p:spPr>
        <p:txBody>
          <a:bodyPr wrap="square" lIns="0" tIns="0" rIns="0" bIns="0" anchor="ctr">
            <a:spAutoFit/>
          </a:bodyPr>
          <a:lstStyle/>
          <a:p>
            <a:pPr algn="l"/>
            <a:r>
              <a:rPr sz="2000">
                <a:solidFill>
                  <a:srgbClr val="000000"/>
                </a:solidFill>
                <a:latin typeface="Google Sans Flex ExtraBold"/>
                <a:ea typeface="Google Sans Flex ExtraBold"/>
                <a:cs typeface="Google Sans Flex ExtraBold"/>
              </a:rPr>
              <a:t>GO</a:t>
            </a:r>
          </a:p>
        </p:txBody>
      </p:sp>
      <p:sp>
        <p:nvSpPr>
          <p:cNvPr id="10" name="TextBox 9"/>
          <p:cNvSpPr txBox="1"/>
          <p:nvPr/>
        </p:nvSpPr>
        <p:spPr>
          <a:xfrm>
            <a:off x="10936224" y="6382512"/>
            <a:ext cx="658368" cy="292608"/>
          </a:xfrm>
          <a:prstGeom prst="rect">
            <a:avLst/>
          </a:prstGeom>
          <a:noFill/>
        </p:spPr>
        <p:txBody>
          <a:bodyPr wrap="square" lIns="0" tIns="0" rIns="0" bIns="0" anchor="ctr">
            <a:spAutoFit/>
          </a:bodyPr>
          <a:lstStyle/>
          <a:p>
            <a:pPr algn="r"/>
            <a:r>
              <a:rPr sz="1400">
                <a:solidFill>
                  <a:srgbClr val="000000"/>
                </a:solidFill>
                <a:latin typeface="Google Sans Flex"/>
                <a:ea typeface="Google Sans Flex"/>
                <a:cs typeface="Google Sans Flex"/>
              </a:rPr>
              <a:t>13</a:t>
            </a:r>
          </a:p>
        </p:txBody>
      </p:sp>
      <p:sp>
        <p:nvSpPr>
          <p:cNvPr id="11" name="Rounded Rectangle 10"/>
          <p:cNvSpPr/>
          <p:nvPr/>
        </p:nvSpPr>
        <p:spPr>
          <a:xfrm>
            <a:off x="923544" y="1828800"/>
            <a:ext cx="5989320" cy="2996183"/>
          </a:xfrm>
          <a:prstGeom prst="roundRect">
            <a:avLst>
              <a:gd name="adj" fmla="val 610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88136" y="1993392"/>
            <a:ext cx="1273029" cy="259080"/>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Step</a:t>
            </a:r>
          </a:p>
        </p:txBody>
      </p:sp>
      <p:sp>
        <p:nvSpPr>
          <p:cNvPr id="13" name="TextBox 12"/>
          <p:cNvSpPr txBox="1"/>
          <p:nvPr/>
        </p:nvSpPr>
        <p:spPr>
          <a:xfrm>
            <a:off x="2470893" y="1993392"/>
            <a:ext cx="4277378" cy="259080"/>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What happens</a:t>
            </a:r>
          </a:p>
        </p:txBody>
      </p:sp>
      <p:cxnSp>
        <p:nvCxnSpPr>
          <p:cNvPr id="14" name="Connector 13"/>
          <p:cNvCxnSpPr/>
          <p:nvPr/>
        </p:nvCxnSpPr>
        <p:spPr>
          <a:xfrm>
            <a:off x="1022299" y="2289048"/>
            <a:ext cx="57918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88136" y="2289048"/>
            <a:ext cx="1273029"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1 · Place</a:t>
            </a:r>
          </a:p>
        </p:txBody>
      </p:sp>
      <p:sp>
        <p:nvSpPr>
          <p:cNvPr id="16" name="TextBox 15"/>
          <p:cNvSpPr txBox="1"/>
          <p:nvPr/>
        </p:nvSpPr>
        <p:spPr>
          <a:xfrm>
            <a:off x="2470893" y="2289048"/>
            <a:ext cx="4277378"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Orders placed in priority order; earlier deferrals first (9 rules)</a:t>
            </a:r>
          </a:p>
        </p:txBody>
      </p:sp>
      <p:cxnSp>
        <p:nvCxnSpPr>
          <p:cNvPr id="17" name="Connector 16"/>
          <p:cNvCxnSpPr/>
          <p:nvPr/>
        </p:nvCxnSpPr>
        <p:spPr>
          <a:xfrm>
            <a:off x="1022299" y="2770632"/>
            <a:ext cx="57918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88136" y="2826930"/>
            <a:ext cx="1273029" cy="369332"/>
          </a:xfrm>
          <a:prstGeom prst="rect">
            <a:avLst/>
          </a:prstGeom>
          <a:noFill/>
        </p:spPr>
        <p:txBody>
          <a:bodyPr wrap="square" lIns="0" tIns="0" rIns="0" bIns="0" anchor="ctr">
            <a:spAutoFit/>
          </a:bodyPr>
          <a:lstStyle/>
          <a:p>
            <a:pPr algn="l"/>
            <a:r>
              <a:rPr sz="1200" dirty="0">
                <a:solidFill>
                  <a:srgbClr val="000000"/>
                </a:solidFill>
                <a:latin typeface="Google Sans Flex SemiBold"/>
                <a:ea typeface="Google Sans Flex SemiBold"/>
                <a:cs typeface="Google Sans Flex SemiBold"/>
              </a:rPr>
              <a:t>2 · Re-plan </a:t>
            </a:r>
            <a:r>
              <a:rPr lang="en-GB" sz="1200" dirty="0">
                <a:solidFill>
                  <a:srgbClr val="000000"/>
                </a:solidFill>
                <a:latin typeface="Google Sans Flex SemiBold"/>
                <a:ea typeface="Google Sans Flex SemiBold"/>
                <a:cs typeface="Google Sans Flex SemiBold"/>
              </a:rPr>
              <a:t>  </a:t>
            </a:r>
          </a:p>
          <a:p>
            <a:pPr algn="l"/>
            <a:r>
              <a:rPr lang="en-GB" sz="1200" dirty="0">
                <a:solidFill>
                  <a:srgbClr val="000000"/>
                </a:solidFill>
                <a:latin typeface="Google Sans Flex SemiBold"/>
                <a:ea typeface="Google Sans Flex SemiBold"/>
                <a:cs typeface="Google Sans Flex SemiBold"/>
              </a:rPr>
              <a:t>      </a:t>
            </a:r>
            <a:r>
              <a:rPr sz="1200" dirty="0">
                <a:solidFill>
                  <a:srgbClr val="000000"/>
                </a:solidFill>
                <a:latin typeface="Google Sans Flex SemiBold"/>
                <a:ea typeface="Google Sans Flex SemiBold"/>
                <a:cs typeface="Google Sans Flex SemiBold"/>
              </a:rPr>
              <a:t>reefers</a:t>
            </a:r>
          </a:p>
        </p:txBody>
      </p:sp>
      <p:sp>
        <p:nvSpPr>
          <p:cNvPr id="19" name="TextBox 18"/>
          <p:cNvSpPr txBox="1"/>
          <p:nvPr/>
        </p:nvSpPr>
        <p:spPr>
          <a:xfrm>
            <a:off x="2470893" y="2770632"/>
            <a:ext cx="4277378"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Refrigerated vehicles planned again as a whole; kept only if better</a:t>
            </a:r>
          </a:p>
        </p:txBody>
      </p:sp>
      <p:cxnSp>
        <p:nvCxnSpPr>
          <p:cNvPr id="20" name="Connector 19"/>
          <p:cNvCxnSpPr/>
          <p:nvPr/>
        </p:nvCxnSpPr>
        <p:spPr>
          <a:xfrm>
            <a:off x="1022299" y="3252216"/>
            <a:ext cx="57918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88136" y="3252216"/>
            <a:ext cx="1273029"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3 · Optimise</a:t>
            </a:r>
          </a:p>
        </p:txBody>
      </p:sp>
      <p:sp>
        <p:nvSpPr>
          <p:cNvPr id="22" name="TextBox 21"/>
          <p:cNvSpPr txBox="1"/>
          <p:nvPr/>
        </p:nvSpPr>
        <p:spPr>
          <a:xfrm>
            <a:off x="2470893" y="3252216"/>
            <a:ext cx="4277378"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Same orders on fewer vehicles, trips and litres (1 vehicle, 3 trips, 15 L saved)</a:t>
            </a:r>
          </a:p>
        </p:txBody>
      </p:sp>
      <p:cxnSp>
        <p:nvCxnSpPr>
          <p:cNvPr id="23" name="Connector 22"/>
          <p:cNvCxnSpPr/>
          <p:nvPr/>
        </p:nvCxnSpPr>
        <p:spPr>
          <a:xfrm>
            <a:off x="1022299" y="3733799"/>
            <a:ext cx="57918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88136" y="3733799"/>
            <a:ext cx="1273029"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4 · Decide</a:t>
            </a:r>
          </a:p>
        </p:txBody>
      </p:sp>
      <p:sp>
        <p:nvSpPr>
          <p:cNvPr id="25" name="TextBox 24"/>
          <p:cNvSpPr txBox="1"/>
          <p:nvPr/>
        </p:nvSpPr>
        <p:spPr>
          <a:xfrm>
            <a:off x="2470893" y="3733799"/>
            <a:ext cx="4277378"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Dispatcher places by hand, swaps or keeps deferred, always with a reason</a:t>
            </a:r>
          </a:p>
        </p:txBody>
      </p:sp>
      <p:cxnSp>
        <p:nvCxnSpPr>
          <p:cNvPr id="26" name="Connector 25"/>
          <p:cNvCxnSpPr/>
          <p:nvPr/>
        </p:nvCxnSpPr>
        <p:spPr>
          <a:xfrm>
            <a:off x="1022299" y="4215383"/>
            <a:ext cx="57918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88136" y="4215383"/>
            <a:ext cx="1273029"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5 · Publish</a:t>
            </a:r>
          </a:p>
        </p:txBody>
      </p:sp>
      <p:sp>
        <p:nvSpPr>
          <p:cNvPr id="28" name="TextBox 27"/>
          <p:cNvSpPr txBox="1"/>
          <p:nvPr/>
        </p:nvSpPr>
        <p:spPr>
          <a:xfrm>
            <a:off x="2470893" y="4215383"/>
            <a:ext cx="4277378"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Every rule checked again; loaders, drivers and stores are told</a:t>
            </a:r>
          </a:p>
        </p:txBody>
      </p:sp>
      <p:sp>
        <p:nvSpPr>
          <p:cNvPr id="29" name="Rounded Rectangle 28"/>
          <p:cNvSpPr/>
          <p:nvPr/>
        </p:nvSpPr>
        <p:spPr>
          <a:xfrm>
            <a:off x="7187183" y="1828800"/>
            <a:ext cx="4050791" cy="2624327"/>
          </a:xfrm>
          <a:prstGeom prst="roundRect">
            <a:avLst>
              <a:gd name="adj" fmla="val 6968"/>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351775" y="1993392"/>
            <a:ext cx="849854" cy="259080"/>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Check</a:t>
            </a:r>
          </a:p>
        </p:txBody>
      </p:sp>
      <p:sp>
        <p:nvSpPr>
          <p:cNvPr id="31" name="TextBox 30"/>
          <p:cNvSpPr txBox="1"/>
          <p:nvPr/>
        </p:nvSpPr>
        <p:spPr>
          <a:xfrm>
            <a:off x="8311358" y="1993392"/>
            <a:ext cx="2762025" cy="259080"/>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13 checks per order</a:t>
            </a:r>
          </a:p>
        </p:txBody>
      </p:sp>
      <p:cxnSp>
        <p:nvCxnSpPr>
          <p:cNvPr id="32" name="Connector 31"/>
          <p:cNvCxnSpPr/>
          <p:nvPr/>
        </p:nvCxnSpPr>
        <p:spPr>
          <a:xfrm>
            <a:off x="7285939" y="2289048"/>
            <a:ext cx="385328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51775" y="2289048"/>
            <a:ext cx="849854"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Vehicle</a:t>
            </a:r>
          </a:p>
        </p:txBody>
      </p:sp>
      <p:sp>
        <p:nvSpPr>
          <p:cNvPr id="34" name="TextBox 33"/>
          <p:cNvSpPr txBox="1"/>
          <p:nvPr/>
        </p:nvSpPr>
        <p:spPr>
          <a:xfrm>
            <a:off x="8311358" y="2289048"/>
            <a:ext cx="2762025"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available, home depot, refrigerated, van-only</a:t>
            </a:r>
          </a:p>
        </p:txBody>
      </p:sp>
      <p:cxnSp>
        <p:nvCxnSpPr>
          <p:cNvPr id="35" name="Connector 34"/>
          <p:cNvCxnSpPr/>
          <p:nvPr/>
        </p:nvCxnSpPr>
        <p:spPr>
          <a:xfrm>
            <a:off x="7285939" y="2770632"/>
            <a:ext cx="385328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351775" y="2770632"/>
            <a:ext cx="849854"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Trip</a:t>
            </a:r>
          </a:p>
        </p:txBody>
      </p:sp>
      <p:sp>
        <p:nvSpPr>
          <p:cNvPr id="37" name="TextBox 36"/>
          <p:cNvSpPr txBox="1"/>
          <p:nvPr/>
        </p:nvSpPr>
        <p:spPr>
          <a:xfrm>
            <a:off x="8311358" y="2770632"/>
            <a:ext cx="2762025"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one brand and district, one temperature</a:t>
            </a:r>
          </a:p>
        </p:txBody>
      </p:sp>
      <p:cxnSp>
        <p:nvCxnSpPr>
          <p:cNvPr id="38" name="Connector 37"/>
          <p:cNvCxnSpPr/>
          <p:nvPr/>
        </p:nvCxnSpPr>
        <p:spPr>
          <a:xfrm>
            <a:off x="7285939" y="3252216"/>
            <a:ext cx="385328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351775" y="3252216"/>
            <a:ext cx="849854" cy="29565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Capacity</a:t>
            </a:r>
          </a:p>
        </p:txBody>
      </p:sp>
      <p:sp>
        <p:nvSpPr>
          <p:cNvPr id="40" name="TextBox 39"/>
          <p:cNvSpPr txBox="1"/>
          <p:nvPr/>
        </p:nvSpPr>
        <p:spPr>
          <a:xfrm>
            <a:off x="8311358" y="3252216"/>
            <a:ext cx="2762025"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weight and volume, no split orders</a:t>
            </a:r>
          </a:p>
        </p:txBody>
      </p:sp>
      <p:cxnSp>
        <p:nvCxnSpPr>
          <p:cNvPr id="41" name="Connector 40"/>
          <p:cNvCxnSpPr/>
          <p:nvPr/>
        </p:nvCxnSpPr>
        <p:spPr>
          <a:xfrm>
            <a:off x="7285939" y="3547872"/>
            <a:ext cx="385328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351775" y="3547872"/>
            <a:ext cx="849854"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Time</a:t>
            </a:r>
          </a:p>
        </p:txBody>
      </p:sp>
      <p:sp>
        <p:nvSpPr>
          <p:cNvPr id="43" name="TextBox 42"/>
          <p:cNvSpPr txBox="1"/>
          <p:nvPr/>
        </p:nvSpPr>
        <p:spPr>
          <a:xfrm>
            <a:off x="8311358" y="3547872"/>
            <a:ext cx="2762025"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delivery window, 2 trips a day, Fresh 270 min</a:t>
            </a:r>
          </a:p>
        </p:txBody>
      </p:sp>
      <p:cxnSp>
        <p:nvCxnSpPr>
          <p:cNvPr id="44" name="Connector 43"/>
          <p:cNvCxnSpPr/>
          <p:nvPr/>
        </p:nvCxnSpPr>
        <p:spPr>
          <a:xfrm>
            <a:off x="7285939" y="4029455"/>
            <a:ext cx="385328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351775" y="4029455"/>
            <a:ext cx="849854" cy="29565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Fuel</a:t>
            </a:r>
          </a:p>
        </p:txBody>
      </p:sp>
      <p:sp>
        <p:nvSpPr>
          <p:cNvPr id="46" name="TextBox 45"/>
          <p:cNvSpPr txBox="1"/>
          <p:nvPr/>
        </p:nvSpPr>
        <p:spPr>
          <a:xfrm>
            <a:off x="8311358" y="4029455"/>
            <a:ext cx="2762025"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weekly quota per vehicle</a:t>
            </a:r>
          </a:p>
        </p:txBody>
      </p:sp>
      <p:sp>
        <p:nvSpPr>
          <p:cNvPr id="47" name="Rounded Rectangle 46"/>
          <p:cNvSpPr/>
          <p:nvPr/>
        </p:nvSpPr>
        <p:spPr>
          <a:xfrm>
            <a:off x="923544" y="5099303"/>
            <a:ext cx="5989320" cy="954024"/>
          </a:xfrm>
          <a:prstGeom prst="roundRect">
            <a:avLst>
              <a:gd name="adj" fmla="val 2108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1152144" y="5190743"/>
            <a:ext cx="5532120" cy="771144"/>
          </a:xfrm>
          <a:prstGeom prst="rect">
            <a:avLst/>
          </a:prstGeom>
          <a:noFill/>
        </p:spPr>
        <p:txBody>
          <a:bodyPr wrap="square" lIns="0" tIns="0" rIns="0" bIns="0" anchor="ctr">
            <a:spAutoFit/>
          </a:bodyPr>
          <a:lstStyle/>
          <a:p>
            <a:pPr algn="l"/>
            <a:r>
              <a:rPr sz="1100">
                <a:solidFill>
                  <a:srgbClr val="000000"/>
                </a:solidFill>
                <a:latin typeface="Google Sans Flex SemiBold"/>
                <a:ea typeface="Google Sans Flex SemiBold"/>
                <a:cs typeface="Google Sans Flex SemiBold"/>
              </a:rPr>
              <a:t>Explanations come from the engine, not guesswork. </a:t>
            </a:r>
            <a:r>
              <a:rPr sz="1100">
                <a:solidFill>
                  <a:srgbClr val="000000"/>
                </a:solidFill>
                <a:latin typeface="Google Sans Flex"/>
                <a:ea typeface="Google Sans Flex"/>
                <a:cs typeface="Google Sans Flex"/>
              </a:rPr>
              <a:t>Each waiting order shows the rule that stopped it, what was fine, where it could go, the closest it came and the smallest change. A what-if re-runs the day with one more vehicle without changing the plan.</a:t>
            </a:r>
          </a:p>
        </p:txBody>
      </p:sp>
      <p:sp>
        <p:nvSpPr>
          <p:cNvPr id="49" name="Rounded Rectangle 48"/>
          <p:cNvSpPr/>
          <p:nvPr/>
        </p:nvSpPr>
        <p:spPr>
          <a:xfrm>
            <a:off x="7187183" y="5099303"/>
            <a:ext cx="4050791" cy="954024"/>
          </a:xfrm>
          <a:prstGeom prst="roundRect">
            <a:avLst>
              <a:gd name="adj" fmla="val 21086"/>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7415783" y="5190743"/>
            <a:ext cx="3593591" cy="771144"/>
          </a:xfrm>
          <a:prstGeom prst="rect">
            <a:avLst/>
          </a:prstGeom>
          <a:noFill/>
        </p:spPr>
        <p:txBody>
          <a:bodyPr wrap="square" lIns="0" tIns="0" rIns="0" bIns="0" anchor="ctr">
            <a:spAutoFit/>
          </a:bodyPr>
          <a:lstStyle/>
          <a:p>
            <a:pPr algn="l"/>
            <a:r>
              <a:rPr sz="1100">
                <a:solidFill>
                  <a:srgbClr val="FFFFFF"/>
                </a:solidFill>
                <a:latin typeface="Google Sans Flex SemiBold"/>
                <a:ea typeface="Google Sans Flex SemiBold"/>
                <a:cs typeface="Google Sans Flex SemiBold"/>
              </a:rPr>
              <a:t>Why 72 in the app and 77 in the Datathon? </a:t>
            </a:r>
            <a:r>
              <a:rPr sz="1100">
                <a:solidFill>
                  <a:srgbClr val="FFFFFF"/>
                </a:solidFill>
                <a:latin typeface="Google Sans Flex"/>
                <a:ea typeface="Google Sans Flex"/>
                <a:cs typeface="Google Sans Flex"/>
              </a:rPr>
              <a:t>The app also enforces every store’s delivery window and fuel quota; the Datathon plan used the booklet’s time budgets, where 3 stops arrived 16 to 87 minutes late.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923544" y="384048"/>
            <a:ext cx="86868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23544" y="384048"/>
            <a:ext cx="86868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Backup</a:t>
            </a:r>
          </a:p>
        </p:txBody>
      </p:sp>
      <p:sp>
        <p:nvSpPr>
          <p:cNvPr id="4" name="Rounded Rectangle 3">
            <a:hlinkClick r:id="rId3" action="ppaction://hlinksldjump"/>
          </p:cNvPr>
          <p:cNvSpPr/>
          <p:nvPr/>
        </p:nvSpPr>
        <p:spPr>
          <a:xfrm>
            <a:off x="10277856" y="384048"/>
            <a:ext cx="960120" cy="310896"/>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action="ppaction://hlinksldjump"/>
          </p:cNvPr>
          <p:cNvSpPr txBox="1"/>
          <p:nvPr/>
        </p:nvSpPr>
        <p:spPr>
          <a:xfrm>
            <a:off x="10277856" y="384048"/>
            <a:ext cx="96012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  Index</a:t>
            </a:r>
          </a:p>
        </p:txBody>
      </p:sp>
      <p:sp>
        <p:nvSpPr>
          <p:cNvPr id="6" name="Title"/>
          <p:cNvSpPr txBox="1"/>
          <p:nvPr/>
        </p:nvSpPr>
        <p:spPr>
          <a:xfrm>
            <a:off x="923544" y="786384"/>
            <a:ext cx="10314432" cy="603504"/>
          </a:xfrm>
          <a:prstGeom prst="rect">
            <a:avLst/>
          </a:prstGeom>
          <a:noFill/>
        </p:spPr>
        <p:txBody>
          <a:bodyPr wrap="square" lIns="0" tIns="0" rIns="0" bIns="0" anchor="t">
            <a:spAutoFit/>
          </a:bodyPr>
          <a:lstStyle/>
          <a:p>
            <a:pPr algn="l"/>
            <a:r>
              <a:rPr sz="3400">
                <a:solidFill>
                  <a:srgbClr val="00B050"/>
                </a:solidFill>
                <a:latin typeface="Google Sans Flex SemiBold"/>
                <a:ea typeface="Google Sans Flex SemiBold"/>
                <a:cs typeface="Google Sans Flex SemiBold"/>
              </a:rPr>
              <a:t>Task 1 · </a:t>
            </a:r>
            <a:r>
              <a:rPr sz="3400">
                <a:solidFill>
                  <a:srgbClr val="000000"/>
                </a:solidFill>
                <a:latin typeface="Google Sans Flex Light"/>
                <a:ea typeface="Google Sans Flex Light"/>
                <a:cs typeface="Google Sans Flex Light"/>
              </a:rPr>
              <a:t>Late risk and unloading time</a:t>
            </a:r>
          </a:p>
        </p:txBody>
      </p:sp>
      <p:sp>
        <p:nvSpPr>
          <p:cNvPr id="7" name="TextBox 6"/>
          <p:cNvSpPr txBox="1"/>
          <p:nvPr/>
        </p:nvSpPr>
        <p:spPr>
          <a:xfrm>
            <a:off x="923544" y="1371600"/>
            <a:ext cx="10314432" cy="292608"/>
          </a:xfrm>
          <a:prstGeom prst="rect">
            <a:avLst/>
          </a:prstGeom>
          <a:noFill/>
        </p:spPr>
        <p:txBody>
          <a:bodyPr wrap="square" lIns="0" tIns="0" rIns="0" bIns="0" anchor="t">
            <a:spAutoFit/>
          </a:bodyPr>
          <a:lstStyle/>
          <a:p>
            <a:pPr algn="l"/>
            <a:r>
              <a:rPr sz="1400">
                <a:solidFill>
                  <a:srgbClr val="595959"/>
                </a:solidFill>
                <a:latin typeface="Google Sans Flex"/>
                <a:ea typeface="Google Sans Flex"/>
                <a:cs typeface="Google Sans Flex"/>
              </a:rPr>
              <a:t>Labels built from the route records; a simulator and LightGBM, blended</a:t>
            </a:r>
          </a:p>
        </p:txBody>
      </p:sp>
      <p:sp>
        <p:nvSpPr>
          <p:cNvPr id="8" name="TextBox 7"/>
          <p:cNvSpPr txBox="1"/>
          <p:nvPr/>
        </p:nvSpPr>
        <p:spPr>
          <a:xfrm>
            <a:off x="585216" y="6382512"/>
            <a:ext cx="1069848" cy="29260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WayPoint  |</a:t>
            </a:r>
          </a:p>
        </p:txBody>
      </p:sp>
      <p:sp>
        <p:nvSpPr>
          <p:cNvPr id="9" name="TextBox 8"/>
          <p:cNvSpPr txBox="1"/>
          <p:nvPr/>
        </p:nvSpPr>
        <p:spPr>
          <a:xfrm>
            <a:off x="1417320" y="6355080"/>
            <a:ext cx="658368" cy="329184"/>
          </a:xfrm>
          <a:prstGeom prst="rect">
            <a:avLst/>
          </a:prstGeom>
          <a:noFill/>
        </p:spPr>
        <p:txBody>
          <a:bodyPr wrap="square" lIns="0" tIns="0" rIns="0" bIns="0" anchor="ctr">
            <a:spAutoFit/>
          </a:bodyPr>
          <a:lstStyle/>
          <a:p>
            <a:pPr algn="l"/>
            <a:r>
              <a:rPr sz="2000">
                <a:solidFill>
                  <a:srgbClr val="000000"/>
                </a:solidFill>
                <a:latin typeface="Google Sans Flex ExtraBold"/>
                <a:ea typeface="Google Sans Flex ExtraBold"/>
                <a:cs typeface="Google Sans Flex ExtraBold"/>
              </a:rPr>
              <a:t>GO</a:t>
            </a:r>
          </a:p>
        </p:txBody>
      </p:sp>
      <p:sp>
        <p:nvSpPr>
          <p:cNvPr id="10" name="TextBox 9"/>
          <p:cNvSpPr txBox="1"/>
          <p:nvPr/>
        </p:nvSpPr>
        <p:spPr>
          <a:xfrm>
            <a:off x="10936224" y="6382512"/>
            <a:ext cx="658368" cy="292608"/>
          </a:xfrm>
          <a:prstGeom prst="rect">
            <a:avLst/>
          </a:prstGeom>
          <a:noFill/>
        </p:spPr>
        <p:txBody>
          <a:bodyPr wrap="square" lIns="0" tIns="0" rIns="0" bIns="0" anchor="ctr">
            <a:spAutoFit/>
          </a:bodyPr>
          <a:lstStyle/>
          <a:p>
            <a:pPr algn="r"/>
            <a:r>
              <a:rPr sz="1400">
                <a:solidFill>
                  <a:srgbClr val="000000"/>
                </a:solidFill>
                <a:latin typeface="Google Sans Flex"/>
                <a:ea typeface="Google Sans Flex"/>
                <a:cs typeface="Google Sans Flex"/>
              </a:rPr>
              <a:t>14</a:t>
            </a:r>
          </a:p>
        </p:txBody>
      </p:sp>
      <p:sp>
        <p:nvSpPr>
          <p:cNvPr id="11" name="Rounded Rectangle 10"/>
          <p:cNvSpPr/>
          <p:nvPr/>
        </p:nvSpPr>
        <p:spPr>
          <a:xfrm>
            <a:off x="923544" y="1828800"/>
            <a:ext cx="6309360" cy="2734056"/>
          </a:xfrm>
          <a:prstGeom prst="roundRect">
            <a:avLst>
              <a:gd name="adj" fmla="val 6688"/>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88136" y="1993392"/>
            <a:ext cx="1555442" cy="445008"/>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6 unseen weeks</a:t>
            </a:r>
          </a:p>
        </p:txBody>
      </p:sp>
      <p:sp>
        <p:nvSpPr>
          <p:cNvPr id="13" name="TextBox 12"/>
          <p:cNvSpPr txBox="1"/>
          <p:nvPr/>
        </p:nvSpPr>
        <p:spPr>
          <a:xfrm>
            <a:off x="2753306" y="1993392"/>
            <a:ext cx="874936" cy="445008"/>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Statistical</a:t>
            </a:r>
          </a:p>
        </p:txBody>
      </p:sp>
      <p:sp>
        <p:nvSpPr>
          <p:cNvPr id="14" name="TextBox 13"/>
          <p:cNvSpPr txBox="1"/>
          <p:nvPr/>
        </p:nvSpPr>
        <p:spPr>
          <a:xfrm>
            <a:off x="3737970" y="1993392"/>
            <a:ext cx="874936" cy="445008"/>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LightGBM</a:t>
            </a:r>
          </a:p>
        </p:txBody>
      </p:sp>
      <p:sp>
        <p:nvSpPr>
          <p:cNvPr id="15" name="TextBox 14"/>
          <p:cNvSpPr txBox="1"/>
          <p:nvPr/>
        </p:nvSpPr>
        <p:spPr>
          <a:xfrm>
            <a:off x="4722635" y="1993392"/>
            <a:ext cx="972151" cy="445008"/>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Ensemble</a:t>
            </a:r>
          </a:p>
        </p:txBody>
      </p:sp>
      <p:sp>
        <p:nvSpPr>
          <p:cNvPr id="16" name="TextBox 15"/>
          <p:cNvSpPr txBox="1"/>
          <p:nvPr/>
        </p:nvSpPr>
        <p:spPr>
          <a:xfrm>
            <a:off x="5804514" y="1993392"/>
            <a:ext cx="1263797" cy="445008"/>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Selected</a:t>
            </a:r>
          </a:p>
        </p:txBody>
      </p:sp>
      <p:cxnSp>
        <p:nvCxnSpPr>
          <p:cNvPr id="17" name="Connector 16"/>
          <p:cNvCxnSpPr/>
          <p:nvPr/>
        </p:nvCxnSpPr>
        <p:spPr>
          <a:xfrm>
            <a:off x="1022299" y="2474976"/>
            <a:ext cx="611184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88136" y="2474976"/>
            <a:ext cx="1555442"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Unloading error (min)</a:t>
            </a:r>
          </a:p>
        </p:txBody>
      </p:sp>
      <p:sp>
        <p:nvSpPr>
          <p:cNvPr id="19" name="TextBox 18"/>
          <p:cNvSpPr txBox="1"/>
          <p:nvPr/>
        </p:nvSpPr>
        <p:spPr>
          <a:xfrm>
            <a:off x="2753306" y="2474976"/>
            <a:ext cx="874936"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5.24</a:t>
            </a:r>
          </a:p>
        </p:txBody>
      </p:sp>
      <p:sp>
        <p:nvSpPr>
          <p:cNvPr id="20" name="TextBox 19"/>
          <p:cNvSpPr txBox="1"/>
          <p:nvPr/>
        </p:nvSpPr>
        <p:spPr>
          <a:xfrm>
            <a:off x="3737970" y="2474976"/>
            <a:ext cx="874936"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3.75</a:t>
            </a:r>
          </a:p>
        </p:txBody>
      </p:sp>
      <p:sp>
        <p:nvSpPr>
          <p:cNvPr id="21" name="TextBox 20"/>
          <p:cNvSpPr txBox="1"/>
          <p:nvPr/>
        </p:nvSpPr>
        <p:spPr>
          <a:xfrm>
            <a:off x="4722635" y="2474976"/>
            <a:ext cx="972151"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3.66</a:t>
            </a:r>
          </a:p>
        </p:txBody>
      </p:sp>
      <p:sp>
        <p:nvSpPr>
          <p:cNvPr id="22" name="TextBox 21"/>
          <p:cNvSpPr txBox="1"/>
          <p:nvPr/>
        </p:nvSpPr>
        <p:spPr>
          <a:xfrm>
            <a:off x="5804514" y="2474976"/>
            <a:ext cx="1263797" cy="481583"/>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3.72</a:t>
            </a:r>
          </a:p>
        </p:txBody>
      </p:sp>
      <p:cxnSp>
        <p:nvCxnSpPr>
          <p:cNvPr id="23" name="Connector 22"/>
          <p:cNvCxnSpPr/>
          <p:nvPr/>
        </p:nvCxnSpPr>
        <p:spPr>
          <a:xfrm>
            <a:off x="1022299" y="2956560"/>
            <a:ext cx="611184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88136" y="2956560"/>
            <a:ext cx="1555442" cy="29565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Late log-loss</a:t>
            </a:r>
          </a:p>
        </p:txBody>
      </p:sp>
      <p:sp>
        <p:nvSpPr>
          <p:cNvPr id="25" name="TextBox 24"/>
          <p:cNvSpPr txBox="1"/>
          <p:nvPr/>
        </p:nvSpPr>
        <p:spPr>
          <a:xfrm>
            <a:off x="2753306" y="2956560"/>
            <a:ext cx="874936"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0.302</a:t>
            </a:r>
          </a:p>
        </p:txBody>
      </p:sp>
      <p:sp>
        <p:nvSpPr>
          <p:cNvPr id="26" name="TextBox 25"/>
          <p:cNvSpPr txBox="1"/>
          <p:nvPr/>
        </p:nvSpPr>
        <p:spPr>
          <a:xfrm>
            <a:off x="3737970" y="2956560"/>
            <a:ext cx="874936"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0.133</a:t>
            </a:r>
          </a:p>
        </p:txBody>
      </p:sp>
      <p:sp>
        <p:nvSpPr>
          <p:cNvPr id="27" name="TextBox 26"/>
          <p:cNvSpPr txBox="1"/>
          <p:nvPr/>
        </p:nvSpPr>
        <p:spPr>
          <a:xfrm>
            <a:off x="4722635" y="2956560"/>
            <a:ext cx="972151"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0.125</a:t>
            </a:r>
          </a:p>
        </p:txBody>
      </p:sp>
      <p:sp>
        <p:nvSpPr>
          <p:cNvPr id="28" name="TextBox 27"/>
          <p:cNvSpPr txBox="1"/>
          <p:nvPr/>
        </p:nvSpPr>
        <p:spPr>
          <a:xfrm>
            <a:off x="5804514" y="2956560"/>
            <a:ext cx="1263797" cy="29565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0.131</a:t>
            </a:r>
          </a:p>
        </p:txBody>
      </p:sp>
      <p:cxnSp>
        <p:nvCxnSpPr>
          <p:cNvPr id="29" name="Connector 28"/>
          <p:cNvCxnSpPr/>
          <p:nvPr/>
        </p:nvCxnSpPr>
        <p:spPr>
          <a:xfrm>
            <a:off x="1022299" y="3252216"/>
            <a:ext cx="611184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88136" y="3252216"/>
            <a:ext cx="1555442" cy="29565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Correct at 0.5</a:t>
            </a:r>
          </a:p>
        </p:txBody>
      </p:sp>
      <p:sp>
        <p:nvSpPr>
          <p:cNvPr id="31" name="TextBox 30"/>
          <p:cNvSpPr txBox="1"/>
          <p:nvPr/>
        </p:nvSpPr>
        <p:spPr>
          <a:xfrm>
            <a:off x="2753306" y="3252216"/>
            <a:ext cx="874936"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85.8%</a:t>
            </a:r>
          </a:p>
        </p:txBody>
      </p:sp>
      <p:sp>
        <p:nvSpPr>
          <p:cNvPr id="32" name="TextBox 31"/>
          <p:cNvSpPr txBox="1"/>
          <p:nvPr/>
        </p:nvSpPr>
        <p:spPr>
          <a:xfrm>
            <a:off x="3737970" y="3252216"/>
            <a:ext cx="874936"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94.5%</a:t>
            </a:r>
          </a:p>
        </p:txBody>
      </p:sp>
      <p:sp>
        <p:nvSpPr>
          <p:cNvPr id="33" name="TextBox 32"/>
          <p:cNvSpPr txBox="1"/>
          <p:nvPr/>
        </p:nvSpPr>
        <p:spPr>
          <a:xfrm>
            <a:off x="4722635" y="3252216"/>
            <a:ext cx="972151"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94.6%</a:t>
            </a:r>
          </a:p>
        </p:txBody>
      </p:sp>
      <p:sp>
        <p:nvSpPr>
          <p:cNvPr id="34" name="TextBox 33"/>
          <p:cNvSpPr txBox="1"/>
          <p:nvPr/>
        </p:nvSpPr>
        <p:spPr>
          <a:xfrm>
            <a:off x="5804514" y="3252216"/>
            <a:ext cx="1263797" cy="29565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94.5%</a:t>
            </a:r>
          </a:p>
        </p:txBody>
      </p:sp>
      <p:cxnSp>
        <p:nvCxnSpPr>
          <p:cNvPr id="35" name="Connector 34"/>
          <p:cNvCxnSpPr/>
          <p:nvPr/>
        </p:nvCxnSpPr>
        <p:spPr>
          <a:xfrm>
            <a:off x="1022299" y="3547872"/>
            <a:ext cx="611184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88136" y="3547872"/>
            <a:ext cx="1555442" cy="29565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False alarms</a:t>
            </a:r>
          </a:p>
        </p:txBody>
      </p:sp>
      <p:sp>
        <p:nvSpPr>
          <p:cNvPr id="37" name="TextBox 36"/>
          <p:cNvSpPr txBox="1"/>
          <p:nvPr/>
        </p:nvSpPr>
        <p:spPr>
          <a:xfrm>
            <a:off x="2753306" y="3547872"/>
            <a:ext cx="874936"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368</a:t>
            </a:r>
          </a:p>
        </p:txBody>
      </p:sp>
      <p:sp>
        <p:nvSpPr>
          <p:cNvPr id="38" name="TextBox 37"/>
          <p:cNvSpPr txBox="1"/>
          <p:nvPr/>
        </p:nvSpPr>
        <p:spPr>
          <a:xfrm>
            <a:off x="3737970" y="3547872"/>
            <a:ext cx="874936"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115</a:t>
            </a:r>
          </a:p>
        </p:txBody>
      </p:sp>
      <p:sp>
        <p:nvSpPr>
          <p:cNvPr id="39" name="TextBox 38"/>
          <p:cNvSpPr txBox="1"/>
          <p:nvPr/>
        </p:nvSpPr>
        <p:spPr>
          <a:xfrm>
            <a:off x="4722635" y="3547872"/>
            <a:ext cx="972151"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89</a:t>
            </a:r>
          </a:p>
        </p:txBody>
      </p:sp>
      <p:sp>
        <p:nvSpPr>
          <p:cNvPr id="40" name="TextBox 39"/>
          <p:cNvSpPr txBox="1"/>
          <p:nvPr/>
        </p:nvSpPr>
        <p:spPr>
          <a:xfrm>
            <a:off x="5804514" y="3547872"/>
            <a:ext cx="1263797" cy="29565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95</a:t>
            </a:r>
          </a:p>
        </p:txBody>
      </p:sp>
      <p:cxnSp>
        <p:nvCxnSpPr>
          <p:cNvPr id="41" name="Connector 40"/>
          <p:cNvCxnSpPr/>
          <p:nvPr/>
        </p:nvCxnSpPr>
        <p:spPr>
          <a:xfrm>
            <a:off x="1022299" y="3843528"/>
            <a:ext cx="611184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088136" y="3843528"/>
            <a:ext cx="1555442" cy="29565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Training time</a:t>
            </a:r>
          </a:p>
        </p:txBody>
      </p:sp>
      <p:sp>
        <p:nvSpPr>
          <p:cNvPr id="43" name="TextBox 42"/>
          <p:cNvSpPr txBox="1"/>
          <p:nvPr/>
        </p:nvSpPr>
        <p:spPr>
          <a:xfrm>
            <a:off x="2753306" y="3843528"/>
            <a:ext cx="874936"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0.01 s</a:t>
            </a:r>
          </a:p>
        </p:txBody>
      </p:sp>
      <p:sp>
        <p:nvSpPr>
          <p:cNvPr id="44" name="TextBox 43"/>
          <p:cNvSpPr txBox="1"/>
          <p:nvPr/>
        </p:nvSpPr>
        <p:spPr>
          <a:xfrm>
            <a:off x="3737970" y="3843528"/>
            <a:ext cx="874936"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18 s</a:t>
            </a:r>
          </a:p>
        </p:txBody>
      </p:sp>
      <p:sp>
        <p:nvSpPr>
          <p:cNvPr id="45" name="TextBox 44"/>
          <p:cNvSpPr txBox="1"/>
          <p:nvPr/>
        </p:nvSpPr>
        <p:spPr>
          <a:xfrm>
            <a:off x="4722635" y="3843528"/>
            <a:ext cx="972151"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16 min</a:t>
            </a:r>
          </a:p>
        </p:txBody>
      </p:sp>
      <p:sp>
        <p:nvSpPr>
          <p:cNvPr id="46" name="TextBox 45"/>
          <p:cNvSpPr txBox="1"/>
          <p:nvPr/>
        </p:nvSpPr>
        <p:spPr>
          <a:xfrm>
            <a:off x="5804514" y="3843528"/>
            <a:ext cx="1263797" cy="29565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1.5 min</a:t>
            </a:r>
          </a:p>
        </p:txBody>
      </p:sp>
      <p:cxnSp>
        <p:nvCxnSpPr>
          <p:cNvPr id="47" name="Connector 46"/>
          <p:cNvCxnSpPr/>
          <p:nvPr/>
        </p:nvCxnSpPr>
        <p:spPr>
          <a:xfrm>
            <a:off x="1022299" y="4139183"/>
            <a:ext cx="611184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088136" y="4139183"/>
            <a:ext cx="1555442" cy="29565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Per order / size</a:t>
            </a:r>
          </a:p>
        </p:txBody>
      </p:sp>
      <p:sp>
        <p:nvSpPr>
          <p:cNvPr id="49" name="TextBox 48"/>
          <p:cNvSpPr txBox="1"/>
          <p:nvPr/>
        </p:nvSpPr>
        <p:spPr>
          <a:xfrm>
            <a:off x="2753306" y="4139183"/>
            <a:ext cx="874936"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a:t>
            </a:r>
          </a:p>
        </p:txBody>
      </p:sp>
      <p:sp>
        <p:nvSpPr>
          <p:cNvPr id="50" name="TextBox 49"/>
          <p:cNvSpPr txBox="1"/>
          <p:nvPr/>
        </p:nvSpPr>
        <p:spPr>
          <a:xfrm>
            <a:off x="3737970" y="4139183"/>
            <a:ext cx="874936"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a:t>
            </a:r>
          </a:p>
        </p:txBody>
      </p:sp>
      <p:sp>
        <p:nvSpPr>
          <p:cNvPr id="51" name="TextBox 50"/>
          <p:cNvSpPr txBox="1"/>
          <p:nvPr/>
        </p:nvSpPr>
        <p:spPr>
          <a:xfrm>
            <a:off x="4722635" y="4139183"/>
            <a:ext cx="972151"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2 s · 33 MB</a:t>
            </a:r>
          </a:p>
        </p:txBody>
      </p:sp>
      <p:sp>
        <p:nvSpPr>
          <p:cNvPr id="52" name="TextBox 51"/>
          <p:cNvSpPr txBox="1"/>
          <p:nvPr/>
        </p:nvSpPr>
        <p:spPr>
          <a:xfrm>
            <a:off x="5804514" y="4139183"/>
            <a:ext cx="1263797" cy="29565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48 ms · 9.7 MB</a:t>
            </a:r>
          </a:p>
        </p:txBody>
      </p:sp>
      <p:sp>
        <p:nvSpPr>
          <p:cNvPr id="53" name="Rounded Rectangle 52"/>
          <p:cNvSpPr/>
          <p:nvPr/>
        </p:nvSpPr>
        <p:spPr>
          <a:xfrm>
            <a:off x="7507224" y="1828800"/>
            <a:ext cx="3730751" cy="2328672"/>
          </a:xfrm>
          <a:prstGeom prst="roundRect">
            <a:avLst>
              <a:gd name="adj" fmla="val 785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7671816" y="1993392"/>
            <a:ext cx="3401567"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Service time = leave − later of (arrival, window open)</a:t>
            </a:r>
          </a:p>
        </p:txBody>
      </p:sp>
      <p:cxnSp>
        <p:nvCxnSpPr>
          <p:cNvPr id="55" name="Connector 54"/>
          <p:cNvCxnSpPr/>
          <p:nvPr/>
        </p:nvCxnSpPr>
        <p:spPr>
          <a:xfrm>
            <a:off x="7605979" y="2474976"/>
            <a:ext cx="353324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671816" y="2474976"/>
            <a:ext cx="3401567"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Late = arrival after the window closes</a:t>
            </a:r>
          </a:p>
        </p:txBody>
      </p:sp>
      <p:cxnSp>
        <p:nvCxnSpPr>
          <p:cNvPr id="57" name="Connector 56"/>
          <p:cNvCxnSpPr/>
          <p:nvPr/>
        </p:nvCxnSpPr>
        <p:spPr>
          <a:xfrm>
            <a:off x="7605979" y="2770632"/>
            <a:ext cx="353324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7671816" y="2770632"/>
            <a:ext cx="3401567"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Simulator: hundreds of runs per route, delays carried stop to stop</a:t>
            </a:r>
          </a:p>
        </p:txBody>
      </p:sp>
      <p:cxnSp>
        <p:nvCxnSpPr>
          <p:cNvPr id="59" name="Connector 58"/>
          <p:cNvCxnSpPr/>
          <p:nvPr/>
        </p:nvCxnSpPr>
        <p:spPr>
          <a:xfrm>
            <a:off x="7605979" y="3252216"/>
            <a:ext cx="353324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671816" y="3252216"/>
            <a:ext cx="3401567"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Blend in log-odds: 50/50 for lateness, 55/45 for minutes</a:t>
            </a:r>
          </a:p>
        </p:txBody>
      </p:sp>
      <p:cxnSp>
        <p:nvCxnSpPr>
          <p:cNvPr id="61" name="Connector 60"/>
          <p:cNvCxnSpPr/>
          <p:nvPr/>
        </p:nvCxnSpPr>
        <p:spPr>
          <a:xfrm>
            <a:off x="7605979" y="3733799"/>
            <a:ext cx="353324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671816" y="3733799"/>
            <a:ext cx="3401567"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Caught 488 of 678 late; 84% of flags right</a:t>
            </a:r>
          </a:p>
        </p:txBody>
      </p:sp>
      <p:sp>
        <p:nvSpPr>
          <p:cNvPr id="63" name="Rounded Rectangle 62"/>
          <p:cNvSpPr/>
          <p:nvPr/>
        </p:nvSpPr>
        <p:spPr>
          <a:xfrm>
            <a:off x="923544" y="4837176"/>
            <a:ext cx="6309360" cy="1216152"/>
          </a:xfrm>
          <a:prstGeom prst="roundRect">
            <a:avLst>
              <a:gd name="adj" fmla="val 16541"/>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1152144" y="4928616"/>
            <a:ext cx="5852160" cy="1033272"/>
          </a:xfrm>
          <a:prstGeom prst="rect">
            <a:avLst/>
          </a:prstGeom>
          <a:noFill/>
        </p:spPr>
        <p:txBody>
          <a:bodyPr wrap="square" lIns="0" tIns="0" rIns="0" bIns="0" anchor="ctr">
            <a:spAutoFit/>
          </a:bodyPr>
          <a:lstStyle/>
          <a:p>
            <a:pPr algn="l"/>
            <a:r>
              <a:rPr sz="1200">
                <a:solidFill>
                  <a:srgbClr val="FFFFFF"/>
                </a:solidFill>
                <a:latin typeface="Google Sans Flex SemiBold"/>
                <a:ea typeface="Google Sans Flex SemiBold"/>
                <a:cs typeface="Google Sans Flex SemiBold"/>
              </a:rPr>
              <a:t>Why the selected model? </a:t>
            </a:r>
            <a:r>
              <a:rPr sz="1200">
                <a:solidFill>
                  <a:srgbClr val="FFFFFF"/>
                </a:solidFill>
                <a:latin typeface="Google Sans Flex"/>
                <a:ea typeface="Google Sans Flex"/>
                <a:cs typeface="Google Sans Flex"/>
              </a:rPr>
              <a:t>Within 0.06 minutes of the best, 10 times faster to train than the ensemble, one library, 48 ms per order. In production it must first beat the built-in estimate on our own deliveries (backtest and trust gates).</a:t>
            </a:r>
          </a:p>
        </p:txBody>
      </p:sp>
      <p:sp>
        <p:nvSpPr>
          <p:cNvPr id="65" name="Rounded Rectangle 64"/>
          <p:cNvSpPr/>
          <p:nvPr/>
        </p:nvSpPr>
        <p:spPr>
          <a:xfrm>
            <a:off x="7507224" y="4837176"/>
            <a:ext cx="1751075" cy="1216152"/>
          </a:xfrm>
          <a:prstGeom prst="roundRect">
            <a:avLst>
              <a:gd name="adj" fmla="val 2255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7690104" y="4965192"/>
            <a:ext cx="1385315" cy="502920"/>
          </a:xfrm>
          <a:prstGeom prst="rect">
            <a:avLst/>
          </a:prstGeom>
          <a:noFill/>
        </p:spPr>
        <p:txBody>
          <a:bodyPr wrap="square" lIns="0" tIns="0" rIns="0" bIns="0" anchor="t">
            <a:spAutoFit/>
          </a:bodyPr>
          <a:lstStyle/>
          <a:p>
            <a:pPr algn="l"/>
            <a:r>
              <a:rPr sz="3200">
                <a:solidFill>
                  <a:srgbClr val="000000"/>
                </a:solidFill>
                <a:latin typeface="Google Sans Flex SemiBold"/>
                <a:ea typeface="Google Sans Flex SemiBold"/>
                <a:cs typeface="Google Sans Flex SemiBold"/>
              </a:rPr>
              <a:t>0.976</a:t>
            </a:r>
          </a:p>
        </p:txBody>
      </p:sp>
      <p:sp>
        <p:nvSpPr>
          <p:cNvPr id="67" name="TextBox 66"/>
          <p:cNvSpPr txBox="1"/>
          <p:nvPr/>
        </p:nvSpPr>
        <p:spPr>
          <a:xfrm>
            <a:off x="7690104" y="5473192"/>
            <a:ext cx="1385315" cy="433832"/>
          </a:xfrm>
          <a:prstGeom prst="rect">
            <a:avLst/>
          </a:prstGeom>
          <a:noFill/>
        </p:spPr>
        <p:txBody>
          <a:bodyPr wrap="square" lIns="0" tIns="0" rIns="0" bIns="0" anchor="t">
            <a:spAutoFit/>
          </a:bodyPr>
          <a:lstStyle/>
          <a:p>
            <a:pPr algn="l"/>
            <a:r>
              <a:rPr sz="1100">
                <a:solidFill>
                  <a:srgbClr val="000000"/>
                </a:solidFill>
                <a:latin typeface="Google Sans Flex"/>
                <a:ea typeface="Google Sans Flex"/>
                <a:cs typeface="Google Sans Flex"/>
              </a:rPr>
              <a:t>AUC: a late stop ranks riskier 97.6% of the time</a:t>
            </a:r>
          </a:p>
        </p:txBody>
      </p:sp>
      <p:sp>
        <p:nvSpPr>
          <p:cNvPr id="68" name="Rounded Rectangle 67"/>
          <p:cNvSpPr/>
          <p:nvPr/>
        </p:nvSpPr>
        <p:spPr>
          <a:xfrm>
            <a:off x="9486900" y="4837176"/>
            <a:ext cx="1751075" cy="1216152"/>
          </a:xfrm>
          <a:prstGeom prst="roundRect">
            <a:avLst>
              <a:gd name="adj" fmla="val 22556"/>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p:cNvSpPr txBox="1"/>
          <p:nvPr/>
        </p:nvSpPr>
        <p:spPr>
          <a:xfrm>
            <a:off x="9669780" y="4965192"/>
            <a:ext cx="1385315" cy="502920"/>
          </a:xfrm>
          <a:prstGeom prst="rect">
            <a:avLst/>
          </a:prstGeom>
          <a:noFill/>
        </p:spPr>
        <p:txBody>
          <a:bodyPr wrap="square" lIns="0" tIns="0" rIns="0" bIns="0" anchor="t">
            <a:spAutoFit/>
          </a:bodyPr>
          <a:lstStyle/>
          <a:p>
            <a:pPr algn="l"/>
            <a:r>
              <a:rPr sz="3200">
                <a:solidFill>
                  <a:srgbClr val="000000"/>
                </a:solidFill>
                <a:latin typeface="Google Sans Flex SemiBold"/>
                <a:ea typeface="Google Sans Flex SemiBold"/>
                <a:cs typeface="Google Sans Flex SemiBold"/>
              </a:rPr>
              <a:t>0.957</a:t>
            </a:r>
          </a:p>
        </p:txBody>
      </p:sp>
      <p:sp>
        <p:nvSpPr>
          <p:cNvPr id="70" name="TextBox 69"/>
          <p:cNvSpPr txBox="1"/>
          <p:nvPr/>
        </p:nvSpPr>
        <p:spPr>
          <a:xfrm>
            <a:off x="9669780" y="5473192"/>
            <a:ext cx="1385315" cy="433832"/>
          </a:xfrm>
          <a:prstGeom prst="rect">
            <a:avLst/>
          </a:prstGeom>
          <a:noFill/>
        </p:spPr>
        <p:txBody>
          <a:bodyPr wrap="square" lIns="0" tIns="0" rIns="0" bIns="0" anchor="t">
            <a:spAutoFit/>
          </a:bodyPr>
          <a:lstStyle/>
          <a:p>
            <a:pPr algn="l"/>
            <a:r>
              <a:rPr sz="1100">
                <a:solidFill>
                  <a:srgbClr val="000000"/>
                </a:solidFill>
                <a:latin typeface="Google Sans Flex"/>
                <a:ea typeface="Google Sans Flex"/>
                <a:cs typeface="Google Sans Flex"/>
              </a:rPr>
              <a:t>AUC with no road data (production figure)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923544" y="384048"/>
            <a:ext cx="86868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23544" y="384048"/>
            <a:ext cx="86868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Backup</a:t>
            </a:r>
          </a:p>
        </p:txBody>
      </p:sp>
      <p:sp>
        <p:nvSpPr>
          <p:cNvPr id="4" name="Rounded Rectangle 3">
            <a:hlinkClick r:id="rId3" action="ppaction://hlinksldjump"/>
          </p:cNvPr>
          <p:cNvSpPr/>
          <p:nvPr/>
        </p:nvSpPr>
        <p:spPr>
          <a:xfrm>
            <a:off x="10277856" y="384048"/>
            <a:ext cx="960120" cy="310896"/>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action="ppaction://hlinksldjump"/>
          </p:cNvPr>
          <p:cNvSpPr txBox="1"/>
          <p:nvPr/>
        </p:nvSpPr>
        <p:spPr>
          <a:xfrm>
            <a:off x="10277856" y="384048"/>
            <a:ext cx="96012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  Index</a:t>
            </a:r>
          </a:p>
        </p:txBody>
      </p:sp>
      <p:sp>
        <p:nvSpPr>
          <p:cNvPr id="6" name="Title"/>
          <p:cNvSpPr txBox="1"/>
          <p:nvPr/>
        </p:nvSpPr>
        <p:spPr>
          <a:xfrm>
            <a:off x="923544" y="786384"/>
            <a:ext cx="10314432" cy="523220"/>
          </a:xfrm>
          <a:prstGeom prst="rect">
            <a:avLst/>
          </a:prstGeom>
          <a:noFill/>
        </p:spPr>
        <p:txBody>
          <a:bodyPr wrap="square" lIns="0" tIns="0" rIns="0" bIns="0" anchor="t">
            <a:spAutoFit/>
          </a:bodyPr>
          <a:lstStyle/>
          <a:p>
            <a:r>
              <a:rPr sz="3400" dirty="0">
                <a:solidFill>
                  <a:srgbClr val="00B050"/>
                </a:solidFill>
                <a:latin typeface="Google Sans Flex SemiBold"/>
                <a:ea typeface="Google Sans Flex SemiBold"/>
                <a:cs typeface="Google Sans Flex SemiBold"/>
              </a:rPr>
              <a:t>Task 2A · </a:t>
            </a:r>
            <a:r>
              <a:rPr lang="en-US" sz="32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Demand, </a:t>
            </a:r>
            <a:r>
              <a:rPr lang="en-US" sz="3200" dirty="0">
                <a:latin typeface="Google Sans Flex Light" panose="020B0503030502040204" pitchFamily="34" charset="0"/>
                <a:ea typeface="Google Sans Flex Light" panose="020B0503030502040204" pitchFamily="34" charset="0"/>
                <a:cs typeface="Google Sans Flex Light" panose="020B0503030502040204" pitchFamily="34" charset="0"/>
              </a:rPr>
              <a:t>seen ten weeks ahead</a:t>
            </a:r>
          </a:p>
        </p:txBody>
      </p:sp>
      <p:sp>
        <p:nvSpPr>
          <p:cNvPr id="8" name="TextBox 7"/>
          <p:cNvSpPr txBox="1"/>
          <p:nvPr/>
        </p:nvSpPr>
        <p:spPr>
          <a:xfrm>
            <a:off x="585216" y="6382512"/>
            <a:ext cx="1069848" cy="29260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WayPoint  |</a:t>
            </a:r>
          </a:p>
        </p:txBody>
      </p:sp>
      <p:sp>
        <p:nvSpPr>
          <p:cNvPr id="9" name="TextBox 8"/>
          <p:cNvSpPr txBox="1"/>
          <p:nvPr/>
        </p:nvSpPr>
        <p:spPr>
          <a:xfrm>
            <a:off x="1417320" y="6355080"/>
            <a:ext cx="658368" cy="329184"/>
          </a:xfrm>
          <a:prstGeom prst="rect">
            <a:avLst/>
          </a:prstGeom>
          <a:noFill/>
        </p:spPr>
        <p:txBody>
          <a:bodyPr wrap="square" lIns="0" tIns="0" rIns="0" bIns="0" anchor="ctr">
            <a:spAutoFit/>
          </a:bodyPr>
          <a:lstStyle/>
          <a:p>
            <a:pPr algn="l"/>
            <a:r>
              <a:rPr sz="2000">
                <a:solidFill>
                  <a:srgbClr val="000000"/>
                </a:solidFill>
                <a:latin typeface="Google Sans Flex ExtraBold"/>
                <a:ea typeface="Google Sans Flex ExtraBold"/>
                <a:cs typeface="Google Sans Flex ExtraBold"/>
              </a:rPr>
              <a:t>GO</a:t>
            </a:r>
          </a:p>
        </p:txBody>
      </p:sp>
      <p:sp>
        <p:nvSpPr>
          <p:cNvPr id="10" name="TextBox 9"/>
          <p:cNvSpPr txBox="1"/>
          <p:nvPr/>
        </p:nvSpPr>
        <p:spPr>
          <a:xfrm>
            <a:off x="10936224" y="6382512"/>
            <a:ext cx="658368" cy="292608"/>
          </a:xfrm>
          <a:prstGeom prst="rect">
            <a:avLst/>
          </a:prstGeom>
          <a:noFill/>
        </p:spPr>
        <p:txBody>
          <a:bodyPr wrap="square" lIns="0" tIns="0" rIns="0" bIns="0" anchor="ctr">
            <a:spAutoFit/>
          </a:bodyPr>
          <a:lstStyle/>
          <a:p>
            <a:pPr algn="r"/>
            <a:r>
              <a:rPr sz="1400">
                <a:solidFill>
                  <a:srgbClr val="000000"/>
                </a:solidFill>
                <a:latin typeface="Google Sans Flex"/>
                <a:ea typeface="Google Sans Flex"/>
                <a:cs typeface="Google Sans Flex"/>
              </a:rPr>
              <a:t>15</a:t>
            </a:r>
          </a:p>
        </p:txBody>
      </p:sp>
      <p:pic>
        <p:nvPicPr>
          <p:cNvPr id="58" name="!!figE2" descr="Ten forecast weeks after the recent history, m3 per week, for Kandy and Peliyagoda across Fresh, Style and Tech, with the chilled part of Fresh shown separately">
            <a:extLst>
              <a:ext uri="{FF2B5EF4-FFF2-40B4-BE49-F238E27FC236}">
                <a16:creationId xmlns:a16="http://schemas.microsoft.com/office/drawing/2014/main" id="{EF7944C1-1B07-A998-E939-AD79268BD561}"/>
              </a:ext>
            </a:extLst>
          </p:cNvPr>
          <p:cNvPicPr>
            <a:picLocks noChangeAspect="1"/>
          </p:cNvPicPr>
          <p:nvPr/>
        </p:nvPicPr>
        <p:blipFill>
          <a:blip r:embed="rId4"/>
          <a:stretch>
            <a:fillRect/>
          </a:stretch>
        </p:blipFill>
        <p:spPr>
          <a:xfrm>
            <a:off x="927100" y="1596296"/>
            <a:ext cx="10246224" cy="431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9BB52-33DB-7C97-2417-E6A425A565D9}"/>
            </a:ext>
          </a:extLst>
        </p:cNvPr>
        <p:cNvGrpSpPr/>
        <p:nvPr/>
      </p:nvGrpSpPr>
      <p:grpSpPr>
        <a:xfrm>
          <a:off x="0" y="0"/>
          <a:ext cx="0" cy="0"/>
          <a:chOff x="0" y="0"/>
          <a:chExt cx="0" cy="0"/>
        </a:xfrm>
      </p:grpSpPr>
      <p:sp>
        <p:nvSpPr>
          <p:cNvPr id="24" name="Rounded Rectangle 10">
            <a:extLst>
              <a:ext uri="{FF2B5EF4-FFF2-40B4-BE49-F238E27FC236}">
                <a16:creationId xmlns:a16="http://schemas.microsoft.com/office/drawing/2014/main" id="{68001D5F-99D5-3B55-E303-B03C8FED7F92}"/>
              </a:ext>
            </a:extLst>
          </p:cNvPr>
          <p:cNvSpPr/>
          <p:nvPr/>
        </p:nvSpPr>
        <p:spPr>
          <a:xfrm>
            <a:off x="6666618" y="1552358"/>
            <a:ext cx="4927974" cy="4519258"/>
          </a:xfrm>
          <a:prstGeom prst="roundRect">
            <a:avLst>
              <a:gd name="adj" fmla="val 610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10">
            <a:extLst>
              <a:ext uri="{FF2B5EF4-FFF2-40B4-BE49-F238E27FC236}">
                <a16:creationId xmlns:a16="http://schemas.microsoft.com/office/drawing/2014/main" id="{157AC269-0F30-049E-0F22-1FB2B163AD40}"/>
              </a:ext>
            </a:extLst>
          </p:cNvPr>
          <p:cNvSpPr/>
          <p:nvPr/>
        </p:nvSpPr>
        <p:spPr>
          <a:xfrm>
            <a:off x="923544" y="1552358"/>
            <a:ext cx="5525382" cy="4519258"/>
          </a:xfrm>
          <a:prstGeom prst="roundRect">
            <a:avLst>
              <a:gd name="adj" fmla="val 610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Rounded Rectangle 1">
            <a:extLst>
              <a:ext uri="{FF2B5EF4-FFF2-40B4-BE49-F238E27FC236}">
                <a16:creationId xmlns:a16="http://schemas.microsoft.com/office/drawing/2014/main" id="{F6C19065-ADF7-B82C-D156-2198406FC5FE}"/>
              </a:ext>
            </a:extLst>
          </p:cNvPr>
          <p:cNvSpPr/>
          <p:nvPr/>
        </p:nvSpPr>
        <p:spPr>
          <a:xfrm>
            <a:off x="923544" y="384048"/>
            <a:ext cx="86868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a:extLst>
              <a:ext uri="{FF2B5EF4-FFF2-40B4-BE49-F238E27FC236}">
                <a16:creationId xmlns:a16="http://schemas.microsoft.com/office/drawing/2014/main" id="{6AA889CB-A8BA-756E-202A-D5199FA594BE}"/>
              </a:ext>
            </a:extLst>
          </p:cNvPr>
          <p:cNvSpPr txBox="1"/>
          <p:nvPr/>
        </p:nvSpPr>
        <p:spPr>
          <a:xfrm>
            <a:off x="923544" y="384048"/>
            <a:ext cx="86868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Backup</a:t>
            </a:r>
          </a:p>
        </p:txBody>
      </p:sp>
      <p:sp>
        <p:nvSpPr>
          <p:cNvPr id="4" name="Rounded Rectangle 3">
            <a:hlinkClick r:id="rId3" action="ppaction://hlinksldjump"/>
            <a:extLst>
              <a:ext uri="{FF2B5EF4-FFF2-40B4-BE49-F238E27FC236}">
                <a16:creationId xmlns:a16="http://schemas.microsoft.com/office/drawing/2014/main" id="{A5C455FD-4729-5770-F32A-634EDF7EED51}"/>
              </a:ext>
            </a:extLst>
          </p:cNvPr>
          <p:cNvSpPr/>
          <p:nvPr/>
        </p:nvSpPr>
        <p:spPr>
          <a:xfrm>
            <a:off x="10277856" y="384048"/>
            <a:ext cx="960120" cy="310896"/>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action="ppaction://hlinksldjump"/>
            <a:extLst>
              <a:ext uri="{FF2B5EF4-FFF2-40B4-BE49-F238E27FC236}">
                <a16:creationId xmlns:a16="http://schemas.microsoft.com/office/drawing/2014/main" id="{A571CBDD-D1A2-9723-0574-7AF4D09286A6}"/>
              </a:ext>
            </a:extLst>
          </p:cNvPr>
          <p:cNvSpPr txBox="1"/>
          <p:nvPr/>
        </p:nvSpPr>
        <p:spPr>
          <a:xfrm>
            <a:off x="10277856" y="384048"/>
            <a:ext cx="96012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  Index</a:t>
            </a:r>
          </a:p>
        </p:txBody>
      </p:sp>
      <p:sp>
        <p:nvSpPr>
          <p:cNvPr id="6" name="Title">
            <a:extLst>
              <a:ext uri="{FF2B5EF4-FFF2-40B4-BE49-F238E27FC236}">
                <a16:creationId xmlns:a16="http://schemas.microsoft.com/office/drawing/2014/main" id="{429FA8B5-CD82-E24A-A496-D51DDE299282}"/>
              </a:ext>
            </a:extLst>
          </p:cNvPr>
          <p:cNvSpPr txBox="1"/>
          <p:nvPr/>
        </p:nvSpPr>
        <p:spPr>
          <a:xfrm>
            <a:off x="923544" y="786384"/>
            <a:ext cx="10314432" cy="523220"/>
          </a:xfrm>
          <a:prstGeom prst="rect">
            <a:avLst/>
          </a:prstGeom>
          <a:noFill/>
        </p:spPr>
        <p:txBody>
          <a:bodyPr wrap="square" lIns="0" tIns="0" rIns="0" bIns="0" anchor="t">
            <a:spAutoFit/>
          </a:bodyPr>
          <a:lstStyle/>
          <a:p>
            <a:r>
              <a:rPr sz="3400" dirty="0">
                <a:solidFill>
                  <a:srgbClr val="00B050"/>
                </a:solidFill>
                <a:latin typeface="Google Sans Flex SemiBold"/>
                <a:ea typeface="Google Sans Flex SemiBold"/>
                <a:cs typeface="Google Sans Flex SemiBold"/>
              </a:rPr>
              <a:t>Task 2A · </a:t>
            </a:r>
            <a:r>
              <a:rPr lang="en-US" sz="3200" dirty="0">
                <a:latin typeface="Google Sans Flex SemiBold" panose="020B0503030502040204" pitchFamily="34" charset="0"/>
                <a:ea typeface="Google Sans Flex SemiBold" panose="020B0503030502040204" pitchFamily="34" charset="0"/>
                <a:cs typeface="Google Sans Flex SemiBold" panose="020B0503030502040204" pitchFamily="34" charset="0"/>
              </a:rPr>
              <a:t>Demand, </a:t>
            </a:r>
            <a:r>
              <a:rPr lang="en-US" sz="3200" dirty="0">
                <a:latin typeface="Google Sans Flex Light" panose="020B0503030502040204" pitchFamily="34" charset="0"/>
                <a:ea typeface="Google Sans Flex Light" panose="020B0503030502040204" pitchFamily="34" charset="0"/>
                <a:cs typeface="Google Sans Flex Light" panose="020B0503030502040204" pitchFamily="34" charset="0"/>
              </a:rPr>
              <a:t>seen ten weeks ahead</a:t>
            </a:r>
          </a:p>
        </p:txBody>
      </p:sp>
      <p:sp>
        <p:nvSpPr>
          <p:cNvPr id="8" name="TextBox 7">
            <a:extLst>
              <a:ext uri="{FF2B5EF4-FFF2-40B4-BE49-F238E27FC236}">
                <a16:creationId xmlns:a16="http://schemas.microsoft.com/office/drawing/2014/main" id="{5312F1D7-95B0-AA94-06F4-FD5C1BF7F66B}"/>
              </a:ext>
            </a:extLst>
          </p:cNvPr>
          <p:cNvSpPr txBox="1"/>
          <p:nvPr/>
        </p:nvSpPr>
        <p:spPr>
          <a:xfrm>
            <a:off x="585216" y="6382512"/>
            <a:ext cx="1069848" cy="29260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WayPoint  |</a:t>
            </a:r>
          </a:p>
        </p:txBody>
      </p:sp>
      <p:sp>
        <p:nvSpPr>
          <p:cNvPr id="9" name="TextBox 8">
            <a:extLst>
              <a:ext uri="{FF2B5EF4-FFF2-40B4-BE49-F238E27FC236}">
                <a16:creationId xmlns:a16="http://schemas.microsoft.com/office/drawing/2014/main" id="{E026B777-5253-1505-514D-1ECDFF6798E9}"/>
              </a:ext>
            </a:extLst>
          </p:cNvPr>
          <p:cNvSpPr txBox="1"/>
          <p:nvPr/>
        </p:nvSpPr>
        <p:spPr>
          <a:xfrm>
            <a:off x="1417320" y="6355080"/>
            <a:ext cx="658368" cy="329184"/>
          </a:xfrm>
          <a:prstGeom prst="rect">
            <a:avLst/>
          </a:prstGeom>
          <a:noFill/>
        </p:spPr>
        <p:txBody>
          <a:bodyPr wrap="square" lIns="0" tIns="0" rIns="0" bIns="0" anchor="ctr">
            <a:spAutoFit/>
          </a:bodyPr>
          <a:lstStyle/>
          <a:p>
            <a:pPr algn="l"/>
            <a:r>
              <a:rPr sz="2000">
                <a:solidFill>
                  <a:srgbClr val="000000"/>
                </a:solidFill>
                <a:latin typeface="Google Sans Flex ExtraBold"/>
                <a:ea typeface="Google Sans Flex ExtraBold"/>
                <a:cs typeface="Google Sans Flex ExtraBold"/>
              </a:rPr>
              <a:t>GO</a:t>
            </a:r>
          </a:p>
        </p:txBody>
      </p:sp>
      <p:sp>
        <p:nvSpPr>
          <p:cNvPr id="10" name="TextBox 9">
            <a:extLst>
              <a:ext uri="{FF2B5EF4-FFF2-40B4-BE49-F238E27FC236}">
                <a16:creationId xmlns:a16="http://schemas.microsoft.com/office/drawing/2014/main" id="{5D97926F-79EB-A778-572B-3362159EB22A}"/>
              </a:ext>
            </a:extLst>
          </p:cNvPr>
          <p:cNvSpPr txBox="1"/>
          <p:nvPr/>
        </p:nvSpPr>
        <p:spPr>
          <a:xfrm>
            <a:off x="10936224" y="6382512"/>
            <a:ext cx="658368" cy="292608"/>
          </a:xfrm>
          <a:prstGeom prst="rect">
            <a:avLst/>
          </a:prstGeom>
          <a:noFill/>
        </p:spPr>
        <p:txBody>
          <a:bodyPr wrap="square" lIns="0" tIns="0" rIns="0" bIns="0" anchor="ctr">
            <a:spAutoFit/>
          </a:bodyPr>
          <a:lstStyle/>
          <a:p>
            <a:pPr algn="r"/>
            <a:r>
              <a:rPr sz="1400">
                <a:solidFill>
                  <a:srgbClr val="000000"/>
                </a:solidFill>
                <a:latin typeface="Google Sans Flex"/>
                <a:ea typeface="Google Sans Flex"/>
                <a:cs typeface="Google Sans Flex"/>
              </a:rPr>
              <a:t>15</a:t>
            </a:r>
          </a:p>
        </p:txBody>
      </p:sp>
      <p:pic>
        <p:nvPicPr>
          <p:cNvPr id="16" name="Copied Picture 16" descr="Weekly forecast by depot, total and chilled m3, 10 forecast weeks">
            <a:extLst>
              <a:ext uri="{FF2B5EF4-FFF2-40B4-BE49-F238E27FC236}">
                <a16:creationId xmlns:a16="http://schemas.microsoft.com/office/drawing/2014/main" id="{5A6BC81B-A1E2-8F7A-09B0-A6C89BDCCBD7}"/>
              </a:ext>
            </a:extLst>
          </p:cNvPr>
          <p:cNvPicPr>
            <a:picLocks noChangeAspect="1"/>
          </p:cNvPicPr>
          <p:nvPr/>
        </p:nvPicPr>
        <p:blipFill>
          <a:blip r:embed="rId4"/>
          <a:srcRect t="8500" r="3490"/>
          <a:stretch>
            <a:fillRect/>
          </a:stretch>
        </p:blipFill>
        <p:spPr>
          <a:xfrm>
            <a:off x="991187" y="2233732"/>
            <a:ext cx="5322986" cy="3473587"/>
          </a:xfrm>
          <a:prstGeom prst="rect">
            <a:avLst/>
          </a:prstGeom>
        </p:spPr>
      </p:pic>
      <p:pic>
        <p:nvPicPr>
          <p:cNvPr id="18" name="Copied Picture 17" descr="Calendar festivals build to +34% Fresh and +52% Style; Poya, Ramazan, Hajj and Milad-un-Nabi stay near zero">
            <a:extLst>
              <a:ext uri="{FF2B5EF4-FFF2-40B4-BE49-F238E27FC236}">
                <a16:creationId xmlns:a16="http://schemas.microsoft.com/office/drawing/2014/main" id="{3A8730C7-0DC9-3DB7-0563-A8694AF5C6F5}"/>
              </a:ext>
            </a:extLst>
          </p:cNvPr>
          <p:cNvPicPr>
            <a:picLocks noChangeAspect="1"/>
          </p:cNvPicPr>
          <p:nvPr/>
        </p:nvPicPr>
        <p:blipFill>
          <a:blip r:embed="rId5"/>
          <a:srcRect t="5300"/>
          <a:stretch>
            <a:fillRect/>
          </a:stretch>
        </p:blipFill>
        <p:spPr>
          <a:xfrm>
            <a:off x="6741721" y="2413535"/>
            <a:ext cx="4775200" cy="1689100"/>
          </a:xfrm>
          <a:prstGeom prst="rect">
            <a:avLst/>
          </a:prstGeom>
        </p:spPr>
      </p:pic>
      <p:sp>
        <p:nvSpPr>
          <p:cNvPr id="20" name="TextBox 19">
            <a:extLst>
              <a:ext uri="{FF2B5EF4-FFF2-40B4-BE49-F238E27FC236}">
                <a16:creationId xmlns:a16="http://schemas.microsoft.com/office/drawing/2014/main" id="{D14A6F95-8481-06D8-E01F-219017B753EE}"/>
              </a:ext>
            </a:extLst>
          </p:cNvPr>
          <p:cNvSpPr txBox="1"/>
          <p:nvPr/>
        </p:nvSpPr>
        <p:spPr>
          <a:xfrm>
            <a:off x="1212301" y="1755118"/>
            <a:ext cx="4014216" cy="215444"/>
          </a:xfrm>
          <a:prstGeom prst="rect">
            <a:avLst/>
          </a:prstGeom>
          <a:noFill/>
        </p:spPr>
        <p:txBody>
          <a:bodyPr wrap="square" lIns="0" tIns="0" rIns="0" bIns="0" anchor="t">
            <a:spAutoFit/>
          </a:bodyPr>
          <a:lstStyle/>
          <a:p>
            <a:pPr algn="l"/>
            <a:r>
              <a:rPr lang="en-US" sz="1400" dirty="0">
                <a:solidFill>
                  <a:srgbClr val="595959"/>
                </a:solidFill>
                <a:latin typeface="Google Sans Flex"/>
                <a:ea typeface="Google Sans Flex"/>
                <a:cs typeface="Google Sans Flex"/>
              </a:rPr>
              <a:t>Weekly forecast per depot, total and chilled, m³</a:t>
            </a:r>
          </a:p>
        </p:txBody>
      </p:sp>
      <p:sp>
        <p:nvSpPr>
          <p:cNvPr id="21" name="TextBox 20">
            <a:extLst>
              <a:ext uri="{FF2B5EF4-FFF2-40B4-BE49-F238E27FC236}">
                <a16:creationId xmlns:a16="http://schemas.microsoft.com/office/drawing/2014/main" id="{DC77B530-0C3F-F983-D601-D83B0B3943B5}"/>
              </a:ext>
            </a:extLst>
          </p:cNvPr>
          <p:cNvSpPr txBox="1"/>
          <p:nvPr/>
        </p:nvSpPr>
        <p:spPr>
          <a:xfrm>
            <a:off x="6965483" y="1862840"/>
            <a:ext cx="4014216" cy="215444"/>
          </a:xfrm>
          <a:prstGeom prst="rect">
            <a:avLst/>
          </a:prstGeom>
          <a:noFill/>
        </p:spPr>
        <p:txBody>
          <a:bodyPr wrap="square" lIns="0" tIns="0" rIns="0" bIns="0" anchor="t">
            <a:spAutoFit/>
          </a:bodyPr>
          <a:lstStyle/>
          <a:p>
            <a:pPr algn="l"/>
            <a:r>
              <a:rPr lang="en-US" sz="1400" dirty="0">
                <a:solidFill>
                  <a:srgbClr val="595959"/>
                </a:solidFill>
                <a:latin typeface="Google Sans Flex"/>
                <a:ea typeface="Google Sans Flex"/>
                <a:cs typeface="Google Sans Flex"/>
              </a:rPr>
              <a:t>Holidays not in the calendar: no lift</a:t>
            </a:r>
          </a:p>
        </p:txBody>
      </p:sp>
    </p:spTree>
    <p:extLst>
      <p:ext uri="{BB962C8B-B14F-4D97-AF65-F5344CB8AC3E}">
        <p14:creationId xmlns:p14="http://schemas.microsoft.com/office/powerpoint/2010/main" val="28885827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ounded Rectangle 10">
            <a:extLst>
              <a:ext uri="{FF2B5EF4-FFF2-40B4-BE49-F238E27FC236}">
                <a16:creationId xmlns:a16="http://schemas.microsoft.com/office/drawing/2014/main" id="{8A257ECF-6DA0-65D1-1EB0-8CB1DD5783B7}"/>
              </a:ext>
            </a:extLst>
          </p:cNvPr>
          <p:cNvSpPr/>
          <p:nvPr/>
        </p:nvSpPr>
        <p:spPr>
          <a:xfrm>
            <a:off x="7632835" y="1854200"/>
            <a:ext cx="3635622" cy="3278903"/>
          </a:xfrm>
          <a:prstGeom prst="roundRect">
            <a:avLst>
              <a:gd name="adj" fmla="val 610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Rounded Rectangle 10">
            <a:extLst>
              <a:ext uri="{FF2B5EF4-FFF2-40B4-BE49-F238E27FC236}">
                <a16:creationId xmlns:a16="http://schemas.microsoft.com/office/drawing/2014/main" id="{462E3427-3FC4-8E82-CEFF-9C49FA7671E3}"/>
              </a:ext>
            </a:extLst>
          </p:cNvPr>
          <p:cNvSpPr/>
          <p:nvPr/>
        </p:nvSpPr>
        <p:spPr>
          <a:xfrm>
            <a:off x="923544" y="1854200"/>
            <a:ext cx="6420532" cy="4331156"/>
          </a:xfrm>
          <a:prstGeom prst="roundRect">
            <a:avLst>
              <a:gd name="adj" fmla="val 6103"/>
            </a:avLst>
          </a:prstGeom>
          <a:solidFill>
            <a:srgbClr val="E7F3F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Rounded Rectangle 1"/>
          <p:cNvSpPr/>
          <p:nvPr/>
        </p:nvSpPr>
        <p:spPr>
          <a:xfrm>
            <a:off x="923544" y="384048"/>
            <a:ext cx="86868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23544" y="384048"/>
            <a:ext cx="86868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Backup</a:t>
            </a:r>
          </a:p>
        </p:txBody>
      </p:sp>
      <p:sp>
        <p:nvSpPr>
          <p:cNvPr id="4" name="Rounded Rectangle 3">
            <a:hlinkClick r:id="rId3" action="ppaction://hlinksldjump"/>
          </p:cNvPr>
          <p:cNvSpPr/>
          <p:nvPr/>
        </p:nvSpPr>
        <p:spPr>
          <a:xfrm>
            <a:off x="10277856" y="384048"/>
            <a:ext cx="960120" cy="310896"/>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action="ppaction://hlinksldjump"/>
          </p:cNvPr>
          <p:cNvSpPr txBox="1"/>
          <p:nvPr/>
        </p:nvSpPr>
        <p:spPr>
          <a:xfrm>
            <a:off x="10277856" y="384048"/>
            <a:ext cx="96012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  Index</a:t>
            </a:r>
          </a:p>
        </p:txBody>
      </p:sp>
      <p:sp>
        <p:nvSpPr>
          <p:cNvPr id="6" name="Title"/>
          <p:cNvSpPr txBox="1"/>
          <p:nvPr/>
        </p:nvSpPr>
        <p:spPr>
          <a:xfrm>
            <a:off x="923544" y="786384"/>
            <a:ext cx="10314432" cy="603504"/>
          </a:xfrm>
          <a:prstGeom prst="rect">
            <a:avLst/>
          </a:prstGeom>
          <a:noFill/>
        </p:spPr>
        <p:txBody>
          <a:bodyPr wrap="square" lIns="0" tIns="0" rIns="0" bIns="0" anchor="t">
            <a:spAutoFit/>
          </a:bodyPr>
          <a:lstStyle/>
          <a:p>
            <a:pPr algn="l"/>
            <a:r>
              <a:rPr sz="3400" dirty="0">
                <a:solidFill>
                  <a:srgbClr val="00B050"/>
                </a:solidFill>
                <a:latin typeface="Google Sans Flex SemiBold"/>
                <a:ea typeface="Google Sans Flex SemiBold"/>
                <a:cs typeface="Google Sans Flex SemiBold"/>
              </a:rPr>
              <a:t>Task 2B · </a:t>
            </a:r>
            <a:r>
              <a:rPr sz="3400" dirty="0">
                <a:solidFill>
                  <a:srgbClr val="000000"/>
                </a:solidFill>
                <a:latin typeface="Google Sans Flex Light"/>
                <a:ea typeface="Google Sans Flex Light"/>
                <a:cs typeface="Google Sans Flex Light"/>
              </a:rPr>
              <a:t>The peak-day plan</a:t>
            </a:r>
          </a:p>
        </p:txBody>
      </p:sp>
      <p:sp>
        <p:nvSpPr>
          <p:cNvPr id="7" name="TextBox 6"/>
          <p:cNvSpPr txBox="1"/>
          <p:nvPr/>
        </p:nvSpPr>
        <p:spPr>
          <a:xfrm>
            <a:off x="923544" y="1371600"/>
            <a:ext cx="10314432" cy="215444"/>
          </a:xfrm>
          <a:prstGeom prst="rect">
            <a:avLst/>
          </a:prstGeom>
          <a:noFill/>
        </p:spPr>
        <p:txBody>
          <a:bodyPr wrap="square" lIns="0" tIns="0" rIns="0" bIns="0" anchor="t">
            <a:spAutoFit/>
          </a:bodyPr>
          <a:lstStyle/>
          <a:p>
            <a:pPr algn="l"/>
            <a:r>
              <a:rPr lang="en-US" sz="1400" dirty="0">
                <a:solidFill>
                  <a:srgbClr val="595959"/>
                </a:solidFill>
                <a:latin typeface="Google Sans Flex"/>
                <a:ea typeface="Google Sans Flex"/>
                <a:cs typeface="Google Sans Flex"/>
              </a:rPr>
              <a:t>Too few trucks? The best plan, explained</a:t>
            </a:r>
          </a:p>
        </p:txBody>
      </p:sp>
      <p:sp>
        <p:nvSpPr>
          <p:cNvPr id="8" name="TextBox 7"/>
          <p:cNvSpPr txBox="1"/>
          <p:nvPr/>
        </p:nvSpPr>
        <p:spPr>
          <a:xfrm>
            <a:off x="585216" y="6382512"/>
            <a:ext cx="1069848" cy="29260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WayPoint  |</a:t>
            </a:r>
          </a:p>
        </p:txBody>
      </p:sp>
      <p:sp>
        <p:nvSpPr>
          <p:cNvPr id="9" name="TextBox 8"/>
          <p:cNvSpPr txBox="1"/>
          <p:nvPr/>
        </p:nvSpPr>
        <p:spPr>
          <a:xfrm>
            <a:off x="1417320" y="6355080"/>
            <a:ext cx="658368" cy="329184"/>
          </a:xfrm>
          <a:prstGeom prst="rect">
            <a:avLst/>
          </a:prstGeom>
          <a:noFill/>
        </p:spPr>
        <p:txBody>
          <a:bodyPr wrap="square" lIns="0" tIns="0" rIns="0" bIns="0" anchor="ctr">
            <a:spAutoFit/>
          </a:bodyPr>
          <a:lstStyle/>
          <a:p>
            <a:pPr algn="l"/>
            <a:r>
              <a:rPr sz="2000">
                <a:solidFill>
                  <a:srgbClr val="000000"/>
                </a:solidFill>
                <a:latin typeface="Google Sans Flex ExtraBold"/>
                <a:ea typeface="Google Sans Flex ExtraBold"/>
                <a:cs typeface="Google Sans Flex ExtraBold"/>
              </a:rPr>
              <a:t>GO</a:t>
            </a:r>
          </a:p>
        </p:txBody>
      </p:sp>
      <p:sp>
        <p:nvSpPr>
          <p:cNvPr id="10" name="TextBox 9"/>
          <p:cNvSpPr txBox="1"/>
          <p:nvPr/>
        </p:nvSpPr>
        <p:spPr>
          <a:xfrm>
            <a:off x="10936224" y="6382512"/>
            <a:ext cx="658368" cy="292608"/>
          </a:xfrm>
          <a:prstGeom prst="rect">
            <a:avLst/>
          </a:prstGeom>
          <a:noFill/>
        </p:spPr>
        <p:txBody>
          <a:bodyPr wrap="square" lIns="0" tIns="0" rIns="0" bIns="0" anchor="ctr">
            <a:spAutoFit/>
          </a:bodyPr>
          <a:lstStyle/>
          <a:p>
            <a:pPr algn="r"/>
            <a:r>
              <a:rPr sz="1400">
                <a:solidFill>
                  <a:srgbClr val="000000"/>
                </a:solidFill>
                <a:latin typeface="Google Sans Flex"/>
                <a:ea typeface="Google Sans Flex"/>
                <a:cs typeface="Google Sans Flex"/>
              </a:rPr>
              <a:t>16</a:t>
            </a:r>
          </a:p>
        </p:txBody>
      </p:sp>
      <p:pic>
        <p:nvPicPr>
          <p:cNvPr id="55" name="!!figF2" descr="Chilled demand 181.6 m3 against refrigerated capacity 172.4 m3">
            <a:extLst>
              <a:ext uri="{FF2B5EF4-FFF2-40B4-BE49-F238E27FC236}">
                <a16:creationId xmlns:a16="http://schemas.microsoft.com/office/drawing/2014/main" id="{9296DC81-65DA-C01C-6F47-0DB76887FFFD}"/>
              </a:ext>
            </a:extLst>
          </p:cNvPr>
          <p:cNvPicPr>
            <a:picLocks noChangeAspect="1"/>
          </p:cNvPicPr>
          <p:nvPr/>
        </p:nvPicPr>
        <p:blipFill>
          <a:blip r:embed="rId4"/>
          <a:srcRect b="26000"/>
          <a:stretch>
            <a:fillRect/>
          </a:stretch>
        </p:blipFill>
        <p:spPr>
          <a:xfrm>
            <a:off x="1049154" y="2006600"/>
            <a:ext cx="6179419" cy="934560"/>
          </a:xfrm>
          <a:prstGeom prst="rect">
            <a:avLst/>
          </a:prstGeom>
        </p:spPr>
      </p:pic>
      <p:pic>
        <p:nvPicPr>
          <p:cNvPr id="57" name="!!figF1" descr="CP-SAT goals in order: yesterday's deferred orders all 10 served; most orders 77 of 85; most chilled m3 131.0 of 181.6; fewest trips 27; fewest vehicles 17">
            <a:extLst>
              <a:ext uri="{FF2B5EF4-FFF2-40B4-BE49-F238E27FC236}">
                <a16:creationId xmlns:a16="http://schemas.microsoft.com/office/drawing/2014/main" id="{C93DE854-6CD8-5C7F-2AE9-D545758BC549}"/>
              </a:ext>
            </a:extLst>
          </p:cNvPr>
          <p:cNvPicPr>
            <a:picLocks noChangeAspect="1"/>
          </p:cNvPicPr>
          <p:nvPr/>
        </p:nvPicPr>
        <p:blipFill>
          <a:blip r:embed="rId5"/>
          <a:stretch>
            <a:fillRect/>
          </a:stretch>
        </p:blipFill>
        <p:spPr>
          <a:xfrm>
            <a:off x="1049154" y="3281648"/>
            <a:ext cx="6179419" cy="1950380"/>
          </a:xfrm>
          <a:prstGeom prst="rect">
            <a:avLst/>
          </a:prstGeom>
        </p:spPr>
      </p:pic>
      <p:sp>
        <p:nvSpPr>
          <p:cNvPr id="59" name="!!note15">
            <a:extLst>
              <a:ext uri="{FF2B5EF4-FFF2-40B4-BE49-F238E27FC236}">
                <a16:creationId xmlns:a16="http://schemas.microsoft.com/office/drawing/2014/main" id="{A7C5E12F-3E7C-552B-5624-C37EA5C0F6DC}"/>
              </a:ext>
            </a:extLst>
          </p:cNvPr>
          <p:cNvSpPr txBox="1"/>
          <p:nvPr/>
        </p:nvSpPr>
        <p:spPr>
          <a:xfrm>
            <a:off x="1241659" y="5461000"/>
            <a:ext cx="5881036" cy="711200"/>
          </a:xfrm>
          <a:prstGeom prst="rect">
            <a:avLst/>
          </a:prstGeom>
          <a:noFill/>
        </p:spPr>
        <p:txBody>
          <a:bodyPr wrap="square" lIns="0" tIns="0" rIns="0" bIns="0" rtlCol="0" anchor="t">
            <a:noAutofit/>
          </a:bodyPr>
          <a:lstStyle/>
          <a:p>
            <a:r>
              <a:rPr lang="en-US" sz="1400" dirty="0">
                <a:latin typeface="Google Sans Flex" panose="020B0503030502040204" pitchFamily="34" charset="0"/>
                <a:ea typeface="Google Sans Flex" panose="020B0503030502040204" pitchFamily="34" charset="0"/>
                <a:cs typeface="Google Sans Flex" panose="020B0503030502040204" pitchFamily="34" charset="0"/>
              </a:rPr>
              <a:t>Yesterday's deferrals go first, then as many orders as fit. </a:t>
            </a:r>
            <a:r>
              <a:rPr lang="en-US" sz="1400" b="1" dirty="0">
                <a:latin typeface="Google Sans Flex" panose="020B0503030502040204" pitchFamily="34" charset="0"/>
                <a:ea typeface="Google Sans Flex" panose="020B0503030502040204" pitchFamily="34" charset="0"/>
                <a:cs typeface="Google Sans Flex" panose="020B0503030502040204" pitchFamily="34" charset="0"/>
              </a:rPr>
              <a:t>Every order left waiting comes with a reason the dispatcher can give the store.</a:t>
            </a:r>
          </a:p>
        </p:txBody>
      </p:sp>
      <p:sp>
        <p:nvSpPr>
          <p:cNvPr id="61" name="!!lbl16">
            <a:extLst>
              <a:ext uri="{FF2B5EF4-FFF2-40B4-BE49-F238E27FC236}">
                <a16:creationId xmlns:a16="http://schemas.microsoft.com/office/drawing/2014/main" id="{C04081F7-C943-D0C7-72CA-7B03DF307F8D}"/>
              </a:ext>
            </a:extLst>
          </p:cNvPr>
          <p:cNvSpPr txBox="1"/>
          <p:nvPr/>
        </p:nvSpPr>
        <p:spPr>
          <a:xfrm>
            <a:off x="7835900" y="2012324"/>
            <a:ext cx="3403600" cy="254000"/>
          </a:xfrm>
          <a:prstGeom prst="rect">
            <a:avLst/>
          </a:prstGeom>
          <a:noFill/>
        </p:spPr>
        <p:txBody>
          <a:bodyPr wrap="square" lIns="0" tIns="0" rIns="0" bIns="0" rtlCol="0" anchor="b">
            <a:noAutofit/>
          </a:bodyPr>
          <a:lstStyle/>
          <a:p>
            <a:r>
              <a:rPr lang="en-US" sz="1400" dirty="0">
                <a:solidFill>
                  <a:srgbClr val="006A62"/>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Where chilled orders wait</a:t>
            </a:r>
          </a:p>
        </p:txBody>
      </p:sp>
      <p:pic>
        <p:nvPicPr>
          <p:cNvPr id="63" name="!!figF3" descr="Share of chilled orders not served on their order day, by district: Colombo about 26%, Gampaha about 7%">
            <a:extLst>
              <a:ext uri="{FF2B5EF4-FFF2-40B4-BE49-F238E27FC236}">
                <a16:creationId xmlns:a16="http://schemas.microsoft.com/office/drawing/2014/main" id="{4BCBF4BD-5489-606F-5276-A022ED792EBE}"/>
              </a:ext>
            </a:extLst>
          </p:cNvPr>
          <p:cNvPicPr>
            <a:picLocks noChangeAspect="1"/>
          </p:cNvPicPr>
          <p:nvPr/>
        </p:nvPicPr>
        <p:blipFill>
          <a:blip r:embed="rId6"/>
          <a:srcRect l="67100" t="15500" r="1300"/>
          <a:stretch>
            <a:fillRect/>
          </a:stretch>
        </p:blipFill>
        <p:spPr>
          <a:xfrm>
            <a:off x="7835900" y="2369312"/>
            <a:ext cx="3109799" cy="2763791"/>
          </a:xfrm>
          <a:prstGeom prst="rect">
            <a:avLst/>
          </a:prstGeom>
        </p:spPr>
      </p:pic>
      <p:sp>
        <p:nvSpPr>
          <p:cNvPr id="65" name="!!stat18">
            <a:extLst>
              <a:ext uri="{FF2B5EF4-FFF2-40B4-BE49-F238E27FC236}">
                <a16:creationId xmlns:a16="http://schemas.microsoft.com/office/drawing/2014/main" id="{1036D625-3BD3-3FFF-573E-00D9AE1104E3}"/>
              </a:ext>
            </a:extLst>
          </p:cNvPr>
          <p:cNvSpPr/>
          <p:nvPr/>
        </p:nvSpPr>
        <p:spPr>
          <a:xfrm>
            <a:off x="7662190" y="5339080"/>
            <a:ext cx="3575785" cy="1016000"/>
          </a:xfrm>
          <a:prstGeom prst="roundRect">
            <a:avLst>
              <a:gd name="adj" fmla="val 14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txBody>
          <a:bodyPr wrap="square" lIns="177800" tIns="101600" rIns="127000" bIns="101600" rtlCol="0" anchor="ctr">
            <a:noAutofit/>
          </a:bodyPr>
          <a:lstStyle/>
          <a:p>
            <a:r>
              <a:rPr lang="en-US" sz="2400" dirty="0">
                <a:solidFill>
                  <a:srgbClr val="001B09"/>
                </a:solidFill>
                <a:latin typeface="Google Sans Flex SemiBold" panose="020B0503030502040204" pitchFamily="34" charset="0"/>
                <a:ea typeface="Google Sans Flex SemiBold" panose="020B0503030502040204" pitchFamily="34" charset="0"/>
                <a:cs typeface="Google Sans Flex SemiBold" panose="020B0503030502040204" pitchFamily="34" charset="0"/>
              </a:rPr>
              <a:t>4 of 9</a:t>
            </a:r>
          </a:p>
          <a:p>
            <a:r>
              <a:rPr lang="en-US" sz="1400" dirty="0">
                <a:solidFill>
                  <a:srgbClr val="001B09"/>
                </a:solidFill>
                <a:latin typeface="Google Sans Flex" panose="020B0503030502040204" pitchFamily="34" charset="0"/>
                <a:ea typeface="Google Sans Flex" panose="020B0503030502040204" pitchFamily="34" charset="0"/>
                <a:cs typeface="Google Sans Flex" panose="020B0503030502040204" pitchFamily="34" charset="0"/>
              </a:rPr>
              <a:t>reefers on the road; 5 in the workshop</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923544" y="384048"/>
            <a:ext cx="86868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23544" y="384048"/>
            <a:ext cx="86868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Backup</a:t>
            </a:r>
          </a:p>
        </p:txBody>
      </p:sp>
      <p:sp>
        <p:nvSpPr>
          <p:cNvPr id="4" name="Rounded Rectangle 3">
            <a:hlinkClick r:id="rId3" action="ppaction://hlinksldjump"/>
          </p:cNvPr>
          <p:cNvSpPr/>
          <p:nvPr/>
        </p:nvSpPr>
        <p:spPr>
          <a:xfrm>
            <a:off x="10277856" y="384048"/>
            <a:ext cx="960120" cy="310896"/>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action="ppaction://hlinksldjump"/>
          </p:cNvPr>
          <p:cNvSpPr txBox="1"/>
          <p:nvPr/>
        </p:nvSpPr>
        <p:spPr>
          <a:xfrm>
            <a:off x="10277856" y="384048"/>
            <a:ext cx="96012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  Index</a:t>
            </a:r>
          </a:p>
        </p:txBody>
      </p:sp>
      <p:sp>
        <p:nvSpPr>
          <p:cNvPr id="6" name="Title"/>
          <p:cNvSpPr txBox="1"/>
          <p:nvPr/>
        </p:nvSpPr>
        <p:spPr>
          <a:xfrm>
            <a:off x="923544" y="786384"/>
            <a:ext cx="10314432" cy="603504"/>
          </a:xfrm>
          <a:prstGeom prst="rect">
            <a:avLst/>
          </a:prstGeom>
          <a:noFill/>
        </p:spPr>
        <p:txBody>
          <a:bodyPr wrap="square" lIns="0" tIns="0" rIns="0" bIns="0" anchor="t">
            <a:spAutoFit/>
          </a:bodyPr>
          <a:lstStyle/>
          <a:p>
            <a:pPr algn="l"/>
            <a:r>
              <a:rPr sz="3400">
                <a:solidFill>
                  <a:srgbClr val="00B050"/>
                </a:solidFill>
                <a:latin typeface="Google Sans Flex SemiBold"/>
                <a:ea typeface="Google Sans Flex SemiBold"/>
                <a:cs typeface="Google Sans Flex SemiBold"/>
              </a:rPr>
              <a:t>Trust, </a:t>
            </a:r>
            <a:r>
              <a:rPr sz="3400">
                <a:solidFill>
                  <a:srgbClr val="000000"/>
                </a:solidFill>
                <a:latin typeface="Google Sans Flex Light"/>
                <a:ea typeface="Google Sans Flex Light"/>
                <a:cs typeface="Google Sans Flex Light"/>
              </a:rPr>
              <a:t>safety and privacy</a:t>
            </a:r>
          </a:p>
        </p:txBody>
      </p:sp>
      <p:sp>
        <p:nvSpPr>
          <p:cNvPr id="7" name="TextBox 6"/>
          <p:cNvSpPr txBox="1"/>
          <p:nvPr/>
        </p:nvSpPr>
        <p:spPr>
          <a:xfrm>
            <a:off x="923544" y="1371600"/>
            <a:ext cx="10314432" cy="292608"/>
          </a:xfrm>
          <a:prstGeom prst="rect">
            <a:avLst/>
          </a:prstGeom>
          <a:noFill/>
        </p:spPr>
        <p:txBody>
          <a:bodyPr wrap="square" lIns="0" tIns="0" rIns="0" bIns="0" anchor="t">
            <a:spAutoFit/>
          </a:bodyPr>
          <a:lstStyle/>
          <a:p>
            <a:pPr algn="l"/>
            <a:r>
              <a:rPr sz="1400">
                <a:solidFill>
                  <a:srgbClr val="595959"/>
                </a:solidFill>
                <a:latin typeface="Google Sans Flex"/>
                <a:ea typeface="Google Sans Flex"/>
                <a:cs typeface="Google Sans Flex"/>
              </a:rPr>
              <a:t>Advice, never autopilot; every AI answer checked; every action audited</a:t>
            </a:r>
          </a:p>
        </p:txBody>
      </p:sp>
      <p:sp>
        <p:nvSpPr>
          <p:cNvPr id="8" name="TextBox 7"/>
          <p:cNvSpPr txBox="1"/>
          <p:nvPr/>
        </p:nvSpPr>
        <p:spPr>
          <a:xfrm>
            <a:off x="585216" y="6382512"/>
            <a:ext cx="1069848" cy="29260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WayPoint  |</a:t>
            </a:r>
          </a:p>
        </p:txBody>
      </p:sp>
      <p:sp>
        <p:nvSpPr>
          <p:cNvPr id="9" name="TextBox 8"/>
          <p:cNvSpPr txBox="1"/>
          <p:nvPr/>
        </p:nvSpPr>
        <p:spPr>
          <a:xfrm>
            <a:off x="1417320" y="6355080"/>
            <a:ext cx="658368" cy="329184"/>
          </a:xfrm>
          <a:prstGeom prst="rect">
            <a:avLst/>
          </a:prstGeom>
          <a:noFill/>
        </p:spPr>
        <p:txBody>
          <a:bodyPr wrap="square" lIns="0" tIns="0" rIns="0" bIns="0" anchor="ctr">
            <a:spAutoFit/>
          </a:bodyPr>
          <a:lstStyle/>
          <a:p>
            <a:pPr algn="l"/>
            <a:r>
              <a:rPr sz="2000">
                <a:solidFill>
                  <a:srgbClr val="000000"/>
                </a:solidFill>
                <a:latin typeface="Google Sans Flex ExtraBold"/>
                <a:ea typeface="Google Sans Flex ExtraBold"/>
                <a:cs typeface="Google Sans Flex ExtraBold"/>
              </a:rPr>
              <a:t>GO</a:t>
            </a:r>
          </a:p>
        </p:txBody>
      </p:sp>
      <p:sp>
        <p:nvSpPr>
          <p:cNvPr id="10" name="TextBox 9"/>
          <p:cNvSpPr txBox="1"/>
          <p:nvPr/>
        </p:nvSpPr>
        <p:spPr>
          <a:xfrm>
            <a:off x="10936224" y="6382512"/>
            <a:ext cx="658368" cy="292608"/>
          </a:xfrm>
          <a:prstGeom prst="rect">
            <a:avLst/>
          </a:prstGeom>
          <a:noFill/>
        </p:spPr>
        <p:txBody>
          <a:bodyPr wrap="square" lIns="0" tIns="0" rIns="0" bIns="0" anchor="ctr">
            <a:spAutoFit/>
          </a:bodyPr>
          <a:lstStyle/>
          <a:p>
            <a:pPr algn="r"/>
            <a:r>
              <a:rPr sz="1400">
                <a:solidFill>
                  <a:srgbClr val="000000"/>
                </a:solidFill>
                <a:latin typeface="Google Sans Flex"/>
                <a:ea typeface="Google Sans Flex"/>
                <a:cs typeface="Google Sans Flex"/>
              </a:rPr>
              <a:t>17</a:t>
            </a:r>
          </a:p>
        </p:txBody>
      </p:sp>
      <p:sp>
        <p:nvSpPr>
          <p:cNvPr id="11" name="Rounded Rectangle 10"/>
          <p:cNvSpPr/>
          <p:nvPr/>
        </p:nvSpPr>
        <p:spPr>
          <a:xfrm>
            <a:off x="923544" y="1828800"/>
            <a:ext cx="3255264" cy="3276600"/>
          </a:xfrm>
          <a:prstGeom prst="roundRect">
            <a:avLst>
              <a:gd name="adj" fmla="val 5617"/>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88136" y="1993392"/>
            <a:ext cx="2926080" cy="243840"/>
          </a:xfrm>
          <a:prstGeom prst="rect">
            <a:avLst/>
          </a:prstGeom>
          <a:noFill/>
        </p:spPr>
        <p:txBody>
          <a:bodyPr wrap="square" lIns="0" tIns="0" rIns="0" bIns="0" anchor="t">
            <a:spAutoFit/>
          </a:bodyPr>
          <a:lstStyle/>
          <a:p>
            <a:pPr algn="l"/>
            <a:r>
              <a:rPr sz="1600">
                <a:solidFill>
                  <a:srgbClr val="000000"/>
                </a:solidFill>
                <a:latin typeface="Google Sans Flex SemiBold"/>
                <a:ea typeface="Google Sans Flex SemiBold"/>
                <a:cs typeface="Google Sans Flex SemiBold"/>
              </a:rPr>
              <a:t>Models</a:t>
            </a:r>
          </a:p>
        </p:txBody>
      </p:sp>
      <p:cxnSp>
        <p:nvCxnSpPr>
          <p:cNvPr id="13" name="Connector 12"/>
          <p:cNvCxnSpPr/>
          <p:nvPr/>
        </p:nvCxnSpPr>
        <p:spPr>
          <a:xfrm>
            <a:off x="1022299" y="2310384"/>
            <a:ext cx="305775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88136" y="2383536"/>
            <a:ext cx="2926080"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Predictions are advice: they never change a plan</a:t>
            </a:r>
          </a:p>
        </p:txBody>
      </p:sp>
      <p:cxnSp>
        <p:nvCxnSpPr>
          <p:cNvPr id="15" name="Connector 14"/>
          <p:cNvCxnSpPr/>
          <p:nvPr/>
        </p:nvCxnSpPr>
        <p:spPr>
          <a:xfrm>
            <a:off x="1022299" y="2865120"/>
            <a:ext cx="305775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88136" y="2865120"/>
            <a:ext cx="2926080" cy="667512"/>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Trust gates before going live: precision ≥ 60%, recall ≥ 70%, calibrated</a:t>
            </a:r>
          </a:p>
        </p:txBody>
      </p:sp>
      <p:cxnSp>
        <p:nvCxnSpPr>
          <p:cNvPr id="17" name="Connector 16"/>
          <p:cNvCxnSpPr/>
          <p:nvPr/>
        </p:nvCxnSpPr>
        <p:spPr>
          <a:xfrm>
            <a:off x="1022299" y="3532632"/>
            <a:ext cx="305775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88136" y="3532632"/>
            <a:ext cx="2926080"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Outcomes recorded, daily metrics, drift alerts</a:t>
            </a:r>
          </a:p>
        </p:txBody>
      </p:sp>
      <p:cxnSp>
        <p:nvCxnSpPr>
          <p:cNvPr id="19" name="Connector 18"/>
          <p:cNvCxnSpPr/>
          <p:nvPr/>
        </p:nvCxnSpPr>
        <p:spPr>
          <a:xfrm>
            <a:off x="1022299" y="4014216"/>
            <a:ext cx="305775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88136" y="4014216"/>
            <a:ext cx="2926080"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Shadow candidate on every plan; worse model rolled back</a:t>
            </a:r>
          </a:p>
        </p:txBody>
      </p:sp>
      <p:cxnSp>
        <p:nvCxnSpPr>
          <p:cNvPr id="21" name="Connector 20"/>
          <p:cNvCxnSpPr/>
          <p:nvPr/>
        </p:nvCxnSpPr>
        <p:spPr>
          <a:xfrm>
            <a:off x="1022299" y="4495800"/>
            <a:ext cx="305775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88136" y="4495800"/>
            <a:ext cx="2926080"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Competition models off in production until own-data model passes</a:t>
            </a:r>
          </a:p>
        </p:txBody>
      </p:sp>
      <p:sp>
        <p:nvSpPr>
          <p:cNvPr id="23" name="Rounded Rectangle 22"/>
          <p:cNvSpPr/>
          <p:nvPr/>
        </p:nvSpPr>
        <p:spPr>
          <a:xfrm>
            <a:off x="4453128" y="1828800"/>
            <a:ext cx="3255264" cy="3276600"/>
          </a:xfrm>
          <a:prstGeom prst="roundRect">
            <a:avLst>
              <a:gd name="adj" fmla="val 5617"/>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617720" y="1993392"/>
            <a:ext cx="2926080" cy="243840"/>
          </a:xfrm>
          <a:prstGeom prst="rect">
            <a:avLst/>
          </a:prstGeom>
          <a:noFill/>
        </p:spPr>
        <p:txBody>
          <a:bodyPr wrap="square" lIns="0" tIns="0" rIns="0" bIns="0" anchor="t">
            <a:spAutoFit/>
          </a:bodyPr>
          <a:lstStyle/>
          <a:p>
            <a:pPr algn="l"/>
            <a:r>
              <a:rPr sz="1600">
                <a:solidFill>
                  <a:srgbClr val="000000"/>
                </a:solidFill>
                <a:latin typeface="Google Sans Flex SemiBold"/>
                <a:ea typeface="Google Sans Flex SemiBold"/>
                <a:cs typeface="Google Sans Flex SemiBold"/>
              </a:rPr>
              <a:t>Language AI</a:t>
            </a:r>
          </a:p>
        </p:txBody>
      </p:sp>
      <p:cxnSp>
        <p:nvCxnSpPr>
          <p:cNvPr id="25" name="Connector 24"/>
          <p:cNvCxnSpPr/>
          <p:nvPr/>
        </p:nvCxnSpPr>
        <p:spPr>
          <a:xfrm>
            <a:off x="4551883" y="2310384"/>
            <a:ext cx="305775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617720" y="2383536"/>
            <a:ext cx="2926080" cy="47548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Off by default; a daily call cap</a:t>
            </a:r>
          </a:p>
        </p:txBody>
      </p:sp>
      <p:cxnSp>
        <p:nvCxnSpPr>
          <p:cNvPr id="27" name="Connector 26"/>
          <p:cNvCxnSpPr/>
          <p:nvPr/>
        </p:nvCxnSpPr>
        <p:spPr>
          <a:xfrm>
            <a:off x="4551883" y="2859024"/>
            <a:ext cx="305775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617720" y="2859024"/>
            <a:ext cx="2926080"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Only allow-listed facts are sent; names masked</a:t>
            </a:r>
          </a:p>
        </p:txBody>
      </p:sp>
      <p:cxnSp>
        <p:nvCxnSpPr>
          <p:cNvPr id="29" name="Connector 28"/>
          <p:cNvCxnSpPr/>
          <p:nvPr/>
        </p:nvCxnSpPr>
        <p:spPr>
          <a:xfrm>
            <a:off x="4551883" y="3340608"/>
            <a:ext cx="305775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617720" y="3340608"/>
            <a:ext cx="2926080"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Any number not in the facts → the plain sentence stands</a:t>
            </a:r>
          </a:p>
        </p:txBody>
      </p:sp>
      <p:cxnSp>
        <p:nvCxnSpPr>
          <p:cNvPr id="31" name="Connector 30"/>
          <p:cNvCxnSpPr/>
          <p:nvPr/>
        </p:nvCxnSpPr>
        <p:spPr>
          <a:xfrm>
            <a:off x="4551883" y="3822191"/>
            <a:ext cx="305775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617720" y="3822191"/>
            <a:ext cx="2926080"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Zero retention; prompt version logged</a:t>
            </a:r>
          </a:p>
        </p:txBody>
      </p:sp>
      <p:cxnSp>
        <p:nvCxnSpPr>
          <p:cNvPr id="33" name="Connector 32"/>
          <p:cNvCxnSpPr/>
          <p:nvPr/>
        </p:nvCxnSpPr>
        <p:spPr>
          <a:xfrm>
            <a:off x="4551883" y="4303775"/>
            <a:ext cx="305775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617720" y="4303775"/>
            <a:ext cx="2926080"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An outside AI (Jev) sorts problem reports, in shadow only</a:t>
            </a:r>
          </a:p>
        </p:txBody>
      </p:sp>
      <p:sp>
        <p:nvSpPr>
          <p:cNvPr id="35" name="Rounded Rectangle 34"/>
          <p:cNvSpPr/>
          <p:nvPr/>
        </p:nvSpPr>
        <p:spPr>
          <a:xfrm>
            <a:off x="7982712" y="1828800"/>
            <a:ext cx="3255264" cy="3276600"/>
          </a:xfrm>
          <a:prstGeom prst="roundRect">
            <a:avLst>
              <a:gd name="adj" fmla="val 5617"/>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8147304" y="1993392"/>
            <a:ext cx="2926080" cy="243840"/>
          </a:xfrm>
          <a:prstGeom prst="rect">
            <a:avLst/>
          </a:prstGeom>
          <a:noFill/>
        </p:spPr>
        <p:txBody>
          <a:bodyPr wrap="square" lIns="0" tIns="0" rIns="0" bIns="0" anchor="t">
            <a:spAutoFit/>
          </a:bodyPr>
          <a:lstStyle/>
          <a:p>
            <a:pPr algn="l"/>
            <a:r>
              <a:rPr sz="1600">
                <a:solidFill>
                  <a:srgbClr val="000000"/>
                </a:solidFill>
                <a:latin typeface="Google Sans Flex SemiBold"/>
                <a:ea typeface="Google Sans Flex SemiBold"/>
                <a:cs typeface="Google Sans Flex SemiBold"/>
              </a:rPr>
              <a:t>Access and data</a:t>
            </a:r>
          </a:p>
        </p:txBody>
      </p:sp>
      <p:cxnSp>
        <p:nvCxnSpPr>
          <p:cNvPr id="37" name="Connector 36"/>
          <p:cNvCxnSpPr/>
          <p:nvPr/>
        </p:nvCxnSpPr>
        <p:spPr>
          <a:xfrm>
            <a:off x="8081467" y="2310384"/>
            <a:ext cx="305775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147304" y="2383536"/>
            <a:ext cx="2926080"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Role + depot, store or vehicle scope on every request</a:t>
            </a:r>
          </a:p>
        </p:txBody>
      </p:sp>
      <p:cxnSp>
        <p:nvCxnSpPr>
          <p:cNvPr id="39" name="Connector 38"/>
          <p:cNvCxnSpPr/>
          <p:nvPr/>
        </p:nvCxnSpPr>
        <p:spPr>
          <a:xfrm>
            <a:off x="8081467" y="2865120"/>
            <a:ext cx="305775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147304" y="2865120"/>
            <a:ext cx="2926080" cy="47548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Row-level security in the database</a:t>
            </a:r>
          </a:p>
        </p:txBody>
      </p:sp>
      <p:cxnSp>
        <p:nvCxnSpPr>
          <p:cNvPr id="41" name="Connector 40"/>
          <p:cNvCxnSpPr/>
          <p:nvPr/>
        </p:nvCxnSpPr>
        <p:spPr>
          <a:xfrm>
            <a:off x="8081467" y="3340608"/>
            <a:ext cx="305775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147304" y="3340608"/>
            <a:ext cx="2926080" cy="47548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Every command and AI call audited</a:t>
            </a:r>
          </a:p>
        </p:txBody>
      </p:sp>
      <p:cxnSp>
        <p:nvCxnSpPr>
          <p:cNvPr id="43" name="Connector 42"/>
          <p:cNvCxnSpPr/>
          <p:nvPr/>
        </p:nvCxnSpPr>
        <p:spPr>
          <a:xfrm>
            <a:off x="8081467" y="3816096"/>
            <a:ext cx="305775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147304" y="3816096"/>
            <a:ext cx="2926080"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Sessions 12 h, 2 h idle; login throttling</a:t>
            </a:r>
          </a:p>
        </p:txBody>
      </p:sp>
      <p:cxnSp>
        <p:nvCxnSpPr>
          <p:cNvPr id="45" name="Connector 44"/>
          <p:cNvCxnSpPr/>
          <p:nvPr/>
        </p:nvCxnSpPr>
        <p:spPr>
          <a:xfrm>
            <a:off x="8081467" y="4297680"/>
            <a:ext cx="305775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147304" y="4297680"/>
            <a:ext cx="2926080"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AI assistants (MCP): own permissions, confirm-before-change</a:t>
            </a:r>
          </a:p>
        </p:txBody>
      </p:sp>
      <p:sp>
        <p:nvSpPr>
          <p:cNvPr id="47" name="Rounded Rectangle 46"/>
          <p:cNvSpPr/>
          <p:nvPr/>
        </p:nvSpPr>
        <p:spPr>
          <a:xfrm>
            <a:off x="923544" y="5440680"/>
            <a:ext cx="10314432" cy="548640"/>
          </a:xfrm>
          <a:prstGeom prst="roundRect">
            <a:avLst>
              <a:gd name="adj" fmla="val 50000"/>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1152144" y="5532120"/>
            <a:ext cx="9857232" cy="365759"/>
          </a:xfrm>
          <a:prstGeom prst="rect">
            <a:avLst/>
          </a:prstGeom>
          <a:noFill/>
        </p:spPr>
        <p:txBody>
          <a:bodyPr wrap="square" lIns="0" tIns="0" rIns="0" bIns="0" anchor="ctr">
            <a:spAutoFit/>
          </a:bodyPr>
          <a:lstStyle/>
          <a:p>
            <a:pPr algn="l"/>
            <a:r>
              <a:rPr sz="1300">
                <a:solidFill>
                  <a:srgbClr val="FFFFFF"/>
                </a:solidFill>
                <a:latin typeface="Google Sans Flex"/>
                <a:ea typeface="Google Sans Flex"/>
                <a:cs typeface="Google Sans Flex"/>
              </a:rPr>
              <a:t>Ready for Sri Lanka’s PDPA (in force 1 January 2027): data agreements before any cloud AI, hosting in Sri Lanka as an option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923544" y="384048"/>
            <a:ext cx="86868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23544" y="384048"/>
            <a:ext cx="86868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Backup</a:t>
            </a:r>
          </a:p>
        </p:txBody>
      </p:sp>
      <p:sp>
        <p:nvSpPr>
          <p:cNvPr id="4" name="Rounded Rectangle 3">
            <a:hlinkClick r:id="rId3" action="ppaction://hlinksldjump"/>
          </p:cNvPr>
          <p:cNvSpPr/>
          <p:nvPr/>
        </p:nvSpPr>
        <p:spPr>
          <a:xfrm>
            <a:off x="10277856" y="384048"/>
            <a:ext cx="960120" cy="310896"/>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action="ppaction://hlinksldjump"/>
          </p:cNvPr>
          <p:cNvSpPr txBox="1"/>
          <p:nvPr/>
        </p:nvSpPr>
        <p:spPr>
          <a:xfrm>
            <a:off x="10277856" y="384048"/>
            <a:ext cx="96012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  Index</a:t>
            </a:r>
          </a:p>
        </p:txBody>
      </p:sp>
      <p:sp>
        <p:nvSpPr>
          <p:cNvPr id="6" name="Title"/>
          <p:cNvSpPr txBox="1"/>
          <p:nvPr/>
        </p:nvSpPr>
        <p:spPr>
          <a:xfrm>
            <a:off x="923544" y="786384"/>
            <a:ext cx="10314432" cy="603504"/>
          </a:xfrm>
          <a:prstGeom prst="rect">
            <a:avLst/>
          </a:prstGeom>
          <a:noFill/>
        </p:spPr>
        <p:txBody>
          <a:bodyPr wrap="square" lIns="0" tIns="0" rIns="0" bIns="0" anchor="t">
            <a:spAutoFit/>
          </a:bodyPr>
          <a:lstStyle/>
          <a:p>
            <a:pPr algn="l"/>
            <a:r>
              <a:rPr sz="3400">
                <a:solidFill>
                  <a:srgbClr val="00B050"/>
                </a:solidFill>
                <a:latin typeface="Google Sans Flex SemiBold"/>
                <a:ea typeface="Google Sans Flex SemiBold"/>
                <a:cs typeface="Google Sans Flex SemiBold"/>
              </a:rPr>
              <a:t>Works offline, </a:t>
            </a:r>
            <a:r>
              <a:rPr sz="3400">
                <a:solidFill>
                  <a:srgbClr val="000000"/>
                </a:solidFill>
                <a:latin typeface="Google Sans Flex Light"/>
                <a:ea typeface="Google Sans Flex Light"/>
                <a:cs typeface="Google Sans Flex Light"/>
              </a:rPr>
              <a:t>fails gracefully</a:t>
            </a:r>
          </a:p>
        </p:txBody>
      </p:sp>
      <p:sp>
        <p:nvSpPr>
          <p:cNvPr id="7" name="TextBox 6"/>
          <p:cNvSpPr txBox="1"/>
          <p:nvPr/>
        </p:nvSpPr>
        <p:spPr>
          <a:xfrm>
            <a:off x="923544" y="1371600"/>
            <a:ext cx="10314432" cy="292608"/>
          </a:xfrm>
          <a:prstGeom prst="rect">
            <a:avLst/>
          </a:prstGeom>
          <a:noFill/>
        </p:spPr>
        <p:txBody>
          <a:bodyPr wrap="square" lIns="0" tIns="0" rIns="0" bIns="0" anchor="t">
            <a:spAutoFit/>
          </a:bodyPr>
          <a:lstStyle/>
          <a:p>
            <a:pPr algn="l"/>
            <a:r>
              <a:rPr sz="1400">
                <a:solidFill>
                  <a:srgbClr val="595959"/>
                </a:solidFill>
                <a:latin typeface="Google Sans Flex"/>
                <a:ea typeface="Google Sans Flex"/>
                <a:cs typeface="Google Sans Flex"/>
              </a:rPr>
              <a:t>Designed on Day 5 as our failure screen; built and working today</a:t>
            </a:r>
          </a:p>
        </p:txBody>
      </p:sp>
      <p:sp>
        <p:nvSpPr>
          <p:cNvPr id="8" name="TextBox 7"/>
          <p:cNvSpPr txBox="1"/>
          <p:nvPr/>
        </p:nvSpPr>
        <p:spPr>
          <a:xfrm>
            <a:off x="585216" y="6382512"/>
            <a:ext cx="1069848" cy="29260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WayPoint  |</a:t>
            </a:r>
          </a:p>
        </p:txBody>
      </p:sp>
      <p:sp>
        <p:nvSpPr>
          <p:cNvPr id="9" name="TextBox 8"/>
          <p:cNvSpPr txBox="1"/>
          <p:nvPr/>
        </p:nvSpPr>
        <p:spPr>
          <a:xfrm>
            <a:off x="1417320" y="6355080"/>
            <a:ext cx="658368" cy="329184"/>
          </a:xfrm>
          <a:prstGeom prst="rect">
            <a:avLst/>
          </a:prstGeom>
          <a:noFill/>
        </p:spPr>
        <p:txBody>
          <a:bodyPr wrap="square" lIns="0" tIns="0" rIns="0" bIns="0" anchor="ctr">
            <a:spAutoFit/>
          </a:bodyPr>
          <a:lstStyle/>
          <a:p>
            <a:pPr algn="l"/>
            <a:r>
              <a:rPr sz="2000">
                <a:solidFill>
                  <a:srgbClr val="000000"/>
                </a:solidFill>
                <a:latin typeface="Google Sans Flex ExtraBold"/>
                <a:ea typeface="Google Sans Flex ExtraBold"/>
                <a:cs typeface="Google Sans Flex ExtraBold"/>
              </a:rPr>
              <a:t>GO</a:t>
            </a:r>
          </a:p>
        </p:txBody>
      </p:sp>
      <p:sp>
        <p:nvSpPr>
          <p:cNvPr id="10" name="TextBox 9"/>
          <p:cNvSpPr txBox="1"/>
          <p:nvPr/>
        </p:nvSpPr>
        <p:spPr>
          <a:xfrm>
            <a:off x="10936224" y="6382512"/>
            <a:ext cx="658368" cy="292608"/>
          </a:xfrm>
          <a:prstGeom prst="rect">
            <a:avLst/>
          </a:prstGeom>
          <a:noFill/>
        </p:spPr>
        <p:txBody>
          <a:bodyPr wrap="square" lIns="0" tIns="0" rIns="0" bIns="0" anchor="ctr">
            <a:spAutoFit/>
          </a:bodyPr>
          <a:lstStyle/>
          <a:p>
            <a:pPr algn="r"/>
            <a:r>
              <a:rPr sz="1400">
                <a:solidFill>
                  <a:srgbClr val="000000"/>
                </a:solidFill>
                <a:latin typeface="Google Sans Flex"/>
                <a:ea typeface="Google Sans Flex"/>
                <a:cs typeface="Google Sans Flex"/>
              </a:rPr>
              <a:t>18</a:t>
            </a:r>
          </a:p>
        </p:txBody>
      </p:sp>
      <p:sp>
        <p:nvSpPr>
          <p:cNvPr id="11" name="Rounded Rectangle 10"/>
          <p:cNvSpPr/>
          <p:nvPr/>
        </p:nvSpPr>
        <p:spPr>
          <a:xfrm>
            <a:off x="923544" y="1828800"/>
            <a:ext cx="4206240" cy="4206240"/>
          </a:xfrm>
          <a:prstGeom prst="roundRect">
            <a:avLst>
              <a:gd name="adj" fmla="val 6521"/>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97864" y="2057400"/>
            <a:ext cx="3657600" cy="822960"/>
          </a:xfrm>
          <a:prstGeom prst="rect">
            <a:avLst/>
          </a:prstGeom>
          <a:noFill/>
        </p:spPr>
        <p:txBody>
          <a:bodyPr wrap="square" lIns="0" tIns="0" rIns="0" bIns="0" anchor="t">
            <a:spAutoFit/>
          </a:bodyPr>
          <a:lstStyle/>
          <a:p>
            <a:pPr algn="l"/>
            <a:r>
              <a:rPr sz="2000">
                <a:solidFill>
                  <a:srgbClr val="FFFFFF"/>
                </a:solidFill>
                <a:latin typeface="Google Sans Flex SemiBold"/>
                <a:ea typeface="Google Sans Flex SemiBold"/>
                <a:cs typeface="Google Sans Flex SemiBold"/>
              </a:rPr>
              <a:t>Driver, loader and store keep working with no signal</a:t>
            </a:r>
          </a:p>
        </p:txBody>
      </p:sp>
      <p:sp>
        <p:nvSpPr>
          <p:cNvPr id="13" name="Rounded Rectangle 12"/>
          <p:cNvSpPr/>
          <p:nvPr/>
        </p:nvSpPr>
        <p:spPr>
          <a:xfrm>
            <a:off x="1197864" y="3108960"/>
            <a:ext cx="384048" cy="384048"/>
          </a:xfrm>
          <a:prstGeom prst="roundRect">
            <a:avLst>
              <a:gd name="adj" fmla="val 50000"/>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197864" y="3108960"/>
            <a:ext cx="384048" cy="384048"/>
          </a:xfrm>
          <a:prstGeom prst="rect">
            <a:avLst/>
          </a:prstGeom>
          <a:noFill/>
        </p:spPr>
        <p:txBody>
          <a:bodyPr wrap="square" lIns="0" tIns="0" rIns="0" bIns="0" anchor="ctr">
            <a:spAutoFit/>
          </a:bodyPr>
          <a:lstStyle/>
          <a:p>
            <a:pPr algn="ctr"/>
            <a:r>
              <a:rPr sz="1200">
                <a:solidFill>
                  <a:srgbClr val="FFFFFF"/>
                </a:solidFill>
                <a:latin typeface="Google Sans Flex"/>
                <a:ea typeface="Google Sans Flex"/>
                <a:cs typeface="Google Sans Flex"/>
              </a:rPr>
              <a:t>1</a:t>
            </a:r>
          </a:p>
        </p:txBody>
      </p:sp>
      <p:sp>
        <p:nvSpPr>
          <p:cNvPr id="15" name="TextBox 14"/>
          <p:cNvSpPr txBox="1"/>
          <p:nvPr/>
        </p:nvSpPr>
        <p:spPr>
          <a:xfrm>
            <a:off x="1746504" y="3063240"/>
            <a:ext cx="3200400" cy="502920"/>
          </a:xfrm>
          <a:prstGeom prst="rect">
            <a:avLst/>
          </a:prstGeom>
          <a:noFill/>
        </p:spPr>
        <p:txBody>
          <a:bodyPr wrap="square" lIns="0" tIns="0" rIns="0" bIns="0" anchor="ctr">
            <a:spAutoFit/>
          </a:bodyPr>
          <a:lstStyle/>
          <a:p>
            <a:pPr algn="l"/>
            <a:r>
              <a:rPr sz="1300">
                <a:solidFill>
                  <a:srgbClr val="FFFFFF"/>
                </a:solidFill>
                <a:latin typeface="Google Sans Flex"/>
                <a:ea typeface="Google Sans Flex"/>
                <a:cs typeface="Google Sans Flex"/>
              </a:rPr>
              <a:t>Saved on the phone with a command ID; sent exactly once</a:t>
            </a:r>
          </a:p>
        </p:txBody>
      </p:sp>
      <p:sp>
        <p:nvSpPr>
          <p:cNvPr id="16" name="Rounded Rectangle 15"/>
          <p:cNvSpPr/>
          <p:nvPr/>
        </p:nvSpPr>
        <p:spPr>
          <a:xfrm>
            <a:off x="1197864" y="3822191"/>
            <a:ext cx="384048" cy="384048"/>
          </a:xfrm>
          <a:prstGeom prst="roundRect">
            <a:avLst>
              <a:gd name="adj" fmla="val 50000"/>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197864" y="3822191"/>
            <a:ext cx="384048" cy="384048"/>
          </a:xfrm>
          <a:prstGeom prst="rect">
            <a:avLst/>
          </a:prstGeom>
          <a:noFill/>
        </p:spPr>
        <p:txBody>
          <a:bodyPr wrap="square" lIns="0" tIns="0" rIns="0" bIns="0" anchor="ctr">
            <a:spAutoFit/>
          </a:bodyPr>
          <a:lstStyle/>
          <a:p>
            <a:pPr algn="ctr"/>
            <a:r>
              <a:rPr sz="1200">
                <a:solidFill>
                  <a:srgbClr val="FFFFFF"/>
                </a:solidFill>
                <a:latin typeface="Google Sans Flex"/>
                <a:ea typeface="Google Sans Flex"/>
                <a:cs typeface="Google Sans Flex"/>
              </a:rPr>
              <a:t>2</a:t>
            </a:r>
          </a:p>
        </p:txBody>
      </p:sp>
      <p:sp>
        <p:nvSpPr>
          <p:cNvPr id="18" name="TextBox 17"/>
          <p:cNvSpPr txBox="1"/>
          <p:nvPr/>
        </p:nvSpPr>
        <p:spPr>
          <a:xfrm>
            <a:off x="1746504" y="3776472"/>
            <a:ext cx="3200400" cy="502920"/>
          </a:xfrm>
          <a:prstGeom prst="rect">
            <a:avLst/>
          </a:prstGeom>
          <a:noFill/>
        </p:spPr>
        <p:txBody>
          <a:bodyPr wrap="square" lIns="0" tIns="0" rIns="0" bIns="0" anchor="ctr">
            <a:spAutoFit/>
          </a:bodyPr>
          <a:lstStyle/>
          <a:p>
            <a:pPr algn="l"/>
            <a:r>
              <a:rPr sz="1300">
                <a:solidFill>
                  <a:srgbClr val="FFFFFF"/>
                </a:solidFill>
                <a:latin typeface="Google Sans Flex"/>
                <a:ea typeface="Google Sans Flex"/>
                <a:cs typeface="Google Sans Flex"/>
              </a:rPr>
              <a:t>Survives a reload or an expired session</a:t>
            </a:r>
          </a:p>
        </p:txBody>
      </p:sp>
      <p:sp>
        <p:nvSpPr>
          <p:cNvPr id="19" name="Rounded Rectangle 18"/>
          <p:cNvSpPr/>
          <p:nvPr/>
        </p:nvSpPr>
        <p:spPr>
          <a:xfrm>
            <a:off x="1197864" y="4535424"/>
            <a:ext cx="384048" cy="384048"/>
          </a:xfrm>
          <a:prstGeom prst="roundRect">
            <a:avLst>
              <a:gd name="adj" fmla="val 50000"/>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197864" y="4535424"/>
            <a:ext cx="384048" cy="384048"/>
          </a:xfrm>
          <a:prstGeom prst="rect">
            <a:avLst/>
          </a:prstGeom>
          <a:noFill/>
        </p:spPr>
        <p:txBody>
          <a:bodyPr wrap="square" lIns="0" tIns="0" rIns="0" bIns="0" anchor="ctr">
            <a:spAutoFit/>
          </a:bodyPr>
          <a:lstStyle/>
          <a:p>
            <a:pPr algn="ctr"/>
            <a:r>
              <a:rPr sz="1200">
                <a:solidFill>
                  <a:srgbClr val="FFFFFF"/>
                </a:solidFill>
                <a:latin typeface="Google Sans Flex"/>
                <a:ea typeface="Google Sans Flex"/>
                <a:cs typeface="Google Sans Flex"/>
              </a:rPr>
              <a:t>3</a:t>
            </a:r>
          </a:p>
        </p:txBody>
      </p:sp>
      <p:sp>
        <p:nvSpPr>
          <p:cNvPr id="21" name="TextBox 20"/>
          <p:cNvSpPr txBox="1"/>
          <p:nvPr/>
        </p:nvSpPr>
        <p:spPr>
          <a:xfrm>
            <a:off x="1746504" y="4489704"/>
            <a:ext cx="3200400" cy="502920"/>
          </a:xfrm>
          <a:prstGeom prst="rect">
            <a:avLst/>
          </a:prstGeom>
          <a:noFill/>
        </p:spPr>
        <p:txBody>
          <a:bodyPr wrap="square" lIns="0" tIns="0" rIns="0" bIns="0" anchor="ctr">
            <a:spAutoFit/>
          </a:bodyPr>
          <a:lstStyle/>
          <a:p>
            <a:pPr algn="l"/>
            <a:r>
              <a:rPr sz="1300">
                <a:solidFill>
                  <a:srgbClr val="FFFFFF"/>
                </a:solidFill>
                <a:latin typeface="Google Sans Flex"/>
                <a:ea typeface="Google Sans Flex"/>
                <a:cs typeface="Google Sans Flex"/>
              </a:rPr>
              <a:t>‘Saved on this device’ is shown apart from ‘confirmed’</a:t>
            </a:r>
          </a:p>
        </p:txBody>
      </p:sp>
      <p:sp>
        <p:nvSpPr>
          <p:cNvPr id="22" name="Rounded Rectangle 21"/>
          <p:cNvSpPr/>
          <p:nvPr/>
        </p:nvSpPr>
        <p:spPr>
          <a:xfrm>
            <a:off x="1197864" y="5248655"/>
            <a:ext cx="384048" cy="384048"/>
          </a:xfrm>
          <a:prstGeom prst="roundRect">
            <a:avLst>
              <a:gd name="adj" fmla="val 50000"/>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197864" y="5248655"/>
            <a:ext cx="384048" cy="384048"/>
          </a:xfrm>
          <a:prstGeom prst="rect">
            <a:avLst/>
          </a:prstGeom>
          <a:noFill/>
        </p:spPr>
        <p:txBody>
          <a:bodyPr wrap="square" lIns="0" tIns="0" rIns="0" bIns="0" anchor="ctr">
            <a:spAutoFit/>
          </a:bodyPr>
          <a:lstStyle/>
          <a:p>
            <a:pPr algn="ctr"/>
            <a:r>
              <a:rPr sz="1200">
                <a:solidFill>
                  <a:srgbClr val="FFFFFF"/>
                </a:solidFill>
                <a:latin typeface="Google Sans Flex"/>
                <a:ea typeface="Google Sans Flex"/>
                <a:cs typeface="Google Sans Flex"/>
              </a:rPr>
              <a:t>4</a:t>
            </a:r>
          </a:p>
        </p:txBody>
      </p:sp>
      <p:sp>
        <p:nvSpPr>
          <p:cNvPr id="24" name="TextBox 23"/>
          <p:cNvSpPr txBox="1"/>
          <p:nvPr/>
        </p:nvSpPr>
        <p:spPr>
          <a:xfrm>
            <a:off x="1746504" y="5202936"/>
            <a:ext cx="3200400" cy="502920"/>
          </a:xfrm>
          <a:prstGeom prst="rect">
            <a:avLst/>
          </a:prstGeom>
          <a:noFill/>
        </p:spPr>
        <p:txBody>
          <a:bodyPr wrap="square" lIns="0" tIns="0" rIns="0" bIns="0" anchor="ctr">
            <a:spAutoFit/>
          </a:bodyPr>
          <a:lstStyle/>
          <a:p>
            <a:pPr algn="l"/>
            <a:r>
              <a:rPr sz="1300">
                <a:solidFill>
                  <a:srgbClr val="FFFFFF"/>
                </a:solidFill>
                <a:latin typeface="Google Sans Flex"/>
                <a:ea typeface="Google Sans Flex"/>
                <a:cs typeface="Google Sans Flex"/>
              </a:rPr>
              <a:t>Conflicts are flagged for review, never overwritten</a:t>
            </a:r>
          </a:p>
        </p:txBody>
      </p:sp>
      <p:sp>
        <p:nvSpPr>
          <p:cNvPr id="25" name="Rounded Rectangle 24"/>
          <p:cNvSpPr/>
          <p:nvPr/>
        </p:nvSpPr>
        <p:spPr>
          <a:xfrm>
            <a:off x="5404104" y="1828800"/>
            <a:ext cx="5833871" cy="3895597"/>
          </a:xfrm>
          <a:prstGeom prst="roundRect">
            <a:avLst>
              <a:gd name="adj" fmla="val 4694"/>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568696" y="1993392"/>
            <a:ext cx="2023109" cy="274574"/>
          </a:xfrm>
          <a:prstGeom prst="rect">
            <a:avLst/>
          </a:prstGeom>
          <a:noFill/>
        </p:spPr>
        <p:txBody>
          <a:bodyPr wrap="square" lIns="0" tIns="0" rIns="0" bIns="0" anchor="ctr">
            <a:spAutoFit/>
          </a:bodyPr>
          <a:lstStyle/>
          <a:p>
            <a:pPr algn="l"/>
            <a:r>
              <a:rPr sz="1300">
                <a:solidFill>
                  <a:srgbClr val="595959"/>
                </a:solidFill>
                <a:latin typeface="Google Sans Flex SemiBold"/>
                <a:ea typeface="Google Sans Flex SemiBold"/>
                <a:cs typeface="Google Sans Flex SemiBold"/>
              </a:rPr>
              <a:t>If this fails…</a:t>
            </a:r>
          </a:p>
        </p:txBody>
      </p:sp>
      <p:sp>
        <p:nvSpPr>
          <p:cNvPr id="27" name="TextBox 26"/>
          <p:cNvSpPr txBox="1"/>
          <p:nvPr/>
        </p:nvSpPr>
        <p:spPr>
          <a:xfrm>
            <a:off x="7701533" y="1993392"/>
            <a:ext cx="3371849" cy="274574"/>
          </a:xfrm>
          <a:prstGeom prst="rect">
            <a:avLst/>
          </a:prstGeom>
          <a:noFill/>
        </p:spPr>
        <p:txBody>
          <a:bodyPr wrap="square" lIns="0" tIns="0" rIns="0" bIns="0" anchor="ctr">
            <a:spAutoFit/>
          </a:bodyPr>
          <a:lstStyle/>
          <a:p>
            <a:pPr algn="l"/>
            <a:r>
              <a:rPr sz="1300">
                <a:solidFill>
                  <a:srgbClr val="595959"/>
                </a:solidFill>
                <a:latin typeface="Google Sans Flex SemiBold"/>
                <a:ea typeface="Google Sans Flex SemiBold"/>
                <a:cs typeface="Google Sans Flex SemiBold"/>
              </a:rPr>
              <a:t>GO keeps going</a:t>
            </a:r>
          </a:p>
        </p:txBody>
      </p:sp>
      <p:cxnSp>
        <p:nvCxnSpPr>
          <p:cNvPr id="28" name="Connector 27"/>
          <p:cNvCxnSpPr/>
          <p:nvPr/>
        </p:nvCxnSpPr>
        <p:spPr>
          <a:xfrm>
            <a:off x="5502859" y="2304542"/>
            <a:ext cx="563636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568696" y="2304542"/>
            <a:ext cx="2023109" cy="548640"/>
          </a:xfrm>
          <a:prstGeom prst="rect">
            <a:avLst/>
          </a:prstGeom>
          <a:noFill/>
        </p:spPr>
        <p:txBody>
          <a:bodyPr wrap="square" lIns="0" tIns="0" rIns="0" bIns="0" anchor="ctr">
            <a:spAutoFit/>
          </a:bodyPr>
          <a:lstStyle/>
          <a:p>
            <a:pPr algn="l"/>
            <a:r>
              <a:rPr sz="1300">
                <a:solidFill>
                  <a:srgbClr val="000000"/>
                </a:solidFill>
                <a:latin typeface="Google Sans Flex SemiBold"/>
                <a:ea typeface="Google Sans Flex SemiBold"/>
                <a:cs typeface="Google Sans Flex SemiBold"/>
              </a:rPr>
              <a:t>Mobile signal</a:t>
            </a:r>
          </a:p>
        </p:txBody>
      </p:sp>
      <p:sp>
        <p:nvSpPr>
          <p:cNvPr id="30" name="TextBox 29"/>
          <p:cNvSpPr txBox="1"/>
          <p:nvPr/>
        </p:nvSpPr>
        <p:spPr>
          <a:xfrm>
            <a:off x="7701533" y="2304542"/>
            <a:ext cx="3371849" cy="548640"/>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Queue on the phone, sync later</a:t>
            </a:r>
          </a:p>
        </p:txBody>
      </p:sp>
      <p:cxnSp>
        <p:nvCxnSpPr>
          <p:cNvPr id="31" name="Connector 30"/>
          <p:cNvCxnSpPr/>
          <p:nvPr/>
        </p:nvCxnSpPr>
        <p:spPr>
          <a:xfrm>
            <a:off x="5502859" y="2853182"/>
            <a:ext cx="563636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568696" y="2853182"/>
            <a:ext cx="2023109" cy="548640"/>
          </a:xfrm>
          <a:prstGeom prst="rect">
            <a:avLst/>
          </a:prstGeom>
          <a:noFill/>
        </p:spPr>
        <p:txBody>
          <a:bodyPr wrap="square" lIns="0" tIns="0" rIns="0" bIns="0" anchor="ctr">
            <a:spAutoFit/>
          </a:bodyPr>
          <a:lstStyle/>
          <a:p>
            <a:pPr algn="l"/>
            <a:r>
              <a:rPr sz="1300">
                <a:solidFill>
                  <a:srgbClr val="000000"/>
                </a:solidFill>
                <a:latin typeface="Google Sans Flex SemiBold"/>
                <a:ea typeface="Google Sans Flex SemiBold"/>
                <a:cs typeface="Google Sans Flex SemiBold"/>
              </a:rPr>
              <a:t>Warehouse API</a:t>
            </a:r>
          </a:p>
        </p:txBody>
      </p:sp>
      <p:sp>
        <p:nvSpPr>
          <p:cNvPr id="33" name="TextBox 32"/>
          <p:cNvSpPr txBox="1"/>
          <p:nvPr/>
        </p:nvSpPr>
        <p:spPr>
          <a:xfrm>
            <a:off x="7701533" y="2853182"/>
            <a:ext cx="3371849" cy="548640"/>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Orders kept as ‘stock not checked’</a:t>
            </a:r>
          </a:p>
        </p:txBody>
      </p:sp>
      <p:cxnSp>
        <p:nvCxnSpPr>
          <p:cNvPr id="34" name="Connector 33"/>
          <p:cNvCxnSpPr/>
          <p:nvPr/>
        </p:nvCxnSpPr>
        <p:spPr>
          <a:xfrm>
            <a:off x="5502859" y="3401822"/>
            <a:ext cx="563636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568696" y="3401822"/>
            <a:ext cx="2023109" cy="548640"/>
          </a:xfrm>
          <a:prstGeom prst="rect">
            <a:avLst/>
          </a:prstGeom>
          <a:noFill/>
        </p:spPr>
        <p:txBody>
          <a:bodyPr wrap="square" lIns="0" tIns="0" rIns="0" bIns="0" anchor="ctr">
            <a:spAutoFit/>
          </a:bodyPr>
          <a:lstStyle/>
          <a:p>
            <a:pPr algn="l"/>
            <a:r>
              <a:rPr sz="1300">
                <a:solidFill>
                  <a:srgbClr val="000000"/>
                </a:solidFill>
                <a:latin typeface="Google Sans Flex SemiBold"/>
                <a:ea typeface="Google Sans Flex SemiBold"/>
                <a:cs typeface="Google Sans Flex SemiBold"/>
              </a:rPr>
              <a:t>Model service</a:t>
            </a:r>
          </a:p>
        </p:txBody>
      </p:sp>
      <p:sp>
        <p:nvSpPr>
          <p:cNvPr id="36" name="TextBox 35"/>
          <p:cNvSpPr txBox="1"/>
          <p:nvPr/>
        </p:nvSpPr>
        <p:spPr>
          <a:xfrm>
            <a:off x="7701533" y="3401822"/>
            <a:ext cx="3371849" cy="548640"/>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Built-in estimate, labelled</a:t>
            </a:r>
          </a:p>
        </p:txBody>
      </p:sp>
      <p:cxnSp>
        <p:nvCxnSpPr>
          <p:cNvPr id="37" name="Connector 36"/>
          <p:cNvCxnSpPr/>
          <p:nvPr/>
        </p:nvCxnSpPr>
        <p:spPr>
          <a:xfrm>
            <a:off x="5502859" y="3950462"/>
            <a:ext cx="563636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568696" y="3950462"/>
            <a:ext cx="2023109" cy="548640"/>
          </a:xfrm>
          <a:prstGeom prst="rect">
            <a:avLst/>
          </a:prstGeom>
          <a:noFill/>
        </p:spPr>
        <p:txBody>
          <a:bodyPr wrap="square" lIns="0" tIns="0" rIns="0" bIns="0" anchor="ctr">
            <a:spAutoFit/>
          </a:bodyPr>
          <a:lstStyle/>
          <a:p>
            <a:pPr algn="l"/>
            <a:r>
              <a:rPr sz="1300">
                <a:solidFill>
                  <a:srgbClr val="000000"/>
                </a:solidFill>
                <a:latin typeface="Google Sans Flex SemiBold"/>
                <a:ea typeface="Google Sans Flex SemiBold"/>
                <a:cs typeface="Google Sans Flex SemiBold"/>
              </a:rPr>
              <a:t>Language AI</a:t>
            </a:r>
          </a:p>
        </p:txBody>
      </p:sp>
      <p:sp>
        <p:nvSpPr>
          <p:cNvPr id="39" name="TextBox 38"/>
          <p:cNvSpPr txBox="1"/>
          <p:nvPr/>
        </p:nvSpPr>
        <p:spPr>
          <a:xfrm>
            <a:off x="7701533" y="3950462"/>
            <a:ext cx="3371849" cy="548640"/>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‘Suggestions: rules only’</a:t>
            </a:r>
          </a:p>
        </p:txBody>
      </p:sp>
      <p:cxnSp>
        <p:nvCxnSpPr>
          <p:cNvPr id="40" name="Connector 39"/>
          <p:cNvCxnSpPr/>
          <p:nvPr/>
        </p:nvCxnSpPr>
        <p:spPr>
          <a:xfrm>
            <a:off x="5502859" y="4499102"/>
            <a:ext cx="563636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568696" y="4499102"/>
            <a:ext cx="2023109" cy="548640"/>
          </a:xfrm>
          <a:prstGeom prst="rect">
            <a:avLst/>
          </a:prstGeom>
          <a:noFill/>
        </p:spPr>
        <p:txBody>
          <a:bodyPr wrap="square" lIns="0" tIns="0" rIns="0" bIns="0" anchor="ctr">
            <a:spAutoFit/>
          </a:bodyPr>
          <a:lstStyle/>
          <a:p>
            <a:pPr algn="l"/>
            <a:r>
              <a:rPr sz="1300">
                <a:solidFill>
                  <a:srgbClr val="000000"/>
                </a:solidFill>
                <a:latin typeface="Google Sans Flex SemiBold"/>
                <a:ea typeface="Google Sans Flex SemiBold"/>
                <a:cs typeface="Google Sans Flex SemiBold"/>
              </a:rPr>
              <a:t>Push service</a:t>
            </a:r>
          </a:p>
        </p:txBody>
      </p:sp>
      <p:sp>
        <p:nvSpPr>
          <p:cNvPr id="42" name="TextBox 41"/>
          <p:cNvSpPr txBox="1"/>
          <p:nvPr/>
        </p:nvSpPr>
        <p:spPr>
          <a:xfrm>
            <a:off x="7701533" y="4499102"/>
            <a:ext cx="3371849" cy="548640"/>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In-app notifications</a:t>
            </a:r>
          </a:p>
        </p:txBody>
      </p:sp>
      <p:cxnSp>
        <p:nvCxnSpPr>
          <p:cNvPr id="43" name="Connector 42"/>
          <p:cNvCxnSpPr/>
          <p:nvPr/>
        </p:nvCxnSpPr>
        <p:spPr>
          <a:xfrm>
            <a:off x="5502859" y="5047742"/>
            <a:ext cx="563636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568696" y="5047742"/>
            <a:ext cx="2023109" cy="548640"/>
          </a:xfrm>
          <a:prstGeom prst="rect">
            <a:avLst/>
          </a:prstGeom>
          <a:noFill/>
        </p:spPr>
        <p:txBody>
          <a:bodyPr wrap="square" lIns="0" tIns="0" rIns="0" bIns="0" anchor="ctr">
            <a:spAutoFit/>
          </a:bodyPr>
          <a:lstStyle/>
          <a:p>
            <a:pPr algn="l"/>
            <a:r>
              <a:rPr sz="1300">
                <a:solidFill>
                  <a:srgbClr val="000000"/>
                </a:solidFill>
                <a:latin typeface="Google Sans Flex SemiBold"/>
                <a:ea typeface="Google Sans Flex SemiBold"/>
                <a:cs typeface="Google Sans Flex SemiBold"/>
              </a:rPr>
              <a:t>Vehicle breakdown</a:t>
            </a:r>
          </a:p>
        </p:txBody>
      </p:sp>
      <p:sp>
        <p:nvSpPr>
          <p:cNvPr id="45" name="TextBox 44"/>
          <p:cNvSpPr txBox="1"/>
          <p:nvPr/>
        </p:nvSpPr>
        <p:spPr>
          <a:xfrm>
            <a:off x="7701533" y="5047742"/>
            <a:ext cx="3371849" cy="548640"/>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Driver reports it; plan revised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923544" y="384048"/>
            <a:ext cx="86868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23544" y="384048"/>
            <a:ext cx="86868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Backup</a:t>
            </a:r>
          </a:p>
        </p:txBody>
      </p:sp>
      <p:sp>
        <p:nvSpPr>
          <p:cNvPr id="4" name="Rounded Rectangle 3">
            <a:hlinkClick r:id="rId3" action="ppaction://hlinksldjump"/>
          </p:cNvPr>
          <p:cNvSpPr/>
          <p:nvPr/>
        </p:nvSpPr>
        <p:spPr>
          <a:xfrm>
            <a:off x="10277856" y="384048"/>
            <a:ext cx="960120" cy="310896"/>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action="ppaction://hlinksldjump"/>
          </p:cNvPr>
          <p:cNvSpPr txBox="1"/>
          <p:nvPr/>
        </p:nvSpPr>
        <p:spPr>
          <a:xfrm>
            <a:off x="10277856" y="384048"/>
            <a:ext cx="96012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  Index</a:t>
            </a:r>
          </a:p>
        </p:txBody>
      </p:sp>
      <p:sp>
        <p:nvSpPr>
          <p:cNvPr id="6" name="Title"/>
          <p:cNvSpPr txBox="1"/>
          <p:nvPr/>
        </p:nvSpPr>
        <p:spPr>
          <a:xfrm>
            <a:off x="923544" y="786384"/>
            <a:ext cx="10314432" cy="603504"/>
          </a:xfrm>
          <a:prstGeom prst="rect">
            <a:avLst/>
          </a:prstGeom>
          <a:noFill/>
        </p:spPr>
        <p:txBody>
          <a:bodyPr wrap="square" lIns="0" tIns="0" rIns="0" bIns="0" anchor="t">
            <a:spAutoFit/>
          </a:bodyPr>
          <a:lstStyle/>
          <a:p>
            <a:pPr algn="l"/>
            <a:r>
              <a:rPr sz="3400">
                <a:solidFill>
                  <a:srgbClr val="00B050"/>
                </a:solidFill>
                <a:latin typeface="Google Sans Flex SemiBold"/>
                <a:ea typeface="Google Sans Flex SemiBold"/>
                <a:cs typeface="Google Sans Flex SemiBold"/>
              </a:rPr>
              <a:t>Business </a:t>
            </a:r>
            <a:r>
              <a:rPr sz="3400">
                <a:solidFill>
                  <a:srgbClr val="000000"/>
                </a:solidFill>
                <a:latin typeface="Google Sans Flex Light"/>
                <a:ea typeface="Google Sans Flex Light"/>
                <a:cs typeface="Google Sans Flex Light"/>
              </a:rPr>
              <a:t>case</a:t>
            </a:r>
          </a:p>
        </p:txBody>
      </p:sp>
      <p:sp>
        <p:nvSpPr>
          <p:cNvPr id="7" name="TextBox 6"/>
          <p:cNvSpPr txBox="1"/>
          <p:nvPr/>
        </p:nvSpPr>
        <p:spPr>
          <a:xfrm>
            <a:off x="923544" y="1371600"/>
            <a:ext cx="10314432" cy="292608"/>
          </a:xfrm>
          <a:prstGeom prst="rect">
            <a:avLst/>
          </a:prstGeom>
          <a:noFill/>
        </p:spPr>
        <p:txBody>
          <a:bodyPr wrap="square" lIns="0" tIns="0" rIns="0" bIns="0" anchor="t">
            <a:spAutoFit/>
          </a:bodyPr>
          <a:lstStyle/>
          <a:p>
            <a:pPr algn="l"/>
            <a:r>
              <a:rPr sz="1400">
                <a:solidFill>
                  <a:srgbClr val="595959"/>
                </a:solidFill>
                <a:latin typeface="Google Sans Flex"/>
                <a:ea typeface="Google Sans Flex"/>
                <a:cs typeface="Google Sans Flex"/>
              </a:rPr>
              <a:t>Team estimate from public data, 5 Oct 2026; rows are rounded</a:t>
            </a:r>
          </a:p>
        </p:txBody>
      </p:sp>
      <p:sp>
        <p:nvSpPr>
          <p:cNvPr id="8" name="TextBox 7"/>
          <p:cNvSpPr txBox="1"/>
          <p:nvPr/>
        </p:nvSpPr>
        <p:spPr>
          <a:xfrm>
            <a:off x="585216" y="6382512"/>
            <a:ext cx="1069848" cy="29260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WayPoint  |</a:t>
            </a:r>
          </a:p>
        </p:txBody>
      </p:sp>
      <p:sp>
        <p:nvSpPr>
          <p:cNvPr id="9" name="TextBox 8"/>
          <p:cNvSpPr txBox="1"/>
          <p:nvPr/>
        </p:nvSpPr>
        <p:spPr>
          <a:xfrm>
            <a:off x="1417320" y="6355080"/>
            <a:ext cx="658368" cy="329184"/>
          </a:xfrm>
          <a:prstGeom prst="rect">
            <a:avLst/>
          </a:prstGeom>
          <a:noFill/>
        </p:spPr>
        <p:txBody>
          <a:bodyPr wrap="square" lIns="0" tIns="0" rIns="0" bIns="0" anchor="ctr">
            <a:spAutoFit/>
          </a:bodyPr>
          <a:lstStyle/>
          <a:p>
            <a:pPr algn="l"/>
            <a:r>
              <a:rPr sz="2000">
                <a:solidFill>
                  <a:srgbClr val="000000"/>
                </a:solidFill>
                <a:latin typeface="Google Sans Flex ExtraBold"/>
                <a:ea typeface="Google Sans Flex ExtraBold"/>
                <a:cs typeface="Google Sans Flex ExtraBold"/>
              </a:rPr>
              <a:t>GO</a:t>
            </a:r>
          </a:p>
        </p:txBody>
      </p:sp>
      <p:sp>
        <p:nvSpPr>
          <p:cNvPr id="10" name="TextBox 9"/>
          <p:cNvSpPr txBox="1"/>
          <p:nvPr/>
        </p:nvSpPr>
        <p:spPr>
          <a:xfrm>
            <a:off x="10936224" y="6382512"/>
            <a:ext cx="658368" cy="292608"/>
          </a:xfrm>
          <a:prstGeom prst="rect">
            <a:avLst/>
          </a:prstGeom>
          <a:noFill/>
        </p:spPr>
        <p:txBody>
          <a:bodyPr wrap="square" lIns="0" tIns="0" rIns="0" bIns="0" anchor="ctr">
            <a:spAutoFit/>
          </a:bodyPr>
          <a:lstStyle/>
          <a:p>
            <a:pPr algn="r"/>
            <a:r>
              <a:rPr sz="1400">
                <a:solidFill>
                  <a:srgbClr val="000000"/>
                </a:solidFill>
                <a:latin typeface="Google Sans Flex"/>
                <a:ea typeface="Google Sans Flex"/>
                <a:cs typeface="Google Sans Flex"/>
              </a:rPr>
              <a:t>19</a:t>
            </a:r>
          </a:p>
        </p:txBody>
      </p:sp>
      <p:sp>
        <p:nvSpPr>
          <p:cNvPr id="11" name="Rounded Rectangle 10"/>
          <p:cNvSpPr/>
          <p:nvPr/>
        </p:nvSpPr>
        <p:spPr>
          <a:xfrm>
            <a:off x="923544" y="1828800"/>
            <a:ext cx="5669280" cy="2984500"/>
          </a:xfrm>
          <a:prstGeom prst="roundRect">
            <a:avLst>
              <a:gd name="adj" fmla="val 6127"/>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88136" y="1993392"/>
            <a:ext cx="2605674" cy="243586"/>
          </a:xfrm>
          <a:prstGeom prst="rect">
            <a:avLst/>
          </a:prstGeom>
          <a:noFill/>
        </p:spPr>
        <p:txBody>
          <a:bodyPr wrap="square" lIns="0" tIns="0" rIns="0" bIns="0" anchor="ctr">
            <a:spAutoFit/>
          </a:bodyPr>
          <a:lstStyle/>
          <a:p>
            <a:pPr algn="l"/>
            <a:r>
              <a:rPr sz="1100">
                <a:solidFill>
                  <a:srgbClr val="595959"/>
                </a:solidFill>
                <a:latin typeface="Google Sans Flex SemiBold"/>
                <a:ea typeface="Google Sans Flex SemiBold"/>
                <a:cs typeface="Google Sans Flex SemiBold"/>
              </a:rPr>
              <a:t>LKR million a year</a:t>
            </a:r>
          </a:p>
        </p:txBody>
      </p:sp>
      <p:sp>
        <p:nvSpPr>
          <p:cNvPr id="13" name="TextBox 12"/>
          <p:cNvSpPr txBox="1"/>
          <p:nvPr/>
        </p:nvSpPr>
        <p:spPr>
          <a:xfrm>
            <a:off x="3803538" y="1993392"/>
            <a:ext cx="751636" cy="243586"/>
          </a:xfrm>
          <a:prstGeom prst="rect">
            <a:avLst/>
          </a:prstGeom>
          <a:noFill/>
        </p:spPr>
        <p:txBody>
          <a:bodyPr wrap="square" lIns="0" tIns="0" rIns="0" bIns="0" anchor="ctr">
            <a:spAutoFit/>
          </a:bodyPr>
          <a:lstStyle/>
          <a:p>
            <a:pPr algn="l"/>
            <a:r>
              <a:rPr sz="1100">
                <a:solidFill>
                  <a:srgbClr val="595959"/>
                </a:solidFill>
                <a:latin typeface="Google Sans Flex SemiBold"/>
                <a:ea typeface="Google Sans Flex SemiBold"/>
                <a:cs typeface="Google Sans Flex SemiBold"/>
              </a:rPr>
              <a:t>Low</a:t>
            </a:r>
          </a:p>
        </p:txBody>
      </p:sp>
      <p:sp>
        <p:nvSpPr>
          <p:cNvPr id="14" name="TextBox 13"/>
          <p:cNvSpPr txBox="1"/>
          <p:nvPr/>
        </p:nvSpPr>
        <p:spPr>
          <a:xfrm>
            <a:off x="4664903" y="1993392"/>
            <a:ext cx="901964" cy="243586"/>
          </a:xfrm>
          <a:prstGeom prst="rect">
            <a:avLst/>
          </a:prstGeom>
          <a:noFill/>
        </p:spPr>
        <p:txBody>
          <a:bodyPr wrap="square" lIns="0" tIns="0" rIns="0" bIns="0" anchor="ctr">
            <a:spAutoFit/>
          </a:bodyPr>
          <a:lstStyle/>
          <a:p>
            <a:pPr algn="l"/>
            <a:r>
              <a:rPr sz="1100">
                <a:solidFill>
                  <a:srgbClr val="595959"/>
                </a:solidFill>
                <a:latin typeface="Google Sans Flex SemiBold"/>
                <a:ea typeface="Google Sans Flex SemiBold"/>
                <a:cs typeface="Google Sans Flex SemiBold"/>
              </a:rPr>
              <a:t>Expected</a:t>
            </a:r>
          </a:p>
        </p:txBody>
      </p:sp>
      <p:sp>
        <p:nvSpPr>
          <p:cNvPr id="15" name="TextBox 14"/>
          <p:cNvSpPr txBox="1"/>
          <p:nvPr/>
        </p:nvSpPr>
        <p:spPr>
          <a:xfrm>
            <a:off x="5676595" y="1993392"/>
            <a:ext cx="751636" cy="243586"/>
          </a:xfrm>
          <a:prstGeom prst="rect">
            <a:avLst/>
          </a:prstGeom>
          <a:noFill/>
        </p:spPr>
        <p:txBody>
          <a:bodyPr wrap="square" lIns="0" tIns="0" rIns="0" bIns="0" anchor="ctr">
            <a:spAutoFit/>
          </a:bodyPr>
          <a:lstStyle/>
          <a:p>
            <a:pPr algn="l"/>
            <a:r>
              <a:rPr sz="1100">
                <a:solidFill>
                  <a:srgbClr val="595959"/>
                </a:solidFill>
                <a:latin typeface="Google Sans Flex SemiBold"/>
                <a:ea typeface="Google Sans Flex SemiBold"/>
                <a:cs typeface="Google Sans Flex SemiBold"/>
              </a:rPr>
              <a:t>High</a:t>
            </a:r>
          </a:p>
        </p:txBody>
      </p:sp>
      <p:cxnSp>
        <p:nvCxnSpPr>
          <p:cNvPr id="16" name="Connector 15"/>
          <p:cNvCxnSpPr/>
          <p:nvPr/>
        </p:nvCxnSpPr>
        <p:spPr>
          <a:xfrm>
            <a:off x="1022299" y="2273554"/>
            <a:ext cx="547176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88136" y="2273554"/>
            <a:ext cx="2605674" cy="280162"/>
          </a:xfrm>
          <a:prstGeom prst="rect">
            <a:avLst/>
          </a:prstGeom>
          <a:noFill/>
        </p:spPr>
        <p:txBody>
          <a:bodyPr wrap="square" lIns="0" tIns="0" rIns="0" bIns="0" anchor="ctr">
            <a:spAutoFit/>
          </a:bodyPr>
          <a:lstStyle/>
          <a:p>
            <a:pPr algn="l"/>
            <a:r>
              <a:rPr sz="1100">
                <a:solidFill>
                  <a:srgbClr val="000000"/>
                </a:solidFill>
                <a:latin typeface="Google Sans Flex SemiBold"/>
                <a:ea typeface="Google Sans Flex SemiBold"/>
                <a:cs typeface="Google Sans Flex SemiBold"/>
              </a:rPr>
              <a:t>Fuel, better loads</a:t>
            </a:r>
          </a:p>
        </p:txBody>
      </p:sp>
      <p:sp>
        <p:nvSpPr>
          <p:cNvPr id="18" name="TextBox 17"/>
          <p:cNvSpPr txBox="1"/>
          <p:nvPr/>
        </p:nvSpPr>
        <p:spPr>
          <a:xfrm>
            <a:off x="3803538" y="2273554"/>
            <a:ext cx="751636"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4.5</a:t>
            </a:r>
          </a:p>
        </p:txBody>
      </p:sp>
      <p:sp>
        <p:nvSpPr>
          <p:cNvPr id="19" name="TextBox 18"/>
          <p:cNvSpPr txBox="1"/>
          <p:nvPr/>
        </p:nvSpPr>
        <p:spPr>
          <a:xfrm>
            <a:off x="4664903" y="2273554"/>
            <a:ext cx="901964"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11.0</a:t>
            </a:r>
          </a:p>
        </p:txBody>
      </p:sp>
      <p:sp>
        <p:nvSpPr>
          <p:cNvPr id="20" name="TextBox 19"/>
          <p:cNvSpPr txBox="1"/>
          <p:nvPr/>
        </p:nvSpPr>
        <p:spPr>
          <a:xfrm>
            <a:off x="5676595" y="2273554"/>
            <a:ext cx="751636"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20.0</a:t>
            </a:r>
          </a:p>
        </p:txBody>
      </p:sp>
      <p:cxnSp>
        <p:nvCxnSpPr>
          <p:cNvPr id="21" name="Connector 20"/>
          <p:cNvCxnSpPr/>
          <p:nvPr/>
        </p:nvCxnSpPr>
        <p:spPr>
          <a:xfrm>
            <a:off x="1022299" y="2553716"/>
            <a:ext cx="547176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88136" y="2553716"/>
            <a:ext cx="2605674" cy="280162"/>
          </a:xfrm>
          <a:prstGeom prst="rect">
            <a:avLst/>
          </a:prstGeom>
          <a:noFill/>
        </p:spPr>
        <p:txBody>
          <a:bodyPr wrap="square" lIns="0" tIns="0" rIns="0" bIns="0" anchor="ctr">
            <a:spAutoFit/>
          </a:bodyPr>
          <a:lstStyle/>
          <a:p>
            <a:pPr algn="l"/>
            <a:r>
              <a:rPr sz="1100">
                <a:solidFill>
                  <a:srgbClr val="000000"/>
                </a:solidFill>
                <a:latin typeface="Google Sans Flex SemiBold"/>
                <a:ea typeface="Google Sans Flex SemiBold"/>
                <a:cs typeface="Google Sans Flex SemiBold"/>
              </a:rPr>
              <a:t>Fresh before 8 AM</a:t>
            </a:r>
          </a:p>
        </p:txBody>
      </p:sp>
      <p:sp>
        <p:nvSpPr>
          <p:cNvPr id="23" name="TextBox 22"/>
          <p:cNvSpPr txBox="1"/>
          <p:nvPr/>
        </p:nvSpPr>
        <p:spPr>
          <a:xfrm>
            <a:off x="3803538" y="2553716"/>
            <a:ext cx="751636"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2.2</a:t>
            </a:r>
          </a:p>
        </p:txBody>
      </p:sp>
      <p:sp>
        <p:nvSpPr>
          <p:cNvPr id="24" name="TextBox 23"/>
          <p:cNvSpPr txBox="1"/>
          <p:nvPr/>
        </p:nvSpPr>
        <p:spPr>
          <a:xfrm>
            <a:off x="4664903" y="2553716"/>
            <a:ext cx="901964"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6.0</a:t>
            </a:r>
          </a:p>
        </p:txBody>
      </p:sp>
      <p:sp>
        <p:nvSpPr>
          <p:cNvPr id="25" name="TextBox 24"/>
          <p:cNvSpPr txBox="1"/>
          <p:nvPr/>
        </p:nvSpPr>
        <p:spPr>
          <a:xfrm>
            <a:off x="5676595" y="2553716"/>
            <a:ext cx="751636"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13.9</a:t>
            </a:r>
          </a:p>
        </p:txBody>
      </p:sp>
      <p:cxnSp>
        <p:nvCxnSpPr>
          <p:cNvPr id="26" name="Connector 25"/>
          <p:cNvCxnSpPr/>
          <p:nvPr/>
        </p:nvCxnSpPr>
        <p:spPr>
          <a:xfrm>
            <a:off x="1022299" y="2833878"/>
            <a:ext cx="547176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88136" y="2833878"/>
            <a:ext cx="2605674" cy="280162"/>
          </a:xfrm>
          <a:prstGeom prst="rect">
            <a:avLst/>
          </a:prstGeom>
          <a:noFill/>
        </p:spPr>
        <p:txBody>
          <a:bodyPr wrap="square" lIns="0" tIns="0" rIns="0" bIns="0" anchor="ctr">
            <a:spAutoFit/>
          </a:bodyPr>
          <a:lstStyle/>
          <a:p>
            <a:pPr algn="l"/>
            <a:r>
              <a:rPr sz="1100">
                <a:solidFill>
                  <a:srgbClr val="000000"/>
                </a:solidFill>
                <a:latin typeface="Google Sans Flex SemiBold"/>
                <a:ea typeface="Google Sans Flex SemiBold"/>
                <a:cs typeface="Google Sans Flex SemiBold"/>
              </a:rPr>
              <a:t>Fewer vehicle-days</a:t>
            </a:r>
          </a:p>
        </p:txBody>
      </p:sp>
      <p:sp>
        <p:nvSpPr>
          <p:cNvPr id="28" name="TextBox 27"/>
          <p:cNvSpPr txBox="1"/>
          <p:nvPr/>
        </p:nvSpPr>
        <p:spPr>
          <a:xfrm>
            <a:off x="3803538" y="2833878"/>
            <a:ext cx="751636"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1.4</a:t>
            </a:r>
          </a:p>
        </p:txBody>
      </p:sp>
      <p:sp>
        <p:nvSpPr>
          <p:cNvPr id="29" name="TextBox 28"/>
          <p:cNvSpPr txBox="1"/>
          <p:nvPr/>
        </p:nvSpPr>
        <p:spPr>
          <a:xfrm>
            <a:off x="4664903" y="2833878"/>
            <a:ext cx="901964"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2.7</a:t>
            </a:r>
          </a:p>
        </p:txBody>
      </p:sp>
      <p:sp>
        <p:nvSpPr>
          <p:cNvPr id="30" name="TextBox 29"/>
          <p:cNvSpPr txBox="1"/>
          <p:nvPr/>
        </p:nvSpPr>
        <p:spPr>
          <a:xfrm>
            <a:off x="5676595" y="2833878"/>
            <a:ext cx="751636"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5.4</a:t>
            </a:r>
          </a:p>
        </p:txBody>
      </p:sp>
      <p:cxnSp>
        <p:nvCxnSpPr>
          <p:cNvPr id="31" name="Connector 30"/>
          <p:cNvCxnSpPr/>
          <p:nvPr/>
        </p:nvCxnSpPr>
        <p:spPr>
          <a:xfrm>
            <a:off x="1022299" y="3114040"/>
            <a:ext cx="547176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88136" y="3114040"/>
            <a:ext cx="2605674" cy="280162"/>
          </a:xfrm>
          <a:prstGeom prst="rect">
            <a:avLst/>
          </a:prstGeom>
          <a:noFill/>
        </p:spPr>
        <p:txBody>
          <a:bodyPr wrap="square" lIns="0" tIns="0" rIns="0" bIns="0" anchor="ctr">
            <a:spAutoFit/>
          </a:bodyPr>
          <a:lstStyle/>
          <a:p>
            <a:pPr algn="l"/>
            <a:r>
              <a:rPr sz="1100">
                <a:solidFill>
                  <a:srgbClr val="000000"/>
                </a:solidFill>
                <a:latin typeface="Google Sans Flex SemiBold"/>
                <a:ea typeface="Google Sans Flex SemiBold"/>
                <a:cs typeface="Google Sans Flex SemiBold"/>
              </a:rPr>
              <a:t>Damaged-goods write-offs</a:t>
            </a:r>
          </a:p>
        </p:txBody>
      </p:sp>
      <p:sp>
        <p:nvSpPr>
          <p:cNvPr id="33" name="TextBox 32"/>
          <p:cNvSpPr txBox="1"/>
          <p:nvPr/>
        </p:nvSpPr>
        <p:spPr>
          <a:xfrm>
            <a:off x="3803538" y="3114040"/>
            <a:ext cx="751636"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1.2</a:t>
            </a:r>
          </a:p>
        </p:txBody>
      </p:sp>
      <p:sp>
        <p:nvSpPr>
          <p:cNvPr id="34" name="TextBox 33"/>
          <p:cNvSpPr txBox="1"/>
          <p:nvPr/>
        </p:nvSpPr>
        <p:spPr>
          <a:xfrm>
            <a:off x="4664903" y="3114040"/>
            <a:ext cx="901964"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2.4</a:t>
            </a:r>
          </a:p>
        </p:txBody>
      </p:sp>
      <p:sp>
        <p:nvSpPr>
          <p:cNvPr id="35" name="TextBox 34"/>
          <p:cNvSpPr txBox="1"/>
          <p:nvPr/>
        </p:nvSpPr>
        <p:spPr>
          <a:xfrm>
            <a:off x="5676595" y="3114040"/>
            <a:ext cx="751636"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3.6</a:t>
            </a:r>
          </a:p>
        </p:txBody>
      </p:sp>
      <p:cxnSp>
        <p:nvCxnSpPr>
          <p:cNvPr id="36" name="Connector 35"/>
          <p:cNvCxnSpPr/>
          <p:nvPr/>
        </p:nvCxnSpPr>
        <p:spPr>
          <a:xfrm>
            <a:off x="1022299" y="3394202"/>
            <a:ext cx="547176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088136" y="3394202"/>
            <a:ext cx="2605674" cy="280162"/>
          </a:xfrm>
          <a:prstGeom prst="rect">
            <a:avLst/>
          </a:prstGeom>
          <a:noFill/>
        </p:spPr>
        <p:txBody>
          <a:bodyPr wrap="square" lIns="0" tIns="0" rIns="0" bIns="0" anchor="ctr">
            <a:spAutoFit/>
          </a:bodyPr>
          <a:lstStyle/>
          <a:p>
            <a:pPr algn="l"/>
            <a:r>
              <a:rPr sz="1100">
                <a:solidFill>
                  <a:srgbClr val="000000"/>
                </a:solidFill>
                <a:latin typeface="Google Sans Flex SemiBold"/>
                <a:ea typeface="Google Sans Flex SemiBold"/>
                <a:cs typeface="Google Sans Flex SemiBold"/>
              </a:rPr>
              <a:t>Festival hires avoided</a:t>
            </a:r>
          </a:p>
        </p:txBody>
      </p:sp>
      <p:sp>
        <p:nvSpPr>
          <p:cNvPr id="38" name="TextBox 37"/>
          <p:cNvSpPr txBox="1"/>
          <p:nvPr/>
        </p:nvSpPr>
        <p:spPr>
          <a:xfrm>
            <a:off x="3803538" y="3394202"/>
            <a:ext cx="751636"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0.5</a:t>
            </a:r>
          </a:p>
        </p:txBody>
      </p:sp>
      <p:sp>
        <p:nvSpPr>
          <p:cNvPr id="39" name="TextBox 38"/>
          <p:cNvSpPr txBox="1"/>
          <p:nvPr/>
        </p:nvSpPr>
        <p:spPr>
          <a:xfrm>
            <a:off x="4664903" y="3394202"/>
            <a:ext cx="901964"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1.1</a:t>
            </a:r>
          </a:p>
        </p:txBody>
      </p:sp>
      <p:sp>
        <p:nvSpPr>
          <p:cNvPr id="40" name="TextBox 39"/>
          <p:cNvSpPr txBox="1"/>
          <p:nvPr/>
        </p:nvSpPr>
        <p:spPr>
          <a:xfrm>
            <a:off x="5676595" y="3394202"/>
            <a:ext cx="751636"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1.8</a:t>
            </a:r>
          </a:p>
        </p:txBody>
      </p:sp>
      <p:cxnSp>
        <p:nvCxnSpPr>
          <p:cNvPr id="41" name="Connector 40"/>
          <p:cNvCxnSpPr/>
          <p:nvPr/>
        </p:nvCxnSpPr>
        <p:spPr>
          <a:xfrm>
            <a:off x="1022299" y="3674364"/>
            <a:ext cx="547176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088136" y="3674364"/>
            <a:ext cx="2605674" cy="280162"/>
          </a:xfrm>
          <a:prstGeom prst="rect">
            <a:avLst/>
          </a:prstGeom>
          <a:noFill/>
        </p:spPr>
        <p:txBody>
          <a:bodyPr wrap="square" lIns="0" tIns="0" rIns="0" bIns="0" anchor="ctr">
            <a:spAutoFit/>
          </a:bodyPr>
          <a:lstStyle/>
          <a:p>
            <a:pPr algn="l"/>
            <a:r>
              <a:rPr sz="1100">
                <a:solidFill>
                  <a:srgbClr val="000000"/>
                </a:solidFill>
                <a:latin typeface="Google Sans Flex SemiBold"/>
                <a:ea typeface="Google Sans Flex SemiBold"/>
                <a:cs typeface="Google Sans Flex SemiBold"/>
              </a:rPr>
              <a:t>Fuel-log reconciliation</a:t>
            </a:r>
          </a:p>
        </p:txBody>
      </p:sp>
      <p:sp>
        <p:nvSpPr>
          <p:cNvPr id="43" name="TextBox 42"/>
          <p:cNvSpPr txBox="1"/>
          <p:nvPr/>
        </p:nvSpPr>
        <p:spPr>
          <a:xfrm>
            <a:off x="3803538" y="3674364"/>
            <a:ext cx="751636"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0.5</a:t>
            </a:r>
          </a:p>
        </p:txBody>
      </p:sp>
      <p:sp>
        <p:nvSpPr>
          <p:cNvPr id="44" name="TextBox 43"/>
          <p:cNvSpPr txBox="1"/>
          <p:nvPr/>
        </p:nvSpPr>
        <p:spPr>
          <a:xfrm>
            <a:off x="4664903" y="3674364"/>
            <a:ext cx="901964"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1.1</a:t>
            </a:r>
          </a:p>
        </p:txBody>
      </p:sp>
      <p:sp>
        <p:nvSpPr>
          <p:cNvPr id="45" name="TextBox 44"/>
          <p:cNvSpPr txBox="1"/>
          <p:nvPr/>
        </p:nvSpPr>
        <p:spPr>
          <a:xfrm>
            <a:off x="5676595" y="3674364"/>
            <a:ext cx="751636"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2.7</a:t>
            </a:r>
          </a:p>
        </p:txBody>
      </p:sp>
      <p:cxnSp>
        <p:nvCxnSpPr>
          <p:cNvPr id="46" name="Connector 45"/>
          <p:cNvCxnSpPr/>
          <p:nvPr/>
        </p:nvCxnSpPr>
        <p:spPr>
          <a:xfrm>
            <a:off x="1022299" y="3954526"/>
            <a:ext cx="547176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88136" y="3954526"/>
            <a:ext cx="2605674" cy="450596"/>
          </a:xfrm>
          <a:prstGeom prst="rect">
            <a:avLst/>
          </a:prstGeom>
          <a:noFill/>
        </p:spPr>
        <p:txBody>
          <a:bodyPr wrap="square" lIns="0" tIns="0" rIns="0" bIns="0" anchor="ctr">
            <a:spAutoFit/>
          </a:bodyPr>
          <a:lstStyle/>
          <a:p>
            <a:pPr algn="l"/>
            <a:r>
              <a:rPr sz="1100">
                <a:solidFill>
                  <a:srgbClr val="000000"/>
                </a:solidFill>
                <a:latin typeface="Google Sans Flex SemiBold"/>
                <a:ea typeface="Google Sans Flex SemiBold"/>
                <a:cs typeface="Google Sans Flex SemiBold"/>
              </a:rPr>
              <a:t>Planning, calls, paperwork, disputes</a:t>
            </a:r>
          </a:p>
        </p:txBody>
      </p:sp>
      <p:sp>
        <p:nvSpPr>
          <p:cNvPr id="48" name="TextBox 47"/>
          <p:cNvSpPr txBox="1"/>
          <p:nvPr/>
        </p:nvSpPr>
        <p:spPr>
          <a:xfrm>
            <a:off x="3803538" y="3954526"/>
            <a:ext cx="751636" cy="450596"/>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1.2</a:t>
            </a:r>
          </a:p>
        </p:txBody>
      </p:sp>
      <p:sp>
        <p:nvSpPr>
          <p:cNvPr id="49" name="TextBox 48"/>
          <p:cNvSpPr txBox="1"/>
          <p:nvPr/>
        </p:nvSpPr>
        <p:spPr>
          <a:xfrm>
            <a:off x="4664903" y="3954526"/>
            <a:ext cx="901964" cy="450596"/>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2.3</a:t>
            </a:r>
          </a:p>
        </p:txBody>
      </p:sp>
      <p:sp>
        <p:nvSpPr>
          <p:cNvPr id="50" name="TextBox 49"/>
          <p:cNvSpPr txBox="1"/>
          <p:nvPr/>
        </p:nvSpPr>
        <p:spPr>
          <a:xfrm>
            <a:off x="5676595" y="3954526"/>
            <a:ext cx="751636" cy="450596"/>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3.5</a:t>
            </a:r>
          </a:p>
        </p:txBody>
      </p:sp>
      <p:cxnSp>
        <p:nvCxnSpPr>
          <p:cNvPr id="51" name="Connector 50"/>
          <p:cNvCxnSpPr/>
          <p:nvPr/>
        </p:nvCxnSpPr>
        <p:spPr>
          <a:xfrm>
            <a:off x="1022299" y="4405122"/>
            <a:ext cx="547176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1088136" y="4405122"/>
            <a:ext cx="2605674" cy="280162"/>
          </a:xfrm>
          <a:prstGeom prst="rect">
            <a:avLst/>
          </a:prstGeom>
          <a:noFill/>
        </p:spPr>
        <p:txBody>
          <a:bodyPr wrap="square" lIns="0" tIns="0" rIns="0" bIns="0" anchor="ctr">
            <a:spAutoFit/>
          </a:bodyPr>
          <a:lstStyle/>
          <a:p>
            <a:pPr algn="l"/>
            <a:r>
              <a:rPr sz="1100">
                <a:solidFill>
                  <a:srgbClr val="00B050"/>
                </a:solidFill>
                <a:latin typeface="Google Sans Flex SemiBold"/>
                <a:ea typeface="Google Sans Flex SemiBold"/>
                <a:cs typeface="Google Sans Flex SemiBold"/>
              </a:rPr>
              <a:t>Total</a:t>
            </a:r>
          </a:p>
        </p:txBody>
      </p:sp>
      <p:sp>
        <p:nvSpPr>
          <p:cNvPr id="53" name="TextBox 52"/>
          <p:cNvSpPr txBox="1"/>
          <p:nvPr/>
        </p:nvSpPr>
        <p:spPr>
          <a:xfrm>
            <a:off x="3803538" y="4405122"/>
            <a:ext cx="751636" cy="280162"/>
          </a:xfrm>
          <a:prstGeom prst="rect">
            <a:avLst/>
          </a:prstGeom>
          <a:noFill/>
        </p:spPr>
        <p:txBody>
          <a:bodyPr wrap="square" lIns="0" tIns="0" rIns="0" bIns="0" anchor="ctr">
            <a:spAutoFit/>
          </a:bodyPr>
          <a:lstStyle/>
          <a:p>
            <a:pPr algn="l"/>
            <a:r>
              <a:rPr sz="1100">
                <a:solidFill>
                  <a:srgbClr val="00B050"/>
                </a:solidFill>
                <a:latin typeface="Google Sans Flex SemiBold"/>
                <a:ea typeface="Google Sans Flex SemiBold"/>
                <a:cs typeface="Google Sans Flex SemiBold"/>
              </a:rPr>
              <a:t>11.5</a:t>
            </a:r>
          </a:p>
        </p:txBody>
      </p:sp>
      <p:sp>
        <p:nvSpPr>
          <p:cNvPr id="54" name="TextBox 53"/>
          <p:cNvSpPr txBox="1"/>
          <p:nvPr/>
        </p:nvSpPr>
        <p:spPr>
          <a:xfrm>
            <a:off x="4664903" y="4405122"/>
            <a:ext cx="901964" cy="280162"/>
          </a:xfrm>
          <a:prstGeom prst="rect">
            <a:avLst/>
          </a:prstGeom>
          <a:noFill/>
        </p:spPr>
        <p:txBody>
          <a:bodyPr wrap="square" lIns="0" tIns="0" rIns="0" bIns="0" anchor="ctr">
            <a:spAutoFit/>
          </a:bodyPr>
          <a:lstStyle/>
          <a:p>
            <a:pPr algn="l"/>
            <a:r>
              <a:rPr sz="1100">
                <a:solidFill>
                  <a:srgbClr val="00B050"/>
                </a:solidFill>
                <a:latin typeface="Google Sans Flex SemiBold"/>
                <a:ea typeface="Google Sans Flex SemiBold"/>
                <a:cs typeface="Google Sans Flex SemiBold"/>
              </a:rPr>
              <a:t>26.5</a:t>
            </a:r>
          </a:p>
        </p:txBody>
      </p:sp>
      <p:sp>
        <p:nvSpPr>
          <p:cNvPr id="55" name="TextBox 54"/>
          <p:cNvSpPr txBox="1"/>
          <p:nvPr/>
        </p:nvSpPr>
        <p:spPr>
          <a:xfrm>
            <a:off x="5676595" y="4405122"/>
            <a:ext cx="751636" cy="280162"/>
          </a:xfrm>
          <a:prstGeom prst="rect">
            <a:avLst/>
          </a:prstGeom>
          <a:noFill/>
        </p:spPr>
        <p:txBody>
          <a:bodyPr wrap="square" lIns="0" tIns="0" rIns="0" bIns="0" anchor="ctr">
            <a:spAutoFit/>
          </a:bodyPr>
          <a:lstStyle/>
          <a:p>
            <a:pPr algn="l"/>
            <a:r>
              <a:rPr sz="1100">
                <a:solidFill>
                  <a:srgbClr val="00B050"/>
                </a:solidFill>
                <a:latin typeface="Google Sans Flex SemiBold"/>
                <a:ea typeface="Google Sans Flex SemiBold"/>
                <a:cs typeface="Google Sans Flex SemiBold"/>
              </a:rPr>
              <a:t>50.8</a:t>
            </a:r>
          </a:p>
        </p:txBody>
      </p:sp>
      <p:sp>
        <p:nvSpPr>
          <p:cNvPr id="56" name="Rounded Rectangle 55"/>
          <p:cNvSpPr/>
          <p:nvPr/>
        </p:nvSpPr>
        <p:spPr>
          <a:xfrm>
            <a:off x="6867144" y="1828800"/>
            <a:ext cx="4370831" cy="2144014"/>
          </a:xfrm>
          <a:prstGeom prst="roundRect">
            <a:avLst>
              <a:gd name="adj" fmla="val 8529"/>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7031736" y="1993392"/>
            <a:ext cx="1529079" cy="243586"/>
          </a:xfrm>
          <a:prstGeom prst="rect">
            <a:avLst/>
          </a:prstGeom>
          <a:noFill/>
        </p:spPr>
        <p:txBody>
          <a:bodyPr wrap="square" lIns="0" tIns="0" rIns="0" bIns="0" anchor="ctr">
            <a:spAutoFit/>
          </a:bodyPr>
          <a:lstStyle/>
          <a:p>
            <a:pPr algn="l"/>
            <a:r>
              <a:rPr sz="1100">
                <a:solidFill>
                  <a:srgbClr val="595959"/>
                </a:solidFill>
                <a:latin typeface="Google Sans Flex SemiBold"/>
                <a:ea typeface="Google Sans Flex SemiBold"/>
                <a:cs typeface="Google Sans Flex SemiBold"/>
              </a:rPr>
              <a:t>Option, 3 years</a:t>
            </a:r>
          </a:p>
        </p:txBody>
      </p:sp>
      <p:sp>
        <p:nvSpPr>
          <p:cNvPr id="58" name="TextBox 57"/>
          <p:cNvSpPr txBox="1"/>
          <p:nvPr/>
        </p:nvSpPr>
        <p:spPr>
          <a:xfrm>
            <a:off x="8670544" y="1993392"/>
            <a:ext cx="2402839" cy="243586"/>
          </a:xfrm>
          <a:prstGeom prst="rect">
            <a:avLst/>
          </a:prstGeom>
          <a:noFill/>
        </p:spPr>
        <p:txBody>
          <a:bodyPr wrap="square" lIns="0" tIns="0" rIns="0" bIns="0" anchor="ctr">
            <a:spAutoFit/>
          </a:bodyPr>
          <a:lstStyle/>
          <a:p>
            <a:pPr algn="l"/>
            <a:r>
              <a:rPr sz="1100">
                <a:solidFill>
                  <a:srgbClr val="595959"/>
                </a:solidFill>
                <a:latin typeface="Google Sans Flex SemiBold"/>
                <a:ea typeface="Google Sans Flex SemiBold"/>
                <a:cs typeface="Google Sans Flex SemiBold"/>
              </a:rPr>
              <a:t>Cost and gap</a:t>
            </a:r>
          </a:p>
        </p:txBody>
      </p:sp>
      <p:cxnSp>
        <p:nvCxnSpPr>
          <p:cNvPr id="59" name="Connector 58"/>
          <p:cNvCxnSpPr/>
          <p:nvPr/>
        </p:nvCxnSpPr>
        <p:spPr>
          <a:xfrm>
            <a:off x="6965899" y="2273554"/>
            <a:ext cx="41733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031736" y="2273554"/>
            <a:ext cx="1529079" cy="280162"/>
          </a:xfrm>
          <a:prstGeom prst="rect">
            <a:avLst/>
          </a:prstGeom>
          <a:noFill/>
        </p:spPr>
        <p:txBody>
          <a:bodyPr wrap="square" lIns="0" tIns="0" rIns="0" bIns="0" anchor="ctr">
            <a:spAutoFit/>
          </a:bodyPr>
          <a:lstStyle/>
          <a:p>
            <a:pPr algn="l"/>
            <a:r>
              <a:rPr sz="1100">
                <a:solidFill>
                  <a:srgbClr val="00B050"/>
                </a:solidFill>
                <a:latin typeface="Google Sans Flex SemiBold"/>
                <a:ea typeface="Google Sans Flex SemiBold"/>
                <a:cs typeface="Google Sans Flex SemiBold"/>
              </a:rPr>
              <a:t>Waypoint GO</a:t>
            </a:r>
          </a:p>
        </p:txBody>
      </p:sp>
      <p:sp>
        <p:nvSpPr>
          <p:cNvPr id="61" name="TextBox 60"/>
          <p:cNvSpPr txBox="1"/>
          <p:nvPr/>
        </p:nvSpPr>
        <p:spPr>
          <a:xfrm>
            <a:off x="8670544" y="2273554"/>
            <a:ext cx="2402839" cy="280162"/>
          </a:xfrm>
          <a:prstGeom prst="rect">
            <a:avLst/>
          </a:prstGeom>
          <a:noFill/>
        </p:spPr>
        <p:txBody>
          <a:bodyPr wrap="square" lIns="0" tIns="0" rIns="0" bIns="0" anchor="ctr">
            <a:spAutoFit/>
          </a:bodyPr>
          <a:lstStyle/>
          <a:p>
            <a:pPr algn="l"/>
            <a:r>
              <a:rPr sz="1100">
                <a:solidFill>
                  <a:srgbClr val="00B050"/>
                </a:solidFill>
                <a:latin typeface="Google Sans Flex SemiBold"/>
                <a:ea typeface="Google Sans Flex SemiBold"/>
                <a:cs typeface="Google Sans Flex SemiBold"/>
              </a:rPr>
              <a:t>≈ LKR 20.3m all-in; full scope</a:t>
            </a:r>
          </a:p>
        </p:txBody>
      </p:sp>
      <p:cxnSp>
        <p:nvCxnSpPr>
          <p:cNvPr id="62" name="Connector 61"/>
          <p:cNvCxnSpPr/>
          <p:nvPr/>
        </p:nvCxnSpPr>
        <p:spPr>
          <a:xfrm>
            <a:off x="6965899" y="2553716"/>
            <a:ext cx="41733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7031736" y="2553716"/>
            <a:ext cx="1529079" cy="450596"/>
          </a:xfrm>
          <a:prstGeom prst="rect">
            <a:avLst/>
          </a:prstGeom>
          <a:noFill/>
        </p:spPr>
        <p:txBody>
          <a:bodyPr wrap="square" lIns="0" tIns="0" rIns="0" bIns="0" anchor="ctr">
            <a:spAutoFit/>
          </a:bodyPr>
          <a:lstStyle/>
          <a:p>
            <a:pPr algn="l"/>
            <a:r>
              <a:rPr sz="1100">
                <a:solidFill>
                  <a:srgbClr val="000000"/>
                </a:solidFill>
                <a:latin typeface="Google Sans Flex SemiBold"/>
                <a:ea typeface="Google Sans Flex SemiBold"/>
                <a:cs typeface="Google Sans Flex SemiBold"/>
              </a:rPr>
              <a:t>Routific</a:t>
            </a:r>
          </a:p>
        </p:txBody>
      </p:sp>
      <p:sp>
        <p:nvSpPr>
          <p:cNvPr id="64" name="TextBox 63"/>
          <p:cNvSpPr txBox="1"/>
          <p:nvPr/>
        </p:nvSpPr>
        <p:spPr>
          <a:xfrm>
            <a:off x="8670544" y="2553716"/>
            <a:ext cx="2402839" cy="450596"/>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LKR 6.6–8.5m; route planning only</a:t>
            </a:r>
          </a:p>
        </p:txBody>
      </p:sp>
      <p:cxnSp>
        <p:nvCxnSpPr>
          <p:cNvPr id="65" name="Connector 64"/>
          <p:cNvCxnSpPr/>
          <p:nvPr/>
        </p:nvCxnSpPr>
        <p:spPr>
          <a:xfrm>
            <a:off x="6965899" y="3004312"/>
            <a:ext cx="41733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7031736" y="3004312"/>
            <a:ext cx="1529079" cy="280162"/>
          </a:xfrm>
          <a:prstGeom prst="rect">
            <a:avLst/>
          </a:prstGeom>
          <a:noFill/>
        </p:spPr>
        <p:txBody>
          <a:bodyPr wrap="square" lIns="0" tIns="0" rIns="0" bIns="0" anchor="ctr">
            <a:spAutoFit/>
          </a:bodyPr>
          <a:lstStyle/>
          <a:p>
            <a:pPr algn="l"/>
            <a:r>
              <a:rPr sz="1100">
                <a:solidFill>
                  <a:srgbClr val="000000"/>
                </a:solidFill>
                <a:latin typeface="Google Sans Flex SemiBold"/>
                <a:ea typeface="Google Sans Flex SemiBold"/>
                <a:cs typeface="Google Sans Flex SemiBold"/>
              </a:rPr>
              <a:t>Shipday</a:t>
            </a:r>
          </a:p>
        </p:txBody>
      </p:sp>
      <p:sp>
        <p:nvSpPr>
          <p:cNvPr id="67" name="TextBox 66"/>
          <p:cNvSpPr txBox="1"/>
          <p:nvPr/>
        </p:nvSpPr>
        <p:spPr>
          <a:xfrm>
            <a:off x="8670544" y="3004312"/>
            <a:ext cx="2402839"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 LKR 19.4m; gaps below</a:t>
            </a:r>
          </a:p>
        </p:txBody>
      </p:sp>
      <p:cxnSp>
        <p:nvCxnSpPr>
          <p:cNvPr id="68" name="Connector 67"/>
          <p:cNvCxnSpPr/>
          <p:nvPr/>
        </p:nvCxnSpPr>
        <p:spPr>
          <a:xfrm>
            <a:off x="6965899" y="3284474"/>
            <a:ext cx="41733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7031736" y="3284474"/>
            <a:ext cx="1529079" cy="280162"/>
          </a:xfrm>
          <a:prstGeom prst="rect">
            <a:avLst/>
          </a:prstGeom>
          <a:noFill/>
        </p:spPr>
        <p:txBody>
          <a:bodyPr wrap="square" lIns="0" tIns="0" rIns="0" bIns="0" anchor="ctr">
            <a:spAutoFit/>
          </a:bodyPr>
          <a:lstStyle/>
          <a:p>
            <a:pPr algn="l"/>
            <a:r>
              <a:rPr sz="1100">
                <a:solidFill>
                  <a:srgbClr val="000000"/>
                </a:solidFill>
                <a:latin typeface="Google Sans Flex SemiBold"/>
                <a:ea typeface="Google Sans Flex SemiBold"/>
                <a:cs typeface="Google Sans Flex SemiBold"/>
              </a:rPr>
              <a:t>Onfleet Enterprise</a:t>
            </a:r>
          </a:p>
        </p:txBody>
      </p:sp>
      <p:sp>
        <p:nvSpPr>
          <p:cNvPr id="70" name="TextBox 69"/>
          <p:cNvSpPr txBox="1"/>
          <p:nvPr/>
        </p:nvSpPr>
        <p:spPr>
          <a:xfrm>
            <a:off x="8670544" y="3284474"/>
            <a:ext cx="2402839"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LKR 36.7m+; gaps below</a:t>
            </a:r>
          </a:p>
        </p:txBody>
      </p:sp>
      <p:cxnSp>
        <p:nvCxnSpPr>
          <p:cNvPr id="71" name="Connector 70"/>
          <p:cNvCxnSpPr/>
          <p:nvPr/>
        </p:nvCxnSpPr>
        <p:spPr>
          <a:xfrm>
            <a:off x="6965899" y="3564636"/>
            <a:ext cx="41733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7031736" y="3564636"/>
            <a:ext cx="1529079" cy="280162"/>
          </a:xfrm>
          <a:prstGeom prst="rect">
            <a:avLst/>
          </a:prstGeom>
          <a:noFill/>
        </p:spPr>
        <p:txBody>
          <a:bodyPr wrap="square" lIns="0" tIns="0" rIns="0" bIns="0" anchor="ctr">
            <a:spAutoFit/>
          </a:bodyPr>
          <a:lstStyle/>
          <a:p>
            <a:pPr algn="l"/>
            <a:r>
              <a:rPr sz="1100">
                <a:solidFill>
                  <a:srgbClr val="000000"/>
                </a:solidFill>
                <a:latin typeface="Google Sans Flex SemiBold"/>
                <a:ea typeface="Google Sans Flex SemiBold"/>
                <a:cs typeface="Google Sans Flex SemiBold"/>
              </a:rPr>
              <a:t>Track-POD</a:t>
            </a:r>
          </a:p>
        </p:txBody>
      </p:sp>
      <p:sp>
        <p:nvSpPr>
          <p:cNvPr id="73" name="TextBox 72"/>
          <p:cNvSpPr txBox="1"/>
          <p:nvPr/>
        </p:nvSpPr>
        <p:spPr>
          <a:xfrm>
            <a:off x="8670544" y="3564636"/>
            <a:ext cx="2402839" cy="280162"/>
          </a:xfrm>
          <a:prstGeom prst="rect">
            <a:avLst/>
          </a:prstGeom>
          <a:noFill/>
        </p:spPr>
        <p:txBody>
          <a:bodyPr wrap="square" lIns="0" tIns="0" rIns="0" bIns="0" anchor="ctr">
            <a:spAutoFit/>
          </a:bodyPr>
          <a:lstStyle/>
          <a:p>
            <a:pPr algn="l"/>
            <a:r>
              <a:rPr sz="1100">
                <a:solidFill>
                  <a:srgbClr val="000000"/>
                </a:solidFill>
                <a:latin typeface="Google Sans Flex"/>
                <a:ea typeface="Google Sans Flex"/>
                <a:cs typeface="Google Sans Flex"/>
              </a:rPr>
              <a:t>LKR 34.8–63.0m; gaps below</a:t>
            </a:r>
          </a:p>
        </p:txBody>
      </p:sp>
      <p:sp>
        <p:nvSpPr>
          <p:cNvPr id="74" name="TextBox 73"/>
          <p:cNvSpPr txBox="1"/>
          <p:nvPr/>
        </p:nvSpPr>
        <p:spPr>
          <a:xfrm>
            <a:off x="6867144" y="4137405"/>
            <a:ext cx="4370831" cy="914400"/>
          </a:xfrm>
          <a:prstGeom prst="rect">
            <a:avLst/>
          </a:prstGeom>
          <a:noFill/>
        </p:spPr>
        <p:txBody>
          <a:bodyPr wrap="square" lIns="0" tIns="0" rIns="0" bIns="0" anchor="t">
            <a:spAutoFit/>
          </a:bodyPr>
          <a:lstStyle/>
          <a:p>
            <a:pPr algn="l"/>
            <a:r>
              <a:rPr sz="1000">
                <a:solidFill>
                  <a:srgbClr val="595959"/>
                </a:solidFill>
                <a:latin typeface="Google Sans Flex"/>
                <a:ea typeface="Google Sans Flex"/>
                <a:cs typeface="Google Sans Flex"/>
              </a:rPr>
              <a:t>Every bought option also needs ≈ LKR 6.2m of integration, and none covers multi-brand allocation with explained deferrals, reefer/van/mall rules, offline Sinhala and Tamil, store receipt and disputes, the Fuel Pass quota, or data kept in Sri Lanka.</a:t>
            </a:r>
          </a:p>
        </p:txBody>
      </p:sp>
      <p:sp>
        <p:nvSpPr>
          <p:cNvPr id="75" name="Rounded Rectangle 74"/>
          <p:cNvSpPr/>
          <p:nvPr/>
        </p:nvSpPr>
        <p:spPr>
          <a:xfrm>
            <a:off x="923544" y="5271262"/>
            <a:ext cx="10314432" cy="782066"/>
          </a:xfrm>
          <a:prstGeom prst="roundRect">
            <a:avLst>
              <a:gd name="adj" fmla="val 25722"/>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Box 75"/>
          <p:cNvSpPr txBox="1"/>
          <p:nvPr/>
        </p:nvSpPr>
        <p:spPr>
          <a:xfrm>
            <a:off x="1152144" y="5362701"/>
            <a:ext cx="9857232" cy="599186"/>
          </a:xfrm>
          <a:prstGeom prst="rect">
            <a:avLst/>
          </a:prstGeom>
          <a:noFill/>
        </p:spPr>
        <p:txBody>
          <a:bodyPr wrap="square" lIns="0" tIns="0" rIns="0" bIns="0" anchor="ctr">
            <a:spAutoFit/>
          </a:bodyPr>
          <a:lstStyle/>
          <a:p>
            <a:pPr algn="l"/>
            <a:r>
              <a:rPr sz="1200">
                <a:solidFill>
                  <a:srgbClr val="FFFFFF"/>
                </a:solidFill>
                <a:latin typeface="Google Sans Flex SemiBold"/>
                <a:ea typeface="Google Sans Flex SemiBold"/>
                <a:cs typeface="Google Sans Flex SemiBold"/>
              </a:rPr>
              <a:t>Costs: </a:t>
            </a:r>
            <a:r>
              <a:rPr sz="1200">
                <a:solidFill>
                  <a:srgbClr val="FFFFFF"/>
                </a:solidFill>
                <a:latin typeface="Google Sans Flex"/>
                <a:ea typeface="Google Sans Flex"/>
                <a:cs typeface="Google Sans Flex"/>
              </a:rPr>
              <a:t>build LKR 8.2–11.8m · run ≈ LKR 19,000 a month · maintain ≈ LKR 3.3m a year · 3-year total ≈ LKR 20.3m · payback 11 / 5 / 3 months (low / expected / high) · 3-year value ≈ 3.9× cost; expected net gain ≈ LKR 59m</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923544" y="384048"/>
            <a:ext cx="86868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23544" y="384048"/>
            <a:ext cx="86868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Backup</a:t>
            </a:r>
          </a:p>
        </p:txBody>
      </p:sp>
      <p:sp>
        <p:nvSpPr>
          <p:cNvPr id="4" name="Rounded Rectangle 3">
            <a:hlinkClick r:id="rId3" action="ppaction://hlinksldjump"/>
          </p:cNvPr>
          <p:cNvSpPr/>
          <p:nvPr/>
        </p:nvSpPr>
        <p:spPr>
          <a:xfrm>
            <a:off x="10277856" y="384048"/>
            <a:ext cx="960120" cy="310896"/>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action="ppaction://hlinksldjump"/>
          </p:cNvPr>
          <p:cNvSpPr txBox="1"/>
          <p:nvPr/>
        </p:nvSpPr>
        <p:spPr>
          <a:xfrm>
            <a:off x="10277856" y="384048"/>
            <a:ext cx="96012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  Index</a:t>
            </a:r>
          </a:p>
        </p:txBody>
      </p:sp>
      <p:sp>
        <p:nvSpPr>
          <p:cNvPr id="6" name="Title"/>
          <p:cNvSpPr txBox="1"/>
          <p:nvPr/>
        </p:nvSpPr>
        <p:spPr>
          <a:xfrm>
            <a:off x="923544" y="786384"/>
            <a:ext cx="10314432" cy="603504"/>
          </a:xfrm>
          <a:prstGeom prst="rect">
            <a:avLst/>
          </a:prstGeom>
          <a:noFill/>
        </p:spPr>
        <p:txBody>
          <a:bodyPr wrap="square" lIns="0" tIns="0" rIns="0" bIns="0" anchor="t">
            <a:spAutoFit/>
          </a:bodyPr>
          <a:lstStyle/>
          <a:p>
            <a:pPr algn="l"/>
            <a:r>
              <a:rPr sz="3400">
                <a:solidFill>
                  <a:srgbClr val="00B050"/>
                </a:solidFill>
                <a:latin typeface="Google Sans Flex SemiBold"/>
                <a:ea typeface="Google Sans Flex SemiBold"/>
                <a:cs typeface="Google Sans Flex SemiBold"/>
              </a:rPr>
              <a:t>Rollout plan </a:t>
            </a:r>
            <a:r>
              <a:rPr sz="3400">
                <a:solidFill>
                  <a:srgbClr val="000000"/>
                </a:solidFill>
                <a:latin typeface="Google Sans Flex Light"/>
                <a:ea typeface="Google Sans Flex Light"/>
                <a:cs typeface="Google Sans Flex Light"/>
              </a:rPr>
              <a:t>and risks</a:t>
            </a:r>
          </a:p>
        </p:txBody>
      </p:sp>
      <p:sp>
        <p:nvSpPr>
          <p:cNvPr id="7" name="TextBox 6"/>
          <p:cNvSpPr txBox="1"/>
          <p:nvPr/>
        </p:nvSpPr>
        <p:spPr>
          <a:xfrm>
            <a:off x="923544" y="1371600"/>
            <a:ext cx="10314432" cy="292608"/>
          </a:xfrm>
          <a:prstGeom prst="rect">
            <a:avLst/>
          </a:prstGeom>
          <a:noFill/>
        </p:spPr>
        <p:txBody>
          <a:bodyPr wrap="square" lIns="0" tIns="0" rIns="0" bIns="0" anchor="t">
            <a:spAutoFit/>
          </a:bodyPr>
          <a:lstStyle/>
          <a:p>
            <a:pPr algn="l"/>
            <a:r>
              <a:rPr sz="1400">
                <a:solidFill>
                  <a:srgbClr val="595959"/>
                </a:solidFill>
                <a:latin typeface="Google Sans Flex"/>
                <a:ea typeface="Google Sans Flex"/>
                <a:cs typeface="Google Sans Flex"/>
              </a:rPr>
              <a:t>22 weeks with 4 engineers; the critical path is collecting real outcomes, not code</a:t>
            </a:r>
          </a:p>
        </p:txBody>
      </p:sp>
      <p:sp>
        <p:nvSpPr>
          <p:cNvPr id="8" name="TextBox 7"/>
          <p:cNvSpPr txBox="1"/>
          <p:nvPr/>
        </p:nvSpPr>
        <p:spPr>
          <a:xfrm>
            <a:off x="585216" y="6382512"/>
            <a:ext cx="1069848" cy="29260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WayPoint  |</a:t>
            </a:r>
          </a:p>
        </p:txBody>
      </p:sp>
      <p:sp>
        <p:nvSpPr>
          <p:cNvPr id="9" name="TextBox 8"/>
          <p:cNvSpPr txBox="1"/>
          <p:nvPr/>
        </p:nvSpPr>
        <p:spPr>
          <a:xfrm>
            <a:off x="1417320" y="6355080"/>
            <a:ext cx="658368" cy="329184"/>
          </a:xfrm>
          <a:prstGeom prst="rect">
            <a:avLst/>
          </a:prstGeom>
          <a:noFill/>
        </p:spPr>
        <p:txBody>
          <a:bodyPr wrap="square" lIns="0" tIns="0" rIns="0" bIns="0" anchor="ctr">
            <a:spAutoFit/>
          </a:bodyPr>
          <a:lstStyle/>
          <a:p>
            <a:pPr algn="l"/>
            <a:r>
              <a:rPr sz="2000">
                <a:solidFill>
                  <a:srgbClr val="000000"/>
                </a:solidFill>
                <a:latin typeface="Google Sans Flex ExtraBold"/>
                <a:ea typeface="Google Sans Flex ExtraBold"/>
                <a:cs typeface="Google Sans Flex ExtraBold"/>
              </a:rPr>
              <a:t>GO</a:t>
            </a:r>
          </a:p>
        </p:txBody>
      </p:sp>
      <p:sp>
        <p:nvSpPr>
          <p:cNvPr id="10" name="TextBox 9"/>
          <p:cNvSpPr txBox="1"/>
          <p:nvPr/>
        </p:nvSpPr>
        <p:spPr>
          <a:xfrm>
            <a:off x="10936224" y="6382512"/>
            <a:ext cx="658368" cy="292608"/>
          </a:xfrm>
          <a:prstGeom prst="rect">
            <a:avLst/>
          </a:prstGeom>
          <a:noFill/>
        </p:spPr>
        <p:txBody>
          <a:bodyPr wrap="square" lIns="0" tIns="0" rIns="0" bIns="0" anchor="ctr">
            <a:spAutoFit/>
          </a:bodyPr>
          <a:lstStyle/>
          <a:p>
            <a:pPr algn="r"/>
            <a:r>
              <a:rPr sz="1400">
                <a:solidFill>
                  <a:srgbClr val="000000"/>
                </a:solidFill>
                <a:latin typeface="Google Sans Flex"/>
                <a:ea typeface="Google Sans Flex"/>
                <a:cs typeface="Google Sans Flex"/>
              </a:rPr>
              <a:t>20</a:t>
            </a:r>
          </a:p>
        </p:txBody>
      </p:sp>
      <p:sp>
        <p:nvSpPr>
          <p:cNvPr id="11" name="Rounded Rectangle 10"/>
          <p:cNvSpPr/>
          <p:nvPr/>
        </p:nvSpPr>
        <p:spPr>
          <a:xfrm>
            <a:off x="923544" y="1828800"/>
            <a:ext cx="4846320" cy="3325367"/>
          </a:xfrm>
          <a:prstGeom prst="roundRect">
            <a:avLst>
              <a:gd name="adj" fmla="val 5499"/>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88136" y="1993392"/>
            <a:ext cx="801346" cy="259080"/>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Weeks</a:t>
            </a:r>
          </a:p>
        </p:txBody>
      </p:sp>
      <p:sp>
        <p:nvSpPr>
          <p:cNvPr id="13" name="TextBox 12"/>
          <p:cNvSpPr txBox="1"/>
          <p:nvPr/>
        </p:nvSpPr>
        <p:spPr>
          <a:xfrm>
            <a:off x="1999210" y="1993392"/>
            <a:ext cx="3606061" cy="259080"/>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Work</a:t>
            </a:r>
          </a:p>
        </p:txBody>
      </p:sp>
      <p:cxnSp>
        <p:nvCxnSpPr>
          <p:cNvPr id="14" name="Connector 13"/>
          <p:cNvCxnSpPr/>
          <p:nvPr/>
        </p:nvCxnSpPr>
        <p:spPr>
          <a:xfrm>
            <a:off x="1022299" y="2289048"/>
            <a:ext cx="46488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88136" y="2289048"/>
            <a:ext cx="801346"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1</a:t>
            </a:r>
          </a:p>
        </p:txBody>
      </p:sp>
      <p:sp>
        <p:nvSpPr>
          <p:cNvPr id="16" name="TextBox 15"/>
          <p:cNvSpPr txBox="1"/>
          <p:nvPr/>
        </p:nvSpPr>
        <p:spPr>
          <a:xfrm>
            <a:off x="1999210" y="2289048"/>
            <a:ext cx="3606061"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Hygiene and safety: secrets, backups, restore drill</a:t>
            </a:r>
          </a:p>
        </p:txBody>
      </p:sp>
      <p:cxnSp>
        <p:nvCxnSpPr>
          <p:cNvPr id="17" name="Connector 16"/>
          <p:cNvCxnSpPr/>
          <p:nvPr/>
        </p:nvCxnSpPr>
        <p:spPr>
          <a:xfrm>
            <a:off x="1022299" y="2770632"/>
            <a:ext cx="46488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88136" y="2770632"/>
            <a:ext cx="801346" cy="29565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2–3</a:t>
            </a:r>
          </a:p>
        </p:txBody>
      </p:sp>
      <p:sp>
        <p:nvSpPr>
          <p:cNvPr id="19" name="TextBox 18"/>
          <p:cNvSpPr txBox="1"/>
          <p:nvPr/>
        </p:nvSpPr>
        <p:spPr>
          <a:xfrm>
            <a:off x="1999210" y="2770632"/>
            <a:ext cx="3606061"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Baseline: today’s KPIs measured</a:t>
            </a:r>
          </a:p>
        </p:txBody>
      </p:sp>
      <p:cxnSp>
        <p:nvCxnSpPr>
          <p:cNvPr id="20" name="Connector 19"/>
          <p:cNvCxnSpPr/>
          <p:nvPr/>
        </p:nvCxnSpPr>
        <p:spPr>
          <a:xfrm>
            <a:off x="1022299" y="3066288"/>
            <a:ext cx="46488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88136" y="3066288"/>
            <a:ext cx="801346" cy="29565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3–5</a:t>
            </a:r>
          </a:p>
        </p:txBody>
      </p:sp>
      <p:sp>
        <p:nvSpPr>
          <p:cNvPr id="22" name="TextBox 21"/>
          <p:cNvSpPr txBox="1"/>
          <p:nvPr/>
        </p:nvSpPr>
        <p:spPr>
          <a:xfrm>
            <a:off x="1999210" y="3066288"/>
            <a:ext cx="3606061"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Quick wins: early capacity plan</a:t>
            </a:r>
          </a:p>
        </p:txBody>
      </p:sp>
      <p:cxnSp>
        <p:nvCxnSpPr>
          <p:cNvPr id="23" name="Connector 22"/>
          <p:cNvCxnSpPr/>
          <p:nvPr/>
        </p:nvCxnSpPr>
        <p:spPr>
          <a:xfrm>
            <a:off x="1022299" y="3361944"/>
            <a:ext cx="46488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88136" y="3361944"/>
            <a:ext cx="801346" cy="29565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5–9</a:t>
            </a:r>
          </a:p>
        </p:txBody>
      </p:sp>
      <p:sp>
        <p:nvSpPr>
          <p:cNvPr id="25" name="TextBox 24"/>
          <p:cNvSpPr txBox="1"/>
          <p:nvPr/>
        </p:nvSpPr>
        <p:spPr>
          <a:xfrm>
            <a:off x="1999210" y="3361944"/>
            <a:ext cx="3606061"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Foundation fixes</a:t>
            </a:r>
          </a:p>
        </p:txBody>
      </p:sp>
      <p:cxnSp>
        <p:nvCxnSpPr>
          <p:cNvPr id="26" name="Connector 25"/>
          <p:cNvCxnSpPr/>
          <p:nvPr/>
        </p:nvCxnSpPr>
        <p:spPr>
          <a:xfrm>
            <a:off x="1022299" y="3657600"/>
            <a:ext cx="46488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88136" y="3657600"/>
            <a:ext cx="801346" cy="29565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6–13</a:t>
            </a:r>
          </a:p>
        </p:txBody>
      </p:sp>
      <p:sp>
        <p:nvSpPr>
          <p:cNvPr id="28" name="TextBox 27"/>
          <p:cNvSpPr txBox="1"/>
          <p:nvPr/>
        </p:nvSpPr>
        <p:spPr>
          <a:xfrm>
            <a:off x="1999210" y="3657600"/>
            <a:ext cx="3606061" cy="29565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Kandy pilot: 4 weeks shadow, 4 weeks live</a:t>
            </a:r>
          </a:p>
        </p:txBody>
      </p:sp>
      <p:cxnSp>
        <p:nvCxnSpPr>
          <p:cNvPr id="29" name="Connector 28"/>
          <p:cNvCxnSpPr/>
          <p:nvPr/>
        </p:nvCxnSpPr>
        <p:spPr>
          <a:xfrm>
            <a:off x="1022299" y="3953256"/>
            <a:ext cx="46488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88136" y="3953256"/>
            <a:ext cx="801346" cy="29565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10–17</a:t>
            </a:r>
          </a:p>
        </p:txBody>
      </p:sp>
      <p:sp>
        <p:nvSpPr>
          <p:cNvPr id="31" name="TextBox 30"/>
          <p:cNvSpPr txBox="1"/>
          <p:nvPr/>
        </p:nvSpPr>
        <p:spPr>
          <a:xfrm>
            <a:off x="1999210" y="3953256"/>
            <a:ext cx="3606061"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Field features</a:t>
            </a:r>
          </a:p>
        </p:txBody>
      </p:sp>
      <p:cxnSp>
        <p:nvCxnSpPr>
          <p:cNvPr id="32" name="Connector 31"/>
          <p:cNvCxnSpPr/>
          <p:nvPr/>
        </p:nvCxnSpPr>
        <p:spPr>
          <a:xfrm>
            <a:off x="1022299" y="4248912"/>
            <a:ext cx="46488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088136" y="4248912"/>
            <a:ext cx="801346" cy="29565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 19</a:t>
            </a:r>
          </a:p>
        </p:txBody>
      </p:sp>
      <p:sp>
        <p:nvSpPr>
          <p:cNvPr id="34" name="TextBox 33"/>
          <p:cNvSpPr txBox="1"/>
          <p:nvPr/>
        </p:nvSpPr>
        <p:spPr>
          <a:xfrm>
            <a:off x="1999210" y="4248912"/>
            <a:ext cx="3606061" cy="29565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Model trust gates on real deliveries</a:t>
            </a:r>
          </a:p>
        </p:txBody>
      </p:sp>
      <p:cxnSp>
        <p:nvCxnSpPr>
          <p:cNvPr id="35" name="Connector 34"/>
          <p:cNvCxnSpPr/>
          <p:nvPr/>
        </p:nvCxnSpPr>
        <p:spPr>
          <a:xfrm>
            <a:off x="1022299" y="4544568"/>
            <a:ext cx="46488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88136" y="4544568"/>
            <a:ext cx="801346"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17–22</a:t>
            </a:r>
          </a:p>
        </p:txBody>
      </p:sp>
      <p:sp>
        <p:nvSpPr>
          <p:cNvPr id="37" name="TextBox 36"/>
          <p:cNvSpPr txBox="1"/>
          <p:nvPr/>
        </p:nvSpPr>
        <p:spPr>
          <a:xfrm>
            <a:off x="1999210" y="4544568"/>
            <a:ext cx="3606061"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AI features, after go/no-go and data agreements</a:t>
            </a:r>
          </a:p>
        </p:txBody>
      </p:sp>
      <p:sp>
        <p:nvSpPr>
          <p:cNvPr id="38" name="Rounded Rectangle 37"/>
          <p:cNvSpPr/>
          <p:nvPr/>
        </p:nvSpPr>
        <p:spPr>
          <a:xfrm>
            <a:off x="6044183" y="1828800"/>
            <a:ext cx="5193792" cy="2996183"/>
          </a:xfrm>
          <a:prstGeom prst="roundRect">
            <a:avLst>
              <a:gd name="adj" fmla="val 6103"/>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208775" y="1993392"/>
            <a:ext cx="1653871" cy="259080"/>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Risk</a:t>
            </a:r>
          </a:p>
        </p:txBody>
      </p:sp>
      <p:sp>
        <p:nvSpPr>
          <p:cNvPr id="40" name="TextBox 39"/>
          <p:cNvSpPr txBox="1"/>
          <p:nvPr/>
        </p:nvSpPr>
        <p:spPr>
          <a:xfrm>
            <a:off x="7972375" y="1993392"/>
            <a:ext cx="3101008" cy="259080"/>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Answer</a:t>
            </a:r>
          </a:p>
        </p:txBody>
      </p:sp>
      <p:cxnSp>
        <p:nvCxnSpPr>
          <p:cNvPr id="41" name="Connector 40"/>
          <p:cNvCxnSpPr/>
          <p:nvPr/>
        </p:nvCxnSpPr>
        <p:spPr>
          <a:xfrm>
            <a:off x="6142939" y="2289048"/>
            <a:ext cx="499628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208775" y="2289048"/>
            <a:ext cx="1653871"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Drivers don’t adopt</a:t>
            </a:r>
          </a:p>
        </p:txBody>
      </p:sp>
      <p:sp>
        <p:nvSpPr>
          <p:cNvPr id="43" name="TextBox 42"/>
          <p:cNvSpPr txBox="1"/>
          <p:nvPr/>
        </p:nvSpPr>
        <p:spPr>
          <a:xfrm>
            <a:off x="7972375" y="2289048"/>
            <a:ext cx="3101008"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Depot champion, induction card, paper fallback</a:t>
            </a:r>
          </a:p>
        </p:txBody>
      </p:sp>
      <p:cxnSp>
        <p:nvCxnSpPr>
          <p:cNvPr id="44" name="Connector 43"/>
          <p:cNvCxnSpPr/>
          <p:nvPr/>
        </p:nvCxnSpPr>
        <p:spPr>
          <a:xfrm>
            <a:off x="6142939" y="2770632"/>
            <a:ext cx="499628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208775" y="2770632"/>
            <a:ext cx="1653871"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Models not trusted</a:t>
            </a:r>
          </a:p>
        </p:txBody>
      </p:sp>
      <p:sp>
        <p:nvSpPr>
          <p:cNvPr id="46" name="TextBox 45"/>
          <p:cNvSpPr txBox="1"/>
          <p:nvPr/>
        </p:nvSpPr>
        <p:spPr>
          <a:xfrm>
            <a:off x="7972375" y="2770632"/>
            <a:ext cx="3101008"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Shadow first, trust gates, reasons on every flag</a:t>
            </a:r>
          </a:p>
        </p:txBody>
      </p:sp>
      <p:cxnSp>
        <p:nvCxnSpPr>
          <p:cNvPr id="47" name="Connector 46"/>
          <p:cNvCxnSpPr/>
          <p:nvPr/>
        </p:nvCxnSpPr>
        <p:spPr>
          <a:xfrm>
            <a:off x="6142939" y="3252216"/>
            <a:ext cx="499628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208775" y="3252216"/>
            <a:ext cx="1653871"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Data protection (PDPA)</a:t>
            </a:r>
          </a:p>
        </p:txBody>
      </p:sp>
      <p:sp>
        <p:nvSpPr>
          <p:cNvPr id="49" name="TextBox 48"/>
          <p:cNvSpPr txBox="1"/>
          <p:nvPr/>
        </p:nvSpPr>
        <p:spPr>
          <a:xfrm>
            <a:off x="7972375" y="3252216"/>
            <a:ext cx="3101008"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Agreements and masking before any cloud AI</a:t>
            </a:r>
          </a:p>
        </p:txBody>
      </p:sp>
      <p:cxnSp>
        <p:nvCxnSpPr>
          <p:cNvPr id="50" name="Connector 49"/>
          <p:cNvCxnSpPr/>
          <p:nvPr/>
        </p:nvCxnSpPr>
        <p:spPr>
          <a:xfrm>
            <a:off x="6142939" y="3733799"/>
            <a:ext cx="499628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08775" y="3733799"/>
            <a:ext cx="1653871"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New AI vendor</a:t>
            </a:r>
          </a:p>
        </p:txBody>
      </p:sp>
      <p:sp>
        <p:nvSpPr>
          <p:cNvPr id="52" name="TextBox 51"/>
          <p:cNvSpPr txBox="1"/>
          <p:nvPr/>
        </p:nvSpPr>
        <p:spPr>
          <a:xfrm>
            <a:off x="7972375" y="3733799"/>
            <a:ext cx="3101008"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Behind our own interface, pinned version, rules fallback</a:t>
            </a:r>
          </a:p>
        </p:txBody>
      </p:sp>
      <p:cxnSp>
        <p:nvCxnSpPr>
          <p:cNvPr id="53" name="Connector 52"/>
          <p:cNvCxnSpPr/>
          <p:nvPr/>
        </p:nvCxnSpPr>
        <p:spPr>
          <a:xfrm>
            <a:off x="6142939" y="4215383"/>
            <a:ext cx="499628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208775" y="4215383"/>
            <a:ext cx="1653871"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Exchange rate on cloud costs</a:t>
            </a:r>
          </a:p>
        </p:txBody>
      </p:sp>
      <p:sp>
        <p:nvSpPr>
          <p:cNvPr id="55" name="TextBox 54"/>
          <p:cNvSpPr txBox="1"/>
          <p:nvPr/>
        </p:nvSpPr>
        <p:spPr>
          <a:xfrm>
            <a:off x="7972375" y="4215383"/>
            <a:ext cx="3101008"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Invoice in LKR with yearly indexation</a:t>
            </a:r>
          </a:p>
        </p:txBody>
      </p:sp>
      <p:sp>
        <p:nvSpPr>
          <p:cNvPr id="56" name="Rounded Rectangle 55"/>
          <p:cNvSpPr/>
          <p:nvPr/>
        </p:nvSpPr>
        <p:spPr>
          <a:xfrm>
            <a:off x="6044183" y="5099303"/>
            <a:ext cx="5193792" cy="914399"/>
          </a:xfrm>
          <a:prstGeom prst="roundRect">
            <a:avLst>
              <a:gd name="adj" fmla="val 22000"/>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6272783" y="5190743"/>
            <a:ext cx="4736592" cy="731519"/>
          </a:xfrm>
          <a:prstGeom prst="rect">
            <a:avLst/>
          </a:prstGeom>
          <a:noFill/>
        </p:spPr>
        <p:txBody>
          <a:bodyPr wrap="square" lIns="0" tIns="0" rIns="0" bIns="0" anchor="ctr">
            <a:spAutoFit/>
          </a:bodyPr>
          <a:lstStyle/>
          <a:p>
            <a:pPr algn="l"/>
            <a:r>
              <a:rPr sz="1200">
                <a:solidFill>
                  <a:srgbClr val="FFFFFF"/>
                </a:solidFill>
                <a:latin typeface="Google Sans Flex SemiBold"/>
                <a:ea typeface="Google Sans Flex SemiBold"/>
                <a:cs typeface="Google Sans Flex SemiBold"/>
              </a:rPr>
              <a:t>Pilot success: </a:t>
            </a:r>
            <a:r>
              <a:rPr sz="1200">
                <a:solidFill>
                  <a:srgbClr val="FFFFFF"/>
                </a:solidFill>
                <a:latin typeface="Google Sans Flex"/>
                <a:ea typeface="Google Sans Flex"/>
                <a:cs typeface="Google Sans Flex"/>
              </a:rPr>
              <a:t>Fresh before 8 AM +5 points · calls −30% · write-offs −20% · 90%+ of stops in the app · zero cross-store data leaks · zero lost delivery records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923544" y="384048"/>
            <a:ext cx="86868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23544" y="384048"/>
            <a:ext cx="86868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Backup</a:t>
            </a:r>
          </a:p>
        </p:txBody>
      </p:sp>
      <p:sp>
        <p:nvSpPr>
          <p:cNvPr id="4" name="Rounded Rectangle 3">
            <a:hlinkClick r:id="rId3" action="ppaction://hlinksldjump"/>
          </p:cNvPr>
          <p:cNvSpPr/>
          <p:nvPr/>
        </p:nvSpPr>
        <p:spPr>
          <a:xfrm>
            <a:off x="10277856" y="384048"/>
            <a:ext cx="960120" cy="310896"/>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action="ppaction://hlinksldjump"/>
          </p:cNvPr>
          <p:cNvSpPr txBox="1"/>
          <p:nvPr/>
        </p:nvSpPr>
        <p:spPr>
          <a:xfrm>
            <a:off x="10277856" y="384048"/>
            <a:ext cx="96012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  Index</a:t>
            </a:r>
          </a:p>
        </p:txBody>
      </p:sp>
      <p:sp>
        <p:nvSpPr>
          <p:cNvPr id="6" name="Title"/>
          <p:cNvSpPr txBox="1"/>
          <p:nvPr/>
        </p:nvSpPr>
        <p:spPr>
          <a:xfrm>
            <a:off x="923544" y="786384"/>
            <a:ext cx="10314432" cy="603504"/>
          </a:xfrm>
          <a:prstGeom prst="rect">
            <a:avLst/>
          </a:prstGeom>
          <a:noFill/>
        </p:spPr>
        <p:txBody>
          <a:bodyPr wrap="square" lIns="0" tIns="0" rIns="0" bIns="0" anchor="t">
            <a:spAutoFit/>
          </a:bodyPr>
          <a:lstStyle/>
          <a:p>
            <a:pPr algn="l"/>
            <a:r>
              <a:rPr sz="3400">
                <a:solidFill>
                  <a:srgbClr val="00B050"/>
                </a:solidFill>
                <a:latin typeface="Google Sans Flex SemiBold"/>
                <a:ea typeface="Google Sans Flex SemiBold"/>
                <a:cs typeface="Google Sans Flex SemiBold"/>
              </a:rPr>
              <a:t>Beyond Waypoint: </a:t>
            </a:r>
            <a:r>
              <a:rPr sz="3400">
                <a:solidFill>
                  <a:srgbClr val="000000"/>
                </a:solidFill>
                <a:latin typeface="Google Sans Flex Light"/>
                <a:ea typeface="Google Sans Flex Light"/>
                <a:cs typeface="Google Sans Flex Light"/>
              </a:rPr>
              <a:t>market and revenue</a:t>
            </a:r>
          </a:p>
        </p:txBody>
      </p:sp>
      <p:sp>
        <p:nvSpPr>
          <p:cNvPr id="7" name="TextBox 6"/>
          <p:cNvSpPr txBox="1"/>
          <p:nvPr/>
        </p:nvSpPr>
        <p:spPr>
          <a:xfrm>
            <a:off x="923544" y="1371600"/>
            <a:ext cx="10314432" cy="292608"/>
          </a:xfrm>
          <a:prstGeom prst="rect">
            <a:avLst/>
          </a:prstGeom>
          <a:noFill/>
        </p:spPr>
        <p:txBody>
          <a:bodyPr wrap="square" lIns="0" tIns="0" rIns="0" bIns="0" anchor="t">
            <a:spAutoFit/>
          </a:bodyPr>
          <a:lstStyle/>
          <a:p>
            <a:pPr algn="l"/>
            <a:r>
              <a:rPr sz="1400">
                <a:solidFill>
                  <a:srgbClr val="595959"/>
                </a:solidFill>
                <a:latin typeface="Google Sans Flex"/>
                <a:ea typeface="Google Sans Flex"/>
                <a:cs typeface="Google Sans Flex"/>
              </a:rPr>
              <a:t>Waypoint is the reference customer; the same platform fits other fleets</a:t>
            </a:r>
          </a:p>
        </p:txBody>
      </p:sp>
      <p:sp>
        <p:nvSpPr>
          <p:cNvPr id="8" name="TextBox 7"/>
          <p:cNvSpPr txBox="1"/>
          <p:nvPr/>
        </p:nvSpPr>
        <p:spPr>
          <a:xfrm>
            <a:off x="585216" y="6382512"/>
            <a:ext cx="1069848" cy="29260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WayPoint  |</a:t>
            </a:r>
          </a:p>
        </p:txBody>
      </p:sp>
      <p:sp>
        <p:nvSpPr>
          <p:cNvPr id="9" name="TextBox 8"/>
          <p:cNvSpPr txBox="1"/>
          <p:nvPr/>
        </p:nvSpPr>
        <p:spPr>
          <a:xfrm>
            <a:off x="1417320" y="6355080"/>
            <a:ext cx="658368" cy="329184"/>
          </a:xfrm>
          <a:prstGeom prst="rect">
            <a:avLst/>
          </a:prstGeom>
          <a:noFill/>
        </p:spPr>
        <p:txBody>
          <a:bodyPr wrap="square" lIns="0" tIns="0" rIns="0" bIns="0" anchor="ctr">
            <a:spAutoFit/>
          </a:bodyPr>
          <a:lstStyle/>
          <a:p>
            <a:pPr algn="l"/>
            <a:r>
              <a:rPr sz="2000">
                <a:solidFill>
                  <a:srgbClr val="000000"/>
                </a:solidFill>
                <a:latin typeface="Google Sans Flex ExtraBold"/>
                <a:ea typeface="Google Sans Flex ExtraBold"/>
                <a:cs typeface="Google Sans Flex ExtraBold"/>
              </a:rPr>
              <a:t>GO</a:t>
            </a:r>
          </a:p>
        </p:txBody>
      </p:sp>
      <p:sp>
        <p:nvSpPr>
          <p:cNvPr id="10" name="TextBox 9"/>
          <p:cNvSpPr txBox="1"/>
          <p:nvPr/>
        </p:nvSpPr>
        <p:spPr>
          <a:xfrm>
            <a:off x="10936224" y="6382512"/>
            <a:ext cx="658368" cy="292608"/>
          </a:xfrm>
          <a:prstGeom prst="rect">
            <a:avLst/>
          </a:prstGeom>
          <a:noFill/>
        </p:spPr>
        <p:txBody>
          <a:bodyPr wrap="square" lIns="0" tIns="0" rIns="0" bIns="0" anchor="ctr">
            <a:spAutoFit/>
          </a:bodyPr>
          <a:lstStyle/>
          <a:p>
            <a:pPr algn="r"/>
            <a:r>
              <a:rPr sz="1400">
                <a:solidFill>
                  <a:srgbClr val="000000"/>
                </a:solidFill>
                <a:latin typeface="Google Sans Flex"/>
                <a:ea typeface="Google Sans Flex"/>
                <a:cs typeface="Google Sans Flex"/>
              </a:rPr>
              <a:t>21</a:t>
            </a:r>
          </a:p>
        </p:txBody>
      </p:sp>
      <p:sp>
        <p:nvSpPr>
          <p:cNvPr id="11" name="Rounded Rectangle 10"/>
          <p:cNvSpPr/>
          <p:nvPr/>
        </p:nvSpPr>
        <p:spPr>
          <a:xfrm>
            <a:off x="923544" y="1828800"/>
            <a:ext cx="10314432" cy="2103120"/>
          </a:xfrm>
          <a:prstGeom prst="roundRect">
            <a:avLst>
              <a:gd name="adj" fmla="val 869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88136" y="1993392"/>
            <a:ext cx="1118997" cy="445008"/>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Tier</a:t>
            </a:r>
          </a:p>
        </p:txBody>
      </p:sp>
      <p:sp>
        <p:nvSpPr>
          <p:cNvPr id="13" name="TextBox 12"/>
          <p:cNvSpPr txBox="1"/>
          <p:nvPr/>
        </p:nvSpPr>
        <p:spPr>
          <a:xfrm>
            <a:off x="2316861" y="1993392"/>
            <a:ext cx="1525905" cy="445008"/>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Per vehicle a month</a:t>
            </a:r>
          </a:p>
        </p:txBody>
      </p:sp>
      <p:sp>
        <p:nvSpPr>
          <p:cNvPr id="14" name="TextBox 13"/>
          <p:cNvSpPr txBox="1"/>
          <p:nvPr/>
        </p:nvSpPr>
        <p:spPr>
          <a:xfrm>
            <a:off x="3952494" y="1993392"/>
            <a:ext cx="7120890" cy="445008"/>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Includes</a:t>
            </a:r>
          </a:p>
        </p:txBody>
      </p:sp>
      <p:cxnSp>
        <p:nvCxnSpPr>
          <p:cNvPr id="15" name="Connector 14"/>
          <p:cNvCxnSpPr/>
          <p:nvPr/>
        </p:nvCxnSpPr>
        <p:spPr>
          <a:xfrm>
            <a:off x="1022299" y="2474976"/>
            <a:ext cx="101169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88136" y="2474976"/>
            <a:ext cx="1118997" cy="365760"/>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Core</a:t>
            </a:r>
          </a:p>
        </p:txBody>
      </p:sp>
      <p:sp>
        <p:nvSpPr>
          <p:cNvPr id="17" name="TextBox 16"/>
          <p:cNvSpPr txBox="1"/>
          <p:nvPr/>
        </p:nvSpPr>
        <p:spPr>
          <a:xfrm>
            <a:off x="2316861" y="2474976"/>
            <a:ext cx="1525905" cy="365760"/>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LKR 4,900</a:t>
            </a:r>
          </a:p>
        </p:txBody>
      </p:sp>
      <p:sp>
        <p:nvSpPr>
          <p:cNvPr id="18" name="TextBox 17"/>
          <p:cNvSpPr txBox="1"/>
          <p:nvPr/>
        </p:nvSpPr>
        <p:spPr>
          <a:xfrm>
            <a:off x="3952494" y="2474976"/>
            <a:ext cx="7120890" cy="365760"/>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Dispatch, offline driver app, proof of delivery, store receipt, Sinhala and Tamil</a:t>
            </a:r>
          </a:p>
        </p:txBody>
      </p:sp>
      <p:cxnSp>
        <p:nvCxnSpPr>
          <p:cNvPr id="19" name="Connector 18"/>
          <p:cNvCxnSpPr/>
          <p:nvPr/>
        </p:nvCxnSpPr>
        <p:spPr>
          <a:xfrm>
            <a:off x="1022299" y="2840736"/>
            <a:ext cx="101169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88136" y="2840736"/>
            <a:ext cx="1118997"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Pro</a:t>
            </a:r>
          </a:p>
        </p:txBody>
      </p:sp>
      <p:sp>
        <p:nvSpPr>
          <p:cNvPr id="21" name="TextBox 20"/>
          <p:cNvSpPr txBox="1"/>
          <p:nvPr/>
        </p:nvSpPr>
        <p:spPr>
          <a:xfrm>
            <a:off x="2316861" y="2840736"/>
            <a:ext cx="1525905"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LKR 8,200</a:t>
            </a:r>
          </a:p>
        </p:txBody>
      </p:sp>
      <p:sp>
        <p:nvSpPr>
          <p:cNvPr id="22" name="TextBox 21"/>
          <p:cNvSpPr txBox="1"/>
          <p:nvPr/>
        </p:nvSpPr>
        <p:spPr>
          <a:xfrm>
            <a:off x="3952494" y="2840736"/>
            <a:ext cx="7120890"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Core + constrained allocation with explained deferrals, reefer windows, fuel quota, issues</a:t>
            </a:r>
          </a:p>
        </p:txBody>
      </p:sp>
      <p:cxnSp>
        <p:nvCxnSpPr>
          <p:cNvPr id="23" name="Connector 22"/>
          <p:cNvCxnSpPr/>
          <p:nvPr/>
        </p:nvCxnSpPr>
        <p:spPr>
          <a:xfrm>
            <a:off x="1022299" y="3322320"/>
            <a:ext cx="101169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88136" y="3322320"/>
            <a:ext cx="1118997"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Enterprise</a:t>
            </a:r>
          </a:p>
        </p:txBody>
      </p:sp>
      <p:sp>
        <p:nvSpPr>
          <p:cNvPr id="25" name="TextBox 24"/>
          <p:cNvSpPr txBox="1"/>
          <p:nvPr/>
        </p:nvSpPr>
        <p:spPr>
          <a:xfrm>
            <a:off x="2316861" y="3322320"/>
            <a:ext cx="1525905"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LKR 13,100</a:t>
            </a:r>
          </a:p>
        </p:txBody>
      </p:sp>
      <p:sp>
        <p:nvSpPr>
          <p:cNvPr id="26" name="TextBox 25"/>
          <p:cNvSpPr txBox="1"/>
          <p:nvPr/>
        </p:nvSpPr>
        <p:spPr>
          <a:xfrm>
            <a:off x="3952494" y="3322320"/>
            <a:ext cx="7120890"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Pro + arrival times, late risk and forecast, capped AI, single sign-on, hosting in Sri Lanka</a:t>
            </a:r>
          </a:p>
        </p:txBody>
      </p:sp>
      <p:sp>
        <p:nvSpPr>
          <p:cNvPr id="27" name="Rounded Rectangle 26"/>
          <p:cNvSpPr/>
          <p:nvPr/>
        </p:nvSpPr>
        <p:spPr>
          <a:xfrm>
            <a:off x="923544" y="4206240"/>
            <a:ext cx="3931920" cy="1850135"/>
          </a:xfrm>
          <a:prstGeom prst="roundRect">
            <a:avLst>
              <a:gd name="adj" fmla="val 9884"/>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88136" y="4370832"/>
            <a:ext cx="491032" cy="259080"/>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Year</a:t>
            </a:r>
          </a:p>
        </p:txBody>
      </p:sp>
      <p:sp>
        <p:nvSpPr>
          <p:cNvPr id="29" name="TextBox 28"/>
          <p:cNvSpPr txBox="1"/>
          <p:nvPr/>
        </p:nvSpPr>
        <p:spPr>
          <a:xfrm>
            <a:off x="1688896" y="4370832"/>
            <a:ext cx="900226" cy="259080"/>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Customers</a:t>
            </a:r>
          </a:p>
        </p:txBody>
      </p:sp>
      <p:sp>
        <p:nvSpPr>
          <p:cNvPr id="30" name="TextBox 29"/>
          <p:cNvSpPr txBox="1"/>
          <p:nvPr/>
        </p:nvSpPr>
        <p:spPr>
          <a:xfrm>
            <a:off x="2698851" y="4370832"/>
            <a:ext cx="818388" cy="259080"/>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Vehicles</a:t>
            </a:r>
          </a:p>
        </p:txBody>
      </p:sp>
      <p:sp>
        <p:nvSpPr>
          <p:cNvPr id="31" name="TextBox 30"/>
          <p:cNvSpPr txBox="1"/>
          <p:nvPr/>
        </p:nvSpPr>
        <p:spPr>
          <a:xfrm>
            <a:off x="3626967" y="4370832"/>
            <a:ext cx="1063904" cy="259080"/>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Revenue</a:t>
            </a:r>
          </a:p>
        </p:txBody>
      </p:sp>
      <p:cxnSp>
        <p:nvCxnSpPr>
          <p:cNvPr id="32" name="Connector 31"/>
          <p:cNvCxnSpPr/>
          <p:nvPr/>
        </p:nvCxnSpPr>
        <p:spPr>
          <a:xfrm>
            <a:off x="1022299" y="4666488"/>
            <a:ext cx="37344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088136" y="4666488"/>
            <a:ext cx="491032" cy="420624"/>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1</a:t>
            </a:r>
          </a:p>
        </p:txBody>
      </p:sp>
      <p:sp>
        <p:nvSpPr>
          <p:cNvPr id="34" name="TextBox 33"/>
          <p:cNvSpPr txBox="1"/>
          <p:nvPr/>
        </p:nvSpPr>
        <p:spPr>
          <a:xfrm>
            <a:off x="1688896" y="4666488"/>
            <a:ext cx="900226" cy="420624"/>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5</a:t>
            </a:r>
          </a:p>
        </p:txBody>
      </p:sp>
      <p:sp>
        <p:nvSpPr>
          <p:cNvPr id="35" name="TextBox 34"/>
          <p:cNvSpPr txBox="1"/>
          <p:nvPr/>
        </p:nvSpPr>
        <p:spPr>
          <a:xfrm>
            <a:off x="2698851" y="4666488"/>
            <a:ext cx="818388" cy="420624"/>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125</a:t>
            </a:r>
          </a:p>
        </p:txBody>
      </p:sp>
      <p:sp>
        <p:nvSpPr>
          <p:cNvPr id="36" name="TextBox 35"/>
          <p:cNvSpPr txBox="1"/>
          <p:nvPr/>
        </p:nvSpPr>
        <p:spPr>
          <a:xfrm>
            <a:off x="3626967" y="4666488"/>
            <a:ext cx="1063904" cy="420624"/>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LKR 14.4m</a:t>
            </a:r>
          </a:p>
        </p:txBody>
      </p:sp>
      <p:cxnSp>
        <p:nvCxnSpPr>
          <p:cNvPr id="37" name="Connector 36"/>
          <p:cNvCxnSpPr/>
          <p:nvPr/>
        </p:nvCxnSpPr>
        <p:spPr>
          <a:xfrm>
            <a:off x="1022299" y="5087112"/>
            <a:ext cx="37344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88136" y="5087112"/>
            <a:ext cx="491032" cy="420624"/>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2</a:t>
            </a:r>
          </a:p>
        </p:txBody>
      </p:sp>
      <p:sp>
        <p:nvSpPr>
          <p:cNvPr id="39" name="TextBox 38"/>
          <p:cNvSpPr txBox="1"/>
          <p:nvPr/>
        </p:nvSpPr>
        <p:spPr>
          <a:xfrm>
            <a:off x="1688896" y="5087112"/>
            <a:ext cx="900226" cy="420624"/>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14</a:t>
            </a:r>
          </a:p>
        </p:txBody>
      </p:sp>
      <p:sp>
        <p:nvSpPr>
          <p:cNvPr id="40" name="TextBox 39"/>
          <p:cNvSpPr txBox="1"/>
          <p:nvPr/>
        </p:nvSpPr>
        <p:spPr>
          <a:xfrm>
            <a:off x="2698851" y="5087112"/>
            <a:ext cx="818388" cy="420624"/>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420</a:t>
            </a:r>
          </a:p>
        </p:txBody>
      </p:sp>
      <p:sp>
        <p:nvSpPr>
          <p:cNvPr id="41" name="TextBox 40"/>
          <p:cNvSpPr txBox="1"/>
          <p:nvPr/>
        </p:nvSpPr>
        <p:spPr>
          <a:xfrm>
            <a:off x="3626967" y="5087112"/>
            <a:ext cx="1063904" cy="420624"/>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LKR 42.0m</a:t>
            </a:r>
          </a:p>
        </p:txBody>
      </p:sp>
      <p:cxnSp>
        <p:nvCxnSpPr>
          <p:cNvPr id="42" name="Connector 41"/>
          <p:cNvCxnSpPr/>
          <p:nvPr/>
        </p:nvCxnSpPr>
        <p:spPr>
          <a:xfrm>
            <a:off x="1022299" y="5507736"/>
            <a:ext cx="3734409"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88136" y="5507736"/>
            <a:ext cx="491032" cy="420624"/>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3</a:t>
            </a:r>
          </a:p>
        </p:txBody>
      </p:sp>
      <p:sp>
        <p:nvSpPr>
          <p:cNvPr id="44" name="TextBox 43"/>
          <p:cNvSpPr txBox="1"/>
          <p:nvPr/>
        </p:nvSpPr>
        <p:spPr>
          <a:xfrm>
            <a:off x="1688896" y="5507736"/>
            <a:ext cx="900226" cy="420624"/>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28</a:t>
            </a:r>
          </a:p>
        </p:txBody>
      </p:sp>
      <p:sp>
        <p:nvSpPr>
          <p:cNvPr id="45" name="TextBox 44"/>
          <p:cNvSpPr txBox="1"/>
          <p:nvPr/>
        </p:nvSpPr>
        <p:spPr>
          <a:xfrm>
            <a:off x="2698851" y="5507736"/>
            <a:ext cx="818388" cy="420624"/>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980</a:t>
            </a:r>
          </a:p>
        </p:txBody>
      </p:sp>
      <p:sp>
        <p:nvSpPr>
          <p:cNvPr id="46" name="TextBox 45"/>
          <p:cNvSpPr txBox="1"/>
          <p:nvPr/>
        </p:nvSpPr>
        <p:spPr>
          <a:xfrm>
            <a:off x="3626967" y="5507736"/>
            <a:ext cx="1063904" cy="420624"/>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LKR 90.9m</a:t>
            </a:r>
          </a:p>
        </p:txBody>
      </p:sp>
      <p:sp>
        <p:nvSpPr>
          <p:cNvPr id="47" name="Rounded Rectangle 46"/>
          <p:cNvSpPr/>
          <p:nvPr/>
        </p:nvSpPr>
        <p:spPr>
          <a:xfrm>
            <a:off x="5129783" y="4206240"/>
            <a:ext cx="1883664" cy="1850135"/>
          </a:xfrm>
          <a:prstGeom prst="roundRect">
            <a:avLst>
              <a:gd name="adj" fmla="val 14827"/>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5312664" y="4334256"/>
            <a:ext cx="1517904" cy="502920"/>
          </a:xfrm>
          <a:prstGeom prst="rect">
            <a:avLst/>
          </a:prstGeom>
          <a:noFill/>
        </p:spPr>
        <p:txBody>
          <a:bodyPr wrap="square" lIns="0" tIns="0" rIns="0" bIns="0" anchor="t">
            <a:spAutoFit/>
          </a:bodyPr>
          <a:lstStyle/>
          <a:p>
            <a:pPr algn="l"/>
            <a:r>
              <a:rPr sz="2400">
                <a:solidFill>
                  <a:srgbClr val="000000"/>
                </a:solidFill>
                <a:latin typeface="Google Sans Flex SemiBold"/>
                <a:ea typeface="Google Sans Flex SemiBold"/>
                <a:cs typeface="Google Sans Flex SemiBold"/>
              </a:rPr>
              <a:t>LKR 525m</a:t>
            </a:r>
          </a:p>
        </p:txBody>
      </p:sp>
      <p:sp>
        <p:nvSpPr>
          <p:cNvPr id="49" name="TextBox 48"/>
          <p:cNvSpPr txBox="1"/>
          <p:nvPr/>
        </p:nvSpPr>
        <p:spPr>
          <a:xfrm>
            <a:off x="5312664" y="4715256"/>
            <a:ext cx="1517904" cy="1194815"/>
          </a:xfrm>
          <a:prstGeom prst="rect">
            <a:avLst/>
          </a:prstGeom>
          <a:noFill/>
        </p:spPr>
        <p:txBody>
          <a:bodyPr wrap="square" lIns="0" tIns="0" rIns="0" bIns="0" anchor="t">
            <a:spAutoFit/>
          </a:bodyPr>
          <a:lstStyle/>
          <a:p>
            <a:pPr algn="l"/>
            <a:r>
              <a:rPr sz="1100">
                <a:solidFill>
                  <a:srgbClr val="000000"/>
                </a:solidFill>
                <a:latin typeface="Google Sans Flex"/>
                <a:ea typeface="Google Sans Flex"/>
                <a:cs typeface="Google Sans Flex"/>
              </a:rPr>
              <a:t>a year within reach: ≈ 300 chains, manufacturers and distributors with 10+ vehicles (≈ 6,000 vehicles)</a:t>
            </a:r>
          </a:p>
        </p:txBody>
      </p:sp>
      <p:sp>
        <p:nvSpPr>
          <p:cNvPr id="50" name="Rounded Rectangle 49"/>
          <p:cNvSpPr/>
          <p:nvPr/>
        </p:nvSpPr>
        <p:spPr>
          <a:xfrm>
            <a:off x="7242048" y="4206240"/>
            <a:ext cx="1883664" cy="1850135"/>
          </a:xfrm>
          <a:prstGeom prst="roundRect">
            <a:avLst>
              <a:gd name="adj" fmla="val 14827"/>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7424927" y="4334256"/>
            <a:ext cx="1517904" cy="502920"/>
          </a:xfrm>
          <a:prstGeom prst="rect">
            <a:avLst/>
          </a:prstGeom>
          <a:noFill/>
        </p:spPr>
        <p:txBody>
          <a:bodyPr wrap="square" lIns="0" tIns="0" rIns="0" bIns="0" anchor="t">
            <a:spAutoFit/>
          </a:bodyPr>
          <a:lstStyle/>
          <a:p>
            <a:pPr algn="l"/>
            <a:r>
              <a:rPr sz="2400">
                <a:solidFill>
                  <a:srgbClr val="000000"/>
                </a:solidFill>
                <a:latin typeface="Google Sans Flex SemiBold"/>
                <a:ea typeface="Google Sans Flex SemiBold"/>
                <a:cs typeface="Google Sans Flex SemiBold"/>
              </a:rPr>
              <a:t>≈ 95%</a:t>
            </a:r>
          </a:p>
        </p:txBody>
      </p:sp>
      <p:sp>
        <p:nvSpPr>
          <p:cNvPr id="52" name="TextBox 51"/>
          <p:cNvSpPr txBox="1"/>
          <p:nvPr/>
        </p:nvSpPr>
        <p:spPr>
          <a:xfrm>
            <a:off x="7424927" y="4715256"/>
            <a:ext cx="1517904" cy="1194815"/>
          </a:xfrm>
          <a:prstGeom prst="rect">
            <a:avLst/>
          </a:prstGeom>
          <a:noFill/>
        </p:spPr>
        <p:txBody>
          <a:bodyPr wrap="square" lIns="0" tIns="0" rIns="0" bIns="0" anchor="t">
            <a:spAutoFit/>
          </a:bodyPr>
          <a:lstStyle/>
          <a:p>
            <a:pPr algn="l"/>
            <a:r>
              <a:rPr sz="1100">
                <a:solidFill>
                  <a:srgbClr val="000000"/>
                </a:solidFill>
                <a:latin typeface="Google Sans Flex"/>
                <a:ea typeface="Google Sans Flex"/>
                <a:cs typeface="Google Sans Flex"/>
              </a:rPr>
              <a:t>gross margin on subscription (≈ LKR 330 per vehicle a month); min. 10 vehicles; setup LKR 1.0–4.9m</a:t>
            </a:r>
          </a:p>
        </p:txBody>
      </p:sp>
      <p:sp>
        <p:nvSpPr>
          <p:cNvPr id="53" name="Rounded Rectangle 52"/>
          <p:cNvSpPr/>
          <p:nvPr/>
        </p:nvSpPr>
        <p:spPr>
          <a:xfrm>
            <a:off x="9354312" y="4206240"/>
            <a:ext cx="1883664" cy="1850135"/>
          </a:xfrm>
          <a:prstGeom prst="roundRect">
            <a:avLst>
              <a:gd name="adj" fmla="val 14827"/>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9537192" y="4334256"/>
            <a:ext cx="1517904" cy="502920"/>
          </a:xfrm>
          <a:prstGeom prst="rect">
            <a:avLst/>
          </a:prstGeom>
          <a:noFill/>
        </p:spPr>
        <p:txBody>
          <a:bodyPr wrap="square" lIns="0" tIns="0" rIns="0" bIns="0" anchor="t">
            <a:spAutoFit/>
          </a:bodyPr>
          <a:lstStyle/>
          <a:p>
            <a:pPr algn="l"/>
            <a:r>
              <a:rPr sz="2400">
                <a:solidFill>
                  <a:srgbClr val="FFFFFF"/>
                </a:solidFill>
                <a:latin typeface="Google Sans Flex SemiBold"/>
                <a:ea typeface="Google Sans Flex SemiBold"/>
                <a:cs typeface="Google Sans Flex SemiBold"/>
              </a:rPr>
              <a:t>Next</a:t>
            </a:r>
          </a:p>
        </p:txBody>
      </p:sp>
      <p:sp>
        <p:nvSpPr>
          <p:cNvPr id="55" name="TextBox 54"/>
          <p:cNvSpPr txBox="1"/>
          <p:nvPr/>
        </p:nvSpPr>
        <p:spPr>
          <a:xfrm>
            <a:off x="9537192" y="4715256"/>
            <a:ext cx="1517904" cy="1194815"/>
          </a:xfrm>
          <a:prstGeom prst="rect">
            <a:avLst/>
          </a:prstGeom>
          <a:noFill/>
        </p:spPr>
        <p:txBody>
          <a:bodyPr wrap="square" lIns="0" tIns="0" rIns="0" bIns="0" anchor="t">
            <a:spAutoFit/>
          </a:bodyPr>
          <a:lstStyle/>
          <a:p>
            <a:pPr algn="l"/>
            <a:r>
              <a:rPr sz="1100">
                <a:solidFill>
                  <a:srgbClr val="FFFFFF"/>
                </a:solidFill>
                <a:latin typeface="Google Sans Flex"/>
                <a:ea typeface="Google Sans Flex"/>
                <a:cs typeface="Google Sans Flex"/>
              </a:rPr>
              <a:t>Prerequisite: multi-tenancy, decided after the pilot proves the value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923544" y="384048"/>
            <a:ext cx="86868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23544" y="384048"/>
            <a:ext cx="86868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Backup</a:t>
            </a:r>
          </a:p>
        </p:txBody>
      </p:sp>
      <p:sp>
        <p:nvSpPr>
          <p:cNvPr id="4" name="Rounded Rectangle 3">
            <a:hlinkClick r:id="rId3" action="ppaction://hlinksldjump"/>
          </p:cNvPr>
          <p:cNvSpPr/>
          <p:nvPr/>
        </p:nvSpPr>
        <p:spPr>
          <a:xfrm>
            <a:off x="10277856" y="384048"/>
            <a:ext cx="960120" cy="310896"/>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action="ppaction://hlinksldjump"/>
          </p:cNvPr>
          <p:cNvSpPr txBox="1"/>
          <p:nvPr/>
        </p:nvSpPr>
        <p:spPr>
          <a:xfrm>
            <a:off x="10277856" y="384048"/>
            <a:ext cx="96012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  Index</a:t>
            </a:r>
          </a:p>
        </p:txBody>
      </p:sp>
      <p:sp>
        <p:nvSpPr>
          <p:cNvPr id="6" name="Title"/>
          <p:cNvSpPr txBox="1"/>
          <p:nvPr/>
        </p:nvSpPr>
        <p:spPr>
          <a:xfrm>
            <a:off x="923544" y="786384"/>
            <a:ext cx="10314432" cy="603504"/>
          </a:xfrm>
          <a:prstGeom prst="rect">
            <a:avLst/>
          </a:prstGeom>
          <a:noFill/>
        </p:spPr>
        <p:txBody>
          <a:bodyPr wrap="square" lIns="0" tIns="0" rIns="0" bIns="0" anchor="t">
            <a:spAutoFit/>
          </a:bodyPr>
          <a:lstStyle/>
          <a:p>
            <a:pPr algn="l"/>
            <a:r>
              <a:rPr sz="3400">
                <a:solidFill>
                  <a:srgbClr val="00B050"/>
                </a:solidFill>
                <a:latin typeface="Google Sans Flex SemiBold"/>
                <a:ea typeface="Google Sans Flex SemiBold"/>
                <a:cs typeface="Google Sans Flex SemiBold"/>
              </a:rPr>
              <a:t>From design to product, </a:t>
            </a:r>
            <a:r>
              <a:rPr sz="3400">
                <a:solidFill>
                  <a:srgbClr val="000000"/>
                </a:solidFill>
                <a:latin typeface="Google Sans Flex Light"/>
                <a:ea typeface="Google Sans Flex Light"/>
                <a:cs typeface="Google Sans Flex Light"/>
              </a:rPr>
              <a:t>and our honest limits</a:t>
            </a:r>
          </a:p>
        </p:txBody>
      </p:sp>
      <p:sp>
        <p:nvSpPr>
          <p:cNvPr id="7" name="TextBox 6"/>
          <p:cNvSpPr txBox="1"/>
          <p:nvPr/>
        </p:nvSpPr>
        <p:spPr>
          <a:xfrm>
            <a:off x="923544" y="1371600"/>
            <a:ext cx="10314432" cy="292608"/>
          </a:xfrm>
          <a:prstGeom prst="rect">
            <a:avLst/>
          </a:prstGeom>
          <a:noFill/>
        </p:spPr>
        <p:txBody>
          <a:bodyPr wrap="square" lIns="0" tIns="0" rIns="0" bIns="0" anchor="t">
            <a:spAutoFit/>
          </a:bodyPr>
          <a:lstStyle/>
          <a:p>
            <a:pPr algn="l"/>
            <a:r>
              <a:rPr sz="1400">
                <a:solidFill>
                  <a:srgbClr val="595959"/>
                </a:solidFill>
                <a:latin typeface="Google Sans Flex"/>
                <a:ea typeface="Google Sans Flex"/>
                <a:cs typeface="Google Sans Flex"/>
              </a:rPr>
              <a:t>The Figma file is the specification; every departure is documented</a:t>
            </a:r>
          </a:p>
        </p:txBody>
      </p:sp>
      <p:sp>
        <p:nvSpPr>
          <p:cNvPr id="8" name="TextBox 7"/>
          <p:cNvSpPr txBox="1"/>
          <p:nvPr/>
        </p:nvSpPr>
        <p:spPr>
          <a:xfrm>
            <a:off x="585216" y="6382512"/>
            <a:ext cx="1069848" cy="29260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WayPoint  |</a:t>
            </a:r>
          </a:p>
        </p:txBody>
      </p:sp>
      <p:sp>
        <p:nvSpPr>
          <p:cNvPr id="9" name="TextBox 8"/>
          <p:cNvSpPr txBox="1"/>
          <p:nvPr/>
        </p:nvSpPr>
        <p:spPr>
          <a:xfrm>
            <a:off x="1417320" y="6355080"/>
            <a:ext cx="658368" cy="329184"/>
          </a:xfrm>
          <a:prstGeom prst="rect">
            <a:avLst/>
          </a:prstGeom>
          <a:noFill/>
        </p:spPr>
        <p:txBody>
          <a:bodyPr wrap="square" lIns="0" tIns="0" rIns="0" bIns="0" anchor="ctr">
            <a:spAutoFit/>
          </a:bodyPr>
          <a:lstStyle/>
          <a:p>
            <a:pPr algn="l"/>
            <a:r>
              <a:rPr sz="2000">
                <a:solidFill>
                  <a:srgbClr val="000000"/>
                </a:solidFill>
                <a:latin typeface="Google Sans Flex ExtraBold"/>
                <a:ea typeface="Google Sans Flex ExtraBold"/>
                <a:cs typeface="Google Sans Flex ExtraBold"/>
              </a:rPr>
              <a:t>GO</a:t>
            </a:r>
          </a:p>
        </p:txBody>
      </p:sp>
      <p:sp>
        <p:nvSpPr>
          <p:cNvPr id="10" name="TextBox 9"/>
          <p:cNvSpPr txBox="1"/>
          <p:nvPr/>
        </p:nvSpPr>
        <p:spPr>
          <a:xfrm>
            <a:off x="10936224" y="6382512"/>
            <a:ext cx="658368" cy="292608"/>
          </a:xfrm>
          <a:prstGeom prst="rect">
            <a:avLst/>
          </a:prstGeom>
          <a:noFill/>
        </p:spPr>
        <p:txBody>
          <a:bodyPr wrap="square" lIns="0" tIns="0" rIns="0" bIns="0" anchor="ctr">
            <a:spAutoFit/>
          </a:bodyPr>
          <a:lstStyle/>
          <a:p>
            <a:pPr algn="r"/>
            <a:r>
              <a:rPr sz="1400">
                <a:solidFill>
                  <a:srgbClr val="000000"/>
                </a:solidFill>
                <a:latin typeface="Google Sans Flex"/>
                <a:ea typeface="Google Sans Flex"/>
                <a:cs typeface="Google Sans Flex"/>
              </a:rPr>
              <a:t>22</a:t>
            </a:r>
          </a:p>
        </p:txBody>
      </p:sp>
      <p:sp>
        <p:nvSpPr>
          <p:cNvPr id="11" name="Rounded Rectangle 10"/>
          <p:cNvSpPr/>
          <p:nvPr/>
        </p:nvSpPr>
        <p:spPr>
          <a:xfrm>
            <a:off x="923544" y="1828800"/>
            <a:ext cx="5020055" cy="3974591"/>
          </a:xfrm>
          <a:prstGeom prst="roundRect">
            <a:avLst>
              <a:gd name="adj" fmla="val 4601"/>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88136" y="1993392"/>
            <a:ext cx="4690871" cy="243840"/>
          </a:xfrm>
          <a:prstGeom prst="rect">
            <a:avLst/>
          </a:prstGeom>
          <a:noFill/>
        </p:spPr>
        <p:txBody>
          <a:bodyPr wrap="square" lIns="0" tIns="0" rIns="0" bIns="0" anchor="t">
            <a:spAutoFit/>
          </a:bodyPr>
          <a:lstStyle/>
          <a:p>
            <a:pPr algn="l"/>
            <a:r>
              <a:rPr sz="1600">
                <a:solidFill>
                  <a:srgbClr val="000000"/>
                </a:solidFill>
                <a:latin typeface="Google Sans Flex SemiBold"/>
                <a:ea typeface="Google Sans Flex SemiBold"/>
                <a:cs typeface="Google Sans Flex SemiBold"/>
              </a:rPr>
              <a:t>Design → product</a:t>
            </a:r>
          </a:p>
        </p:txBody>
      </p:sp>
      <p:cxnSp>
        <p:nvCxnSpPr>
          <p:cNvPr id="13" name="Connector 12"/>
          <p:cNvCxnSpPr/>
          <p:nvPr/>
        </p:nvCxnSpPr>
        <p:spPr>
          <a:xfrm>
            <a:off x="1022299" y="2310384"/>
            <a:ext cx="4822545"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88136" y="2383536"/>
            <a:ext cx="4690871" cy="658368"/>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Day 5 failure screen (‘proof saved with no signal’) is built and works</a:t>
            </a:r>
          </a:p>
        </p:txBody>
      </p:sp>
      <p:cxnSp>
        <p:nvCxnSpPr>
          <p:cNvPr id="15" name="Connector 14"/>
          <p:cNvCxnSpPr/>
          <p:nvPr/>
        </p:nvCxnSpPr>
        <p:spPr>
          <a:xfrm>
            <a:off x="1022299" y="3041904"/>
            <a:ext cx="4822545"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88136" y="3041904"/>
            <a:ext cx="4690871" cy="658368"/>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All four roles, end to end, on phone, tablet and desktop</a:t>
            </a:r>
          </a:p>
        </p:txBody>
      </p:sp>
      <p:cxnSp>
        <p:nvCxnSpPr>
          <p:cNvPr id="17" name="Connector 16"/>
          <p:cNvCxnSpPr/>
          <p:nvPr/>
        </p:nvCxnSpPr>
        <p:spPr>
          <a:xfrm>
            <a:off x="1022299" y="3700272"/>
            <a:ext cx="4822545"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88136" y="3700272"/>
            <a:ext cx="4690871" cy="658368"/>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Departures from the design listed in the README with reasons</a:t>
            </a:r>
          </a:p>
        </p:txBody>
      </p:sp>
      <p:cxnSp>
        <p:nvCxnSpPr>
          <p:cNvPr id="19" name="Connector 18"/>
          <p:cNvCxnSpPr/>
          <p:nvPr/>
        </p:nvCxnSpPr>
        <p:spPr>
          <a:xfrm>
            <a:off x="1022299" y="4358640"/>
            <a:ext cx="4822545"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88136" y="4358640"/>
            <a:ext cx="4690871" cy="658368"/>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Sinhala and Tamil reviewed by a native speaker</a:t>
            </a:r>
          </a:p>
        </p:txBody>
      </p:sp>
      <p:cxnSp>
        <p:nvCxnSpPr>
          <p:cNvPr id="21" name="Connector 20"/>
          <p:cNvCxnSpPr/>
          <p:nvPr/>
        </p:nvCxnSpPr>
        <p:spPr>
          <a:xfrm>
            <a:off x="1022299" y="5017008"/>
            <a:ext cx="4822545"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88136" y="5017008"/>
            <a:ext cx="4690871" cy="658368"/>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Explanations, what-if and suggestions added after the Datathon</a:t>
            </a:r>
          </a:p>
        </p:txBody>
      </p:sp>
      <p:sp>
        <p:nvSpPr>
          <p:cNvPr id="23" name="Rounded Rectangle 22"/>
          <p:cNvSpPr/>
          <p:nvPr/>
        </p:nvSpPr>
        <p:spPr>
          <a:xfrm>
            <a:off x="6217919" y="1828800"/>
            <a:ext cx="5020055" cy="4030217"/>
          </a:xfrm>
          <a:prstGeom prst="roundRect">
            <a:avLst>
              <a:gd name="adj" fmla="val 4537"/>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382511" y="1993392"/>
            <a:ext cx="4690871" cy="243840"/>
          </a:xfrm>
          <a:prstGeom prst="rect">
            <a:avLst/>
          </a:prstGeom>
          <a:noFill/>
        </p:spPr>
        <p:txBody>
          <a:bodyPr wrap="square" lIns="0" tIns="0" rIns="0" bIns="0" anchor="t">
            <a:spAutoFit/>
          </a:bodyPr>
          <a:lstStyle/>
          <a:p>
            <a:pPr algn="l"/>
            <a:r>
              <a:rPr sz="1600">
                <a:solidFill>
                  <a:srgbClr val="000000"/>
                </a:solidFill>
                <a:latin typeface="Google Sans Flex SemiBold"/>
                <a:ea typeface="Google Sans Flex SemiBold"/>
                <a:cs typeface="Google Sans Flex SemiBold"/>
              </a:rPr>
              <a:t>What we state openly</a:t>
            </a:r>
          </a:p>
        </p:txBody>
      </p:sp>
      <p:cxnSp>
        <p:nvCxnSpPr>
          <p:cNvPr id="25" name="Connector 24"/>
          <p:cNvCxnSpPr/>
          <p:nvPr/>
        </p:nvCxnSpPr>
        <p:spPr>
          <a:xfrm>
            <a:off x="6316675" y="2310384"/>
            <a:ext cx="4822545"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82511" y="2383536"/>
            <a:ext cx="4690871" cy="713993"/>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Models were trained on synthetic competition data; production retrains on Waypoint’s own deliveries first</a:t>
            </a:r>
          </a:p>
        </p:txBody>
      </p:sp>
      <p:cxnSp>
        <p:nvCxnSpPr>
          <p:cNvPr id="27" name="Connector 26"/>
          <p:cNvCxnSpPr/>
          <p:nvPr/>
        </p:nvCxnSpPr>
        <p:spPr>
          <a:xfrm>
            <a:off x="6316675" y="3097530"/>
            <a:ext cx="4822545"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82511" y="3097530"/>
            <a:ext cx="4690871" cy="658368"/>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Tech forecast error is ≈ 30% (only 3% of volume)</a:t>
            </a:r>
          </a:p>
        </p:txBody>
      </p:sp>
      <p:cxnSp>
        <p:nvCxnSpPr>
          <p:cNvPr id="29" name="Connector 28"/>
          <p:cNvCxnSpPr/>
          <p:nvPr/>
        </p:nvCxnSpPr>
        <p:spPr>
          <a:xfrm>
            <a:off x="6316675" y="3755898"/>
            <a:ext cx="4822545"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382511" y="3755898"/>
            <a:ext cx="4690871" cy="658368"/>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Without live road data, late-risk AUC drops from 0.976 to 0.957</a:t>
            </a:r>
          </a:p>
        </p:txBody>
      </p:sp>
      <p:cxnSp>
        <p:nvCxnSpPr>
          <p:cNvPr id="31" name="Connector 30"/>
          <p:cNvCxnSpPr/>
          <p:nvPr/>
        </p:nvCxnSpPr>
        <p:spPr>
          <a:xfrm>
            <a:off x="6316675" y="4414266"/>
            <a:ext cx="4822545"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382511" y="4414266"/>
            <a:ext cx="4690871" cy="658368"/>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Value figures are estimates until the pilot measures them</a:t>
            </a:r>
          </a:p>
        </p:txBody>
      </p:sp>
      <p:cxnSp>
        <p:nvCxnSpPr>
          <p:cNvPr id="33" name="Connector 32"/>
          <p:cNvCxnSpPr/>
          <p:nvPr/>
        </p:nvCxnSpPr>
        <p:spPr>
          <a:xfrm>
            <a:off x="6316675" y="5072633"/>
            <a:ext cx="4822545"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382511" y="5072633"/>
            <a:ext cx="4690871" cy="658368"/>
          </a:xfrm>
          <a:prstGeom prst="rect">
            <a:avLst/>
          </a:prstGeom>
          <a:noFill/>
        </p:spPr>
        <p:txBody>
          <a:bodyPr wrap="square" lIns="0" tIns="0" rIns="0" bIns="0" anchor="ctr">
            <a:spAutoFit/>
          </a:bodyPr>
          <a:lstStyle/>
          <a:p>
            <a:pPr algn="l"/>
            <a:r>
              <a:rPr sz="1300">
                <a:solidFill>
                  <a:srgbClr val="000000"/>
                </a:solidFill>
                <a:latin typeface="Google Sans Flex"/>
                <a:ea typeface="Google Sans Flex"/>
                <a:cs typeface="Google Sans Flex"/>
              </a:rPr>
              <a:t>Language AI and the report-sorting AI (Jev) are off or in shadow until agreed; multi-tenancy not built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923544" y="384048"/>
            <a:ext cx="86868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23544" y="384048"/>
            <a:ext cx="86868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Backup</a:t>
            </a:r>
          </a:p>
        </p:txBody>
      </p:sp>
      <p:sp>
        <p:nvSpPr>
          <p:cNvPr id="4" name="Rounded Rectangle 3">
            <a:hlinkClick r:id="rId3" action="ppaction://hlinksldjump"/>
          </p:cNvPr>
          <p:cNvSpPr/>
          <p:nvPr/>
        </p:nvSpPr>
        <p:spPr>
          <a:xfrm>
            <a:off x="10277856" y="384048"/>
            <a:ext cx="960120" cy="310896"/>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action="ppaction://hlinksldjump"/>
          </p:cNvPr>
          <p:cNvSpPr txBox="1"/>
          <p:nvPr/>
        </p:nvSpPr>
        <p:spPr>
          <a:xfrm>
            <a:off x="10277856" y="384048"/>
            <a:ext cx="96012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  Index</a:t>
            </a:r>
          </a:p>
        </p:txBody>
      </p:sp>
      <p:sp>
        <p:nvSpPr>
          <p:cNvPr id="6" name="Title"/>
          <p:cNvSpPr txBox="1"/>
          <p:nvPr/>
        </p:nvSpPr>
        <p:spPr>
          <a:xfrm>
            <a:off x="923544" y="786384"/>
            <a:ext cx="10314432" cy="603504"/>
          </a:xfrm>
          <a:prstGeom prst="rect">
            <a:avLst/>
          </a:prstGeom>
          <a:noFill/>
        </p:spPr>
        <p:txBody>
          <a:bodyPr wrap="square" lIns="0" tIns="0" rIns="0" bIns="0" anchor="t">
            <a:spAutoFit/>
          </a:bodyPr>
          <a:lstStyle/>
          <a:p>
            <a:pPr algn="l"/>
            <a:r>
              <a:rPr sz="3400">
                <a:solidFill>
                  <a:srgbClr val="00B050"/>
                </a:solidFill>
                <a:latin typeface="Google Sans Flex SemiBold"/>
                <a:ea typeface="Google Sans Flex SemiBold"/>
                <a:cs typeface="Google Sans Flex SemiBold"/>
              </a:rPr>
              <a:t>Engineering </a:t>
            </a:r>
            <a:r>
              <a:rPr sz="3400">
                <a:solidFill>
                  <a:srgbClr val="000000"/>
                </a:solidFill>
                <a:latin typeface="Google Sans Flex Light"/>
                <a:ea typeface="Google Sans Flex Light"/>
                <a:cs typeface="Google Sans Flex Light"/>
              </a:rPr>
              <a:t>quality</a:t>
            </a:r>
          </a:p>
        </p:txBody>
      </p:sp>
      <p:sp>
        <p:nvSpPr>
          <p:cNvPr id="7" name="TextBox 6"/>
          <p:cNvSpPr txBox="1"/>
          <p:nvPr/>
        </p:nvSpPr>
        <p:spPr>
          <a:xfrm>
            <a:off x="923544" y="1371600"/>
            <a:ext cx="10314432" cy="292608"/>
          </a:xfrm>
          <a:prstGeom prst="rect">
            <a:avLst/>
          </a:prstGeom>
          <a:noFill/>
        </p:spPr>
        <p:txBody>
          <a:bodyPr wrap="square" lIns="0" tIns="0" rIns="0" bIns="0" anchor="t">
            <a:spAutoFit/>
          </a:bodyPr>
          <a:lstStyle/>
          <a:p>
            <a:pPr algn="l"/>
            <a:r>
              <a:rPr sz="1400">
                <a:solidFill>
                  <a:srgbClr val="595959"/>
                </a:solidFill>
                <a:latin typeface="Google Sans Flex"/>
                <a:ea typeface="Google Sans Flex"/>
                <a:cs typeface="Google Sans Flex"/>
              </a:rPr>
              <a:t>Built to be run, not just demonstrated</a:t>
            </a:r>
          </a:p>
        </p:txBody>
      </p:sp>
      <p:sp>
        <p:nvSpPr>
          <p:cNvPr id="8" name="TextBox 7"/>
          <p:cNvSpPr txBox="1"/>
          <p:nvPr/>
        </p:nvSpPr>
        <p:spPr>
          <a:xfrm>
            <a:off x="585216" y="6382512"/>
            <a:ext cx="1069848" cy="29260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WayPoint  |</a:t>
            </a:r>
          </a:p>
        </p:txBody>
      </p:sp>
      <p:sp>
        <p:nvSpPr>
          <p:cNvPr id="9" name="TextBox 8"/>
          <p:cNvSpPr txBox="1"/>
          <p:nvPr/>
        </p:nvSpPr>
        <p:spPr>
          <a:xfrm>
            <a:off x="1417320" y="6355080"/>
            <a:ext cx="658368" cy="329184"/>
          </a:xfrm>
          <a:prstGeom prst="rect">
            <a:avLst/>
          </a:prstGeom>
          <a:noFill/>
        </p:spPr>
        <p:txBody>
          <a:bodyPr wrap="square" lIns="0" tIns="0" rIns="0" bIns="0" anchor="ctr">
            <a:spAutoFit/>
          </a:bodyPr>
          <a:lstStyle/>
          <a:p>
            <a:pPr algn="l"/>
            <a:r>
              <a:rPr sz="2000">
                <a:solidFill>
                  <a:srgbClr val="000000"/>
                </a:solidFill>
                <a:latin typeface="Google Sans Flex ExtraBold"/>
                <a:ea typeface="Google Sans Flex ExtraBold"/>
                <a:cs typeface="Google Sans Flex ExtraBold"/>
              </a:rPr>
              <a:t>GO</a:t>
            </a:r>
          </a:p>
        </p:txBody>
      </p:sp>
      <p:sp>
        <p:nvSpPr>
          <p:cNvPr id="10" name="TextBox 9"/>
          <p:cNvSpPr txBox="1"/>
          <p:nvPr/>
        </p:nvSpPr>
        <p:spPr>
          <a:xfrm>
            <a:off x="10936224" y="6382512"/>
            <a:ext cx="658368" cy="292608"/>
          </a:xfrm>
          <a:prstGeom prst="rect">
            <a:avLst/>
          </a:prstGeom>
          <a:noFill/>
        </p:spPr>
        <p:txBody>
          <a:bodyPr wrap="square" lIns="0" tIns="0" rIns="0" bIns="0" anchor="ctr">
            <a:spAutoFit/>
          </a:bodyPr>
          <a:lstStyle/>
          <a:p>
            <a:pPr algn="r"/>
            <a:r>
              <a:rPr sz="1400">
                <a:solidFill>
                  <a:srgbClr val="000000"/>
                </a:solidFill>
                <a:latin typeface="Google Sans Flex"/>
                <a:ea typeface="Google Sans Flex"/>
                <a:cs typeface="Google Sans Flex"/>
              </a:rPr>
              <a:t>23</a:t>
            </a:r>
          </a:p>
        </p:txBody>
      </p:sp>
      <p:sp>
        <p:nvSpPr>
          <p:cNvPr id="11" name="Rounded Rectangle 10"/>
          <p:cNvSpPr/>
          <p:nvPr/>
        </p:nvSpPr>
        <p:spPr>
          <a:xfrm>
            <a:off x="923544" y="1828800"/>
            <a:ext cx="3255264" cy="1024128"/>
          </a:xfrm>
          <a:prstGeom prst="roundRect">
            <a:avLst>
              <a:gd name="adj" fmla="val 26785"/>
            </a:avLst>
          </a:prstGeom>
          <a:solidFill>
            <a:srgbClr val="006A62"/>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06424" y="1956816"/>
            <a:ext cx="2889504" cy="502920"/>
          </a:xfrm>
          <a:prstGeom prst="rect">
            <a:avLst/>
          </a:prstGeom>
          <a:noFill/>
        </p:spPr>
        <p:txBody>
          <a:bodyPr wrap="square" lIns="0" tIns="0" rIns="0" bIns="0" anchor="t">
            <a:spAutoFit/>
          </a:bodyPr>
          <a:lstStyle/>
          <a:p>
            <a:pPr algn="l"/>
            <a:r>
              <a:rPr sz="2800">
                <a:solidFill>
                  <a:srgbClr val="FFFFFF"/>
                </a:solidFill>
                <a:latin typeface="Google Sans Flex SemiBold"/>
                <a:ea typeface="Google Sans Flex SemiBold"/>
                <a:cs typeface="Google Sans Flex SemiBold"/>
              </a:rPr>
              <a:t>217</a:t>
            </a:r>
          </a:p>
        </p:txBody>
      </p:sp>
      <p:sp>
        <p:nvSpPr>
          <p:cNvPr id="13" name="TextBox 12"/>
          <p:cNvSpPr txBox="1"/>
          <p:nvPr/>
        </p:nvSpPr>
        <p:spPr>
          <a:xfrm>
            <a:off x="1106424" y="2401316"/>
            <a:ext cx="2889504" cy="305308"/>
          </a:xfrm>
          <a:prstGeom prst="rect">
            <a:avLst/>
          </a:prstGeom>
          <a:noFill/>
        </p:spPr>
        <p:txBody>
          <a:bodyPr wrap="square" lIns="0" tIns="0" rIns="0" bIns="0" anchor="t">
            <a:spAutoFit/>
          </a:bodyPr>
          <a:lstStyle/>
          <a:p>
            <a:pPr algn="l"/>
            <a:r>
              <a:rPr sz="1200">
                <a:solidFill>
                  <a:srgbClr val="FFFFFF"/>
                </a:solidFill>
                <a:latin typeface="Google Sans Flex"/>
                <a:ea typeface="Google Sans Flex"/>
                <a:cs typeface="Google Sans Flex"/>
              </a:rPr>
              <a:t>backend test files: unit, architecture, integration</a:t>
            </a:r>
          </a:p>
        </p:txBody>
      </p:sp>
      <p:sp>
        <p:nvSpPr>
          <p:cNvPr id="14" name="Rounded Rectangle 13"/>
          <p:cNvSpPr/>
          <p:nvPr/>
        </p:nvSpPr>
        <p:spPr>
          <a:xfrm>
            <a:off x="4453128" y="1828800"/>
            <a:ext cx="3255264" cy="1024128"/>
          </a:xfrm>
          <a:prstGeom prst="roundRect">
            <a:avLst>
              <a:gd name="adj" fmla="val 2678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636008" y="1956816"/>
            <a:ext cx="2889504" cy="502920"/>
          </a:xfrm>
          <a:prstGeom prst="rect">
            <a:avLst/>
          </a:prstGeom>
          <a:noFill/>
        </p:spPr>
        <p:txBody>
          <a:bodyPr wrap="square" lIns="0" tIns="0" rIns="0" bIns="0" anchor="t">
            <a:spAutoFit/>
          </a:bodyPr>
          <a:lstStyle/>
          <a:p>
            <a:pPr algn="l"/>
            <a:r>
              <a:rPr sz="2800">
                <a:solidFill>
                  <a:srgbClr val="000000"/>
                </a:solidFill>
                <a:latin typeface="Google Sans Flex SemiBold"/>
                <a:ea typeface="Google Sans Flex SemiBold"/>
                <a:cs typeface="Google Sans Flex SemiBold"/>
              </a:rPr>
              <a:t>93</a:t>
            </a:r>
          </a:p>
        </p:txBody>
      </p:sp>
      <p:sp>
        <p:nvSpPr>
          <p:cNvPr id="16" name="TextBox 15"/>
          <p:cNvSpPr txBox="1"/>
          <p:nvPr/>
        </p:nvSpPr>
        <p:spPr>
          <a:xfrm>
            <a:off x="4636008" y="2401316"/>
            <a:ext cx="2889504" cy="305308"/>
          </a:xfrm>
          <a:prstGeom prst="rect">
            <a:avLst/>
          </a:prstGeom>
          <a:noFill/>
        </p:spPr>
        <p:txBody>
          <a:bodyPr wrap="square" lIns="0" tIns="0" rIns="0" bIns="0" anchor="t">
            <a:spAutoFit/>
          </a:bodyPr>
          <a:lstStyle/>
          <a:p>
            <a:pPr algn="l"/>
            <a:r>
              <a:rPr sz="1200">
                <a:solidFill>
                  <a:srgbClr val="000000"/>
                </a:solidFill>
                <a:latin typeface="Google Sans Flex"/>
                <a:ea typeface="Google Sans Flex"/>
                <a:cs typeface="Google Sans Flex"/>
              </a:rPr>
              <a:t>frontend unit tests</a:t>
            </a:r>
          </a:p>
        </p:txBody>
      </p:sp>
      <p:sp>
        <p:nvSpPr>
          <p:cNvPr id="17" name="Rounded Rectangle 16"/>
          <p:cNvSpPr/>
          <p:nvPr/>
        </p:nvSpPr>
        <p:spPr>
          <a:xfrm>
            <a:off x="7982712" y="1828800"/>
            <a:ext cx="3255264" cy="1024128"/>
          </a:xfrm>
          <a:prstGeom prst="roundRect">
            <a:avLst>
              <a:gd name="adj" fmla="val 2678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165592" y="1956816"/>
            <a:ext cx="2889504" cy="502920"/>
          </a:xfrm>
          <a:prstGeom prst="rect">
            <a:avLst/>
          </a:prstGeom>
          <a:noFill/>
        </p:spPr>
        <p:txBody>
          <a:bodyPr wrap="square" lIns="0" tIns="0" rIns="0" bIns="0" anchor="t">
            <a:spAutoFit/>
          </a:bodyPr>
          <a:lstStyle/>
          <a:p>
            <a:pPr algn="l"/>
            <a:r>
              <a:rPr sz="2800">
                <a:solidFill>
                  <a:srgbClr val="000000"/>
                </a:solidFill>
                <a:latin typeface="Google Sans Flex SemiBold"/>
                <a:ea typeface="Google Sans Flex SemiBold"/>
                <a:cs typeface="Google Sans Flex SemiBold"/>
              </a:rPr>
              <a:t>98</a:t>
            </a:r>
          </a:p>
        </p:txBody>
      </p:sp>
      <p:sp>
        <p:nvSpPr>
          <p:cNvPr id="19" name="TextBox 18"/>
          <p:cNvSpPr txBox="1"/>
          <p:nvPr/>
        </p:nvSpPr>
        <p:spPr>
          <a:xfrm>
            <a:off x="8165592" y="2401316"/>
            <a:ext cx="2889504" cy="305308"/>
          </a:xfrm>
          <a:prstGeom prst="rect">
            <a:avLst/>
          </a:prstGeom>
          <a:noFill/>
        </p:spPr>
        <p:txBody>
          <a:bodyPr wrap="square" lIns="0" tIns="0" rIns="0" bIns="0" anchor="t">
            <a:spAutoFit/>
          </a:bodyPr>
          <a:lstStyle/>
          <a:p>
            <a:pPr algn="l"/>
            <a:r>
              <a:rPr sz="1200">
                <a:solidFill>
                  <a:srgbClr val="000000"/>
                </a:solidFill>
                <a:latin typeface="Google Sans Flex"/>
                <a:ea typeface="Google Sans Flex"/>
                <a:cs typeface="Google Sans Flex"/>
              </a:rPr>
              <a:t>browser test specs across every role</a:t>
            </a:r>
          </a:p>
        </p:txBody>
      </p:sp>
      <p:sp>
        <p:nvSpPr>
          <p:cNvPr id="20" name="Rounded Rectangle 19"/>
          <p:cNvSpPr/>
          <p:nvPr/>
        </p:nvSpPr>
        <p:spPr>
          <a:xfrm>
            <a:off x="923544" y="3035808"/>
            <a:ext cx="3255264" cy="1024128"/>
          </a:xfrm>
          <a:prstGeom prst="roundRect">
            <a:avLst>
              <a:gd name="adj" fmla="val 2678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106424" y="3163824"/>
            <a:ext cx="2889504" cy="502920"/>
          </a:xfrm>
          <a:prstGeom prst="rect">
            <a:avLst/>
          </a:prstGeom>
          <a:noFill/>
        </p:spPr>
        <p:txBody>
          <a:bodyPr wrap="square" lIns="0" tIns="0" rIns="0" bIns="0" anchor="t">
            <a:spAutoFit/>
          </a:bodyPr>
          <a:lstStyle/>
          <a:p>
            <a:pPr algn="l"/>
            <a:r>
              <a:rPr sz="2800">
                <a:solidFill>
                  <a:srgbClr val="000000"/>
                </a:solidFill>
                <a:latin typeface="Google Sans Flex SemiBold"/>
                <a:ea typeface="Google Sans Flex SemiBold"/>
                <a:cs typeface="Google Sans Flex SemiBold"/>
              </a:rPr>
              <a:t>12</a:t>
            </a:r>
          </a:p>
        </p:txBody>
      </p:sp>
      <p:sp>
        <p:nvSpPr>
          <p:cNvPr id="22" name="TextBox 21"/>
          <p:cNvSpPr txBox="1"/>
          <p:nvPr/>
        </p:nvSpPr>
        <p:spPr>
          <a:xfrm>
            <a:off x="1106424" y="3608324"/>
            <a:ext cx="2889504" cy="305308"/>
          </a:xfrm>
          <a:prstGeom prst="rect">
            <a:avLst/>
          </a:prstGeom>
          <a:noFill/>
        </p:spPr>
        <p:txBody>
          <a:bodyPr wrap="square" lIns="0" tIns="0" rIns="0" bIns="0" anchor="t">
            <a:spAutoFit/>
          </a:bodyPr>
          <a:lstStyle/>
          <a:p>
            <a:pPr algn="l"/>
            <a:r>
              <a:rPr sz="1200">
                <a:solidFill>
                  <a:srgbClr val="000000"/>
                </a:solidFill>
                <a:latin typeface="Google Sans Flex"/>
                <a:ea typeface="Google Sans Flex"/>
                <a:cs typeface="Google Sans Flex"/>
              </a:rPr>
              <a:t>model-service tests, incl. exact reproduction</a:t>
            </a:r>
          </a:p>
        </p:txBody>
      </p:sp>
      <p:sp>
        <p:nvSpPr>
          <p:cNvPr id="23" name="Rounded Rectangle 22"/>
          <p:cNvSpPr/>
          <p:nvPr/>
        </p:nvSpPr>
        <p:spPr>
          <a:xfrm>
            <a:off x="4453128" y="3035808"/>
            <a:ext cx="3255264" cy="1024128"/>
          </a:xfrm>
          <a:prstGeom prst="roundRect">
            <a:avLst>
              <a:gd name="adj" fmla="val 2678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636008" y="3163824"/>
            <a:ext cx="2889504" cy="502920"/>
          </a:xfrm>
          <a:prstGeom prst="rect">
            <a:avLst/>
          </a:prstGeom>
          <a:noFill/>
        </p:spPr>
        <p:txBody>
          <a:bodyPr wrap="square" lIns="0" tIns="0" rIns="0" bIns="0" anchor="t">
            <a:spAutoFit/>
          </a:bodyPr>
          <a:lstStyle/>
          <a:p>
            <a:pPr algn="l"/>
            <a:r>
              <a:rPr sz="2800">
                <a:solidFill>
                  <a:srgbClr val="000000"/>
                </a:solidFill>
                <a:latin typeface="Google Sans Flex SemiBold"/>
                <a:ea typeface="Google Sans Flex SemiBold"/>
                <a:cs typeface="Google Sans Flex SemiBold"/>
              </a:rPr>
              <a:t>188</a:t>
            </a:r>
          </a:p>
        </p:txBody>
      </p:sp>
      <p:sp>
        <p:nvSpPr>
          <p:cNvPr id="25" name="TextBox 24"/>
          <p:cNvSpPr txBox="1"/>
          <p:nvPr/>
        </p:nvSpPr>
        <p:spPr>
          <a:xfrm>
            <a:off x="4636008" y="3608324"/>
            <a:ext cx="2889504" cy="305308"/>
          </a:xfrm>
          <a:prstGeom prst="rect">
            <a:avLst/>
          </a:prstGeom>
          <a:noFill/>
        </p:spPr>
        <p:txBody>
          <a:bodyPr wrap="square" lIns="0" tIns="0" rIns="0" bIns="0" anchor="t">
            <a:spAutoFit/>
          </a:bodyPr>
          <a:lstStyle/>
          <a:p>
            <a:pPr algn="l"/>
            <a:r>
              <a:rPr sz="1200">
                <a:solidFill>
                  <a:srgbClr val="000000"/>
                </a:solidFill>
                <a:latin typeface="Google Sans Flex"/>
                <a:ea typeface="Google Sans Flex"/>
                <a:cs typeface="Google Sans Flex"/>
              </a:rPr>
              <a:t>versioned database migrations</a:t>
            </a:r>
          </a:p>
        </p:txBody>
      </p:sp>
      <p:sp>
        <p:nvSpPr>
          <p:cNvPr id="26" name="Rounded Rectangle 25"/>
          <p:cNvSpPr/>
          <p:nvPr/>
        </p:nvSpPr>
        <p:spPr>
          <a:xfrm>
            <a:off x="7982712" y="3035808"/>
            <a:ext cx="3255264" cy="1024128"/>
          </a:xfrm>
          <a:prstGeom prst="roundRect">
            <a:avLst>
              <a:gd name="adj" fmla="val 26785"/>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165592" y="3163824"/>
            <a:ext cx="2889504" cy="502920"/>
          </a:xfrm>
          <a:prstGeom prst="rect">
            <a:avLst/>
          </a:prstGeom>
          <a:noFill/>
        </p:spPr>
        <p:txBody>
          <a:bodyPr wrap="square" lIns="0" tIns="0" rIns="0" bIns="0" anchor="t">
            <a:spAutoFit/>
          </a:bodyPr>
          <a:lstStyle/>
          <a:p>
            <a:pPr algn="l"/>
            <a:r>
              <a:rPr sz="2800">
                <a:solidFill>
                  <a:srgbClr val="000000"/>
                </a:solidFill>
                <a:latin typeface="Google Sans Flex SemiBold"/>
                <a:ea typeface="Google Sans Flex SemiBold"/>
                <a:cs typeface="Google Sans Flex SemiBold"/>
              </a:rPr>
              <a:t>41</a:t>
            </a:r>
          </a:p>
        </p:txBody>
      </p:sp>
      <p:sp>
        <p:nvSpPr>
          <p:cNvPr id="28" name="TextBox 27"/>
          <p:cNvSpPr txBox="1"/>
          <p:nvPr/>
        </p:nvSpPr>
        <p:spPr>
          <a:xfrm>
            <a:off x="8165592" y="3608324"/>
            <a:ext cx="2889504" cy="305308"/>
          </a:xfrm>
          <a:prstGeom prst="rect">
            <a:avLst/>
          </a:prstGeom>
          <a:noFill/>
        </p:spPr>
        <p:txBody>
          <a:bodyPr wrap="square" lIns="0" tIns="0" rIns="0" bIns="0" anchor="t">
            <a:spAutoFit/>
          </a:bodyPr>
          <a:lstStyle/>
          <a:p>
            <a:pPr algn="l"/>
            <a:r>
              <a:rPr sz="1200">
                <a:solidFill>
                  <a:srgbClr val="000000"/>
                </a:solidFill>
                <a:latin typeface="Google Sans Flex"/>
                <a:ea typeface="Google Sans Flex"/>
                <a:cs typeface="Google Sans Flex"/>
              </a:rPr>
              <a:t>feature plans written before the code</a:t>
            </a:r>
          </a:p>
        </p:txBody>
      </p:sp>
      <p:sp>
        <p:nvSpPr>
          <p:cNvPr id="29" name="Rounded Rectangle 28"/>
          <p:cNvSpPr/>
          <p:nvPr/>
        </p:nvSpPr>
        <p:spPr>
          <a:xfrm>
            <a:off x="923544" y="4389120"/>
            <a:ext cx="10314432" cy="1688592"/>
          </a:xfrm>
          <a:prstGeom prst="roundRect">
            <a:avLst>
              <a:gd name="adj" fmla="val 1083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1051560" y="4517136"/>
            <a:ext cx="10058400" cy="329184"/>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One command (docker compose up) starts the whole stack: database, backend, model service, frontend and seed data</a:t>
            </a:r>
          </a:p>
        </p:txBody>
      </p:sp>
      <p:cxnSp>
        <p:nvCxnSpPr>
          <p:cNvPr id="31" name="Connector 30"/>
          <p:cNvCxnSpPr/>
          <p:nvPr/>
        </p:nvCxnSpPr>
        <p:spPr>
          <a:xfrm>
            <a:off x="1000353" y="4846320"/>
            <a:ext cx="1016081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51560" y="4846320"/>
            <a:ext cx="10058400"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Every pull request: backend tests, type check, unit tests, build and browser suites per role; secret scanning; model-file scanning</a:t>
            </a:r>
          </a:p>
        </p:txBody>
      </p:sp>
      <p:cxnSp>
        <p:nvCxnSpPr>
          <p:cNvPr id="33" name="Connector 32"/>
          <p:cNvCxnSpPr/>
          <p:nvPr/>
        </p:nvCxnSpPr>
        <p:spPr>
          <a:xfrm>
            <a:off x="1000353" y="5327904"/>
            <a:ext cx="1016081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051560" y="5327904"/>
            <a:ext cx="10058400" cy="329184"/>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Prometheus, Grafana, Loki and Alertmanager, with alerts on model drift and refused AI-assistant calls</a:t>
            </a:r>
          </a:p>
        </p:txBody>
      </p:sp>
      <p:cxnSp>
        <p:nvCxnSpPr>
          <p:cNvPr id="35" name="Connector 34"/>
          <p:cNvCxnSpPr/>
          <p:nvPr/>
        </p:nvCxnSpPr>
        <p:spPr>
          <a:xfrm>
            <a:off x="1000353" y="5657088"/>
            <a:ext cx="10160813"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51560" y="5657088"/>
            <a:ext cx="10058400" cy="329184"/>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AI coding tools were used and are disclosed in the repository (docs/ai-disclosure.md)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923544" y="384048"/>
            <a:ext cx="868680" cy="310896"/>
          </a:xfrm>
          <a:prstGeom prst="roundRect">
            <a:avLst>
              <a:gd name="adj" fmla="val 50000"/>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23544" y="384048"/>
            <a:ext cx="86868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Backup</a:t>
            </a:r>
          </a:p>
        </p:txBody>
      </p:sp>
      <p:sp>
        <p:nvSpPr>
          <p:cNvPr id="4" name="Rounded Rectangle 3">
            <a:hlinkClick r:id="rId3" action="ppaction://hlinksldjump"/>
          </p:cNvPr>
          <p:cNvSpPr/>
          <p:nvPr/>
        </p:nvSpPr>
        <p:spPr>
          <a:xfrm>
            <a:off x="10277856" y="384048"/>
            <a:ext cx="960120" cy="310896"/>
          </a:xfrm>
          <a:prstGeom prst="roundRect">
            <a:avLst>
              <a:gd name="adj" fmla="val 50000"/>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action="ppaction://hlinksldjump"/>
          </p:cNvPr>
          <p:cNvSpPr txBox="1"/>
          <p:nvPr/>
        </p:nvSpPr>
        <p:spPr>
          <a:xfrm>
            <a:off x="10277856" y="384048"/>
            <a:ext cx="960120" cy="310896"/>
          </a:xfrm>
          <a:prstGeom prst="rect">
            <a:avLst/>
          </a:prstGeom>
          <a:noFill/>
        </p:spPr>
        <p:txBody>
          <a:bodyPr wrap="square" lIns="0" tIns="0" rIns="0" bIns="0" anchor="ctr">
            <a:spAutoFit/>
          </a:bodyPr>
          <a:lstStyle/>
          <a:p>
            <a:pPr algn="ctr"/>
            <a:r>
              <a:rPr sz="1200">
                <a:solidFill>
                  <a:srgbClr val="000000"/>
                </a:solidFill>
                <a:latin typeface="Google Sans Flex"/>
                <a:ea typeface="Google Sans Flex"/>
                <a:cs typeface="Google Sans Flex"/>
              </a:rPr>
              <a:t>‹  Index</a:t>
            </a:r>
          </a:p>
        </p:txBody>
      </p:sp>
      <p:sp>
        <p:nvSpPr>
          <p:cNvPr id="6" name="Title"/>
          <p:cNvSpPr txBox="1"/>
          <p:nvPr/>
        </p:nvSpPr>
        <p:spPr>
          <a:xfrm>
            <a:off x="923544" y="786384"/>
            <a:ext cx="10314432" cy="603504"/>
          </a:xfrm>
          <a:prstGeom prst="rect">
            <a:avLst/>
          </a:prstGeom>
          <a:noFill/>
        </p:spPr>
        <p:txBody>
          <a:bodyPr wrap="square" lIns="0" tIns="0" rIns="0" bIns="0" anchor="t">
            <a:spAutoFit/>
          </a:bodyPr>
          <a:lstStyle/>
          <a:p>
            <a:pPr algn="l"/>
            <a:r>
              <a:rPr sz="3400">
                <a:solidFill>
                  <a:srgbClr val="00B050"/>
                </a:solidFill>
                <a:latin typeface="Google Sans Flex SemiBold"/>
                <a:ea typeface="Google Sans Flex SemiBold"/>
                <a:cs typeface="Google Sans Flex SemiBold"/>
              </a:rPr>
              <a:t>Numbers </a:t>
            </a:r>
            <a:r>
              <a:rPr sz="3400">
                <a:solidFill>
                  <a:srgbClr val="000000"/>
                </a:solidFill>
                <a:latin typeface="Google Sans Flex Light"/>
                <a:ea typeface="Google Sans Flex Light"/>
                <a:cs typeface="Google Sans Flex Light"/>
              </a:rPr>
              <a:t>at a glance</a:t>
            </a:r>
          </a:p>
        </p:txBody>
      </p:sp>
      <p:sp>
        <p:nvSpPr>
          <p:cNvPr id="7" name="TextBox 6"/>
          <p:cNvSpPr txBox="1"/>
          <p:nvPr/>
        </p:nvSpPr>
        <p:spPr>
          <a:xfrm>
            <a:off x="923544" y="1371600"/>
            <a:ext cx="10314432" cy="292608"/>
          </a:xfrm>
          <a:prstGeom prst="rect">
            <a:avLst/>
          </a:prstGeom>
          <a:noFill/>
        </p:spPr>
        <p:txBody>
          <a:bodyPr wrap="square" lIns="0" tIns="0" rIns="0" bIns="0" anchor="t">
            <a:spAutoFit/>
          </a:bodyPr>
          <a:lstStyle/>
          <a:p>
            <a:pPr algn="l"/>
            <a:r>
              <a:rPr sz="1400">
                <a:solidFill>
                  <a:srgbClr val="595959"/>
                </a:solidFill>
                <a:latin typeface="Google Sans Flex"/>
                <a:ea typeface="Google Sans Flex"/>
                <a:cs typeface="Google Sans Flex"/>
              </a:rPr>
              <a:t>Every rounded number, with its exact figure and source</a:t>
            </a:r>
          </a:p>
        </p:txBody>
      </p:sp>
      <p:sp>
        <p:nvSpPr>
          <p:cNvPr id="8" name="TextBox 7"/>
          <p:cNvSpPr txBox="1"/>
          <p:nvPr/>
        </p:nvSpPr>
        <p:spPr>
          <a:xfrm>
            <a:off x="585216" y="6382512"/>
            <a:ext cx="1069848" cy="292608"/>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WayPoint  |</a:t>
            </a:r>
          </a:p>
        </p:txBody>
      </p:sp>
      <p:sp>
        <p:nvSpPr>
          <p:cNvPr id="9" name="TextBox 8"/>
          <p:cNvSpPr txBox="1"/>
          <p:nvPr/>
        </p:nvSpPr>
        <p:spPr>
          <a:xfrm>
            <a:off x="1417320" y="6355080"/>
            <a:ext cx="658368" cy="329184"/>
          </a:xfrm>
          <a:prstGeom prst="rect">
            <a:avLst/>
          </a:prstGeom>
          <a:noFill/>
        </p:spPr>
        <p:txBody>
          <a:bodyPr wrap="square" lIns="0" tIns="0" rIns="0" bIns="0" anchor="ctr">
            <a:spAutoFit/>
          </a:bodyPr>
          <a:lstStyle/>
          <a:p>
            <a:pPr algn="l"/>
            <a:r>
              <a:rPr sz="2000">
                <a:solidFill>
                  <a:srgbClr val="000000"/>
                </a:solidFill>
                <a:latin typeface="Google Sans Flex ExtraBold"/>
                <a:ea typeface="Google Sans Flex ExtraBold"/>
                <a:cs typeface="Google Sans Flex ExtraBold"/>
              </a:rPr>
              <a:t>GO</a:t>
            </a:r>
          </a:p>
        </p:txBody>
      </p:sp>
      <p:sp>
        <p:nvSpPr>
          <p:cNvPr id="10" name="TextBox 9"/>
          <p:cNvSpPr txBox="1"/>
          <p:nvPr/>
        </p:nvSpPr>
        <p:spPr>
          <a:xfrm>
            <a:off x="10936224" y="6382512"/>
            <a:ext cx="658368" cy="292608"/>
          </a:xfrm>
          <a:prstGeom prst="rect">
            <a:avLst/>
          </a:prstGeom>
          <a:noFill/>
        </p:spPr>
        <p:txBody>
          <a:bodyPr wrap="square" lIns="0" tIns="0" rIns="0" bIns="0" anchor="ctr">
            <a:spAutoFit/>
          </a:bodyPr>
          <a:lstStyle/>
          <a:p>
            <a:pPr algn="r"/>
            <a:r>
              <a:rPr sz="1400">
                <a:solidFill>
                  <a:srgbClr val="000000"/>
                </a:solidFill>
                <a:latin typeface="Google Sans Flex"/>
                <a:ea typeface="Google Sans Flex"/>
                <a:cs typeface="Google Sans Flex"/>
              </a:rPr>
              <a:t>24</a:t>
            </a:r>
          </a:p>
        </p:txBody>
      </p:sp>
      <p:sp>
        <p:nvSpPr>
          <p:cNvPr id="11" name="Rounded Rectangle 10"/>
          <p:cNvSpPr/>
          <p:nvPr/>
        </p:nvSpPr>
        <p:spPr>
          <a:xfrm>
            <a:off x="923544" y="1828800"/>
            <a:ext cx="10314432" cy="3867911"/>
          </a:xfrm>
          <a:prstGeom prst="roundRect">
            <a:avLst>
              <a:gd name="adj" fmla="val 4728"/>
            </a:avLst>
          </a:prstGeom>
          <a:solidFill>
            <a:schemeClr val="bg1"/>
          </a:solidFill>
          <a:ln>
            <a:gradFill>
              <a:gsLst>
                <a:gs pos="0">
                  <a:schemeClr val="accent1">
                    <a:lumMod val="5000"/>
                    <a:lumOff val="95000"/>
                  </a:schemeClr>
                </a:gs>
                <a:gs pos="74000">
                  <a:schemeClr val="tx1"/>
                </a:gs>
                <a:gs pos="83000">
                  <a:schemeClr val="tx1"/>
                </a:gs>
                <a:gs pos="100000">
                  <a:schemeClr val="bg1"/>
                </a:gs>
              </a:gsLst>
              <a:lin ang="11400000" scaled="0"/>
            </a:gradFill>
          </a:ln>
          <a:effectLst>
            <a:outerShdw blurRad="1270000" dist="177800" dir="4800000" sx="102000" sy="102000" algn="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88136" y="1993392"/>
            <a:ext cx="2085897" cy="259080"/>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Topic</a:t>
            </a:r>
          </a:p>
        </p:txBody>
      </p:sp>
      <p:sp>
        <p:nvSpPr>
          <p:cNvPr id="13" name="TextBox 12"/>
          <p:cNvSpPr txBox="1"/>
          <p:nvPr/>
        </p:nvSpPr>
        <p:spPr>
          <a:xfrm>
            <a:off x="3283761" y="1993392"/>
            <a:ext cx="1991083" cy="259080"/>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Say</a:t>
            </a:r>
          </a:p>
        </p:txBody>
      </p:sp>
      <p:sp>
        <p:nvSpPr>
          <p:cNvPr id="14" name="TextBox 13"/>
          <p:cNvSpPr txBox="1"/>
          <p:nvPr/>
        </p:nvSpPr>
        <p:spPr>
          <a:xfrm>
            <a:off x="5384573" y="1993392"/>
            <a:ext cx="5688810" cy="259080"/>
          </a:xfrm>
          <a:prstGeom prst="rect">
            <a:avLst/>
          </a:prstGeom>
          <a:noFill/>
        </p:spPr>
        <p:txBody>
          <a:bodyPr wrap="square" lIns="0" tIns="0" rIns="0" bIns="0" anchor="ctr">
            <a:spAutoFit/>
          </a:bodyPr>
          <a:lstStyle/>
          <a:p>
            <a:pPr algn="l"/>
            <a:r>
              <a:rPr sz="1200">
                <a:solidFill>
                  <a:srgbClr val="595959"/>
                </a:solidFill>
                <a:latin typeface="Google Sans Flex SemiBold"/>
                <a:ea typeface="Google Sans Flex SemiBold"/>
                <a:cs typeface="Google Sans Flex SemiBold"/>
              </a:rPr>
              <a:t>Exact figure and source</a:t>
            </a:r>
          </a:p>
        </p:txBody>
      </p:sp>
      <p:cxnSp>
        <p:nvCxnSpPr>
          <p:cNvPr id="15" name="Connector 14"/>
          <p:cNvCxnSpPr/>
          <p:nvPr/>
        </p:nvCxnSpPr>
        <p:spPr>
          <a:xfrm>
            <a:off x="1022299" y="2289048"/>
            <a:ext cx="101169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88136" y="2289048"/>
            <a:ext cx="2085897" cy="31089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Late deliveries flagged</a:t>
            </a:r>
          </a:p>
        </p:txBody>
      </p:sp>
      <p:sp>
        <p:nvSpPr>
          <p:cNvPr id="17" name="TextBox 16"/>
          <p:cNvSpPr txBox="1"/>
          <p:nvPr/>
        </p:nvSpPr>
        <p:spPr>
          <a:xfrm>
            <a:off x="3283761" y="2289048"/>
            <a:ext cx="1991083" cy="31089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7 in 10</a:t>
            </a:r>
          </a:p>
        </p:txBody>
      </p:sp>
      <p:sp>
        <p:nvSpPr>
          <p:cNvPr id="18" name="TextBox 17"/>
          <p:cNvSpPr txBox="1"/>
          <p:nvPr/>
        </p:nvSpPr>
        <p:spPr>
          <a:xfrm>
            <a:off x="5384573" y="2289048"/>
            <a:ext cx="5688810" cy="31089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488 of 678 late deliveries, 6 unseen weeks (3 Jan–14 Feb 2026)</a:t>
            </a:r>
          </a:p>
        </p:txBody>
      </p:sp>
      <p:cxnSp>
        <p:nvCxnSpPr>
          <p:cNvPr id="19" name="Connector 18"/>
          <p:cNvCxnSpPr/>
          <p:nvPr/>
        </p:nvCxnSpPr>
        <p:spPr>
          <a:xfrm>
            <a:off x="1022299" y="2599944"/>
            <a:ext cx="101169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88136" y="2599944"/>
            <a:ext cx="2085897" cy="31089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Warnings that were right</a:t>
            </a:r>
          </a:p>
        </p:txBody>
      </p:sp>
      <p:sp>
        <p:nvSpPr>
          <p:cNvPr id="21" name="TextBox 20"/>
          <p:cNvSpPr txBox="1"/>
          <p:nvPr/>
        </p:nvSpPr>
        <p:spPr>
          <a:xfrm>
            <a:off x="3283761" y="2599944"/>
            <a:ext cx="1991083" cy="31089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8 in 10</a:t>
            </a:r>
          </a:p>
        </p:txBody>
      </p:sp>
      <p:sp>
        <p:nvSpPr>
          <p:cNvPr id="22" name="TextBox 21"/>
          <p:cNvSpPr txBox="1"/>
          <p:nvPr/>
        </p:nvSpPr>
        <p:spPr>
          <a:xfrm>
            <a:off x="5384573" y="2599944"/>
            <a:ext cx="5688810" cy="31089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488 of 583 flags (95 false alarms)</a:t>
            </a:r>
          </a:p>
        </p:txBody>
      </p:sp>
      <p:cxnSp>
        <p:nvCxnSpPr>
          <p:cNvPr id="23" name="Connector 22"/>
          <p:cNvCxnSpPr/>
          <p:nvPr/>
        </p:nvCxnSpPr>
        <p:spPr>
          <a:xfrm>
            <a:off x="1022299" y="2910840"/>
            <a:ext cx="101169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88136" y="2910840"/>
            <a:ext cx="2085897" cy="31089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False alarms</a:t>
            </a:r>
          </a:p>
        </p:txBody>
      </p:sp>
      <p:sp>
        <p:nvSpPr>
          <p:cNvPr id="25" name="TextBox 24"/>
          <p:cNvSpPr txBox="1"/>
          <p:nvPr/>
        </p:nvSpPr>
        <p:spPr>
          <a:xfrm>
            <a:off x="3283761" y="2910840"/>
            <a:ext cx="1991083" cy="31089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74% fewer</a:t>
            </a:r>
          </a:p>
        </p:txBody>
      </p:sp>
      <p:sp>
        <p:nvSpPr>
          <p:cNvPr id="26" name="TextBox 25"/>
          <p:cNvSpPr txBox="1"/>
          <p:nvPr/>
        </p:nvSpPr>
        <p:spPr>
          <a:xfrm>
            <a:off x="5384573" y="2910840"/>
            <a:ext cx="5688810" cy="31089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95 vs 368 for the statistical baseline</a:t>
            </a:r>
          </a:p>
        </p:txBody>
      </p:sp>
      <p:cxnSp>
        <p:nvCxnSpPr>
          <p:cNvPr id="27" name="Connector 26"/>
          <p:cNvCxnSpPr/>
          <p:nvPr/>
        </p:nvCxnSpPr>
        <p:spPr>
          <a:xfrm>
            <a:off x="1022299" y="3221735"/>
            <a:ext cx="101169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88136" y="3221735"/>
            <a:ext cx="2085897" cy="31089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Unloading-time error</a:t>
            </a:r>
          </a:p>
        </p:txBody>
      </p:sp>
      <p:sp>
        <p:nvSpPr>
          <p:cNvPr id="29" name="TextBox 28"/>
          <p:cNvSpPr txBox="1"/>
          <p:nvPr/>
        </p:nvSpPr>
        <p:spPr>
          <a:xfrm>
            <a:off x="3283761" y="3221735"/>
            <a:ext cx="1991083" cy="31089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under 4 minutes</a:t>
            </a:r>
          </a:p>
        </p:txBody>
      </p:sp>
      <p:sp>
        <p:nvSpPr>
          <p:cNvPr id="30" name="TextBox 29"/>
          <p:cNvSpPr txBox="1"/>
          <p:nvPr/>
        </p:nvSpPr>
        <p:spPr>
          <a:xfrm>
            <a:off x="5384573" y="3221735"/>
            <a:ext cx="5688810" cy="31089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3.72 min mean absolute error</a:t>
            </a:r>
          </a:p>
        </p:txBody>
      </p:sp>
      <p:cxnSp>
        <p:nvCxnSpPr>
          <p:cNvPr id="31" name="Connector 30"/>
          <p:cNvCxnSpPr/>
          <p:nvPr/>
        </p:nvCxnSpPr>
        <p:spPr>
          <a:xfrm>
            <a:off x="1022299" y="3532631"/>
            <a:ext cx="101169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88136" y="3532631"/>
            <a:ext cx="2085897" cy="31089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Demand forecast error</a:t>
            </a:r>
          </a:p>
        </p:txBody>
      </p:sp>
      <p:sp>
        <p:nvSpPr>
          <p:cNvPr id="33" name="TextBox 32"/>
          <p:cNvSpPr txBox="1"/>
          <p:nvPr/>
        </p:nvSpPr>
        <p:spPr>
          <a:xfrm>
            <a:off x="3283761" y="3532631"/>
            <a:ext cx="1991083" cy="31089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about 3%</a:t>
            </a:r>
          </a:p>
        </p:txBody>
      </p:sp>
      <p:sp>
        <p:nvSpPr>
          <p:cNvPr id="34" name="TextBox 33"/>
          <p:cNvSpPr txBox="1"/>
          <p:nvPr/>
        </p:nvSpPr>
        <p:spPr>
          <a:xfrm>
            <a:off x="5384573" y="3532631"/>
            <a:ext cx="5688810" cy="31089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3.03% / 3.18% / 2.99% WAPE; chilled 2.07% / 1.97% / 2.65%</a:t>
            </a:r>
          </a:p>
        </p:txBody>
      </p:sp>
      <p:cxnSp>
        <p:nvCxnSpPr>
          <p:cNvPr id="35" name="Connector 34"/>
          <p:cNvCxnSpPr/>
          <p:nvPr/>
        </p:nvCxnSpPr>
        <p:spPr>
          <a:xfrm>
            <a:off x="1022299" y="3843528"/>
            <a:ext cx="101169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88136" y="3843528"/>
            <a:ext cx="2085897" cy="31089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Same week last year</a:t>
            </a:r>
          </a:p>
        </p:txBody>
      </p:sp>
      <p:sp>
        <p:nvSpPr>
          <p:cNvPr id="37" name="TextBox 36"/>
          <p:cNvSpPr txBox="1"/>
          <p:nvPr/>
        </p:nvSpPr>
        <p:spPr>
          <a:xfrm>
            <a:off x="3283761" y="3843528"/>
            <a:ext cx="1991083" cy="31089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8%</a:t>
            </a:r>
          </a:p>
        </p:txBody>
      </p:sp>
      <p:sp>
        <p:nvSpPr>
          <p:cNvPr id="38" name="TextBox 37"/>
          <p:cNvSpPr txBox="1"/>
          <p:nvPr/>
        </p:nvSpPr>
        <p:spPr>
          <a:xfrm>
            <a:off x="5384573" y="3843528"/>
            <a:ext cx="5688810" cy="31089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8.26% WAPE on the same selection forecasts</a:t>
            </a:r>
          </a:p>
        </p:txBody>
      </p:sp>
      <p:cxnSp>
        <p:nvCxnSpPr>
          <p:cNvPr id="39" name="Connector 38"/>
          <p:cNvCxnSpPr/>
          <p:nvPr/>
        </p:nvCxnSpPr>
        <p:spPr>
          <a:xfrm>
            <a:off x="1022299" y="4154423"/>
            <a:ext cx="101169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88136" y="4154423"/>
            <a:ext cx="2085897" cy="31089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Peak day</a:t>
            </a:r>
          </a:p>
        </p:txBody>
      </p:sp>
      <p:sp>
        <p:nvSpPr>
          <p:cNvPr id="41" name="TextBox 40"/>
          <p:cNvSpPr txBox="1"/>
          <p:nvPr/>
        </p:nvSpPr>
        <p:spPr>
          <a:xfrm>
            <a:off x="3283761" y="4154423"/>
            <a:ext cx="1991083" cy="31089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77 of 85, 79 max</a:t>
            </a:r>
          </a:p>
        </p:txBody>
      </p:sp>
      <p:sp>
        <p:nvSpPr>
          <p:cNvPr id="42" name="TextBox 41"/>
          <p:cNvSpPr txBox="1"/>
          <p:nvPr/>
        </p:nvSpPr>
        <p:spPr>
          <a:xfrm>
            <a:off x="5384573" y="4154423"/>
            <a:ext cx="5688810" cy="31089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27 trips, 17 vehicles; 8 deferred (6 unavoidable, 2 by choice)</a:t>
            </a:r>
          </a:p>
        </p:txBody>
      </p:sp>
      <p:cxnSp>
        <p:nvCxnSpPr>
          <p:cNvPr id="43" name="Connector 42"/>
          <p:cNvCxnSpPr/>
          <p:nvPr/>
        </p:nvCxnSpPr>
        <p:spPr>
          <a:xfrm>
            <a:off x="1022299" y="4465320"/>
            <a:ext cx="101169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88136" y="4465320"/>
            <a:ext cx="2085897" cy="31089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One reefer back (app)</a:t>
            </a:r>
          </a:p>
        </p:txBody>
      </p:sp>
      <p:sp>
        <p:nvSpPr>
          <p:cNvPr id="45" name="TextBox 44"/>
          <p:cNvSpPr txBox="1"/>
          <p:nvPr/>
        </p:nvSpPr>
        <p:spPr>
          <a:xfrm>
            <a:off x="3283761" y="4465320"/>
            <a:ext cx="1991083" cy="31089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+9 orders, +48% chilled</a:t>
            </a:r>
          </a:p>
        </p:txBody>
      </p:sp>
      <p:sp>
        <p:nvSpPr>
          <p:cNvPr id="46" name="TextBox 45"/>
          <p:cNvSpPr txBox="1"/>
          <p:nvPr/>
        </p:nvSpPr>
        <p:spPr>
          <a:xfrm>
            <a:off x="5384573" y="4465320"/>
            <a:ext cx="5688810" cy="31089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81 vs 72 orders; 161.0 vs 108.9 m³ (what-if, VEH004)</a:t>
            </a:r>
          </a:p>
        </p:txBody>
      </p:sp>
      <p:cxnSp>
        <p:nvCxnSpPr>
          <p:cNvPr id="47" name="Connector 46"/>
          <p:cNvCxnSpPr/>
          <p:nvPr/>
        </p:nvCxnSpPr>
        <p:spPr>
          <a:xfrm>
            <a:off x="1022299" y="4776215"/>
            <a:ext cx="101169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088136" y="4776215"/>
            <a:ext cx="2085897" cy="310896"/>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Delayed orders</a:t>
            </a:r>
          </a:p>
        </p:txBody>
      </p:sp>
      <p:sp>
        <p:nvSpPr>
          <p:cNvPr id="49" name="TextBox 48"/>
          <p:cNvSpPr txBox="1"/>
          <p:nvPr/>
        </p:nvSpPr>
        <p:spPr>
          <a:xfrm>
            <a:off x="3283761" y="4776215"/>
            <a:ext cx="1991083" cy="310896"/>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nearly all chilled</a:t>
            </a:r>
          </a:p>
        </p:txBody>
      </p:sp>
      <p:sp>
        <p:nvSpPr>
          <p:cNvPr id="50" name="TextBox 49"/>
          <p:cNvSpPr txBox="1"/>
          <p:nvPr/>
        </p:nvSpPr>
        <p:spPr>
          <a:xfrm>
            <a:off x="5384573" y="4776215"/>
            <a:ext cx="5688810" cy="310896"/>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1,911 of 1,956 not dispatched on order day were Peliyagoda chilled</a:t>
            </a:r>
          </a:p>
        </p:txBody>
      </p:sp>
      <p:cxnSp>
        <p:nvCxnSpPr>
          <p:cNvPr id="51" name="Connector 50"/>
          <p:cNvCxnSpPr/>
          <p:nvPr/>
        </p:nvCxnSpPr>
        <p:spPr>
          <a:xfrm>
            <a:off x="1022299" y="5087111"/>
            <a:ext cx="10116921" cy="0"/>
          </a:xfrm>
          <a:prstGeom prst="line">
            <a:avLst/>
          </a:prstGeom>
          <a:ln w="9525">
            <a:gradFill>
              <a:gsLst>
                <a:gs pos="0">
                  <a:schemeClr val="bg1"/>
                </a:gs>
                <a:gs pos="55000">
                  <a:schemeClr val="tx1"/>
                </a:gs>
                <a:gs pos="83000">
                  <a:schemeClr val="tx1"/>
                </a:gs>
                <a:gs pos="100000">
                  <a:schemeClr val="bg1"/>
                </a:gs>
              </a:gsLst>
              <a:lin ang="600000" scaled="0"/>
            </a:gra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1088136" y="5087111"/>
            <a:ext cx="2085897" cy="481583"/>
          </a:xfrm>
          <a:prstGeom prst="rect">
            <a:avLst/>
          </a:prstGeom>
          <a:noFill/>
        </p:spPr>
        <p:txBody>
          <a:bodyPr wrap="square" lIns="0" tIns="0" rIns="0" bIns="0" anchor="ctr">
            <a:spAutoFit/>
          </a:bodyPr>
          <a:lstStyle/>
          <a:p>
            <a:pPr algn="l"/>
            <a:r>
              <a:rPr sz="1200">
                <a:solidFill>
                  <a:srgbClr val="000000"/>
                </a:solidFill>
                <a:latin typeface="Google Sans Flex SemiBold"/>
                <a:ea typeface="Google Sans Flex SemiBold"/>
                <a:cs typeface="Google Sans Flex SemiBold"/>
              </a:rPr>
              <a:t>Value and cost</a:t>
            </a:r>
          </a:p>
        </p:txBody>
      </p:sp>
      <p:sp>
        <p:nvSpPr>
          <p:cNvPr id="53" name="TextBox 52"/>
          <p:cNvSpPr txBox="1"/>
          <p:nvPr/>
        </p:nvSpPr>
        <p:spPr>
          <a:xfrm>
            <a:off x="3283761" y="5087111"/>
            <a:ext cx="1991083" cy="481583"/>
          </a:xfrm>
          <a:prstGeom prst="rect">
            <a:avLst/>
          </a:prstGeom>
          <a:noFill/>
        </p:spPr>
        <p:txBody>
          <a:bodyPr wrap="square" lIns="0" tIns="0" rIns="0" bIns="0" anchor="ctr">
            <a:spAutoFit/>
          </a:bodyPr>
          <a:lstStyle/>
          <a:p>
            <a:pPr algn="l"/>
            <a:r>
              <a:rPr sz="1200">
                <a:solidFill>
                  <a:srgbClr val="00B050"/>
                </a:solidFill>
                <a:latin typeface="Google Sans Flex SemiBold"/>
                <a:ea typeface="Google Sans Flex SemiBold"/>
                <a:cs typeface="Google Sans Flex SemiBold"/>
              </a:rPr>
              <a:t>LKR 26.5m · LKR 19,000 a month</a:t>
            </a:r>
          </a:p>
        </p:txBody>
      </p:sp>
      <p:sp>
        <p:nvSpPr>
          <p:cNvPr id="54" name="TextBox 53"/>
          <p:cNvSpPr txBox="1"/>
          <p:nvPr/>
        </p:nvSpPr>
        <p:spPr>
          <a:xfrm>
            <a:off x="5384573" y="5087111"/>
            <a:ext cx="5688810" cy="481583"/>
          </a:xfrm>
          <a:prstGeom prst="rect">
            <a:avLst/>
          </a:prstGeom>
          <a:noFill/>
        </p:spPr>
        <p:txBody>
          <a:bodyPr wrap="square" lIns="0" tIns="0" rIns="0" bIns="0" anchor="ctr">
            <a:spAutoFit/>
          </a:bodyPr>
          <a:lstStyle/>
          <a:p>
            <a:pPr algn="l"/>
            <a:r>
              <a:rPr sz="1200">
                <a:solidFill>
                  <a:srgbClr val="000000"/>
                </a:solidFill>
                <a:latin typeface="Google Sans Flex"/>
                <a:ea typeface="Google Sans Flex"/>
                <a:cs typeface="Google Sans Flex"/>
              </a:rPr>
              <a:t>expected value a year; running cost; payback ≈ 5 months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4349</TotalTime>
  <Words>6318</Words>
  <Application>Microsoft Office PowerPoint</Application>
  <PresentationFormat>Widescreen</PresentationFormat>
  <Paragraphs>1053</Paragraphs>
  <Slides>54</Slides>
  <Notes>42</Notes>
  <HiddenSlides>1</HiddenSlides>
  <MMClips>16</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Arial</vt:lpstr>
      <vt:lpstr>Calibri</vt:lpstr>
      <vt:lpstr>Calibri Light</vt:lpstr>
      <vt:lpstr>Google Sans Flex</vt:lpstr>
      <vt:lpstr>Google Sans Flex ExtraBold</vt:lpstr>
      <vt:lpstr>Google Sans Flex Light</vt:lpstr>
      <vt:lpstr>Google Sans Flex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Isuru Sudarshana</dc:creator>
  <cp:lastModifiedBy>Isuru Sudarshana</cp:lastModifiedBy>
  <cp:revision>51</cp:revision>
  <dcterms:created xsi:type="dcterms:W3CDTF">2026-10-26T15:49:06Z</dcterms:created>
  <dcterms:modified xsi:type="dcterms:W3CDTF">2026-10-29T16:45:03Z</dcterms:modified>
</cp:coreProperties>
</file>